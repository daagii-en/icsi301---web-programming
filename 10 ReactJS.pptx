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9144000" cy="5143500"/>
  <p:defaultTextStyle>
    <a:defPPr>
      <a:defRPr lang="mn-M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047" autoAdjust="0"/>
  </p:normalViewPr>
  <p:slideViewPr>
    <p:cSldViewPr>
      <p:cViewPr varScale="1">
        <p:scale>
          <a:sx n="130" d="100"/>
          <a:sy n="130" d="100"/>
        </p:scale>
        <p:origin x="107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mn-M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D392B-70C6-4B2E-9666-C8AE30B94993}" type="datetimeFigureOut">
              <a:rPr lang="mn-MN" smtClean="0"/>
              <a:t>2021.12.07</a:t>
            </a:fld>
            <a:endParaRPr lang="mn-M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mn-M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n-M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mn-M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3B960-7435-4B71-B7B8-6E15A8B437F5}" type="slidenum">
              <a:rPr lang="mn-MN" smtClean="0"/>
              <a:t>‹#›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173207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 line: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this.</a:t>
            </a:r>
            <a:r>
              <a:rPr lang="es-ES" dirty="0" err="1">
                <a:effectLst/>
              </a:rPr>
              <a:t>setState</a:t>
            </a:r>
            <a:r>
              <a:rPr lang="es-ES" dirty="0">
                <a:effectLst/>
              </a:rPr>
              <a:t>({</a:t>
            </a:r>
            <a:r>
              <a:rPr lang="es-ES" dirty="0" err="1">
                <a:effectLst/>
              </a:rPr>
              <a:t>yourName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s-ES" dirty="0">
                <a:effectLst/>
              </a:rPr>
              <a:t> </a:t>
            </a:r>
            <a:r>
              <a:rPr lang="es-ES" dirty="0" err="1">
                <a:effectLst/>
              </a:rPr>
              <a:t>event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s-ES" dirty="0" err="1">
                <a:effectLst/>
              </a:rPr>
              <a:t>target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s-ES" dirty="0" err="1">
                <a:effectLst/>
              </a:rPr>
              <a:t>value</a:t>
            </a:r>
            <a:r>
              <a:rPr lang="es-ES" dirty="0">
                <a:effectLst/>
              </a:rPr>
              <a:t>})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Cannot read property '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setState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of undefined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arrow functions use lexical scoping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93B960-7435-4B71-B7B8-6E15A8B437F5}" type="slidenum">
              <a:rPr lang="mn-MN" smtClean="0"/>
              <a:t>12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1805801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onchange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must be </a:t>
            </a:r>
            <a:r>
              <a:rPr lang="en-US" dirty="0" err="1">
                <a:sym typeface="Wingdings" panose="05000000000000000000" pitchFamily="2" charset="2"/>
              </a:rPr>
              <a:t>onChange</a:t>
            </a:r>
            <a:r>
              <a:rPr lang="en-US" baseline="0" dirty="0">
                <a:sym typeface="Wingdings" panose="05000000000000000000" pitchFamily="2" charset="2"/>
              </a:rPr>
              <a:t> in </a:t>
            </a:r>
            <a:r>
              <a:rPr lang="en-US" baseline="0" dirty="0" err="1">
                <a:sym typeface="Wingdings" panose="05000000000000000000" pitchFamily="2" charset="2"/>
              </a:rPr>
              <a:t>ReactJS</a:t>
            </a:r>
            <a:r>
              <a:rPr lang="en-US" baseline="0" dirty="0">
                <a:sym typeface="Wingdings" panose="05000000000000000000" pitchFamily="2" charset="2"/>
              </a:rPr>
              <a:t>!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93B960-7435-4B71-B7B8-6E15A8B437F5}" type="slidenum">
              <a:rPr lang="mn-MN" smtClean="0"/>
              <a:t>16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259676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 or Expression </a:t>
            </a:r>
            <a:r>
              <a:rPr lang="en-US" dirty="0">
                <a:sym typeface="Wingdings" panose="05000000000000000000" pitchFamily="2" charset="2"/>
              </a:rPr>
              <a:t> returns a value  must evaluate a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3B960-7435-4B71-B7B8-6E15A8B437F5}" type="slidenum">
              <a:rPr lang="mn-MN" smtClean="0"/>
              <a:t>18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350481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</a:t>
            </a:r>
            <a:r>
              <a:rPr lang="en-US" baseline="0" dirty="0"/>
              <a:t> example of timer 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  </a:t>
            </a:r>
            <a:r>
              <a:rPr lang="en-US" baseline="0" dirty="0"/>
              <a:t> need to be updated in schedule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      </a:t>
            </a:r>
            <a:r>
              <a:rPr lang="en-US" baseline="0" dirty="0"/>
              <a:t> run side effects immediately</a:t>
            </a:r>
          </a:p>
          <a:p>
            <a:endParaRPr lang="en-US" baseline="0" dirty="0"/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To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demonstate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state updating we define a function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that increments the counter state and instruct the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DOM to call it every 2 seconds.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componentDidMount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- Called when Component is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activiated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spc="-5" dirty="0" err="1">
                <a:solidFill>
                  <a:srgbClr val="FF0000"/>
                </a:solidFill>
              </a:rPr>
              <a:t>componentDidMount</a:t>
            </a:r>
            <a:r>
              <a:rPr lang="en-US" b="1" spc="-5" dirty="0">
                <a:solidFill>
                  <a:srgbClr val="434343"/>
                </a:solidFill>
              </a:rPr>
              <a:t>()</a:t>
            </a:r>
            <a:endParaRPr lang="en-US" b="1" spc="5" dirty="0">
              <a:solidFill>
                <a:srgbClr val="434343"/>
              </a:solidFill>
              <a:effectLst/>
              <a:latin typeface="Consolas" panose="020B0609020204030204" pitchFamily="49" charset="0"/>
            </a:endParaRPr>
          </a:p>
          <a:p>
            <a:endParaRPr lang="en-US" b="0" spc="5" dirty="0">
              <a:solidFill>
                <a:srgbClr val="434343"/>
              </a:solidFill>
              <a:effectLst/>
              <a:latin typeface="Consolas" panose="020B0609020204030204" pitchFamily="49" charset="0"/>
            </a:endParaRPr>
          </a:p>
          <a:p>
            <a:endParaRPr lang="en-US" b="0" spc="5" dirty="0">
              <a:solidFill>
                <a:srgbClr val="43434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We need to tell the DOM to stop calling us otherwise React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will complain when we call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setState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on an unmounted component.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b="0" spc="5" dirty="0">
              <a:solidFill>
                <a:srgbClr val="434343"/>
              </a:solidFill>
              <a:effectLst/>
              <a:latin typeface="Consolas" panose="020B0609020204030204" pitchFamily="49" charset="0"/>
            </a:endParaRPr>
          </a:p>
          <a:p>
            <a:endParaRPr lang="en-US" b="0" spc="5" dirty="0">
              <a:solidFill>
                <a:srgbClr val="434343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componentWillUnmount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- Called when Component is deactivated.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spc="-5" dirty="0" err="1">
                <a:solidFill>
                  <a:srgbClr val="FF0000"/>
                </a:solidFill>
              </a:rPr>
              <a:t>componentWillUnmount</a:t>
            </a:r>
            <a:r>
              <a:rPr lang="en-US" b="1" spc="-5" dirty="0"/>
              <a:t>()</a:t>
            </a:r>
            <a:r>
              <a:rPr lang="en-US" b="1" spc="10" dirty="0"/>
              <a:t> </a:t>
            </a:r>
            <a:endParaRPr lang="en-US" b="1" spc="5" dirty="0">
              <a:solidFill>
                <a:srgbClr val="434343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93B960-7435-4B71-B7B8-6E15A8B437F5}" type="slidenum">
              <a:rPr lang="mn-MN" smtClean="0"/>
              <a:t>23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180227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is passed top-down (parent to child) via props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shares values like locale, UI theme etc. between components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93B960-7435-4B71-B7B8-6E15A8B437F5}" type="slidenum">
              <a:rPr lang="mn-MN" smtClean="0"/>
              <a:t>25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4203109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94385" y="1881758"/>
            <a:ext cx="6155229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spc="-5" dirty="0"/>
              <a:t>AngularJS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spc="-5" dirty="0"/>
              <a:t>AngularJS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spc="-5" dirty="0"/>
              <a:t>AngularJS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spc="-5" dirty="0"/>
              <a:t>AngularJS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spc="-5" dirty="0"/>
              <a:t>AngularJS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259445" cy="3168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spc="-5" dirty="0"/>
              <a:t>AngularJS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n.reactjs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reactjs.org/docs/react-component.html#setstat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projects.wojtekmaj.pl/react-lifecycle-methods-diagram/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docs/react-component.html#the-component-lifecycl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js.org/docs/components-and-props.htm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docs/context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4385" y="1881758"/>
            <a:ext cx="614743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" dirty="0">
                <a:latin typeface="Arial"/>
                <a:cs typeface="Arial"/>
              </a:rPr>
              <a:t>ReactJS</a:t>
            </a:r>
            <a:r>
              <a:rPr sz="5200" spc="-100" dirty="0">
                <a:latin typeface="Arial"/>
                <a:cs typeface="Arial"/>
              </a:rPr>
              <a:t> </a:t>
            </a:r>
            <a:r>
              <a:rPr sz="5200" spc="-5" dirty="0">
                <a:latin typeface="Arial"/>
                <a:cs typeface="Arial"/>
              </a:rPr>
              <a:t>Introduction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spc="-5" dirty="0"/>
              <a:t>AngularJS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3690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ReactJS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8338820" cy="29146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framework for writing the web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Like AngularJS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Snappy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response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running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4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Less opinionated: only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specifies rendering view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handling user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interactions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Uses Model-View-Controller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pattern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constructed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Components using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pattern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Optional, but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commonly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used HTML</a:t>
            </a:r>
            <a:r>
              <a:rPr sz="14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templating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Minimal server-side support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dictated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Focus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supporting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programming in the large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single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Modules, reusable components,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testing,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53785" y="545219"/>
            <a:ext cx="2357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hlinkClick r:id="rId2"/>
              </a:rPr>
              <a:t>https://mn.reactjs.org/</a:t>
            </a:r>
            <a:endParaRPr lang="mn-M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301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ReactJS </a:t>
            </a:r>
            <a:r>
              <a:rPr spc="-20" dirty="0"/>
              <a:t>Web </a:t>
            </a:r>
            <a:r>
              <a:rPr spc="-10" dirty="0"/>
              <a:t>Application</a:t>
            </a:r>
            <a:r>
              <a:rPr spc="-229" dirty="0"/>
              <a:t> </a:t>
            </a:r>
            <a:r>
              <a:rPr spc="-5" dirty="0"/>
              <a:t>Page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62308"/>
            <a:ext cx="6375400" cy="25908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&lt;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!doctype</a:t>
            </a:r>
            <a:r>
              <a:rPr sz="14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html&gt;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&lt;html&gt;</a:t>
            </a:r>
            <a:endParaRPr sz="140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&lt;head&gt;</a:t>
            </a:r>
            <a:endParaRPr sz="140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&lt;title&gt;</a:t>
            </a:r>
            <a:r>
              <a:rPr sz="1400" spc="-5" dirty="0">
                <a:solidFill>
                  <a:srgbClr val="434343"/>
                </a:solidFill>
                <a:latin typeface="Consolas"/>
                <a:cs typeface="Consolas"/>
              </a:rPr>
              <a:t>CS142</a:t>
            </a:r>
            <a:r>
              <a:rPr sz="1400" spc="-10" dirty="0">
                <a:solidFill>
                  <a:srgbClr val="43434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Consolas"/>
                <a:cs typeface="Consolas"/>
              </a:rPr>
              <a:t>Example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&lt;/title&gt;</a:t>
            </a:r>
            <a:endParaRPr sz="140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&lt;/head&gt;</a:t>
            </a:r>
            <a:endParaRPr sz="140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&lt;body&gt;</a:t>
            </a:r>
            <a:endParaRPr sz="1400">
              <a:latin typeface="Consolas"/>
              <a:cs typeface="Consolas"/>
            </a:endParaRPr>
          </a:p>
          <a:p>
            <a:pPr marL="69596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&lt;div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id=</a:t>
            </a:r>
            <a:r>
              <a:rPr sz="1400" spc="-5" dirty="0">
                <a:solidFill>
                  <a:srgbClr val="6AA84F"/>
                </a:solidFill>
                <a:latin typeface="Consolas"/>
                <a:cs typeface="Consolas"/>
              </a:rPr>
              <a:t>"reactapp"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&gt;&lt;/div&gt;</a:t>
            </a:r>
            <a:endParaRPr sz="1400">
              <a:latin typeface="Consolas"/>
              <a:cs typeface="Consolas"/>
            </a:endParaRPr>
          </a:p>
          <a:p>
            <a:pPr marL="69596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&lt;script</a:t>
            </a:r>
            <a:r>
              <a:rPr sz="1400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src="</a:t>
            </a:r>
            <a:r>
              <a:rPr sz="1400" spc="-5" dirty="0">
                <a:solidFill>
                  <a:srgbClr val="6AA84F"/>
                </a:solidFill>
                <a:latin typeface="Consolas"/>
                <a:cs typeface="Consolas"/>
              </a:rPr>
              <a:t>./webpackOutput/reactApp.bundle.js"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&gt;&lt;/script&gt;</a:t>
            </a:r>
            <a:endParaRPr sz="140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&lt;/body&gt;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&lt;/html&gt;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80674" y="3757724"/>
            <a:ext cx="3613785" cy="892175"/>
          </a:xfrm>
          <a:custGeom>
            <a:avLst/>
            <a:gdLst/>
            <a:ahLst/>
            <a:cxnLst/>
            <a:rect l="l" t="t" r="r" b="b"/>
            <a:pathLst>
              <a:path w="3613784" h="892175">
                <a:moveTo>
                  <a:pt x="3613499" y="0"/>
                </a:moveTo>
                <a:lnTo>
                  <a:pt x="0" y="0"/>
                </a:lnTo>
                <a:lnTo>
                  <a:pt x="0" y="891899"/>
                </a:lnTo>
                <a:lnTo>
                  <a:pt x="3613499" y="891899"/>
                </a:lnTo>
                <a:lnTo>
                  <a:pt x="36134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80674" y="3757724"/>
            <a:ext cx="3613785" cy="89217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85725" marR="461009">
              <a:lnSpc>
                <a:spcPts val="1650"/>
              </a:lnSpc>
              <a:spcBef>
                <a:spcPts val="1060"/>
              </a:spcBef>
            </a:pPr>
            <a:r>
              <a:rPr sz="1400" spc="-5" dirty="0">
                <a:latin typeface="Arial"/>
                <a:cs typeface="Arial"/>
              </a:rPr>
              <a:t>ReactJS applications </a:t>
            </a:r>
            <a:r>
              <a:rPr sz="1400" dirty="0">
                <a:latin typeface="Arial"/>
                <a:cs typeface="Arial"/>
              </a:rPr>
              <a:t>come </a:t>
            </a:r>
            <a:r>
              <a:rPr sz="1400" spc="-5" dirty="0">
                <a:latin typeface="Arial"/>
                <a:cs typeface="Arial"/>
              </a:rPr>
              <a:t>as </a:t>
            </a:r>
            <a:r>
              <a:rPr sz="1400" dirty="0">
                <a:latin typeface="Arial"/>
                <a:cs typeface="Arial"/>
              </a:rPr>
              <a:t>a  </a:t>
            </a:r>
            <a:r>
              <a:rPr sz="1400" b="1" spc="-5" dirty="0">
                <a:latin typeface="Arial"/>
                <a:cs typeface="Arial"/>
              </a:rPr>
              <a:t>JavaScript blob </a:t>
            </a:r>
            <a:r>
              <a:rPr sz="1400" spc="-5" dirty="0">
                <a:latin typeface="Arial"/>
                <a:cs typeface="Arial"/>
              </a:rPr>
              <a:t>that will use the DOM  interface to write the </a:t>
            </a:r>
            <a:r>
              <a:rPr sz="1400" dirty="0">
                <a:latin typeface="Arial"/>
                <a:cs typeface="Arial"/>
              </a:rPr>
              <a:t>view </a:t>
            </a:r>
            <a:r>
              <a:rPr sz="1400" spc="-5" dirty="0">
                <a:latin typeface="Arial"/>
                <a:cs typeface="Arial"/>
              </a:rPr>
              <a:t>into the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div.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18005" y="3426145"/>
            <a:ext cx="6985" cy="342265"/>
          </a:xfrm>
          <a:custGeom>
            <a:avLst/>
            <a:gdLst/>
            <a:ahLst/>
            <a:cxnLst/>
            <a:rect l="l" t="t" r="r" b="b"/>
            <a:pathLst>
              <a:path w="6985" h="342264">
                <a:moveTo>
                  <a:pt x="6394" y="341879"/>
                </a:moveTo>
                <a:lnTo>
                  <a:pt x="0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56528" y="3282203"/>
            <a:ext cx="122954" cy="1591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33790" y="2901250"/>
            <a:ext cx="4404995" cy="1593850"/>
          </a:xfrm>
          <a:custGeom>
            <a:avLst/>
            <a:gdLst/>
            <a:ahLst/>
            <a:cxnLst/>
            <a:rect l="l" t="t" r="r" b="b"/>
            <a:pathLst>
              <a:path w="4404995" h="1593850">
                <a:moveTo>
                  <a:pt x="3770059" y="1593249"/>
                </a:moveTo>
                <a:lnTo>
                  <a:pt x="3796346" y="1538516"/>
                </a:lnTo>
                <a:lnTo>
                  <a:pt x="3825795" y="1493306"/>
                </a:lnTo>
                <a:lnTo>
                  <a:pt x="3863095" y="1441930"/>
                </a:lnTo>
                <a:lnTo>
                  <a:pt x="3906801" y="1385085"/>
                </a:lnTo>
                <a:lnTo>
                  <a:pt x="3930604" y="1354829"/>
                </a:lnTo>
                <a:lnTo>
                  <a:pt x="3955465" y="1323466"/>
                </a:lnTo>
                <a:lnTo>
                  <a:pt x="3981205" y="1291084"/>
                </a:lnTo>
                <a:lnTo>
                  <a:pt x="4007642" y="1257770"/>
                </a:lnTo>
                <a:lnTo>
                  <a:pt x="4034595" y="1223610"/>
                </a:lnTo>
                <a:lnTo>
                  <a:pt x="4061884" y="1188691"/>
                </a:lnTo>
                <a:lnTo>
                  <a:pt x="4089328" y="1153102"/>
                </a:lnTo>
                <a:lnTo>
                  <a:pt x="4116746" y="1116927"/>
                </a:lnTo>
                <a:lnTo>
                  <a:pt x="4143958" y="1080255"/>
                </a:lnTo>
                <a:lnTo>
                  <a:pt x="4170782" y="1043173"/>
                </a:lnTo>
                <a:lnTo>
                  <a:pt x="4197037" y="1005767"/>
                </a:lnTo>
                <a:lnTo>
                  <a:pt x="4222544" y="968125"/>
                </a:lnTo>
                <a:lnTo>
                  <a:pt x="4247120" y="930333"/>
                </a:lnTo>
                <a:lnTo>
                  <a:pt x="4270586" y="892479"/>
                </a:lnTo>
                <a:lnTo>
                  <a:pt x="4292760" y="854649"/>
                </a:lnTo>
                <a:lnTo>
                  <a:pt x="4313462" y="816930"/>
                </a:lnTo>
                <a:lnTo>
                  <a:pt x="4332510" y="779410"/>
                </a:lnTo>
                <a:lnTo>
                  <a:pt x="4349725" y="742175"/>
                </a:lnTo>
                <a:lnTo>
                  <a:pt x="4364925" y="705313"/>
                </a:lnTo>
                <a:lnTo>
                  <a:pt x="4377929" y="668910"/>
                </a:lnTo>
                <a:lnTo>
                  <a:pt x="4396628" y="597831"/>
                </a:lnTo>
                <a:lnTo>
                  <a:pt x="4404376" y="529633"/>
                </a:lnTo>
                <a:lnTo>
                  <a:pt x="4403690" y="496832"/>
                </a:lnTo>
                <a:lnTo>
                  <a:pt x="4392298" y="434261"/>
                </a:lnTo>
                <a:lnTo>
                  <a:pt x="4366337" y="376311"/>
                </a:lnTo>
                <a:lnTo>
                  <a:pt x="4324362" y="323678"/>
                </a:lnTo>
                <a:lnTo>
                  <a:pt x="4264927" y="277059"/>
                </a:lnTo>
                <a:lnTo>
                  <a:pt x="4228209" y="256222"/>
                </a:lnTo>
                <a:lnTo>
                  <a:pt x="4186584" y="237149"/>
                </a:lnTo>
                <a:lnTo>
                  <a:pt x="4136511" y="218679"/>
                </a:lnTo>
                <a:lnTo>
                  <a:pt x="4079016" y="201300"/>
                </a:lnTo>
                <a:lnTo>
                  <a:pt x="4014465" y="184975"/>
                </a:lnTo>
                <a:lnTo>
                  <a:pt x="3943223" y="169671"/>
                </a:lnTo>
                <a:lnTo>
                  <a:pt x="3905207" y="162390"/>
                </a:lnTo>
                <a:lnTo>
                  <a:pt x="3865655" y="155351"/>
                </a:lnTo>
                <a:lnTo>
                  <a:pt x="3824613" y="148549"/>
                </a:lnTo>
                <a:lnTo>
                  <a:pt x="3782127" y="141980"/>
                </a:lnTo>
                <a:lnTo>
                  <a:pt x="3738241" y="135639"/>
                </a:lnTo>
                <a:lnTo>
                  <a:pt x="3693003" y="129523"/>
                </a:lnTo>
                <a:lnTo>
                  <a:pt x="3646456" y="123626"/>
                </a:lnTo>
                <a:lnTo>
                  <a:pt x="3598648" y="117945"/>
                </a:lnTo>
                <a:lnTo>
                  <a:pt x="3549624" y="112474"/>
                </a:lnTo>
                <a:lnTo>
                  <a:pt x="3499429" y="107210"/>
                </a:lnTo>
                <a:lnTo>
                  <a:pt x="3448109" y="102148"/>
                </a:lnTo>
                <a:lnTo>
                  <a:pt x="3395709" y="97283"/>
                </a:lnTo>
                <a:lnTo>
                  <a:pt x="3342276" y="92611"/>
                </a:lnTo>
                <a:lnTo>
                  <a:pt x="3287855" y="88129"/>
                </a:lnTo>
                <a:lnTo>
                  <a:pt x="3232491" y="83830"/>
                </a:lnTo>
                <a:lnTo>
                  <a:pt x="3176231" y="79712"/>
                </a:lnTo>
                <a:lnTo>
                  <a:pt x="3119119" y="75769"/>
                </a:lnTo>
                <a:lnTo>
                  <a:pt x="3061202" y="71997"/>
                </a:lnTo>
                <a:lnTo>
                  <a:pt x="3002525" y="68392"/>
                </a:lnTo>
                <a:lnTo>
                  <a:pt x="2943134" y="64949"/>
                </a:lnTo>
                <a:lnTo>
                  <a:pt x="2883074" y="61664"/>
                </a:lnTo>
                <a:lnTo>
                  <a:pt x="2822392" y="58532"/>
                </a:lnTo>
                <a:lnTo>
                  <a:pt x="2761132" y="55550"/>
                </a:lnTo>
                <a:lnTo>
                  <a:pt x="2699341" y="52712"/>
                </a:lnTo>
                <a:lnTo>
                  <a:pt x="2637063" y="50014"/>
                </a:lnTo>
                <a:lnTo>
                  <a:pt x="2574345" y="47452"/>
                </a:lnTo>
                <a:lnTo>
                  <a:pt x="2511233" y="45022"/>
                </a:lnTo>
                <a:lnTo>
                  <a:pt x="2447772" y="42719"/>
                </a:lnTo>
                <a:lnTo>
                  <a:pt x="2384007" y="40538"/>
                </a:lnTo>
                <a:lnTo>
                  <a:pt x="2319984" y="38475"/>
                </a:lnTo>
                <a:lnTo>
                  <a:pt x="2255749" y="36526"/>
                </a:lnTo>
                <a:lnTo>
                  <a:pt x="2191348" y="34686"/>
                </a:lnTo>
                <a:lnTo>
                  <a:pt x="2126826" y="32952"/>
                </a:lnTo>
                <a:lnTo>
                  <a:pt x="2062229" y="31317"/>
                </a:lnTo>
                <a:lnTo>
                  <a:pt x="2007943" y="30019"/>
                </a:lnTo>
                <a:lnTo>
                  <a:pt x="1953663" y="28786"/>
                </a:lnTo>
                <a:lnTo>
                  <a:pt x="1899416" y="27616"/>
                </a:lnTo>
                <a:lnTo>
                  <a:pt x="1845230" y="26505"/>
                </a:lnTo>
                <a:lnTo>
                  <a:pt x="1791131" y="25452"/>
                </a:lnTo>
                <a:lnTo>
                  <a:pt x="1737146" y="24453"/>
                </a:lnTo>
                <a:lnTo>
                  <a:pt x="1683303" y="23507"/>
                </a:lnTo>
                <a:lnTo>
                  <a:pt x="1629629" y="22610"/>
                </a:lnTo>
                <a:lnTo>
                  <a:pt x="1576150" y="21760"/>
                </a:lnTo>
                <a:lnTo>
                  <a:pt x="1522894" y="20954"/>
                </a:lnTo>
                <a:lnTo>
                  <a:pt x="1469887" y="20190"/>
                </a:lnTo>
                <a:lnTo>
                  <a:pt x="1417157" y="19465"/>
                </a:lnTo>
                <a:lnTo>
                  <a:pt x="1364731" y="18777"/>
                </a:lnTo>
                <a:lnTo>
                  <a:pt x="1312636" y="18122"/>
                </a:lnTo>
                <a:lnTo>
                  <a:pt x="1260899" y="17498"/>
                </a:lnTo>
                <a:lnTo>
                  <a:pt x="1209547" y="16903"/>
                </a:lnTo>
                <a:lnTo>
                  <a:pt x="1158607" y="16334"/>
                </a:lnTo>
                <a:lnTo>
                  <a:pt x="1108106" y="15788"/>
                </a:lnTo>
                <a:lnTo>
                  <a:pt x="1058071" y="15263"/>
                </a:lnTo>
                <a:lnTo>
                  <a:pt x="1008529" y="14756"/>
                </a:lnTo>
                <a:lnTo>
                  <a:pt x="959508" y="14265"/>
                </a:lnTo>
                <a:lnTo>
                  <a:pt x="911034" y="13786"/>
                </a:lnTo>
                <a:lnTo>
                  <a:pt x="863134" y="13318"/>
                </a:lnTo>
                <a:lnTo>
                  <a:pt x="815836" y="12857"/>
                </a:lnTo>
                <a:lnTo>
                  <a:pt x="769166" y="12402"/>
                </a:lnTo>
                <a:lnTo>
                  <a:pt x="711754" y="11836"/>
                </a:lnTo>
                <a:lnTo>
                  <a:pt x="655419" y="11268"/>
                </a:lnTo>
                <a:lnTo>
                  <a:pt x="600214" y="10694"/>
                </a:lnTo>
                <a:lnTo>
                  <a:pt x="546191" y="10108"/>
                </a:lnTo>
                <a:lnTo>
                  <a:pt x="493404" y="9506"/>
                </a:lnTo>
                <a:lnTo>
                  <a:pt x="441906" y="8882"/>
                </a:lnTo>
                <a:lnTo>
                  <a:pt x="391749" y="8231"/>
                </a:lnTo>
                <a:lnTo>
                  <a:pt x="342986" y="7548"/>
                </a:lnTo>
                <a:lnTo>
                  <a:pt x="295670" y="6828"/>
                </a:lnTo>
                <a:lnTo>
                  <a:pt x="249854" y="6065"/>
                </a:lnTo>
                <a:lnTo>
                  <a:pt x="194774" y="5045"/>
                </a:lnTo>
                <a:lnTo>
                  <a:pt x="142223" y="3942"/>
                </a:lnTo>
                <a:lnTo>
                  <a:pt x="92304" y="2744"/>
                </a:lnTo>
                <a:lnTo>
                  <a:pt x="45121" y="1442"/>
                </a:lnTo>
                <a:lnTo>
                  <a:pt x="776" y="27"/>
                </a:lnTo>
                <a:lnTo>
                  <a:pt x="0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37897" y="2860290"/>
            <a:ext cx="106794" cy="819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9870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ReactJS tool</a:t>
            </a:r>
            <a:r>
              <a:rPr spc="-95" dirty="0"/>
              <a:t> </a:t>
            </a:r>
            <a:r>
              <a:rPr dirty="0"/>
              <a:t>chain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3338251"/>
            <a:ext cx="8094345" cy="125412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Babel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Transpile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language features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ECMAScript,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JSX)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basic</a:t>
            </a:r>
            <a:r>
              <a:rPr sz="18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endParaRPr sz="1800">
              <a:latin typeface="Arial"/>
              <a:cs typeface="Arial"/>
            </a:endParaRPr>
          </a:p>
          <a:p>
            <a:pPr marL="12700" marR="2174875">
              <a:lnSpc>
                <a:spcPct val="149300"/>
              </a:lnSpc>
            </a:pP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Webpack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Bundle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modules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resources (CSS,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images)  Output loadable with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single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script</a:t>
            </a:r>
            <a:r>
              <a:rPr sz="1800" spc="-5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tag in any browser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3274" y="1394825"/>
            <a:ext cx="1424305" cy="40703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5"/>
              </a:spcBef>
            </a:pPr>
            <a:r>
              <a:rPr sz="1400" spc="-5" dirty="0">
                <a:latin typeface="Arial"/>
                <a:cs typeface="Arial"/>
              </a:rPr>
              <a:t>Component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#1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3274" y="1934674"/>
            <a:ext cx="1424305" cy="40703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5"/>
              </a:spcBef>
            </a:pPr>
            <a:r>
              <a:rPr sz="1400" spc="-5" dirty="0">
                <a:latin typeface="Arial"/>
                <a:cs typeface="Arial"/>
              </a:rPr>
              <a:t>Component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#2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3274" y="2668299"/>
            <a:ext cx="1424305" cy="40703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5"/>
              </a:spcBef>
            </a:pPr>
            <a:r>
              <a:rPr sz="1400" spc="-5" dirty="0">
                <a:latin typeface="Arial"/>
                <a:cs typeface="Arial"/>
              </a:rPr>
              <a:t>Component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#N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4250" y="2229508"/>
            <a:ext cx="278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...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15624" y="1394825"/>
            <a:ext cx="930275" cy="465455"/>
          </a:xfrm>
          <a:custGeom>
            <a:avLst/>
            <a:gdLst/>
            <a:ahLst/>
            <a:cxnLst/>
            <a:rect l="l" t="t" r="r" b="b"/>
            <a:pathLst>
              <a:path w="930275" h="465455">
                <a:moveTo>
                  <a:pt x="0" y="116249"/>
                </a:moveTo>
                <a:lnTo>
                  <a:pt x="697499" y="116249"/>
                </a:lnTo>
                <a:lnTo>
                  <a:pt x="697499" y="0"/>
                </a:lnTo>
                <a:lnTo>
                  <a:pt x="929999" y="232499"/>
                </a:lnTo>
                <a:lnTo>
                  <a:pt x="697499" y="464999"/>
                </a:lnTo>
                <a:lnTo>
                  <a:pt x="697499" y="348749"/>
                </a:lnTo>
                <a:lnTo>
                  <a:pt x="0" y="348749"/>
                </a:lnTo>
                <a:lnTo>
                  <a:pt x="0" y="11624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88650" y="1502738"/>
            <a:ext cx="4794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Babel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15624" y="2639199"/>
            <a:ext cx="930275" cy="465455"/>
          </a:xfrm>
          <a:custGeom>
            <a:avLst/>
            <a:gdLst/>
            <a:ahLst/>
            <a:cxnLst/>
            <a:rect l="l" t="t" r="r" b="b"/>
            <a:pathLst>
              <a:path w="930275" h="465455">
                <a:moveTo>
                  <a:pt x="0" y="116249"/>
                </a:moveTo>
                <a:lnTo>
                  <a:pt x="697499" y="116249"/>
                </a:lnTo>
                <a:lnTo>
                  <a:pt x="697499" y="0"/>
                </a:lnTo>
                <a:lnTo>
                  <a:pt x="929999" y="232499"/>
                </a:lnTo>
                <a:lnTo>
                  <a:pt x="697499" y="464999"/>
                </a:lnTo>
                <a:lnTo>
                  <a:pt x="697499" y="348749"/>
                </a:lnTo>
                <a:lnTo>
                  <a:pt x="0" y="348749"/>
                </a:lnTo>
                <a:lnTo>
                  <a:pt x="0" y="11624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88650" y="2747113"/>
            <a:ext cx="4794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Babel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15624" y="1934674"/>
            <a:ext cx="930275" cy="465455"/>
          </a:xfrm>
          <a:custGeom>
            <a:avLst/>
            <a:gdLst/>
            <a:ahLst/>
            <a:cxnLst/>
            <a:rect l="l" t="t" r="r" b="b"/>
            <a:pathLst>
              <a:path w="930275" h="465455">
                <a:moveTo>
                  <a:pt x="0" y="116249"/>
                </a:moveTo>
                <a:lnTo>
                  <a:pt x="697499" y="116249"/>
                </a:lnTo>
                <a:lnTo>
                  <a:pt x="697499" y="0"/>
                </a:lnTo>
                <a:lnTo>
                  <a:pt x="929999" y="232499"/>
                </a:lnTo>
                <a:lnTo>
                  <a:pt x="697499" y="464999"/>
                </a:lnTo>
                <a:lnTo>
                  <a:pt x="697499" y="348749"/>
                </a:lnTo>
                <a:lnTo>
                  <a:pt x="0" y="348749"/>
                </a:lnTo>
                <a:lnTo>
                  <a:pt x="0" y="11624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88650" y="2042587"/>
            <a:ext cx="4794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Babel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94175" y="1426174"/>
            <a:ext cx="1666239" cy="169291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vert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213360">
              <a:lnSpc>
                <a:spcPct val="100000"/>
              </a:lnSpc>
              <a:spcBef>
                <a:spcPts val="1935"/>
              </a:spcBef>
            </a:pPr>
            <a:r>
              <a:rPr sz="2400" spc="-15" dirty="0">
                <a:latin typeface="Arial"/>
                <a:cs typeface="Arial"/>
              </a:rPr>
              <a:t>Webpack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60374" y="1859825"/>
            <a:ext cx="1249680" cy="882015"/>
          </a:xfrm>
          <a:custGeom>
            <a:avLst/>
            <a:gdLst/>
            <a:ahLst/>
            <a:cxnLst/>
            <a:rect l="l" t="t" r="r" b="b"/>
            <a:pathLst>
              <a:path w="1249679" h="882014">
                <a:moveTo>
                  <a:pt x="0" y="220349"/>
                </a:moveTo>
                <a:lnTo>
                  <a:pt x="808499" y="220349"/>
                </a:lnTo>
                <a:lnTo>
                  <a:pt x="808499" y="0"/>
                </a:lnTo>
                <a:lnTo>
                  <a:pt x="1249199" y="440699"/>
                </a:lnTo>
                <a:lnTo>
                  <a:pt x="808499" y="881399"/>
                </a:lnTo>
                <a:lnTo>
                  <a:pt x="808499" y="661049"/>
                </a:lnTo>
                <a:lnTo>
                  <a:pt x="0" y="661049"/>
                </a:lnTo>
                <a:lnTo>
                  <a:pt x="0" y="22034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867674" y="1975024"/>
            <a:ext cx="1249680" cy="65151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85725" marR="425450">
              <a:lnSpc>
                <a:spcPts val="1650"/>
              </a:lnSpc>
              <a:spcBef>
                <a:spcPts val="700"/>
              </a:spcBef>
            </a:pPr>
            <a:r>
              <a:rPr sz="1400" spc="-5" dirty="0">
                <a:latin typeface="Arial"/>
                <a:cs typeface="Arial"/>
              </a:rPr>
              <a:t>Output  Bundle.js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39525" y="697425"/>
            <a:ext cx="930275" cy="697865"/>
          </a:xfrm>
          <a:custGeom>
            <a:avLst/>
            <a:gdLst/>
            <a:ahLst/>
            <a:cxnLst/>
            <a:rect l="l" t="t" r="r" b="b"/>
            <a:pathLst>
              <a:path w="930275" h="697865">
                <a:moveTo>
                  <a:pt x="0" y="0"/>
                </a:moveTo>
                <a:lnTo>
                  <a:pt x="929999" y="0"/>
                </a:lnTo>
                <a:lnTo>
                  <a:pt x="929999" y="453214"/>
                </a:lnTo>
                <a:lnTo>
                  <a:pt x="552187" y="453214"/>
                </a:lnTo>
                <a:lnTo>
                  <a:pt x="552187" y="523124"/>
                </a:lnTo>
                <a:lnTo>
                  <a:pt x="639374" y="523124"/>
                </a:lnTo>
                <a:lnTo>
                  <a:pt x="464999" y="697499"/>
                </a:lnTo>
                <a:lnTo>
                  <a:pt x="290624" y="523124"/>
                </a:lnTo>
                <a:lnTo>
                  <a:pt x="377812" y="523124"/>
                </a:lnTo>
                <a:lnTo>
                  <a:pt x="377812" y="453214"/>
                </a:lnTo>
                <a:lnTo>
                  <a:pt x="0" y="45321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12550" y="799445"/>
            <a:ext cx="6680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React.js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61300" y="1083638"/>
            <a:ext cx="1546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React</a:t>
            </a:r>
            <a:r>
              <a:rPr sz="1400" u="heavy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Components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6098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reactApp.js - </a:t>
            </a:r>
            <a:r>
              <a:rPr spc="-5" dirty="0"/>
              <a:t>Render element into browser</a:t>
            </a:r>
            <a:r>
              <a:rPr spc="-95" dirty="0"/>
              <a:t> </a:t>
            </a:r>
            <a:r>
              <a:rPr spc="-5" dirty="0"/>
              <a:t>DOM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3293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import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8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Consolas"/>
                <a:cs typeface="Consolas"/>
              </a:rPr>
              <a:t>'react'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530680"/>
            <a:ext cx="4173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import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ReactDOM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</a:t>
            </a:r>
            <a:r>
              <a:rPr sz="1800" spc="-5" dirty="0">
                <a:solidFill>
                  <a:srgbClr val="37761C"/>
                </a:solidFill>
                <a:latin typeface="Consolas"/>
                <a:cs typeface="Consolas"/>
              </a:rPr>
              <a:t>react-dom'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805001"/>
            <a:ext cx="6931659" cy="15684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import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ReactAppView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800" spc="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Consolas"/>
                <a:cs typeface="Consolas"/>
              </a:rPr>
              <a:t>'./components/ReactAppView'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ct val="114599"/>
              </a:lnSpc>
              <a:spcBef>
                <a:spcPts val="750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let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viewTree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latin typeface="Consolas"/>
                <a:cs typeface="Consolas"/>
              </a:rPr>
              <a:t>React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createElement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(ReactAppView, null); 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let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where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document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getElementById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'reactapp'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latin typeface="Consolas"/>
                <a:cs typeface="Consolas"/>
              </a:rPr>
              <a:t>ReactDOM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render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(viewTree,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where);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1199" y="3628549"/>
            <a:ext cx="4606290" cy="89217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85725" marR="207645">
              <a:lnSpc>
                <a:spcPct val="116100"/>
              </a:lnSpc>
              <a:spcBef>
                <a:spcPts val="259"/>
              </a:spcBef>
            </a:pPr>
            <a:r>
              <a:rPr sz="1400" spc="-5" dirty="0">
                <a:latin typeface="Arial"/>
                <a:cs typeface="Arial"/>
              </a:rPr>
              <a:t>Renders the tree of React elements </a:t>
            </a:r>
            <a:r>
              <a:rPr sz="1400" dirty="0">
                <a:latin typeface="Arial"/>
                <a:cs typeface="Arial"/>
              </a:rPr>
              <a:t>(single component  </a:t>
            </a:r>
            <a:r>
              <a:rPr sz="1400" spc="-5" dirty="0">
                <a:latin typeface="Arial"/>
                <a:cs typeface="Arial"/>
              </a:rPr>
              <a:t>named </a:t>
            </a:r>
            <a:r>
              <a:rPr sz="1400" b="1" spc="-5" dirty="0">
                <a:latin typeface="Consolas"/>
                <a:cs typeface="Consolas"/>
              </a:rPr>
              <a:t>ReactAppView</a:t>
            </a:r>
            <a:r>
              <a:rPr sz="1400" spc="-5" dirty="0">
                <a:latin typeface="Arial"/>
                <a:cs typeface="Arial"/>
              </a:rPr>
              <a:t>) into the browser's DOM at the  div with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id=reactapp.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74150" y="3441829"/>
            <a:ext cx="370205" cy="187325"/>
          </a:xfrm>
          <a:custGeom>
            <a:avLst/>
            <a:gdLst/>
            <a:ahLst/>
            <a:cxnLst/>
            <a:rect l="l" t="t" r="r" b="b"/>
            <a:pathLst>
              <a:path w="370204" h="187325">
                <a:moveTo>
                  <a:pt x="370149" y="186720"/>
                </a:moveTo>
                <a:lnTo>
                  <a:pt x="0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87440" y="3393368"/>
            <a:ext cx="110407" cy="86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37799" y="1048549"/>
            <a:ext cx="2324735" cy="74612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85090" marR="186690">
              <a:lnSpc>
                <a:spcPts val="1650"/>
              </a:lnSpc>
              <a:spcBef>
                <a:spcPts val="695"/>
              </a:spcBef>
            </a:pPr>
            <a:r>
              <a:rPr sz="1400" spc="-5" dirty="0">
                <a:latin typeface="Arial"/>
                <a:cs typeface="Arial"/>
              </a:rPr>
              <a:t>ES6 </a:t>
            </a:r>
            <a:r>
              <a:rPr sz="1400" dirty="0">
                <a:latin typeface="Arial"/>
                <a:cs typeface="Arial"/>
              </a:rPr>
              <a:t>Modules - </a:t>
            </a:r>
            <a:r>
              <a:rPr sz="1400" spc="-5" dirty="0">
                <a:latin typeface="Arial"/>
                <a:cs typeface="Arial"/>
              </a:rPr>
              <a:t>Bring in  React and web app React  </a:t>
            </a:r>
            <a:r>
              <a:rPr sz="1400" dirty="0">
                <a:latin typeface="Arial"/>
                <a:cs typeface="Arial"/>
              </a:rPr>
              <a:t>components.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96545" y="1414250"/>
            <a:ext cx="1610360" cy="13970"/>
          </a:xfrm>
          <a:custGeom>
            <a:avLst/>
            <a:gdLst/>
            <a:ahLst/>
            <a:cxnLst/>
            <a:rect l="l" t="t" r="r" b="b"/>
            <a:pathLst>
              <a:path w="1610360" h="13969">
                <a:moveTo>
                  <a:pt x="1609803" y="0"/>
                </a:moveTo>
                <a:lnTo>
                  <a:pt x="0" y="13445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00573" y="1386705"/>
            <a:ext cx="105760" cy="819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82584" y="1414250"/>
            <a:ext cx="1168400" cy="305435"/>
          </a:xfrm>
          <a:custGeom>
            <a:avLst/>
            <a:gdLst/>
            <a:ahLst/>
            <a:cxnLst/>
            <a:rect l="l" t="t" r="r" b="b"/>
            <a:pathLst>
              <a:path w="1168400" h="305435">
                <a:moveTo>
                  <a:pt x="1168015" y="0"/>
                </a:moveTo>
                <a:lnTo>
                  <a:pt x="0" y="305295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89419" y="1679577"/>
            <a:ext cx="110647" cy="79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05464" y="1428650"/>
            <a:ext cx="332740" cy="482600"/>
          </a:xfrm>
          <a:custGeom>
            <a:avLst/>
            <a:gdLst/>
            <a:ahLst/>
            <a:cxnLst/>
            <a:rect l="l" t="t" r="r" b="b"/>
            <a:pathLst>
              <a:path w="332739" h="482600">
                <a:moveTo>
                  <a:pt x="332335" y="0"/>
                </a:moveTo>
                <a:lnTo>
                  <a:pt x="0" y="482187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46879" y="1883456"/>
            <a:ext cx="94017" cy="1080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1368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components/ReactAppView.js </a:t>
            </a:r>
            <a:r>
              <a:rPr dirty="0"/>
              <a:t>- </a:t>
            </a:r>
            <a:r>
              <a:rPr spc="-10" dirty="0"/>
              <a:t>ES6 </a:t>
            </a:r>
            <a:r>
              <a:rPr dirty="0"/>
              <a:t>class</a:t>
            </a:r>
            <a:r>
              <a:rPr spc="-70" dirty="0"/>
              <a:t> </a:t>
            </a:r>
            <a:r>
              <a:rPr spc="-5" dirty="0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81100"/>
            <a:ext cx="5549900" cy="8445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import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from</a:t>
            </a:r>
            <a:r>
              <a:rPr sz="1800" spc="1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Consolas"/>
                <a:cs typeface="Consolas"/>
              </a:rPr>
              <a:t>'react'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class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ReactAppView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extends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React.Component</a:t>
            </a:r>
            <a:r>
              <a:rPr sz="1800" spc="-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727" y="1900251"/>
            <a:ext cx="2536825" cy="1685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marR="5080" indent="-250825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constructor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(props)</a:t>
            </a:r>
            <a:r>
              <a:rPr sz="1800" spc="-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super(props);</a:t>
            </a:r>
            <a:endParaRPr sz="18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spc="-5" dirty="0">
                <a:solidFill>
                  <a:srgbClr val="0000FF"/>
                </a:solidFill>
                <a:latin typeface="Consolas"/>
                <a:cs typeface="Consolas"/>
              </a:rPr>
              <a:t>render</a:t>
            </a:r>
            <a:r>
              <a:rPr sz="2400" spc="-5" dirty="0">
                <a:solidFill>
                  <a:srgbClr val="595959"/>
                </a:solidFill>
                <a:latin typeface="Consolas"/>
                <a:cs typeface="Consolas"/>
              </a:rPr>
              <a:t>()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r>
              <a:rPr sz="1800" spc="-36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3481401"/>
            <a:ext cx="3545204" cy="8445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export default</a:t>
            </a:r>
            <a:r>
              <a:rPr sz="1800" spc="-3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ReactAppView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39025" y="2973124"/>
            <a:ext cx="3507104" cy="62103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85725" marR="242570">
              <a:lnSpc>
                <a:spcPts val="1650"/>
              </a:lnSpc>
              <a:spcBef>
                <a:spcPts val="815"/>
              </a:spcBef>
            </a:pPr>
            <a:r>
              <a:rPr sz="1400" spc="-5" dirty="0">
                <a:latin typeface="Arial"/>
                <a:cs typeface="Arial"/>
              </a:rPr>
              <a:t>Require </a:t>
            </a:r>
            <a:r>
              <a:rPr sz="1400" dirty="0">
                <a:latin typeface="Arial"/>
                <a:cs typeface="Arial"/>
              </a:rPr>
              <a:t>method render() - returns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React  element tree of the Component's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view.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68274" y="3283475"/>
            <a:ext cx="970915" cy="95885"/>
          </a:xfrm>
          <a:custGeom>
            <a:avLst/>
            <a:gdLst/>
            <a:ahLst/>
            <a:cxnLst/>
            <a:rect l="l" t="t" r="r" b="b"/>
            <a:pathLst>
              <a:path w="970914" h="95885">
                <a:moveTo>
                  <a:pt x="970750" y="0"/>
                </a:moveTo>
                <a:lnTo>
                  <a:pt x="0" y="95597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72715" y="3338233"/>
            <a:ext cx="108168" cy="816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49249" y="2030950"/>
            <a:ext cx="3507104" cy="62103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ts val="1580"/>
              </a:lnSpc>
            </a:pPr>
            <a:r>
              <a:rPr sz="1400" spc="-5" dirty="0">
                <a:latin typeface="Arial"/>
                <a:cs typeface="Arial"/>
              </a:rPr>
              <a:t>Inherits from React.Component. </a:t>
            </a:r>
            <a:r>
              <a:rPr sz="1400" spc="-5" dirty="0">
                <a:latin typeface="Consolas"/>
                <a:cs typeface="Consolas"/>
              </a:rPr>
              <a:t>props</a:t>
            </a:r>
            <a:r>
              <a:rPr sz="1400" spc="-390" dirty="0">
                <a:latin typeface="Consolas"/>
                <a:cs typeface="Consolas"/>
              </a:rPr>
              <a:t> </a:t>
            </a:r>
            <a:r>
              <a:rPr sz="1400" spc="-5" dirty="0">
                <a:latin typeface="Arial"/>
                <a:cs typeface="Arial"/>
              </a:rPr>
              <a:t>is</a:t>
            </a:r>
            <a:endParaRPr sz="1400">
              <a:latin typeface="Arial"/>
              <a:cs typeface="Arial"/>
            </a:endParaRPr>
          </a:p>
          <a:p>
            <a:pPr marL="85725" marR="788670">
              <a:lnSpc>
                <a:spcPts val="1650"/>
              </a:lnSpc>
              <a:spcBef>
                <a:spcPts val="65"/>
              </a:spcBef>
            </a:pPr>
            <a:r>
              <a:rPr sz="1400" dirty="0">
                <a:latin typeface="Arial"/>
                <a:cs typeface="Arial"/>
              </a:rPr>
              <a:t>set </a:t>
            </a:r>
            <a:r>
              <a:rPr sz="1400" spc="-5" dirty="0">
                <a:latin typeface="Arial"/>
                <a:cs typeface="Arial"/>
              </a:rPr>
              <a:t>to the attributes passed to the  </a:t>
            </a:r>
            <a:r>
              <a:rPr sz="1400" dirty="0">
                <a:latin typeface="Arial"/>
                <a:cs typeface="Arial"/>
              </a:rPr>
              <a:t>component.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78499" y="2244425"/>
            <a:ext cx="970915" cy="95885"/>
          </a:xfrm>
          <a:custGeom>
            <a:avLst/>
            <a:gdLst/>
            <a:ahLst/>
            <a:cxnLst/>
            <a:rect l="l" t="t" r="r" b="b"/>
            <a:pathLst>
              <a:path w="970914" h="95885">
                <a:moveTo>
                  <a:pt x="970750" y="0"/>
                </a:moveTo>
                <a:lnTo>
                  <a:pt x="0" y="95597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82940" y="2299184"/>
            <a:ext cx="108168" cy="81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98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ReactAppView </a:t>
            </a:r>
            <a:r>
              <a:rPr dirty="0"/>
              <a:t>render()</a:t>
            </a:r>
            <a:r>
              <a:rPr spc="-80" dirty="0"/>
              <a:t> </a:t>
            </a:r>
            <a:r>
              <a:rPr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012430" cy="32924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render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()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4984" marR="450850">
              <a:lnSpc>
                <a:spcPct val="114599"/>
              </a:lnSpc>
              <a:tabLst>
                <a:tab pos="2146300" algn="l"/>
              </a:tabLst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let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label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createElement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'label'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 null,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'Name: </a:t>
            </a:r>
            <a:r>
              <a:rPr sz="1800" dirty="0">
                <a:solidFill>
                  <a:srgbClr val="6AA84F"/>
                </a:solidFill>
                <a:latin typeface="Consolas"/>
                <a:cs typeface="Consolas"/>
              </a:rPr>
              <a:t>'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); 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let</a:t>
            </a:r>
            <a:r>
              <a:rPr sz="1800" dirty="0">
                <a:solidFill>
                  <a:srgbClr val="9900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input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 =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createElement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'input'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1841500" marR="5080" indent="-448309">
              <a:lnSpc>
                <a:spcPct val="114599"/>
              </a:lnSpc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type: 'text', value: </a:t>
            </a:r>
            <a:r>
              <a:rPr sz="1800" spc="-5" dirty="0">
                <a:latin typeface="Consolas"/>
                <a:cs typeface="Consolas"/>
              </a:rPr>
              <a:t>this.state.yourName,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onChange: </a:t>
            </a:r>
            <a:r>
              <a:rPr sz="1800" spc="-5" dirty="0">
                <a:latin typeface="Consolas"/>
                <a:cs typeface="Consolas"/>
              </a:rPr>
              <a:t>(event) =&gt; this.handleChange(event)</a:t>
            </a:r>
            <a:r>
              <a:rPr sz="1800" spc="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  <a:tabLst>
                <a:tab pos="4993640" algn="l"/>
              </a:tabLst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let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h1</a:t>
            </a:r>
            <a:r>
              <a:rPr sz="1800" spc="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createElement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'h1'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	null,</a:t>
            </a:r>
            <a:endParaRPr sz="1800">
              <a:latin typeface="Consolas"/>
              <a:cs typeface="Consolas"/>
            </a:endParaRPr>
          </a:p>
          <a:p>
            <a:pPr marL="32131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'Hello </a:t>
            </a:r>
            <a:r>
              <a:rPr sz="1800" spc="5" dirty="0">
                <a:solidFill>
                  <a:srgbClr val="6AA84F"/>
                </a:solidFill>
                <a:latin typeface="Consolas"/>
                <a:cs typeface="Consolas"/>
              </a:rPr>
              <a:t>'</a:t>
            </a:r>
            <a:r>
              <a:rPr sz="1800" spc="5" dirty="0">
                <a:solidFill>
                  <a:srgbClr val="595959"/>
                </a:solidFill>
                <a:latin typeface="Consolas"/>
                <a:cs typeface="Consolas"/>
              </a:rPr>
              <a:t>, </a:t>
            </a:r>
            <a:r>
              <a:rPr sz="1800" spc="-5" dirty="0">
                <a:latin typeface="Consolas"/>
                <a:cs typeface="Consolas"/>
              </a:rPr>
              <a:t>this.state.yourName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</a:t>
            </a:r>
            <a:r>
              <a:rPr sz="1800" spc="-3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'!'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514984">
              <a:lnSpc>
                <a:spcPct val="100000"/>
              </a:lnSpc>
              <a:spcBef>
                <a:spcPts val="131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return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createElement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'div'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 null, label, input,</a:t>
            </a:r>
            <a:r>
              <a:rPr sz="18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h1);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Returns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 tree with</a:t>
            </a:r>
            <a:r>
              <a:rPr sz="1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latin typeface="Consolas"/>
                <a:cs typeface="Consolas"/>
              </a:rPr>
              <a:t>div</a:t>
            </a:r>
            <a:r>
              <a:rPr sz="1800" spc="-49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spc="-5" dirty="0">
                <a:latin typeface="Consolas"/>
                <a:cs typeface="Consolas"/>
              </a:rPr>
              <a:t>label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 </a:t>
            </a:r>
            <a:r>
              <a:rPr sz="1800" spc="-5" dirty="0">
                <a:latin typeface="Consolas"/>
                <a:cs typeface="Consolas"/>
              </a:rPr>
              <a:t>input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</a:t>
            </a:r>
            <a:r>
              <a:rPr sz="1800" spc="-4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latin typeface="Consolas"/>
                <a:cs typeface="Consolas"/>
              </a:rPr>
              <a:t>h1)</a:t>
            </a:r>
            <a:r>
              <a:rPr sz="1800" spc="-49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43750" y="4201174"/>
            <a:ext cx="2000249" cy="771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38987" y="4196412"/>
            <a:ext cx="2005330" cy="0"/>
          </a:xfrm>
          <a:custGeom>
            <a:avLst/>
            <a:gdLst/>
            <a:ahLst/>
            <a:cxnLst/>
            <a:rect l="l" t="t" r="r" b="b"/>
            <a:pathLst>
              <a:path w="2005329">
                <a:moveTo>
                  <a:pt x="0" y="0"/>
                </a:moveTo>
                <a:lnTo>
                  <a:pt x="2005012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38987" y="4196412"/>
            <a:ext cx="2005330" cy="904875"/>
          </a:xfrm>
          <a:custGeom>
            <a:avLst/>
            <a:gdLst/>
            <a:ahLst/>
            <a:cxnLst/>
            <a:rect l="l" t="t" r="r" b="b"/>
            <a:pathLst>
              <a:path w="2005329" h="904875">
                <a:moveTo>
                  <a:pt x="2005012" y="904874"/>
                </a:moveTo>
                <a:lnTo>
                  <a:pt x="0" y="904874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27149" y="134974"/>
            <a:ext cx="3549015" cy="119316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5"/>
              </a:spcBef>
            </a:pPr>
            <a:r>
              <a:rPr sz="1200" spc="-5" dirty="0">
                <a:solidFill>
                  <a:srgbClr val="FF0000"/>
                </a:solidFill>
                <a:latin typeface="Consolas"/>
                <a:cs typeface="Consolas"/>
              </a:rPr>
              <a:t>&lt;div&gt;</a:t>
            </a:r>
            <a:endParaRPr sz="1200">
              <a:latin typeface="Consolas"/>
              <a:cs typeface="Consolas"/>
            </a:endParaRPr>
          </a:p>
          <a:p>
            <a:pPr marL="336550">
              <a:lnSpc>
                <a:spcPct val="100000"/>
              </a:lnSpc>
              <a:spcBef>
                <a:spcPts val="210"/>
              </a:spcBef>
            </a:pPr>
            <a:r>
              <a:rPr sz="1200" spc="-5" dirty="0">
                <a:solidFill>
                  <a:srgbClr val="FF0000"/>
                </a:solidFill>
                <a:latin typeface="Consolas"/>
                <a:cs typeface="Consolas"/>
              </a:rPr>
              <a:t>&lt;label&gt;</a:t>
            </a: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Name:</a:t>
            </a:r>
            <a:r>
              <a:rPr sz="12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FF0000"/>
                </a:solidFill>
                <a:latin typeface="Consolas"/>
                <a:cs typeface="Consolas"/>
              </a:rPr>
              <a:t>&lt;/label&gt;</a:t>
            </a:r>
            <a:endParaRPr sz="1200">
              <a:latin typeface="Consolas"/>
              <a:cs typeface="Consolas"/>
            </a:endParaRPr>
          </a:p>
          <a:p>
            <a:pPr marL="336550">
              <a:lnSpc>
                <a:spcPct val="100000"/>
              </a:lnSpc>
              <a:spcBef>
                <a:spcPts val="210"/>
              </a:spcBef>
            </a:pPr>
            <a:r>
              <a:rPr sz="1200" spc="-5" dirty="0">
                <a:solidFill>
                  <a:srgbClr val="FF0000"/>
                </a:solidFill>
                <a:latin typeface="Consolas"/>
                <a:cs typeface="Consolas"/>
              </a:rPr>
              <a:t>&lt;input </a:t>
            </a: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type="</a:t>
            </a:r>
            <a:r>
              <a:rPr sz="1200" spc="-5" dirty="0">
                <a:solidFill>
                  <a:srgbClr val="6AA84F"/>
                </a:solidFill>
                <a:latin typeface="Consolas"/>
                <a:cs typeface="Consolas"/>
              </a:rPr>
              <a:t>text" </a:t>
            </a:r>
            <a:r>
              <a:rPr sz="1200" dirty="0">
                <a:latin typeface="Arial"/>
                <a:cs typeface="Arial"/>
              </a:rPr>
              <a:t>…</a:t>
            </a:r>
            <a:r>
              <a:rPr sz="1200" spc="320" dirty="0"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FF0000"/>
                </a:solidFill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  <a:p>
            <a:pPr marL="336550">
              <a:lnSpc>
                <a:spcPct val="100000"/>
              </a:lnSpc>
              <a:spcBef>
                <a:spcPts val="210"/>
              </a:spcBef>
            </a:pP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FF0000"/>
                </a:solidFill>
                <a:latin typeface="Consolas"/>
                <a:cs typeface="Consolas"/>
              </a:rPr>
              <a:t>h1&gt;</a:t>
            </a: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Hello</a:t>
            </a:r>
            <a:r>
              <a:rPr sz="12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latin typeface="Consolas"/>
                <a:cs typeface="Consolas"/>
              </a:rPr>
              <a:t>{this.state.yourName}</a:t>
            </a: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!</a:t>
            </a:r>
            <a:r>
              <a:rPr sz="1200" spc="-5" dirty="0">
                <a:solidFill>
                  <a:srgbClr val="FF0000"/>
                </a:solidFill>
                <a:latin typeface="Consolas"/>
                <a:cs typeface="Consolas"/>
              </a:rPr>
              <a:t>&lt;/h1&gt;</a:t>
            </a:r>
            <a:endParaRPr sz="12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1200" spc="-5" dirty="0">
                <a:solidFill>
                  <a:srgbClr val="FF0000"/>
                </a:solidFill>
                <a:latin typeface="Consolas"/>
                <a:cs typeface="Consolas"/>
              </a:rPr>
              <a:t>&lt;/div&gt;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9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1716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ReactAppView </a:t>
            </a:r>
            <a:r>
              <a:rPr dirty="0"/>
              <a:t>render() method </a:t>
            </a:r>
            <a:r>
              <a:rPr spc="-5" dirty="0"/>
              <a:t>w/o</a:t>
            </a:r>
            <a:r>
              <a:rPr spc="-90" dirty="0"/>
              <a:t> </a:t>
            </a:r>
            <a:r>
              <a:rPr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817484" cy="31686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render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()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016635" marR="1261110" indent="-501650">
              <a:lnSpc>
                <a:spcPct val="114599"/>
              </a:lnSpc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return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createElement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'div'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 null,  React.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createElement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'label'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 null,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'Name: </a:t>
            </a:r>
            <a:r>
              <a:rPr sz="1800" dirty="0">
                <a:solidFill>
                  <a:srgbClr val="6AA84F"/>
                </a:solidFill>
                <a:latin typeface="Consolas"/>
                <a:cs typeface="Consolas"/>
              </a:rPr>
              <a:t>'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),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createElement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'input'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1644014" marR="5080" indent="-251460">
              <a:lnSpc>
                <a:spcPct val="114599"/>
              </a:lnSpc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type: 'text', value: </a:t>
            </a:r>
            <a:r>
              <a:rPr sz="1800" spc="-5" dirty="0">
                <a:latin typeface="Consolas"/>
                <a:cs typeface="Consolas"/>
              </a:rPr>
              <a:t>this.state.yourName,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onChange: </a:t>
            </a:r>
            <a:r>
              <a:rPr sz="1800" spc="-5" dirty="0">
                <a:latin typeface="Consolas"/>
                <a:cs typeface="Consolas"/>
              </a:rPr>
              <a:t>(event) =&gt; this.handleChange(event)</a:t>
            </a:r>
            <a:r>
              <a:rPr sz="1800" spc="2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}),</a:t>
            </a:r>
            <a:endParaRPr sz="1800">
              <a:latin typeface="Consolas"/>
              <a:cs typeface="Consolas"/>
            </a:endParaRPr>
          </a:p>
          <a:p>
            <a:pPr marL="1016635">
              <a:lnSpc>
                <a:spcPct val="100000"/>
              </a:lnSpc>
              <a:spcBef>
                <a:spcPts val="315"/>
              </a:spcBef>
              <a:tabLst>
                <a:tab pos="441071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createElement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'h1'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	null,</a:t>
            </a:r>
            <a:endParaRPr sz="1800">
              <a:latin typeface="Consolas"/>
              <a:cs typeface="Consolas"/>
            </a:endParaRPr>
          </a:p>
          <a:p>
            <a:pPr marL="202311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'Hello </a:t>
            </a:r>
            <a:r>
              <a:rPr sz="1800" spc="5" dirty="0">
                <a:solidFill>
                  <a:srgbClr val="6AA84F"/>
                </a:solidFill>
                <a:latin typeface="Consolas"/>
                <a:cs typeface="Consolas"/>
              </a:rPr>
              <a:t>'</a:t>
            </a:r>
            <a:r>
              <a:rPr sz="1800" spc="5" dirty="0">
                <a:solidFill>
                  <a:srgbClr val="595959"/>
                </a:solidFill>
                <a:latin typeface="Consolas"/>
                <a:cs typeface="Consolas"/>
              </a:rPr>
              <a:t>, </a:t>
            </a:r>
            <a:r>
              <a:rPr sz="1800" spc="-5" dirty="0">
                <a:latin typeface="Consolas"/>
                <a:cs typeface="Consolas"/>
              </a:rPr>
              <a:t>this.state.yourName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'!'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76517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89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Use </a:t>
            </a:r>
            <a:r>
              <a:rPr dirty="0"/>
              <a:t>JSX </a:t>
            </a:r>
            <a:r>
              <a:rPr spc="-5" dirty="0"/>
              <a:t>to generate </a:t>
            </a:r>
            <a:r>
              <a:rPr dirty="0"/>
              <a:t>calls </a:t>
            </a:r>
            <a:r>
              <a:rPr spc="-5" dirty="0"/>
              <a:t>to</a:t>
            </a:r>
            <a:r>
              <a:rPr spc="-105" dirty="0"/>
              <a:t> </a:t>
            </a:r>
            <a:r>
              <a:rPr dirty="0"/>
              <a:t>createElement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176350"/>
            <a:ext cx="5680710" cy="34829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render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()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R="4279265" algn="r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return</a:t>
            </a:r>
            <a:r>
              <a:rPr sz="1800" spc="-100" dirty="0">
                <a:solidFill>
                  <a:srgbClr val="99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9900FF"/>
                </a:solidFill>
                <a:latin typeface="Consolas"/>
                <a:cs typeface="Consolas"/>
              </a:rPr>
              <a:t>(</a:t>
            </a:r>
            <a:endParaRPr sz="1800">
              <a:latin typeface="Consolas"/>
              <a:cs typeface="Consolas"/>
            </a:endParaRPr>
          </a:p>
          <a:p>
            <a:pPr marR="4277995" algn="r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&lt;div&gt;</a:t>
            </a:r>
            <a:endParaRPr sz="1800">
              <a:latin typeface="Consolas"/>
              <a:cs typeface="Consolas"/>
            </a:endParaRPr>
          </a:p>
          <a:p>
            <a:pPr marL="101790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&lt;label&gt;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Name:</a:t>
            </a:r>
            <a:r>
              <a:rPr sz="1800" spc="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&lt;/label&gt;</a:t>
            </a:r>
            <a:endParaRPr sz="1800">
              <a:latin typeface="Consolas"/>
              <a:cs typeface="Consolas"/>
            </a:endParaRPr>
          </a:p>
          <a:p>
            <a:pPr marL="101790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&lt;input</a:t>
            </a:r>
            <a:endParaRPr sz="1800">
              <a:latin typeface="Consolas"/>
              <a:cs typeface="Consolas"/>
            </a:endParaRPr>
          </a:p>
          <a:p>
            <a:pPr marL="1384300" marR="77216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type="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text"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value=</a:t>
            </a:r>
            <a:r>
              <a:rPr sz="1800" spc="-5" dirty="0">
                <a:latin typeface="Consolas"/>
                <a:cs typeface="Consolas"/>
              </a:rPr>
              <a:t>{this.state.yourName}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onChange</a:t>
            </a:r>
            <a:r>
              <a:rPr sz="1800" spc="1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-5" dirty="0">
                <a:latin typeface="Consolas"/>
                <a:cs typeface="Consolas"/>
              </a:rPr>
              <a:t>{this.handleChange}</a:t>
            </a:r>
            <a:endParaRPr sz="1800">
              <a:latin typeface="Consolas"/>
              <a:cs typeface="Consolas"/>
            </a:endParaRPr>
          </a:p>
          <a:p>
            <a:pPr marL="10521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101663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h1&gt;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Hello</a:t>
            </a:r>
            <a:r>
              <a:rPr sz="18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r>
              <a:rPr sz="1800" spc="-5" dirty="0">
                <a:latin typeface="Consolas"/>
                <a:cs typeface="Consolas"/>
              </a:rPr>
              <a:t>this.state.yourName}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!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&lt;/h1&gt;</a:t>
            </a:r>
            <a:endParaRPr sz="1800">
              <a:latin typeface="Consolas"/>
              <a:cs typeface="Consolas"/>
            </a:endParaRPr>
          </a:p>
          <a:p>
            <a:pPr marL="64071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&lt;/div&gt;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7466" y="4673930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7359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Component </a:t>
            </a:r>
            <a:r>
              <a:rPr dirty="0"/>
              <a:t>state </a:t>
            </a:r>
            <a:r>
              <a:rPr spc="-5" dirty="0"/>
              <a:t>and input</a:t>
            </a:r>
            <a:r>
              <a:rPr spc="-90" dirty="0"/>
              <a:t> </a:t>
            </a:r>
            <a:r>
              <a:rPr spc="-5" dirty="0"/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81100"/>
            <a:ext cx="5549900" cy="8445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import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from</a:t>
            </a:r>
            <a:r>
              <a:rPr sz="1800" spc="15" dirty="0">
                <a:solidFill>
                  <a:srgbClr val="9900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Consolas"/>
                <a:cs typeface="Consolas"/>
              </a:rPr>
              <a:t>'react'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class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ReactAppView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extends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React.Component</a:t>
            </a:r>
            <a:r>
              <a:rPr sz="1800" spc="-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727" y="1900251"/>
            <a:ext cx="3796029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marR="1264285" indent="-250825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constructor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(props)</a:t>
            </a:r>
            <a:r>
              <a:rPr sz="1800" spc="-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super(props);</a:t>
            </a:r>
            <a:endParaRPr sz="1800">
              <a:latin typeface="Consolas"/>
              <a:cs typeface="Consolas"/>
            </a:endParaRPr>
          </a:p>
          <a:p>
            <a:pPr marL="26416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this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.state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{yourName:</a:t>
            </a:r>
            <a:r>
              <a:rPr sz="1800" spc="-5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""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handleChange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latin typeface="Consolas"/>
                <a:cs typeface="Consolas"/>
              </a:rPr>
              <a:t>event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) =&gt;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249" y="3471876"/>
            <a:ext cx="6998334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24815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this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.setState({ yourName: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event.target.value</a:t>
            </a:r>
            <a:r>
              <a:rPr sz="1800" b="1" spc="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});</a:t>
            </a:r>
            <a:endParaRPr sz="1800" dirty="0">
              <a:latin typeface="Consolas"/>
              <a:cs typeface="Consolas"/>
            </a:endParaRPr>
          </a:p>
          <a:p>
            <a:pPr marL="17272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17272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....</a:t>
            </a:r>
            <a:endParaRPr sz="18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Input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setState</a:t>
            </a:r>
            <a:r>
              <a:rPr sz="1800" spc="-55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which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causes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React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 render()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again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3300" y="2023849"/>
            <a:ext cx="4475480" cy="62103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85725">
              <a:lnSpc>
                <a:spcPts val="1664"/>
              </a:lnSpc>
              <a:spcBef>
                <a:spcPts val="735"/>
              </a:spcBef>
            </a:pPr>
            <a:r>
              <a:rPr sz="1400" dirty="0">
                <a:latin typeface="Arial"/>
                <a:cs typeface="Arial"/>
              </a:rPr>
              <a:t>Make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&lt;h1&gt;</a:t>
            </a:r>
            <a:r>
              <a:rPr sz="1400" spc="-5" dirty="0">
                <a:latin typeface="Consolas"/>
                <a:cs typeface="Consolas"/>
              </a:rPr>
              <a:t>Hello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spc="-5" dirty="0">
                <a:latin typeface="Consolas"/>
                <a:cs typeface="Consolas"/>
              </a:rPr>
              <a:t>{this.state.yourName}!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&lt;/h1&gt;</a:t>
            </a:r>
            <a:endParaRPr sz="1400">
              <a:latin typeface="Consolas"/>
              <a:cs typeface="Consolas"/>
            </a:endParaRPr>
          </a:p>
          <a:p>
            <a:pPr marL="85725">
              <a:lnSpc>
                <a:spcPts val="1664"/>
              </a:lnSpc>
            </a:pPr>
            <a:r>
              <a:rPr sz="1400" spc="-5" dirty="0">
                <a:latin typeface="Arial"/>
                <a:cs typeface="Arial"/>
              </a:rPr>
              <a:t>work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61135" y="2334199"/>
            <a:ext cx="772160" cy="238125"/>
          </a:xfrm>
          <a:custGeom>
            <a:avLst/>
            <a:gdLst/>
            <a:ahLst/>
            <a:cxnLst/>
            <a:rect l="l" t="t" r="r" b="b"/>
            <a:pathLst>
              <a:path w="772160" h="238125">
                <a:moveTo>
                  <a:pt x="772164" y="0"/>
                </a:moveTo>
                <a:lnTo>
                  <a:pt x="0" y="237851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68990" y="2532455"/>
            <a:ext cx="110932" cy="791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7946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47035" algn="l"/>
              </a:tabLst>
            </a:pPr>
            <a:r>
              <a:rPr spc="-5" dirty="0"/>
              <a:t>One</a:t>
            </a:r>
            <a:r>
              <a:rPr spc="-10" dirty="0"/>
              <a:t> </a:t>
            </a:r>
            <a:r>
              <a:rPr spc="-5" dirty="0"/>
              <a:t>way</a:t>
            </a:r>
            <a:r>
              <a:rPr dirty="0"/>
              <a:t> </a:t>
            </a:r>
            <a:r>
              <a:rPr spc="-5" dirty="0"/>
              <a:t>binding:	</a:t>
            </a:r>
            <a:r>
              <a:rPr spc="-40" dirty="0"/>
              <a:t>Type </a:t>
            </a:r>
            <a:r>
              <a:rPr spc="-10" dirty="0"/>
              <a:t>'D' </a:t>
            </a:r>
            <a:r>
              <a:rPr spc="-5" dirty="0"/>
              <a:t>Character in input</a:t>
            </a:r>
            <a:r>
              <a:rPr spc="-40" dirty="0"/>
              <a:t> </a:t>
            </a:r>
            <a:r>
              <a:rPr spc="-5" dirty="0"/>
              <a:t>box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863840" cy="304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85090" indent="-379095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JSX statement: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&lt;input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type="text" value=</a:t>
            </a:r>
            <a:r>
              <a:rPr sz="1800" spc="-5" dirty="0">
                <a:latin typeface="Consolas"/>
                <a:cs typeface="Consolas"/>
              </a:rPr>
              <a:t>{this.state.yourName}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 onChange=</a:t>
            </a:r>
            <a:r>
              <a:rPr sz="1800" spc="-5" dirty="0">
                <a:latin typeface="Consolas"/>
                <a:cs typeface="Consolas"/>
              </a:rPr>
              <a:t>{(event) =&gt; this.handleChange(event)}</a:t>
            </a:r>
            <a:r>
              <a:rPr sz="1800" spc="2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1065"/>
              </a:spcBef>
              <a:tabLst>
                <a:tab pos="3856354" algn="l"/>
              </a:tabLst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Triggers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handleChange</a:t>
            </a:r>
            <a:r>
              <a:rPr sz="1800" spc="3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Arial"/>
                <a:cs typeface="Arial"/>
              </a:rPr>
              <a:t>call </a:t>
            </a:r>
            <a:r>
              <a:rPr sz="1800" spc="-5" dirty="0">
                <a:latin typeface="Arial"/>
                <a:cs typeface="Arial"/>
              </a:rPr>
              <a:t>with	</a:t>
            </a:r>
            <a:r>
              <a:rPr sz="1800" spc="-5" dirty="0">
                <a:latin typeface="Courier New"/>
                <a:cs typeface="Courier New"/>
              </a:rPr>
              <a:t>event.target.value</a:t>
            </a:r>
            <a:r>
              <a:rPr sz="1800" spc="-59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== "D"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890"/>
              </a:spcBef>
              <a:buClr>
                <a:srgbClr val="595959"/>
              </a:buClr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0000FF"/>
                </a:solidFill>
                <a:latin typeface="Arial"/>
                <a:cs typeface="Arial"/>
              </a:rPr>
              <a:t>handleChange </a:t>
            </a:r>
            <a:r>
              <a:rPr sz="1800" dirty="0"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this.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setState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({yourName: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event.target.value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1890"/>
              </a:spcBef>
            </a:pPr>
            <a:r>
              <a:rPr sz="1800" spc="-5" dirty="0">
                <a:latin typeface="Courier New"/>
                <a:cs typeface="Courier New"/>
              </a:rPr>
              <a:t>this.state.yourName</a:t>
            </a:r>
            <a:r>
              <a:rPr sz="1800" spc="-59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is </a:t>
            </a:r>
            <a:r>
              <a:rPr sz="1800" dirty="0">
                <a:latin typeface="Arial"/>
                <a:cs typeface="Arial"/>
              </a:rPr>
              <a:t>changed </a:t>
            </a:r>
            <a:r>
              <a:rPr sz="1800" spc="-5" dirty="0">
                <a:latin typeface="Arial"/>
                <a:cs typeface="Arial"/>
              </a:rPr>
              <a:t>to "D"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8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Arial"/>
                <a:cs typeface="Arial"/>
              </a:rPr>
              <a:t>React </a:t>
            </a:r>
            <a:r>
              <a:rPr sz="1800" dirty="0">
                <a:latin typeface="Arial"/>
                <a:cs typeface="Arial"/>
              </a:rPr>
              <a:t>sees state change </a:t>
            </a:r>
            <a:r>
              <a:rPr sz="1800" spc="-5" dirty="0">
                <a:latin typeface="Arial"/>
                <a:cs typeface="Arial"/>
              </a:rPr>
              <a:t>and </a:t>
            </a:r>
            <a:r>
              <a:rPr sz="1800" dirty="0">
                <a:latin typeface="Arial"/>
                <a:cs typeface="Arial"/>
              </a:rPr>
              <a:t>calls render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again: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Arial"/>
                <a:cs typeface="Arial"/>
              </a:rPr>
              <a:t>Feature of React </a:t>
            </a:r>
            <a:r>
              <a:rPr sz="1800" dirty="0">
                <a:latin typeface="Arial"/>
                <a:cs typeface="Arial"/>
              </a:rPr>
              <a:t>- </a:t>
            </a:r>
            <a:r>
              <a:rPr sz="1800" spc="-5" dirty="0">
                <a:latin typeface="Arial"/>
                <a:cs typeface="Arial"/>
              </a:rPr>
              <a:t>highly </a:t>
            </a:r>
            <a:r>
              <a:rPr sz="1800" spc="-10" dirty="0">
                <a:latin typeface="Arial"/>
                <a:cs typeface="Arial"/>
              </a:rPr>
              <a:t>efficient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re-rendering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08625" y="3306100"/>
            <a:ext cx="2057399" cy="771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03862" y="3301337"/>
            <a:ext cx="2066925" cy="828675"/>
          </a:xfrm>
          <a:custGeom>
            <a:avLst/>
            <a:gdLst/>
            <a:ahLst/>
            <a:cxnLst/>
            <a:rect l="l" t="t" r="r" b="b"/>
            <a:pathLst>
              <a:path w="2066925" h="828675">
                <a:moveTo>
                  <a:pt x="0" y="0"/>
                </a:moveTo>
                <a:lnTo>
                  <a:pt x="2066924" y="0"/>
                </a:lnTo>
                <a:lnTo>
                  <a:pt x="2066924" y="828674"/>
                </a:lnTo>
                <a:lnTo>
                  <a:pt x="0" y="82867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9832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Calling React Components from events: </a:t>
            </a:r>
            <a:r>
              <a:rPr dirty="0"/>
              <a:t>A</a:t>
            </a:r>
            <a:r>
              <a:rPr spc="-395" dirty="0"/>
              <a:t> </a:t>
            </a:r>
            <a:r>
              <a:rPr spc="-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84987"/>
            <a:ext cx="7841615" cy="307467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600" spc="-5" dirty="0">
                <a:solidFill>
                  <a:srgbClr val="9900FF"/>
                </a:solidFill>
                <a:latin typeface="Consolas"/>
                <a:cs typeface="Consolas"/>
              </a:rPr>
              <a:t>class </a:t>
            </a:r>
            <a:r>
              <a:rPr sz="1600" b="1" spc="-5" dirty="0">
                <a:solidFill>
                  <a:srgbClr val="595959"/>
                </a:solidFill>
                <a:latin typeface="Consolas"/>
                <a:cs typeface="Consolas"/>
              </a:rPr>
              <a:t>ReactAppView </a:t>
            </a:r>
            <a:r>
              <a:rPr sz="1600" spc="-5" dirty="0">
                <a:solidFill>
                  <a:srgbClr val="9900FF"/>
                </a:solidFill>
                <a:latin typeface="Consolas"/>
                <a:cs typeface="Consolas"/>
              </a:rPr>
              <a:t>extends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React.Component</a:t>
            </a:r>
            <a:r>
              <a:rPr sz="1600" spc="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34734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FF0000"/>
                </a:solidFill>
                <a:latin typeface="Consolas"/>
                <a:cs typeface="Consolas"/>
              </a:rPr>
              <a:t>handleChange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600" spc="-5" dirty="0">
                <a:latin typeface="Consolas"/>
                <a:cs typeface="Consolas"/>
              </a:rPr>
              <a:t>event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)</a:t>
            </a:r>
            <a:r>
              <a:rPr sz="16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45910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9900FF"/>
                </a:solidFill>
                <a:latin typeface="Consolas"/>
                <a:cs typeface="Consolas"/>
              </a:rPr>
              <a:t>this</a:t>
            </a:r>
            <a:r>
              <a:rPr sz="1600" spc="-5" dirty="0">
                <a:solidFill>
                  <a:srgbClr val="FF0000"/>
                </a:solidFill>
                <a:latin typeface="Consolas"/>
                <a:cs typeface="Consolas"/>
              </a:rPr>
              <a:t>.setState({ yourName: </a:t>
            </a:r>
            <a:r>
              <a:rPr sz="1600" b="1" spc="-5" dirty="0">
                <a:solidFill>
                  <a:srgbClr val="595959"/>
                </a:solidFill>
                <a:latin typeface="Consolas"/>
                <a:cs typeface="Consolas"/>
              </a:rPr>
              <a:t>event.target.value</a:t>
            </a:r>
            <a:r>
              <a:rPr sz="1600" b="1" spc="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onsolas"/>
                <a:cs typeface="Consolas"/>
              </a:rPr>
              <a:t>});</a:t>
            </a:r>
            <a:endParaRPr sz="160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254"/>
              </a:spcBef>
            </a:pP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Understand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why:</a:t>
            </a:r>
            <a:endParaRPr sz="1800">
              <a:latin typeface="Consolas"/>
              <a:cs typeface="Consolas"/>
            </a:endParaRPr>
          </a:p>
          <a:p>
            <a:pPr marL="207645">
              <a:lnSpc>
                <a:spcPct val="100000"/>
              </a:lnSpc>
              <a:spcBef>
                <a:spcPts val="1305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&lt;input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type="</a:t>
            </a:r>
            <a:r>
              <a:rPr sz="1400" spc="-5" dirty="0">
                <a:solidFill>
                  <a:srgbClr val="6AA84F"/>
                </a:solidFill>
                <a:latin typeface="Consolas"/>
                <a:cs typeface="Consolas"/>
              </a:rPr>
              <a:t>text"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value=</a:t>
            </a:r>
            <a:r>
              <a:rPr sz="1400" spc="-5" dirty="0">
                <a:latin typeface="Consolas"/>
                <a:cs typeface="Consolas"/>
              </a:rPr>
              <a:t>{this.state.yourName}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onChange=</a:t>
            </a:r>
            <a:r>
              <a:rPr sz="1400" spc="-5" dirty="0">
                <a:latin typeface="Consolas"/>
                <a:cs typeface="Consolas"/>
              </a:rPr>
              <a:t>{this.handleChange}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/&gt;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Doesn't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work!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1610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Calling React Components from events</a:t>
            </a:r>
            <a:r>
              <a:rPr spc="-85" dirty="0"/>
              <a:t> </a:t>
            </a:r>
            <a:r>
              <a:rPr spc="-5" dirty="0"/>
              <a:t>workaround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062980" cy="326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Create instance function bound to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instance</a:t>
            </a:r>
            <a:endParaRPr sz="1800">
              <a:latin typeface="Arial"/>
              <a:cs typeface="Arial"/>
            </a:endParaRPr>
          </a:p>
          <a:p>
            <a:pPr marL="263525" marR="518159" indent="-251460">
              <a:lnSpc>
                <a:spcPct val="114599"/>
              </a:lnSpc>
              <a:spcBef>
                <a:spcPts val="157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class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ReactAppView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extends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React.Component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constructor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(props)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435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super(props);</a:t>
            </a:r>
            <a:endParaRPr sz="1800">
              <a:latin typeface="Consolas"/>
              <a:cs typeface="Consolas"/>
            </a:endParaRPr>
          </a:p>
          <a:p>
            <a:pPr marL="51435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this.state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{yourName:</a:t>
            </a:r>
            <a:r>
              <a:rPr sz="18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""};</a:t>
            </a:r>
            <a:endParaRPr sz="1800">
              <a:latin typeface="Consolas"/>
              <a:cs typeface="Consolas"/>
            </a:endParaRPr>
          </a:p>
          <a:p>
            <a:pPr marL="514984">
              <a:lnSpc>
                <a:spcPct val="100000"/>
              </a:lnSpc>
              <a:spcBef>
                <a:spcPts val="315"/>
              </a:spcBef>
            </a:pP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this.</a:t>
            </a:r>
            <a:r>
              <a:rPr sz="1600" b="1" spc="-5" dirty="0">
                <a:solidFill>
                  <a:srgbClr val="FF0000"/>
                </a:solidFill>
                <a:latin typeface="Consolas"/>
                <a:cs typeface="Consolas"/>
              </a:rPr>
              <a:t>handleChange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=</a:t>
            </a:r>
            <a:r>
              <a:rPr sz="1600" b="1" spc="-8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onsolas"/>
                <a:cs typeface="Consolas"/>
              </a:rPr>
              <a:t>this.handleChange.bind(this);</a:t>
            </a:r>
            <a:endParaRPr sz="16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515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handleChange(</a:t>
            </a:r>
            <a:r>
              <a:rPr sz="1600" spc="-5" dirty="0">
                <a:latin typeface="Consolas"/>
                <a:cs typeface="Consolas"/>
              </a:rPr>
              <a:t>event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)</a:t>
            </a:r>
            <a:r>
              <a:rPr sz="16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458470">
              <a:lnSpc>
                <a:spcPct val="100000"/>
              </a:lnSpc>
              <a:spcBef>
                <a:spcPts val="360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this.setState({ yourName: </a:t>
            </a:r>
            <a:r>
              <a:rPr sz="1600" b="1" spc="-5" dirty="0">
                <a:solidFill>
                  <a:srgbClr val="595959"/>
                </a:solidFill>
                <a:latin typeface="Consolas"/>
                <a:cs typeface="Consolas"/>
              </a:rPr>
              <a:t>event.target.value</a:t>
            </a:r>
            <a:r>
              <a:rPr sz="1600" b="1" spc="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60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254"/>
              </a:spcBef>
            </a:pP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1610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Calling React Components from events</a:t>
            </a:r>
            <a:r>
              <a:rPr spc="-85" dirty="0"/>
              <a:t> </a:t>
            </a:r>
            <a:r>
              <a:rPr spc="-5" dirty="0"/>
              <a:t>workaround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560820" cy="332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Using public fields 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arrow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functions</a:t>
            </a:r>
            <a:endParaRPr sz="1800">
              <a:latin typeface="Arial"/>
              <a:cs typeface="Arial"/>
            </a:endParaRPr>
          </a:p>
          <a:p>
            <a:pPr marL="263525" marR="1015365" indent="-251460">
              <a:lnSpc>
                <a:spcPct val="114599"/>
              </a:lnSpc>
              <a:spcBef>
                <a:spcPts val="157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class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ReactAppView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extends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React.Component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constructor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(props)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435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super(props);</a:t>
            </a:r>
            <a:endParaRPr sz="1800">
              <a:latin typeface="Consolas"/>
              <a:cs typeface="Consolas"/>
            </a:endParaRPr>
          </a:p>
          <a:p>
            <a:pPr marL="51435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this.state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{yourName:</a:t>
            </a:r>
            <a:r>
              <a:rPr sz="18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""};</a:t>
            </a:r>
            <a:endParaRPr sz="18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handleChange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(event) =&gt;</a:t>
            </a:r>
            <a:r>
              <a:rPr sz="1800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435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this.setState({ yourName: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event.target.value</a:t>
            </a:r>
            <a:r>
              <a:rPr sz="1800" b="1" spc="1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4725" y="1216355"/>
            <a:ext cx="6869430" cy="3550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Using arrow functions in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JSX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class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ReactAppView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extends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React.Component</a:t>
            </a:r>
            <a:r>
              <a:rPr sz="1800" spc="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  <a:p>
            <a:pPr marL="263525">
              <a:lnSpc>
                <a:spcPct val="100000"/>
              </a:lnSpc>
              <a:spcBef>
                <a:spcPts val="515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handleChange(</a:t>
            </a:r>
            <a:r>
              <a:rPr sz="1600" spc="-5" dirty="0">
                <a:latin typeface="Consolas"/>
                <a:cs typeface="Consolas"/>
              </a:rPr>
              <a:t>event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)</a:t>
            </a:r>
            <a:r>
              <a:rPr sz="16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458470">
              <a:lnSpc>
                <a:spcPct val="100000"/>
              </a:lnSpc>
              <a:spcBef>
                <a:spcPts val="360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this.setState({ yourName: </a:t>
            </a:r>
            <a:r>
              <a:rPr sz="1600" b="1" spc="-5" dirty="0">
                <a:solidFill>
                  <a:srgbClr val="595959"/>
                </a:solidFill>
                <a:latin typeface="Consolas"/>
                <a:cs typeface="Consolas"/>
              </a:rPr>
              <a:t>event.target.value</a:t>
            </a:r>
            <a:r>
              <a:rPr sz="1600" b="1" spc="5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600" dirty="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254"/>
              </a:spcBef>
            </a:pP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458470" marR="5497195" indent="-209550">
              <a:lnSpc>
                <a:spcPct val="118900"/>
              </a:lnSpc>
              <a:spcBef>
                <a:spcPts val="85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render()</a:t>
            </a:r>
            <a:r>
              <a:rPr sz="1600" spc="-1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return</a:t>
            </a:r>
            <a:r>
              <a:rPr sz="16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endParaRPr sz="1600" dirty="0">
              <a:latin typeface="Consolas"/>
              <a:cs typeface="Consolas"/>
            </a:endParaRPr>
          </a:p>
          <a:p>
            <a:pPr marL="1384300" marR="5080" indent="-479425">
              <a:lnSpc>
                <a:spcPct val="113300"/>
              </a:lnSpc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&lt;input type="text" value=</a:t>
            </a:r>
            <a:r>
              <a:rPr sz="1600" spc="-5" dirty="0">
                <a:latin typeface="Consolas"/>
                <a:cs typeface="Consolas"/>
              </a:rPr>
              <a:t>{this.state.yourName}  </a:t>
            </a:r>
            <a:r>
              <a:rPr sz="1600" spc="-5" dirty="0">
                <a:solidFill>
                  <a:srgbClr val="FF0000"/>
                </a:solidFill>
                <a:latin typeface="Consolas"/>
                <a:cs typeface="Consolas"/>
              </a:rPr>
              <a:t>onChange={(event) =&gt; this.handleChange(event)}</a:t>
            </a:r>
            <a:r>
              <a:rPr sz="1600" spc="-1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666666"/>
                </a:solidFill>
                <a:latin typeface="Consolas"/>
                <a:cs typeface="Consolas"/>
              </a:rPr>
              <a:t>/&gt;</a:t>
            </a:r>
            <a:endParaRPr sz="1600" dirty="0">
              <a:latin typeface="Consolas"/>
              <a:cs typeface="Consolas"/>
            </a:endParaRPr>
          </a:p>
          <a:p>
            <a:pPr marL="570230">
              <a:lnSpc>
                <a:spcPct val="100000"/>
              </a:lnSpc>
              <a:spcBef>
                <a:spcPts val="930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);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7838" y="4870110"/>
            <a:ext cx="1371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1610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Calling React Components from events</a:t>
            </a:r>
            <a:r>
              <a:rPr spc="-85" dirty="0"/>
              <a:t> </a:t>
            </a:r>
            <a:r>
              <a:rPr spc="-5" dirty="0"/>
              <a:t>workaround</a:t>
            </a:r>
          </a:p>
        </p:txBody>
      </p:sp>
      <p:sp>
        <p:nvSpPr>
          <p:cNvPr id="5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3265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43455" algn="l"/>
              </a:tabLst>
            </a:pPr>
            <a:r>
              <a:rPr dirty="0"/>
              <a:t>A</a:t>
            </a:r>
            <a:r>
              <a:rPr spc="-160" dirty="0"/>
              <a:t> </a:t>
            </a:r>
            <a:r>
              <a:rPr spc="-5" dirty="0"/>
              <a:t>digression:	</a:t>
            </a:r>
            <a:r>
              <a:rPr spc="-5" dirty="0">
                <a:latin typeface="Consolas"/>
                <a:cs typeface="Consolas"/>
              </a:rPr>
              <a:t>camelCase</a:t>
            </a:r>
            <a:r>
              <a:rPr spc="-835" dirty="0">
                <a:latin typeface="Consolas"/>
                <a:cs typeface="Consolas"/>
              </a:rPr>
              <a:t> </a:t>
            </a:r>
            <a:r>
              <a:rPr dirty="0"/>
              <a:t>vs </a:t>
            </a:r>
            <a:r>
              <a:rPr spc="-5" dirty="0">
                <a:latin typeface="Consolas"/>
                <a:cs typeface="Consolas"/>
              </a:rPr>
              <a:t>dash-case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175500" cy="303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Word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separator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multiword variable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name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  <a:tab pos="193103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dashes:	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active-buffer-entry</a:t>
            </a:r>
            <a:endParaRPr sz="1800">
              <a:latin typeface="Consolas"/>
              <a:cs typeface="Consolas"/>
            </a:endParaRPr>
          </a:p>
          <a:p>
            <a:pPr marL="469900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Capitalize first letter of each word:</a:t>
            </a:r>
            <a:r>
              <a:rPr sz="18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activeBufferEntry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Issue: HTML 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case-insensitive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not.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ReactJS's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JSX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has HTML-like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stuff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embedded in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ReactJS: Use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camelCase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attributes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AngularJS: Used both: dashes in HTML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camelCase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JavaScript!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633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Programming </a:t>
            </a:r>
            <a:r>
              <a:rPr spc="-5" dirty="0"/>
              <a:t>with</a:t>
            </a:r>
            <a:r>
              <a:rPr spc="-85" dirty="0"/>
              <a:t> </a:t>
            </a:r>
            <a:r>
              <a:rPr dirty="0"/>
              <a:t>JSX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391400" cy="11163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Need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remember: JSX maps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React.createElement</a:t>
            </a:r>
            <a:endParaRPr sz="180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Writing 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HTML-like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syntax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that 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converted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function</a:t>
            </a:r>
            <a:r>
              <a:rPr sz="14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calls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595959"/>
              </a:buClr>
              <a:buFont typeface="Arial"/>
              <a:buChar char="○"/>
            </a:pPr>
            <a:endParaRPr sz="155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React.createElement(type, props,</a:t>
            </a:r>
            <a:r>
              <a:rPr sz="18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...children);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93" y="2184223"/>
            <a:ext cx="4710430" cy="99695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969"/>
              </a:spcBef>
              <a:buFont typeface="Arial"/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type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: HTML tag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h1,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)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React.Component</a:t>
            </a:r>
            <a:endParaRPr sz="1400">
              <a:latin typeface="Consolas"/>
              <a:cs typeface="Consolas"/>
            </a:endParaRPr>
          </a:p>
          <a:p>
            <a:pPr marL="348615" indent="-336550">
              <a:lnSpc>
                <a:spcPct val="100000"/>
              </a:lnSpc>
              <a:spcBef>
                <a:spcPts val="869"/>
              </a:spcBef>
              <a:buFont typeface="Arial"/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props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: attributes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type="text"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 Uses</a:t>
            </a:r>
            <a:r>
              <a:rPr sz="14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camelCase!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869"/>
              </a:spcBef>
              <a:buFont typeface="Arial"/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children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: Zero 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more children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which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4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either: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0393" y="3155773"/>
            <a:ext cx="2067560" cy="99695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970"/>
              </a:spcBef>
              <a:buChar char="■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String or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numbers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870"/>
              </a:spcBef>
              <a:buChar char="■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React</a:t>
            </a:r>
            <a:r>
              <a:rPr sz="14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element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870"/>
              </a:spcBef>
              <a:buChar char="■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 Array of the</a:t>
            </a:r>
            <a:r>
              <a:rPr sz="1400" spc="-1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above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1102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JSX </a:t>
            </a:r>
            <a:r>
              <a:rPr spc="-5" dirty="0"/>
              <a:t>templates </a:t>
            </a:r>
            <a:r>
              <a:rPr dirty="0"/>
              <a:t>must return a valid </a:t>
            </a:r>
            <a:r>
              <a:rPr spc="-5" dirty="0">
                <a:latin typeface="Consolas"/>
                <a:cs typeface="Consolas"/>
              </a:rPr>
              <a:t>children</a:t>
            </a:r>
            <a:r>
              <a:rPr spc="-819" dirty="0">
                <a:latin typeface="Consolas"/>
                <a:cs typeface="Consolas"/>
              </a:rPr>
              <a:t> </a:t>
            </a:r>
            <a:r>
              <a:rPr spc="-5" dirty="0"/>
              <a:t>param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93390"/>
            <a:ext cx="7978140" cy="296418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Templates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scope variables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expressions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09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&lt;div&gt;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{foo}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&lt;/div&gt;</a:t>
            </a:r>
            <a:endParaRPr sz="1400" dirty="0">
              <a:latin typeface="Consolas"/>
              <a:cs typeface="Consolas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Valid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foo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scope (i.e.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if foo would have been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valid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function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call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parameter)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&lt;div&gt;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{foo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+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'S'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+</a:t>
            </a:r>
            <a:r>
              <a:rPr sz="1400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computeEndingString()}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&lt;/div&gt;</a:t>
            </a:r>
            <a:endParaRPr sz="1400" dirty="0">
              <a:latin typeface="Consolas"/>
              <a:cs typeface="Consolas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Valid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foo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&amp;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computeEndString</a:t>
            </a:r>
            <a:r>
              <a:rPr sz="1400" spc="-35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scope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5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Template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evaluate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09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&lt;div&gt;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{if (useSpanish)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{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…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}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}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&lt;/div&gt;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Doesn't work: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if</a:t>
            </a:r>
            <a:r>
              <a:rPr sz="1400" spc="-4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isn't an expression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Same problem with "for loops" and other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JavaScript statements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that don't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return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values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Leads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contorted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looking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JSX: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Example: Anonymous immediate</a:t>
            </a:r>
            <a:r>
              <a:rPr sz="1800" spc="-1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4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&lt;div&gt;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{ (function()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{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if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…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; for ..; return val;})()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 }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&lt;/div&gt;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5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0557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Conditional </a:t>
            </a:r>
            <a:r>
              <a:rPr dirty="0"/>
              <a:t>render </a:t>
            </a:r>
            <a:r>
              <a:rPr spc="-5" dirty="0"/>
              <a:t>in</a:t>
            </a:r>
            <a:r>
              <a:rPr spc="-95" dirty="0"/>
              <a:t> </a:t>
            </a:r>
            <a:r>
              <a:rPr dirty="0"/>
              <a:t>JSX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1100"/>
            <a:ext cx="7680959" cy="3402598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Ternary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operator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?: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&lt;div&gt;{</a:t>
            </a:r>
            <a:r>
              <a:rPr sz="1800" spc="-5" dirty="0">
                <a:latin typeface="Consolas"/>
                <a:cs typeface="Consolas"/>
              </a:rPr>
              <a:t>this.state.useSpanish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?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&lt;b&gt;</a:t>
            </a:r>
            <a:r>
              <a:rPr sz="1800" spc="-5" dirty="0">
                <a:latin typeface="Consolas"/>
                <a:cs typeface="Consolas"/>
              </a:rPr>
              <a:t>Hola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&lt;/b&gt;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:</a:t>
            </a:r>
            <a:r>
              <a:rPr sz="1800" b="1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"Hello"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}&lt;/div&gt;</a:t>
            </a:r>
            <a:endParaRPr sz="18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greeting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;</a:t>
            </a:r>
            <a:endParaRPr sz="1800" dirty="0">
              <a:latin typeface="Consolas"/>
              <a:cs typeface="Consolas"/>
            </a:endParaRPr>
          </a:p>
          <a:p>
            <a:pPr marL="379095" marR="1762760">
              <a:lnSpc>
                <a:spcPct val="114599"/>
              </a:lnSpc>
              <a:tabLst>
                <a:tab pos="3018155" algn="l"/>
              </a:tabLst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const </a:t>
            </a:r>
            <a:r>
              <a:rPr sz="1800" spc="-5" dirty="0">
                <a:solidFill>
                  <a:srgbClr val="434343"/>
                </a:solidFill>
                <a:latin typeface="Consolas"/>
                <a:cs typeface="Consolas"/>
              </a:rPr>
              <a:t>en</a:t>
            </a:r>
            <a:r>
              <a:rPr sz="1800" spc="20" dirty="0">
                <a:solidFill>
                  <a:srgbClr val="43434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434343"/>
                </a:solidFill>
                <a:latin typeface="Consolas"/>
                <a:cs typeface="Consolas"/>
              </a:rPr>
              <a:t>=</a:t>
            </a:r>
            <a:r>
              <a:rPr sz="1800" spc="5" dirty="0">
                <a:solidFill>
                  <a:srgbClr val="434343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"Hello"</a:t>
            </a:r>
            <a:r>
              <a:rPr sz="1800" spc="-5" dirty="0">
                <a:solidFill>
                  <a:srgbClr val="434343"/>
                </a:solidFill>
                <a:latin typeface="Consolas"/>
                <a:cs typeface="Consolas"/>
              </a:rPr>
              <a:t>;	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const </a:t>
            </a:r>
            <a:r>
              <a:rPr sz="1800" spc="-5" dirty="0">
                <a:solidFill>
                  <a:srgbClr val="434343"/>
                </a:solidFill>
                <a:latin typeface="Consolas"/>
                <a:cs typeface="Consolas"/>
              </a:rPr>
              <a:t>sp </a:t>
            </a:r>
            <a:r>
              <a:rPr sz="1800" dirty="0">
                <a:solidFill>
                  <a:srgbClr val="434343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&lt;b&gt;</a:t>
            </a:r>
            <a:r>
              <a:rPr sz="1800" spc="-5" dirty="0">
                <a:latin typeface="Consolas"/>
                <a:cs typeface="Consolas"/>
              </a:rPr>
              <a:t>Hola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&lt;/b&gt;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; 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let </a:t>
            </a:r>
            <a:r>
              <a:rPr sz="1800" spc="-5" dirty="0" err="1">
                <a:solidFill>
                  <a:srgbClr val="434343"/>
                </a:solidFill>
                <a:latin typeface="Consolas"/>
                <a:cs typeface="Consolas"/>
              </a:rPr>
              <a:t>useSpanish</a:t>
            </a:r>
            <a:r>
              <a:rPr sz="1800" spc="-5" dirty="0">
                <a:solidFill>
                  <a:srgbClr val="43434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434343"/>
                </a:solidFill>
                <a:latin typeface="Consolas"/>
                <a:cs typeface="Consolas"/>
              </a:rPr>
              <a:t>=</a:t>
            </a:r>
            <a:r>
              <a:rPr sz="1800" spc="-15" dirty="0">
                <a:solidFill>
                  <a:srgbClr val="434343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Consolas"/>
                <a:cs typeface="Consolas"/>
              </a:rPr>
              <a:t>this.prop;</a:t>
            </a:r>
            <a:endParaRPr sz="1800" dirty="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if </a:t>
            </a:r>
            <a:r>
              <a:rPr sz="1800" spc="-5" dirty="0">
                <a:solidFill>
                  <a:srgbClr val="434343"/>
                </a:solidFill>
                <a:latin typeface="Consolas"/>
                <a:cs typeface="Consolas"/>
              </a:rPr>
              <a:t>(useSpanish) {greeting </a:t>
            </a:r>
            <a:r>
              <a:rPr sz="1800" dirty="0">
                <a:solidFill>
                  <a:srgbClr val="434343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434343"/>
                </a:solidFill>
                <a:latin typeface="Consolas"/>
                <a:cs typeface="Consolas"/>
              </a:rPr>
              <a:t>sp} else {greeting </a:t>
            </a:r>
            <a:r>
              <a:rPr sz="1800" dirty="0">
                <a:solidFill>
                  <a:srgbClr val="434343"/>
                </a:solidFill>
                <a:latin typeface="Consolas"/>
                <a:cs typeface="Consolas"/>
              </a:rPr>
              <a:t>=</a:t>
            </a:r>
            <a:r>
              <a:rPr sz="1800" spc="-50" dirty="0">
                <a:solidFill>
                  <a:srgbClr val="434343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Consolas"/>
                <a:cs typeface="Consolas"/>
              </a:rPr>
              <a:t>en};</a:t>
            </a:r>
            <a:endParaRPr sz="1800" dirty="0">
              <a:latin typeface="Consolas"/>
              <a:cs typeface="Consolas"/>
            </a:endParaRPr>
          </a:p>
          <a:p>
            <a:pPr marL="299085">
              <a:lnSpc>
                <a:spcPct val="100000"/>
              </a:lnSpc>
              <a:spcBef>
                <a:spcPts val="315"/>
              </a:spcBef>
            </a:pPr>
            <a:endParaRPr lang="en-US" sz="1800" spc="-5" dirty="0">
              <a:solidFill>
                <a:srgbClr val="9900FF"/>
              </a:solidFill>
              <a:latin typeface="Consolas"/>
              <a:cs typeface="Consolas"/>
            </a:endParaRPr>
          </a:p>
          <a:p>
            <a:pPr marL="29908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&lt;div&gt;{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greeting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}&lt;/div&gt;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5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4307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Iteration in</a:t>
            </a:r>
            <a:r>
              <a:rPr spc="-95" dirty="0"/>
              <a:t> </a:t>
            </a:r>
            <a:r>
              <a:rPr dirty="0"/>
              <a:t>JSX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81100"/>
            <a:ext cx="8400415" cy="32956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116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array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let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listItems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[];</a:t>
            </a:r>
            <a:endParaRPr sz="18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for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dirty="0">
                <a:solidFill>
                  <a:srgbClr val="9900FF"/>
                </a:solidFill>
                <a:latin typeface="Consolas"/>
                <a:cs typeface="Consolas"/>
              </a:rPr>
              <a:t>let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i 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0;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i &lt;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data.length; i++)</a:t>
            </a:r>
            <a:r>
              <a:rPr sz="1800" spc="-5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84645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listItems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.push(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&lt;li key={data[i]}&gt;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Data Value</a:t>
            </a:r>
            <a:r>
              <a:rPr sz="1800" spc="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{data[i]}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&lt;/li&gt;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);</a:t>
            </a:r>
            <a:endParaRPr sz="18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return</a:t>
            </a:r>
            <a:r>
              <a:rPr sz="1800" dirty="0">
                <a:solidFill>
                  <a:srgbClr val="9900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&lt;ul&gt;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listItems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&lt;/ul&gt;</a:t>
            </a:r>
            <a:r>
              <a:rPr sz="1800" spc="-5" dirty="0">
                <a:solidFill>
                  <a:srgbClr val="434343"/>
                </a:solidFill>
                <a:latin typeface="Consolas"/>
                <a:cs typeface="Consolas"/>
              </a:rPr>
              <a:t>;</a:t>
            </a:r>
            <a:endParaRPr sz="1800" dirty="0">
              <a:latin typeface="Consolas"/>
              <a:cs typeface="Consolas"/>
            </a:endParaRPr>
          </a:p>
          <a:p>
            <a:pPr marL="469900" indent="-367030">
              <a:lnSpc>
                <a:spcPct val="100000"/>
              </a:lnSpc>
              <a:spcBef>
                <a:spcPts val="1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Functional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&lt;ul&gt;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{data.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map((d) =&gt;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&lt;li key={d}&gt;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Data Value</a:t>
            </a:r>
            <a:r>
              <a:rPr sz="1800" spc="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{d}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&lt;/li&gt;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)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&lt;/ul&gt;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key=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attribute improves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efficiency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rendering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data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change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596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Styling </a:t>
            </a:r>
            <a:r>
              <a:rPr spc="-5" dirty="0"/>
              <a:t>with</a:t>
            </a:r>
            <a:r>
              <a:rPr spc="-85" dirty="0"/>
              <a:t> </a:t>
            </a:r>
            <a:r>
              <a:rPr spc="-5" dirty="0"/>
              <a:t>React/JSX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81100"/>
            <a:ext cx="3545204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300"/>
              </a:lnSpc>
              <a:spcBef>
                <a:spcPts val="100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import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from </a:t>
            </a:r>
            <a:r>
              <a:rPr sz="1800" spc="-5" dirty="0">
                <a:solidFill>
                  <a:srgbClr val="37761C"/>
                </a:solidFill>
                <a:latin typeface="Consolas"/>
                <a:cs typeface="Consolas"/>
              </a:rPr>
              <a:t>'react'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 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import</a:t>
            </a:r>
            <a:r>
              <a:rPr sz="1800" spc="-4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'./ReactAppView.css'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995501"/>
            <a:ext cx="5549900" cy="15970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class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ReactAppView 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extends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React.Component</a:t>
            </a:r>
            <a:r>
              <a:rPr sz="1800" spc="-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0256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render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()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8925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return</a:t>
            </a:r>
            <a:r>
              <a:rPr sz="1800" spc="-10" dirty="0">
                <a:solidFill>
                  <a:srgbClr val="99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9900FF"/>
                </a:solidFill>
                <a:latin typeface="Consolas"/>
                <a:cs typeface="Consolas"/>
              </a:rPr>
              <a:t>(</a:t>
            </a:r>
            <a:endParaRPr sz="1800">
              <a:latin typeface="Consolas"/>
              <a:cs typeface="Consolas"/>
            </a:endParaRPr>
          </a:p>
          <a:p>
            <a:pPr marL="76644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&lt;span</a:t>
            </a:r>
            <a:r>
              <a:rPr sz="1800" dirty="0">
                <a:solidFill>
                  <a:srgbClr val="9900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className="cs142-code-name"</a:t>
            </a: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837" y="3567126"/>
            <a:ext cx="90424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&lt;/span&gt;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7466" y="4235780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46650" y="852400"/>
            <a:ext cx="3990975" cy="1143000"/>
          </a:xfrm>
          <a:custGeom>
            <a:avLst/>
            <a:gdLst/>
            <a:ahLst/>
            <a:cxnLst/>
            <a:rect l="l" t="t" r="r" b="b"/>
            <a:pathLst>
              <a:path w="3990975" h="1143000">
                <a:moveTo>
                  <a:pt x="0" y="0"/>
                </a:moveTo>
                <a:lnTo>
                  <a:pt x="3990899" y="0"/>
                </a:lnTo>
                <a:lnTo>
                  <a:pt x="3990899" y="1142999"/>
                </a:lnTo>
                <a:lnTo>
                  <a:pt x="0" y="1142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19675" y="884022"/>
            <a:ext cx="3734435" cy="9398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spc="-10" dirty="0">
                <a:latin typeface="Arial"/>
                <a:cs typeface="Arial"/>
              </a:rPr>
              <a:t>Webpack </a:t>
            </a:r>
            <a:r>
              <a:rPr sz="1400" dirty="0">
                <a:latin typeface="Arial"/>
                <a:cs typeface="Arial"/>
              </a:rPr>
              <a:t>can </a:t>
            </a:r>
            <a:r>
              <a:rPr sz="1400" spc="-5" dirty="0">
                <a:latin typeface="Arial"/>
                <a:cs typeface="Arial"/>
              </a:rPr>
              <a:t>import CSS </a:t>
            </a:r>
            <a:r>
              <a:rPr sz="1400" dirty="0">
                <a:latin typeface="Arial"/>
                <a:cs typeface="Arial"/>
              </a:rPr>
              <a:t>style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sheets: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270"/>
              </a:spcBef>
            </a:pPr>
            <a:r>
              <a:rPr sz="1400" spc="-5" dirty="0">
                <a:latin typeface="Consolas"/>
                <a:cs typeface="Consolas"/>
              </a:rPr>
              <a:t>.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cs142-code-name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207645">
              <a:lnSpc>
                <a:spcPts val="1650"/>
              </a:lnSpc>
            </a:pPr>
            <a:r>
              <a:rPr sz="1400" spc="-5" dirty="0">
                <a:solidFill>
                  <a:srgbClr val="434343"/>
                </a:solidFill>
                <a:latin typeface="Consolas"/>
                <a:cs typeface="Consolas"/>
              </a:rPr>
              <a:t>font-family: </a:t>
            </a:r>
            <a:r>
              <a:rPr sz="1400" spc="-5" dirty="0">
                <a:solidFill>
                  <a:srgbClr val="4A86E7"/>
                </a:solidFill>
                <a:latin typeface="Consolas"/>
                <a:cs typeface="Consolas"/>
              </a:rPr>
              <a:t>Courier New,</a:t>
            </a:r>
            <a:r>
              <a:rPr sz="1400" spc="-75" dirty="0">
                <a:solidFill>
                  <a:srgbClr val="4A86E7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4A86E7"/>
                </a:solidFill>
                <a:latin typeface="Consolas"/>
                <a:cs typeface="Consolas"/>
              </a:rPr>
              <a:t>monospace;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53161" y="1307675"/>
            <a:ext cx="932815" cy="418465"/>
          </a:xfrm>
          <a:custGeom>
            <a:avLst/>
            <a:gdLst/>
            <a:ahLst/>
            <a:cxnLst/>
            <a:rect l="l" t="t" r="r" b="b"/>
            <a:pathLst>
              <a:path w="932814" h="418464">
                <a:moveTo>
                  <a:pt x="932213" y="0"/>
                </a:moveTo>
                <a:lnTo>
                  <a:pt x="0" y="418214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64759" y="1687655"/>
            <a:ext cx="110805" cy="83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095075" y="3758324"/>
            <a:ext cx="2799715" cy="86233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85725" marR="120650">
              <a:lnSpc>
                <a:spcPts val="1650"/>
              </a:lnSpc>
              <a:spcBef>
                <a:spcPts val="700"/>
              </a:spcBef>
            </a:pPr>
            <a:r>
              <a:rPr sz="1400" dirty="0">
                <a:latin typeface="Arial"/>
                <a:cs typeface="Arial"/>
              </a:rPr>
              <a:t>Must </a:t>
            </a:r>
            <a:r>
              <a:rPr sz="1400" spc="-5" dirty="0">
                <a:latin typeface="Arial"/>
                <a:cs typeface="Arial"/>
              </a:rPr>
              <a:t>use </a:t>
            </a:r>
            <a:r>
              <a:rPr sz="1400" spc="-5" dirty="0">
                <a:latin typeface="Consolas"/>
                <a:cs typeface="Consolas"/>
              </a:rPr>
              <a:t>className= </a:t>
            </a:r>
            <a:r>
              <a:rPr sz="1400" spc="-5" dirty="0">
                <a:latin typeface="Arial"/>
                <a:cs typeface="Arial"/>
              </a:rPr>
              <a:t>for HTML  </a:t>
            </a:r>
            <a:r>
              <a:rPr sz="1400" spc="-5" dirty="0">
                <a:latin typeface="Consolas"/>
                <a:cs typeface="Consolas"/>
              </a:rPr>
              <a:t>class= </a:t>
            </a:r>
            <a:r>
              <a:rPr sz="1400" spc="-5" dirty="0">
                <a:latin typeface="Arial"/>
                <a:cs typeface="Arial"/>
              </a:rPr>
              <a:t>attribute </a:t>
            </a:r>
            <a:r>
              <a:rPr sz="1400" dirty="0">
                <a:latin typeface="Arial"/>
                <a:cs typeface="Arial"/>
              </a:rPr>
              <a:t>(JS keyword  conflict)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06939" y="3642104"/>
            <a:ext cx="2088514" cy="547370"/>
          </a:xfrm>
          <a:custGeom>
            <a:avLst/>
            <a:gdLst/>
            <a:ahLst/>
            <a:cxnLst/>
            <a:rect l="l" t="t" r="r" b="b"/>
            <a:pathLst>
              <a:path w="2088514" h="547370">
                <a:moveTo>
                  <a:pt x="2088134" y="547319"/>
                </a:moveTo>
                <a:lnTo>
                  <a:pt x="0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13789" y="3602142"/>
            <a:ext cx="110653" cy="79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3790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Component lifecycle and</a:t>
            </a:r>
            <a:r>
              <a:rPr spc="-85" dirty="0"/>
              <a:t> </a:t>
            </a:r>
            <a:r>
              <a:rPr dirty="0"/>
              <a:t>methods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020" y="4450042"/>
            <a:ext cx="4072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http://projects.wojtekmaj.pl/react-lifecycle-methods-diagram/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058749"/>
            <a:ext cx="8877300" cy="328848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6234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 </a:t>
            </a:r>
            <a:r>
              <a:rPr spc="-5" dirty="0"/>
              <a:t>of </a:t>
            </a:r>
            <a:r>
              <a:rPr spc="-5" dirty="0">
                <a:hlinkClick r:id="rId3"/>
              </a:rPr>
              <a:t>lifecycle</a:t>
            </a:r>
            <a:r>
              <a:rPr spc="-80" dirty="0">
                <a:hlinkClick r:id="rId3"/>
              </a:rPr>
              <a:t> </a:t>
            </a:r>
            <a:r>
              <a:rPr dirty="0">
                <a:hlinkClick r:id="rId3"/>
              </a:rPr>
              <a:t>methods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pc="-5" dirty="0">
                <a:solidFill>
                  <a:srgbClr val="9900FF"/>
                </a:solidFill>
              </a:rPr>
              <a:t>class </a:t>
            </a:r>
            <a:r>
              <a:rPr b="1" spc="-5" dirty="0">
                <a:latin typeface="Consolas"/>
                <a:cs typeface="Consolas"/>
              </a:rPr>
              <a:t>Example </a:t>
            </a:r>
            <a:r>
              <a:rPr spc="-5" dirty="0">
                <a:solidFill>
                  <a:srgbClr val="9900FF"/>
                </a:solidFill>
              </a:rPr>
              <a:t>extends </a:t>
            </a:r>
            <a:r>
              <a:rPr spc="-5" dirty="0"/>
              <a:t>React.Component</a:t>
            </a:r>
            <a:r>
              <a:rPr spc="10" dirty="0"/>
              <a:t> </a:t>
            </a:r>
            <a:r>
              <a:rPr dirty="0"/>
              <a:t>{</a:t>
            </a:r>
          </a:p>
          <a:p>
            <a:pPr marL="594995">
              <a:lnSpc>
                <a:spcPct val="100000"/>
              </a:lnSpc>
              <a:spcBef>
                <a:spcPts val="315"/>
              </a:spcBef>
            </a:pPr>
            <a:r>
              <a:rPr spc="-5" dirty="0">
                <a:solidFill>
                  <a:srgbClr val="434343"/>
                </a:solidFill>
              </a:rPr>
              <a:t>...</a:t>
            </a:r>
          </a:p>
          <a:p>
            <a:pPr marL="846455" marR="2009139" indent="-377190">
              <a:lnSpc>
                <a:spcPct val="114599"/>
              </a:lnSpc>
              <a:tabLst>
                <a:tab pos="3484245" algn="l"/>
              </a:tabLst>
            </a:pPr>
            <a:r>
              <a:rPr spc="-5" dirty="0">
                <a:solidFill>
                  <a:srgbClr val="FF0000"/>
                </a:solidFill>
              </a:rPr>
              <a:t>componentDidMount</a:t>
            </a:r>
            <a:r>
              <a:rPr spc="-5" dirty="0">
                <a:solidFill>
                  <a:srgbClr val="434343"/>
                </a:solidFill>
              </a:rPr>
              <a:t>()</a:t>
            </a:r>
            <a:r>
              <a:rPr spc="5" dirty="0">
                <a:solidFill>
                  <a:srgbClr val="434343"/>
                </a:solidFill>
              </a:rPr>
              <a:t> </a:t>
            </a:r>
            <a:r>
              <a:rPr dirty="0">
                <a:solidFill>
                  <a:srgbClr val="434343"/>
                </a:solidFill>
              </a:rPr>
              <a:t>{	</a:t>
            </a:r>
            <a:r>
              <a:rPr spc="-5" dirty="0">
                <a:solidFill>
                  <a:srgbClr val="434343"/>
                </a:solidFill>
              </a:rPr>
              <a:t>// Start </a:t>
            </a:r>
            <a:r>
              <a:rPr dirty="0">
                <a:solidFill>
                  <a:srgbClr val="434343"/>
                </a:solidFill>
              </a:rPr>
              <a:t>2 </a:t>
            </a:r>
            <a:r>
              <a:rPr spc="-5" dirty="0">
                <a:solidFill>
                  <a:srgbClr val="434343"/>
                </a:solidFill>
              </a:rPr>
              <a:t>sec</a:t>
            </a:r>
            <a:r>
              <a:rPr spc="-90" dirty="0">
                <a:solidFill>
                  <a:srgbClr val="434343"/>
                </a:solidFill>
              </a:rPr>
              <a:t> </a:t>
            </a:r>
            <a:r>
              <a:rPr spc="-5" dirty="0">
                <a:solidFill>
                  <a:srgbClr val="434343"/>
                </a:solidFill>
              </a:rPr>
              <a:t>counter  </a:t>
            </a:r>
            <a:r>
              <a:rPr spc="-5" dirty="0">
                <a:solidFill>
                  <a:srgbClr val="0000FF"/>
                </a:solidFill>
              </a:rPr>
              <a:t>const </a:t>
            </a:r>
            <a:r>
              <a:rPr spc="-5" dirty="0">
                <a:solidFill>
                  <a:srgbClr val="434343"/>
                </a:solidFill>
              </a:rPr>
              <a:t>incFunc</a:t>
            </a:r>
            <a:r>
              <a:rPr spc="-10" dirty="0">
                <a:solidFill>
                  <a:srgbClr val="434343"/>
                </a:solidFill>
              </a:rPr>
              <a:t> </a:t>
            </a:r>
            <a:r>
              <a:rPr dirty="0">
                <a:solidFill>
                  <a:srgbClr val="434343"/>
                </a:solidFill>
              </a:rPr>
              <a:t>=</a:t>
            </a:r>
          </a:p>
          <a:p>
            <a:pPr marL="846455" marR="5080" indent="250190">
              <a:lnSpc>
                <a:spcPct val="114599"/>
              </a:lnSpc>
            </a:pPr>
            <a:r>
              <a:rPr spc="-5" dirty="0">
                <a:solidFill>
                  <a:srgbClr val="434343"/>
                </a:solidFill>
              </a:rPr>
              <a:t>() =&gt; </a:t>
            </a:r>
            <a:r>
              <a:rPr spc="-5" dirty="0">
                <a:solidFill>
                  <a:srgbClr val="0000FF"/>
                </a:solidFill>
              </a:rPr>
              <a:t>this</a:t>
            </a:r>
            <a:r>
              <a:rPr spc="-5" dirty="0">
                <a:solidFill>
                  <a:srgbClr val="434343"/>
                </a:solidFill>
              </a:rPr>
              <a:t>.setState({ counter: this.state.counter </a:t>
            </a:r>
            <a:r>
              <a:rPr dirty="0">
                <a:solidFill>
                  <a:srgbClr val="434343"/>
                </a:solidFill>
              </a:rPr>
              <a:t>+ 1 </a:t>
            </a:r>
            <a:r>
              <a:rPr spc="-5" dirty="0">
                <a:solidFill>
                  <a:srgbClr val="434343"/>
                </a:solidFill>
              </a:rPr>
              <a:t>});  </a:t>
            </a:r>
            <a:r>
              <a:rPr spc="-5" dirty="0">
                <a:solidFill>
                  <a:srgbClr val="0000FF"/>
                </a:solidFill>
              </a:rPr>
              <a:t>this</a:t>
            </a:r>
            <a:r>
              <a:rPr spc="-5" dirty="0">
                <a:solidFill>
                  <a:srgbClr val="434343"/>
                </a:solidFill>
              </a:rPr>
              <a:t>.timerID </a:t>
            </a:r>
            <a:r>
              <a:rPr dirty="0">
                <a:solidFill>
                  <a:srgbClr val="434343"/>
                </a:solidFill>
              </a:rPr>
              <a:t>= </a:t>
            </a:r>
            <a:r>
              <a:rPr spc="-5" dirty="0">
                <a:solidFill>
                  <a:srgbClr val="0000FF"/>
                </a:solidFill>
              </a:rPr>
              <a:t>setInterval</a:t>
            </a:r>
            <a:r>
              <a:rPr spc="-5" dirty="0">
                <a:solidFill>
                  <a:srgbClr val="434343"/>
                </a:solidFill>
              </a:rPr>
              <a:t>(incFunc, </a:t>
            </a:r>
            <a:r>
              <a:rPr dirty="0">
                <a:solidFill>
                  <a:srgbClr val="434343"/>
                </a:solidFill>
              </a:rPr>
              <a:t>2 *</a:t>
            </a:r>
            <a:r>
              <a:rPr spc="-10" dirty="0">
                <a:solidFill>
                  <a:srgbClr val="434343"/>
                </a:solidFill>
              </a:rPr>
              <a:t> </a:t>
            </a:r>
            <a:r>
              <a:rPr spc="-5" dirty="0">
                <a:solidFill>
                  <a:srgbClr val="434343"/>
                </a:solidFill>
              </a:rPr>
              <a:t>1000);</a:t>
            </a: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dirty="0">
                <a:solidFill>
                  <a:srgbClr val="434343"/>
                </a:solidFill>
              </a:rPr>
              <a:t>}</a:t>
            </a:r>
          </a:p>
          <a:p>
            <a:pPr>
              <a:lnSpc>
                <a:spcPct val="100000"/>
              </a:lnSpc>
            </a:pPr>
            <a:endParaRPr sz="2150" dirty="0">
              <a:latin typeface="Times New Roman"/>
              <a:cs typeface="Times New Roman"/>
            </a:endParaRPr>
          </a:p>
          <a:p>
            <a:pPr marL="846455" marR="2383790" indent="-377190">
              <a:lnSpc>
                <a:spcPct val="114599"/>
              </a:lnSpc>
              <a:tabLst>
                <a:tab pos="3735704" algn="l"/>
              </a:tabLst>
            </a:pPr>
            <a:r>
              <a:rPr spc="-5" dirty="0">
                <a:solidFill>
                  <a:srgbClr val="FF0000"/>
                </a:solidFill>
              </a:rPr>
              <a:t>componentWillUnmount</a:t>
            </a:r>
            <a:r>
              <a:rPr spc="-5" dirty="0"/>
              <a:t>()</a:t>
            </a:r>
            <a:r>
              <a:rPr spc="10" dirty="0"/>
              <a:t> </a:t>
            </a:r>
            <a:r>
              <a:rPr dirty="0"/>
              <a:t>{	</a:t>
            </a:r>
            <a:r>
              <a:rPr spc="-5" dirty="0"/>
              <a:t>// Shutdown</a:t>
            </a:r>
            <a:r>
              <a:rPr spc="-95" dirty="0"/>
              <a:t> </a:t>
            </a:r>
            <a:r>
              <a:rPr spc="-5" dirty="0"/>
              <a:t>timer  </a:t>
            </a:r>
            <a:r>
              <a:rPr spc="-5" dirty="0">
                <a:solidFill>
                  <a:srgbClr val="0000FF"/>
                </a:solidFill>
              </a:rPr>
              <a:t>clearInterval</a:t>
            </a:r>
            <a:r>
              <a:rPr spc="-5" dirty="0"/>
              <a:t>(</a:t>
            </a:r>
            <a:r>
              <a:rPr spc="-5" dirty="0">
                <a:solidFill>
                  <a:srgbClr val="0000FF"/>
                </a:solidFill>
              </a:rPr>
              <a:t>this</a:t>
            </a:r>
            <a:r>
              <a:rPr spc="-5" dirty="0"/>
              <a:t>.timerID);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1229" y="4319601"/>
            <a:ext cx="401955" cy="65405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4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88615" y="4778075"/>
            <a:ext cx="192976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lang="en-US" spc="-5" dirty="0" err="1"/>
              <a:t>React</a:t>
            </a:r>
            <a:r>
              <a:rPr spc="-5" dirty="0" err="1"/>
              <a:t>JS</a:t>
            </a:r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spc="-5" dirty="0"/>
              <a:t>AngularJS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5960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Stateless</a:t>
            </a:r>
            <a:r>
              <a:rPr spc="-85" dirty="0"/>
              <a:t> </a:t>
            </a:r>
            <a:r>
              <a:rPr spc="-5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971790" cy="3883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React Component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  <a:hlinkClick r:id="rId2"/>
              </a:rPr>
              <a:t>function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  <a:hlinkClick r:id="rId2"/>
              </a:rPr>
              <a:t>(not a class)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 it only depends on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function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MyComponent(props)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72072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return </a:t>
            </a:r>
            <a:r>
              <a:rPr sz="1800" spc="-5" dirty="0">
                <a:solidFill>
                  <a:srgbClr val="4A86E7"/>
                </a:solidFill>
                <a:latin typeface="Consolas"/>
                <a:cs typeface="Consolas"/>
              </a:rPr>
              <a:t>&lt;div&gt;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My name is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{props.name}</a:t>
            </a:r>
            <a:r>
              <a:rPr sz="1800" spc="-5" dirty="0">
                <a:solidFill>
                  <a:srgbClr val="3C78D8"/>
                </a:solidFill>
                <a:latin typeface="Consolas"/>
                <a:cs typeface="Consolas"/>
              </a:rPr>
              <a:t>&lt;/div&gt;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</a:t>
            </a:r>
            <a:endParaRPr sz="18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using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destructuring...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340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function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MyComponent({name})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72072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9900FF"/>
                </a:solidFill>
                <a:latin typeface="Consolas"/>
                <a:cs typeface="Consolas"/>
              </a:rPr>
              <a:t>return </a:t>
            </a:r>
            <a:r>
              <a:rPr sz="1800" spc="-5" dirty="0">
                <a:solidFill>
                  <a:srgbClr val="4A86E7"/>
                </a:solidFill>
                <a:latin typeface="Consolas"/>
                <a:cs typeface="Consolas"/>
              </a:rPr>
              <a:t>&lt;div&gt;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My name is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{name}</a:t>
            </a:r>
            <a:r>
              <a:rPr sz="1800" spc="-5" dirty="0">
                <a:solidFill>
                  <a:srgbClr val="3C78D8"/>
                </a:solidFill>
                <a:latin typeface="Consolas"/>
                <a:cs typeface="Consolas"/>
              </a:rPr>
              <a:t>&lt;/div&gt;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</a:t>
            </a:r>
            <a:endParaRPr sz="18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lang="en-US" dirty="0">
              <a:solidFill>
                <a:srgbClr val="595959"/>
              </a:solidFill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r>
              <a:rPr lang="es-ES" spc="-5" dirty="0">
                <a:solidFill>
                  <a:srgbClr val="595959"/>
                </a:solidFill>
                <a:latin typeface="Arial"/>
                <a:cs typeface="Arial"/>
              </a:rPr>
              <a:t>Use:</a:t>
            </a:r>
            <a:endParaRPr lang="nl-NL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marL="457200"/>
            <a:r>
              <a:rPr lang="nl-NL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nl-NL" dirty="0">
                <a:solidFill>
                  <a:srgbClr val="267F99"/>
                </a:solidFill>
                <a:latin typeface="Consolas" panose="020B0609020204030204" pitchFamily="49" charset="0"/>
              </a:rPr>
              <a:t>MyComponent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NL" dirty="0">
                <a:solidFill>
                  <a:srgbClr val="A31515"/>
                </a:solidFill>
                <a:latin typeface="Consolas" panose="020B0609020204030204" pitchFamily="49" charset="0"/>
              </a:rPr>
              <a:t>'Function Component! via JSX'</a:t>
            </a:r>
            <a:r>
              <a:rPr lang="nl-NL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nl-N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130" dirty="0"/>
              <a:t> </a:t>
            </a:r>
            <a:r>
              <a:rPr spc="-5" dirty="0"/>
              <a:t>AngularJS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9996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Communicating between React</a:t>
            </a:r>
            <a:r>
              <a:rPr spc="-85" dirty="0"/>
              <a:t> </a:t>
            </a:r>
            <a:r>
              <a:rPr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116445" cy="344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Passing information from parent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child: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props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(attributes)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836294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&lt;ChildComponent param={infoForChildComponent&gt;</a:t>
            </a:r>
            <a:r>
              <a:rPr sz="1800" spc="-5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/&gt;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Passing information from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child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parent: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Callbacks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R="71755" algn="ctr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this.parentCallback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(infoFromChild)</a:t>
            </a:r>
            <a:r>
              <a:rPr sz="1800" spc="-3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=&gt;</a:t>
            </a:r>
            <a:endParaRPr sz="1800" dirty="0">
              <a:latin typeface="Consolas"/>
              <a:cs typeface="Consolas"/>
            </a:endParaRPr>
          </a:p>
          <a:p>
            <a:pPr marL="917575" algn="ctr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/* processInfoFromChild</a:t>
            </a:r>
            <a:r>
              <a:rPr sz="1800" spc="-3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*/};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836294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&lt;ChildComponent callback={this.parentCallback}&gt;</a:t>
            </a:r>
            <a:r>
              <a:rPr sz="18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/&gt;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React Context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onsolas"/>
                <a:cs typeface="Consolas"/>
                <a:hlinkClick r:id="rId3"/>
              </a:rPr>
              <a:t>https://reactjs.org/docs/context.html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)</a:t>
            </a:r>
            <a:endParaRPr sz="1800" dirty="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Global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subtree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components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2A52BAC-94E8-46D9-A8F7-BC263C30FFC4}"/>
</file>

<file path=customXml/itemProps2.xml><?xml version="1.0" encoding="utf-8"?>
<ds:datastoreItem xmlns:ds="http://schemas.openxmlformats.org/officeDocument/2006/customXml" ds:itemID="{0849DDA3-CAC0-49D9-943E-97653F1EDCC6}"/>
</file>

<file path=customXml/itemProps3.xml><?xml version="1.0" encoding="utf-8"?>
<ds:datastoreItem xmlns:ds="http://schemas.openxmlformats.org/officeDocument/2006/customXml" ds:itemID="{102A7A37-D344-491E-8389-22A4A3A90C2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1772</TotalTime>
  <Words>2193</Words>
  <Application>Microsoft Office PowerPoint</Application>
  <PresentationFormat>On-screen Show (16:9)</PresentationFormat>
  <Paragraphs>319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Consolas</vt:lpstr>
      <vt:lpstr>Courier New</vt:lpstr>
      <vt:lpstr>Times New Roman</vt:lpstr>
      <vt:lpstr>Office Theme</vt:lpstr>
      <vt:lpstr>PowerPoint Presentation</vt:lpstr>
      <vt:lpstr>ReactJS</vt:lpstr>
      <vt:lpstr>ReactJS Web Application Page</vt:lpstr>
      <vt:lpstr>ReactJS tool chain</vt:lpstr>
      <vt:lpstr>reactApp.js - Render element into browser DOM</vt:lpstr>
      <vt:lpstr>components/ReactAppView.js - ES6 class definition</vt:lpstr>
      <vt:lpstr>ReactAppView render() method</vt:lpstr>
      <vt:lpstr>ReactAppView render() method w/o variables</vt:lpstr>
      <vt:lpstr>Use JSX to generate calls to createElement</vt:lpstr>
      <vt:lpstr>Component state and input handling</vt:lpstr>
      <vt:lpstr>One way binding: Type 'D' Character in input box</vt:lpstr>
      <vt:lpstr>Calling React Components from events: A problem</vt:lpstr>
      <vt:lpstr>Calling React Components from events workaround</vt:lpstr>
      <vt:lpstr>Calling React Components from events workaround</vt:lpstr>
      <vt:lpstr>Calling React Components from events workaround</vt:lpstr>
      <vt:lpstr>A digression: camelCase vs dash-case</vt:lpstr>
      <vt:lpstr>Programming with JSX</vt:lpstr>
      <vt:lpstr>JSX templates must return a valid children param</vt:lpstr>
      <vt:lpstr>Conditional render in JSX</vt:lpstr>
      <vt:lpstr>Iteration in JSX</vt:lpstr>
      <vt:lpstr>Styling with React/JSX</vt:lpstr>
      <vt:lpstr>Component lifecycle and methods</vt:lpstr>
      <vt:lpstr>Example of lifecycle methods</vt:lpstr>
      <vt:lpstr>Stateless Components</vt:lpstr>
      <vt:lpstr>Communicating between React components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Amarsanaa Ganbold</cp:lastModifiedBy>
  <cp:revision>23</cp:revision>
  <dcterms:created xsi:type="dcterms:W3CDTF">2019-08-20T05:21:06Z</dcterms:created>
  <dcterms:modified xsi:type="dcterms:W3CDTF">2021-12-07T12:09:21Z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