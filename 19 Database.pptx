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ustomXml" Target="../customXml/item1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60757" y="1881758"/>
            <a:ext cx="3622485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170" y="1176350"/>
            <a:ext cx="8199659" cy="3139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06249" y="4778075"/>
            <a:ext cx="1895475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2774" y="4766045"/>
            <a:ext cx="202183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Database.js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0757" y="1881758"/>
            <a:ext cx="361251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5">
                <a:latin typeface="Arial"/>
                <a:cs typeface="Arial"/>
              </a:rPr>
              <a:t>Storage</a:t>
            </a:r>
            <a:r>
              <a:rPr dirty="0" sz="5200" spc="-185">
                <a:latin typeface="Arial"/>
                <a:cs typeface="Arial"/>
              </a:rPr>
              <a:t> </a:t>
            </a:r>
            <a:r>
              <a:rPr dirty="0" sz="5200" spc="-55">
                <a:latin typeface="Arial"/>
                <a:cs typeface="Arial"/>
              </a:rPr>
              <a:t>Tier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dirty="0" sz="2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249" y="4766045"/>
            <a:ext cx="1895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326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Web </a:t>
            </a:r>
            <a:r>
              <a:rPr dirty="0" spc="-10"/>
              <a:t>Application</a:t>
            </a:r>
            <a:r>
              <a:rPr dirty="0" spc="-385"/>
              <a:t> </a:t>
            </a:r>
            <a:r>
              <a:rPr dirty="0" spc="-5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832112" y="2285875"/>
            <a:ext cx="1473973" cy="39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1899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6762" y="1552507"/>
            <a:ext cx="1846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Web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Browser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973" y="3540953"/>
            <a:ext cx="1397523" cy="480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7023" y="4081774"/>
            <a:ext cx="1572411" cy="694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7024" y="2772091"/>
            <a:ext cx="1584174" cy="6030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13075" y="206542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4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68175" y="2355044"/>
            <a:ext cx="1584175" cy="4520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45776" y="1421958"/>
            <a:ext cx="1624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"/>
                <a:cs typeface="Arial"/>
              </a:rPr>
              <a:t>Web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33848" y="3029672"/>
            <a:ext cx="1252878" cy="7128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02587" y="3790447"/>
            <a:ext cx="915352" cy="1089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401249" y="802499"/>
                </a:moveTo>
                <a:lnTo>
                  <a:pt x="0" y="401249"/>
                </a:lnTo>
                <a:lnTo>
                  <a:pt x="401249" y="0"/>
                </a:lnTo>
                <a:lnTo>
                  <a:pt x="401249" y="200624"/>
                </a:lnTo>
                <a:lnTo>
                  <a:pt x="1545974" y="200624"/>
                </a:lnTo>
                <a:lnTo>
                  <a:pt x="1746599" y="401249"/>
                </a:lnTo>
                <a:lnTo>
                  <a:pt x="1545974" y="601874"/>
                </a:lnTo>
                <a:lnTo>
                  <a:pt x="401249" y="601874"/>
                </a:lnTo>
                <a:lnTo>
                  <a:pt x="401249" y="802499"/>
                </a:lnTo>
                <a:close/>
              </a:path>
              <a:path w="1746885" h="802639">
                <a:moveTo>
                  <a:pt x="1545974" y="200624"/>
                </a:moveTo>
                <a:lnTo>
                  <a:pt x="1345349" y="200624"/>
                </a:lnTo>
                <a:lnTo>
                  <a:pt x="1345349" y="0"/>
                </a:lnTo>
                <a:lnTo>
                  <a:pt x="1545974" y="200624"/>
                </a:lnTo>
                <a:close/>
              </a:path>
              <a:path w="1746885" h="802639">
                <a:moveTo>
                  <a:pt x="1345349" y="802499"/>
                </a:moveTo>
                <a:lnTo>
                  <a:pt x="1345349" y="601874"/>
                </a:lnTo>
                <a:lnTo>
                  <a:pt x="1545974" y="601874"/>
                </a:lnTo>
                <a:lnTo>
                  <a:pt x="1345349" y="802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66475" y="2987849"/>
            <a:ext cx="1746885" cy="802640"/>
          </a:xfrm>
          <a:custGeom>
            <a:avLst/>
            <a:gdLst/>
            <a:ahLst/>
            <a:cxnLst/>
            <a:rect l="l" t="t" r="r" b="b"/>
            <a:pathLst>
              <a:path w="1746885" h="802639">
                <a:moveTo>
                  <a:pt x="0" y="401249"/>
                </a:moveTo>
                <a:lnTo>
                  <a:pt x="401249" y="0"/>
                </a:lnTo>
                <a:lnTo>
                  <a:pt x="401249" y="200624"/>
                </a:lnTo>
                <a:lnTo>
                  <a:pt x="1345349" y="200624"/>
                </a:lnTo>
                <a:lnTo>
                  <a:pt x="1345349" y="0"/>
                </a:lnTo>
                <a:lnTo>
                  <a:pt x="1746599" y="401249"/>
                </a:lnTo>
                <a:lnTo>
                  <a:pt x="1345349" y="802499"/>
                </a:lnTo>
                <a:lnTo>
                  <a:pt x="1345349" y="601874"/>
                </a:lnTo>
                <a:lnTo>
                  <a:pt x="401249" y="601874"/>
                </a:lnTo>
                <a:lnTo>
                  <a:pt x="401249" y="802499"/>
                </a:lnTo>
                <a:lnTo>
                  <a:pt x="0" y="4012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37609" y="3183233"/>
            <a:ext cx="821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HTTP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06200" y="1981874"/>
            <a:ext cx="1694814" cy="2898140"/>
          </a:xfrm>
          <a:custGeom>
            <a:avLst/>
            <a:gdLst/>
            <a:ahLst/>
            <a:cxnLst/>
            <a:rect l="l" t="t" r="r" b="b"/>
            <a:pathLst>
              <a:path w="1694815" h="2898140">
                <a:moveTo>
                  <a:pt x="0" y="0"/>
                </a:moveTo>
                <a:lnTo>
                  <a:pt x="1694399" y="0"/>
                </a:lnTo>
                <a:lnTo>
                  <a:pt x="1694399" y="2897699"/>
                </a:lnTo>
                <a:lnTo>
                  <a:pt x="0" y="2897699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20989" y="2145825"/>
            <a:ext cx="1464825" cy="417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60243" y="2672350"/>
            <a:ext cx="1186317" cy="802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220649" y="441299"/>
                </a:moveTo>
                <a:lnTo>
                  <a:pt x="0" y="220649"/>
                </a:lnTo>
                <a:lnTo>
                  <a:pt x="220649" y="0"/>
                </a:lnTo>
                <a:lnTo>
                  <a:pt x="220649" y="110324"/>
                </a:lnTo>
                <a:lnTo>
                  <a:pt x="940274" y="110324"/>
                </a:lnTo>
                <a:lnTo>
                  <a:pt x="1050599" y="220649"/>
                </a:lnTo>
                <a:lnTo>
                  <a:pt x="940274" y="330974"/>
                </a:lnTo>
                <a:lnTo>
                  <a:pt x="220649" y="330974"/>
                </a:lnTo>
                <a:lnTo>
                  <a:pt x="220649" y="441299"/>
                </a:lnTo>
                <a:close/>
              </a:path>
              <a:path w="1050925" h="441325">
                <a:moveTo>
                  <a:pt x="940274" y="110324"/>
                </a:moveTo>
                <a:lnTo>
                  <a:pt x="829949" y="110324"/>
                </a:lnTo>
                <a:lnTo>
                  <a:pt x="829949" y="0"/>
                </a:lnTo>
                <a:lnTo>
                  <a:pt x="940274" y="110324"/>
                </a:lnTo>
                <a:close/>
              </a:path>
              <a:path w="1050925" h="441325">
                <a:moveTo>
                  <a:pt x="829949" y="441299"/>
                </a:moveTo>
                <a:lnTo>
                  <a:pt x="829949" y="330974"/>
                </a:lnTo>
                <a:lnTo>
                  <a:pt x="940274" y="330974"/>
                </a:lnTo>
                <a:lnTo>
                  <a:pt x="829949" y="441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31537" y="3155562"/>
            <a:ext cx="1050925" cy="441325"/>
          </a:xfrm>
          <a:custGeom>
            <a:avLst/>
            <a:gdLst/>
            <a:ahLst/>
            <a:cxnLst/>
            <a:rect l="l" t="t" r="r" b="b"/>
            <a:pathLst>
              <a:path w="1050925" h="441325">
                <a:moveTo>
                  <a:pt x="0" y="220649"/>
                </a:moveTo>
                <a:lnTo>
                  <a:pt x="220649" y="0"/>
                </a:lnTo>
                <a:lnTo>
                  <a:pt x="220649" y="110324"/>
                </a:lnTo>
                <a:lnTo>
                  <a:pt x="829949" y="110324"/>
                </a:lnTo>
                <a:lnTo>
                  <a:pt x="829949" y="0"/>
                </a:lnTo>
                <a:lnTo>
                  <a:pt x="1050599" y="220649"/>
                </a:lnTo>
                <a:lnTo>
                  <a:pt x="829949" y="441299"/>
                </a:lnTo>
                <a:lnTo>
                  <a:pt x="829949" y="330974"/>
                </a:lnTo>
                <a:lnTo>
                  <a:pt x="220649" y="330974"/>
                </a:lnTo>
                <a:lnTo>
                  <a:pt x="220649" y="441299"/>
                </a:lnTo>
                <a:lnTo>
                  <a:pt x="0" y="22064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047793" y="3784367"/>
            <a:ext cx="366395" cy="10572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>
                <a:latin typeface="Arial"/>
                <a:cs typeface="Arial"/>
              </a:rPr>
              <a:t>Internet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69830" y="3678358"/>
            <a:ext cx="366395" cy="6184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755"/>
              </a:lnSpc>
            </a:pPr>
            <a:r>
              <a:rPr dirty="0" sz="2400" spc="-5">
                <a:latin typeface="Arial"/>
                <a:cs typeface="Arial"/>
              </a:rPr>
              <a:t>LAN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10050" y="1296950"/>
            <a:ext cx="2235835" cy="3760470"/>
          </a:xfrm>
          <a:prstGeom prst="rect">
            <a:avLst/>
          </a:prstGeom>
          <a:ln w="38099">
            <a:solidFill>
              <a:srgbClr val="0000FF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85"/>
              </a:spcBef>
            </a:pPr>
            <a:r>
              <a:rPr dirty="0" sz="2400" spc="-5">
                <a:latin typeface="Arial"/>
                <a:cs typeface="Arial"/>
              </a:rPr>
              <a:t>Storage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algn="r" marR="2540">
              <a:lnSpc>
                <a:spcPct val="100000"/>
              </a:lnSpc>
              <a:spcBef>
                <a:spcPts val="1714"/>
              </a:spcBef>
            </a:pP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249" y="4766045"/>
            <a:ext cx="1895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9056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Web </a:t>
            </a:r>
            <a:r>
              <a:rPr dirty="0" spc="-10"/>
              <a:t>App Storage System</a:t>
            </a:r>
            <a:r>
              <a:rPr dirty="0" spc="-22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9224" y="1138124"/>
            <a:ext cx="8308340" cy="32480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690"/>
              </a:spcBef>
              <a:buChar char="●"/>
              <a:tabLst>
                <a:tab pos="424815" algn="l"/>
                <a:tab pos="425450" algn="l"/>
              </a:tabLst>
            </a:pP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Always available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Fetch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correct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app data,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r>
              <a:rPr dirty="0" sz="24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updates</a:t>
            </a:r>
            <a:endParaRPr sz="24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44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Even if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many request come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concurrently -</a:t>
            </a:r>
            <a:r>
              <a:rPr dirty="0" sz="18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Scalable</a:t>
            </a:r>
            <a:endParaRPr sz="1800">
              <a:latin typeface="Arial"/>
              <a:cs typeface="Arial"/>
            </a:endParaRPr>
          </a:p>
          <a:p>
            <a:pPr lvl="2" marL="1339215" indent="-367030">
              <a:lnSpc>
                <a:spcPct val="100000"/>
              </a:lnSpc>
              <a:spcBef>
                <a:spcPts val="315"/>
              </a:spcBef>
              <a:buChar char="■"/>
              <a:tabLst>
                <a:tab pos="1339215" algn="l"/>
                <a:tab pos="13398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From all over the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world</a:t>
            </a:r>
            <a:endParaRPr sz="18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Even if pieces fail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Reliable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/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fault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tolerant</a:t>
            </a:r>
            <a:endParaRPr sz="1800">
              <a:latin typeface="Arial"/>
              <a:cs typeface="Arial"/>
            </a:endParaRPr>
          </a:p>
          <a:p>
            <a:pPr marL="424815" indent="-412750">
              <a:lnSpc>
                <a:spcPct val="100000"/>
              </a:lnSpc>
              <a:spcBef>
                <a:spcPts val="1265"/>
              </a:spcBef>
              <a:buChar char="●"/>
              <a:tabLst>
                <a:tab pos="424815" algn="l"/>
                <a:tab pos="425450" algn="l"/>
              </a:tabLst>
            </a:pP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Provide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good organization of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storing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an application</a:t>
            </a:r>
            <a:r>
              <a:rPr dirty="0" sz="24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44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Quickly generate the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 of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endParaRPr sz="18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1290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Handle app evolving over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424815" indent="-412750">
              <a:lnSpc>
                <a:spcPct val="100000"/>
              </a:lnSpc>
              <a:spcBef>
                <a:spcPts val="1265"/>
              </a:spcBef>
              <a:buChar char="●"/>
              <a:tabLst>
                <a:tab pos="424815" algn="l"/>
                <a:tab pos="425450" algn="l"/>
              </a:tabLst>
            </a:pP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Good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software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engineering: Easy to use and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reason</a:t>
            </a:r>
            <a:r>
              <a:rPr dirty="0" sz="2400" spc="-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249" y="4766045"/>
            <a:ext cx="1895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0786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Relational Database</a:t>
            </a:r>
            <a:r>
              <a:rPr dirty="0" spc="-90"/>
              <a:t> </a:t>
            </a:r>
            <a:r>
              <a:rPr dirty="0" spc="-5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162308"/>
            <a:ext cx="7328534" cy="232600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Early on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structures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file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system,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objects, networks,</a:t>
            </a:r>
            <a:r>
              <a:rPr dirty="0" sz="1800" spc="-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The database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community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decided the answer was the </a:t>
            </a:r>
            <a:r>
              <a:rPr dirty="0" sz="1400" spc="-5" b="1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dirty="0" sz="1400" spc="-1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  <a:p>
            <a:pPr lvl="2" marL="1293495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community still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think it</a:t>
            </a:r>
            <a:r>
              <a:rPr dirty="0" sz="14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is.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 is organized as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series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tables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(also called</a:t>
            </a:r>
            <a:r>
              <a:rPr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relations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79095" marR="689610">
              <a:lnSpc>
                <a:spcPct val="187500"/>
              </a:lnSpc>
              <a:spcBef>
                <a:spcPts val="50"/>
              </a:spcBef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table is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made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of up of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rows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(also called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tuples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800" spc="-1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records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) 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row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made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fixed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(per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table)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of typed</a:t>
            </a:r>
            <a:r>
              <a:rPr dirty="0" sz="1800" spc="-1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columns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821" y="3470986"/>
            <a:ext cx="3623945" cy="14065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55"/>
              </a:spcBef>
              <a:buChar char="●"/>
              <a:tabLst>
                <a:tab pos="363855" algn="l"/>
                <a:tab pos="36449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String:</a:t>
            </a:r>
            <a:r>
              <a:rPr dirty="0" sz="1600" spc="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VARCHAR(20)</a:t>
            </a:r>
            <a:endParaRPr sz="1600">
              <a:latin typeface="Consolas"/>
              <a:cs typeface="Consola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363855" algn="l"/>
                <a:tab pos="36449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Integer:</a:t>
            </a:r>
            <a:r>
              <a:rPr dirty="0" sz="1600" spc="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INTEGER</a:t>
            </a:r>
            <a:endParaRPr sz="1600">
              <a:latin typeface="Consolas"/>
              <a:cs typeface="Consola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363855" algn="l"/>
                <a:tab pos="36449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Floating-point: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FLOAT,</a:t>
            </a:r>
            <a:r>
              <a:rPr dirty="0" sz="1600" spc="1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DOUBLE</a:t>
            </a:r>
            <a:endParaRPr sz="1600">
              <a:latin typeface="Consolas"/>
              <a:cs typeface="Consola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363855" algn="l"/>
                <a:tab pos="36449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Date/time: D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ATE, TIME,</a:t>
            </a:r>
            <a:r>
              <a:rPr dirty="0" sz="1600" spc="-8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DATETIME</a:t>
            </a:r>
            <a:endParaRPr sz="1600">
              <a:latin typeface="Consolas"/>
              <a:cs typeface="Consola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Char char="●"/>
              <a:tabLst>
                <a:tab pos="363855" algn="l"/>
                <a:tab pos="364490" algn="l"/>
              </a:tabLst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Others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4767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Database</a:t>
            </a:r>
            <a:r>
              <a:rPr dirty="0" spc="-90"/>
              <a:t> </a:t>
            </a:r>
            <a:r>
              <a:rPr dirty="0" spc="-5"/>
              <a:t>Schema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3308"/>
            <a:ext cx="6784975" cy="2056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95959"/>
                </a:solidFill>
                <a:latin typeface="Arial"/>
                <a:cs typeface="Arial"/>
              </a:rPr>
              <a:t>Schema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: The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structure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dirty="0" sz="24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  <a:p>
            <a:pPr marL="469900" indent="-382270">
              <a:lnSpc>
                <a:spcPct val="100000"/>
              </a:lnSpc>
              <a:spcBef>
                <a:spcPts val="2010"/>
              </a:spcBef>
              <a:buChar char="●"/>
              <a:tabLst>
                <a:tab pos="469265" algn="l"/>
                <a:tab pos="469900" algn="l"/>
                <a:tab pos="2498090" algn="l"/>
              </a:tabLst>
            </a:pP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The table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names	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dirty="0" sz="2000" spc="-30">
                <a:solidFill>
                  <a:srgbClr val="595959"/>
                </a:solidFill>
                <a:latin typeface="Arial"/>
                <a:cs typeface="Arial"/>
              </a:rPr>
              <a:t>User, </a:t>
            </a: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Photo, Comments)</a:t>
            </a:r>
            <a:endParaRPr sz="2000">
              <a:latin typeface="Arial"/>
              <a:cs typeface="Arial"/>
            </a:endParaRPr>
          </a:p>
          <a:p>
            <a:pPr marL="469900" indent="-382270">
              <a:lnSpc>
                <a:spcPct val="100000"/>
              </a:lnSpc>
              <a:spcBef>
                <a:spcPts val="1950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The names and types of table</a:t>
            </a:r>
            <a:r>
              <a:rPr dirty="0" sz="20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columns</a:t>
            </a:r>
            <a:endParaRPr sz="2000">
              <a:latin typeface="Arial"/>
              <a:cs typeface="Arial"/>
            </a:endParaRPr>
          </a:p>
          <a:p>
            <a:pPr marL="469900" indent="-382270">
              <a:lnSpc>
                <a:spcPct val="100000"/>
              </a:lnSpc>
              <a:spcBef>
                <a:spcPts val="1950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2000" spc="-25">
                <a:solidFill>
                  <a:srgbClr val="595959"/>
                </a:solidFill>
                <a:latin typeface="Arial"/>
                <a:cs typeface="Arial"/>
              </a:rPr>
              <a:t>Various </a:t>
            </a: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optional additional information </a:t>
            </a:r>
            <a:r>
              <a:rPr dirty="0" sz="2000">
                <a:solidFill>
                  <a:srgbClr val="595959"/>
                </a:solidFill>
                <a:latin typeface="Arial"/>
                <a:cs typeface="Arial"/>
              </a:rPr>
              <a:t>(constraints,</a:t>
            </a:r>
            <a:r>
              <a:rPr dirty="0" sz="2000" spc="-6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9311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Example: </a:t>
            </a:r>
            <a:r>
              <a:rPr dirty="0" spc="-5"/>
              <a:t>User</a:t>
            </a:r>
            <a:r>
              <a:rPr dirty="0" spc="-120"/>
              <a:t> </a:t>
            </a:r>
            <a:r>
              <a:rPr dirty="0" spc="-70"/>
              <a:t>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66137" y="652137"/>
          <a:ext cx="4726305" cy="401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1096009"/>
                <a:gridCol w="1159510"/>
                <a:gridCol w="1836420"/>
              </a:tblGrid>
              <a:tr h="3923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first_name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last_name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2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location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Ian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Malcolm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Austin,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TX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Ellen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Ripley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Nostromo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Peregrin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45">
                          <a:latin typeface="Arial"/>
                          <a:cs typeface="Arial"/>
                        </a:rPr>
                        <a:t>Took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Gondor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Rey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Kenobi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D'Qar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April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Ludgate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Awnee,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94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John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Ousterhout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Stanford,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CA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16199" y="1191507"/>
            <a:ext cx="1887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Column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199" y="1716272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5422" y="1690872"/>
            <a:ext cx="917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INTEGER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199" y="1967096"/>
            <a:ext cx="27012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first_name </a:t>
            </a:r>
            <a:r>
              <a:rPr dirty="0" sz="1600">
                <a:solidFill>
                  <a:srgbClr val="595959"/>
                </a:solidFill>
                <a:latin typeface="Consolas"/>
                <a:cs typeface="Consolas"/>
              </a:rPr>
              <a:t>-</a:t>
            </a:r>
            <a:r>
              <a:rPr dirty="0" sz="16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VARCHAR(20)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199" y="2210937"/>
            <a:ext cx="102806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last_name  location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41853" y="2210937"/>
            <a:ext cx="1475740" cy="5778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5585" indent="-223520">
              <a:lnSpc>
                <a:spcPct val="100000"/>
              </a:lnSpc>
              <a:spcBef>
                <a:spcPts val="355"/>
              </a:spcBef>
              <a:buChar char="-"/>
              <a:tabLst>
                <a:tab pos="236220" algn="l"/>
              </a:tabLst>
            </a:pP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VARCHAR(20)</a:t>
            </a:r>
            <a:endParaRPr sz="1600">
              <a:latin typeface="Consolas"/>
              <a:cs typeface="Consolas"/>
            </a:endParaRPr>
          </a:p>
          <a:p>
            <a:pPr marL="235585" indent="-223520">
              <a:lnSpc>
                <a:spcPct val="100000"/>
              </a:lnSpc>
              <a:spcBef>
                <a:spcPts val="254"/>
              </a:spcBef>
              <a:buChar char="-"/>
              <a:tabLst>
                <a:tab pos="236220" algn="l"/>
              </a:tabLst>
            </a:pP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VARCHAR(20)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4957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Structured </a:t>
            </a:r>
            <a:r>
              <a:rPr dirty="0" spc="-5"/>
              <a:t>Query Language</a:t>
            </a:r>
            <a:r>
              <a:rPr dirty="0" spc="-85"/>
              <a:t> </a:t>
            </a:r>
            <a:r>
              <a:rPr dirty="0"/>
              <a:t>(SQL)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24" y="1138124"/>
            <a:ext cx="6511290" cy="288353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424815" indent="-412750">
              <a:lnSpc>
                <a:spcPct val="100000"/>
              </a:lnSpc>
              <a:spcBef>
                <a:spcPts val="690"/>
              </a:spcBef>
              <a:buChar char="●"/>
              <a:tabLst>
                <a:tab pos="424815" algn="l"/>
                <a:tab pos="425450" algn="l"/>
              </a:tabLst>
            </a:pP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Standard for accessing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dirty="0" sz="24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44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Sweet theory behind it: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dirty="0" sz="1800" spc="2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algebra</a:t>
            </a:r>
            <a:endParaRPr sz="1800">
              <a:latin typeface="Arial"/>
              <a:cs typeface="Arial"/>
            </a:endParaRPr>
          </a:p>
          <a:p>
            <a:pPr marL="424815" indent="-412750">
              <a:lnSpc>
                <a:spcPct val="100000"/>
              </a:lnSpc>
              <a:spcBef>
                <a:spcPts val="1265"/>
              </a:spcBef>
              <a:buChar char="●"/>
              <a:tabLst>
                <a:tab pos="424815" algn="l"/>
                <a:tab pos="425450" algn="l"/>
              </a:tabLst>
            </a:pP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Queries: the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strength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dirty="0" sz="2400">
                <a:solidFill>
                  <a:srgbClr val="595959"/>
                </a:solidFill>
                <a:latin typeface="Arial"/>
                <a:cs typeface="Arial"/>
              </a:rPr>
              <a:t>relational</a:t>
            </a:r>
            <a:r>
              <a:rPr dirty="0" sz="24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95959"/>
                </a:solidFill>
                <a:latin typeface="Arial"/>
                <a:cs typeface="Arial"/>
              </a:rPr>
              <a:t>databases</a:t>
            </a:r>
            <a:endParaRPr sz="24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44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Lots of ways to extract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106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6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specify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dirty="0" sz="1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endParaRPr sz="18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106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The database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system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figures out how to get it</a:t>
            </a:r>
            <a:r>
              <a:rPr dirty="0" sz="18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efficiently</a:t>
            </a:r>
            <a:endParaRPr sz="1800">
              <a:latin typeface="Arial"/>
              <a:cs typeface="Arial"/>
            </a:endParaRPr>
          </a:p>
          <a:p>
            <a:pPr lvl="1" marL="882015" indent="-367030">
              <a:lnSpc>
                <a:spcPct val="100000"/>
              </a:lnSpc>
              <a:spcBef>
                <a:spcPts val="1065"/>
              </a:spcBef>
              <a:buChar char="○"/>
              <a:tabLst>
                <a:tab pos="882015" algn="l"/>
                <a:tab pos="8826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Refer to data by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contents,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not just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name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249" y="4766045"/>
            <a:ext cx="1895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1607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SQL </a:t>
            </a:r>
            <a:r>
              <a:rPr dirty="0" spc="-10"/>
              <a:t>Example</a:t>
            </a:r>
            <a:r>
              <a:rPr dirty="0" spc="-195"/>
              <a:t> </a:t>
            </a:r>
            <a:r>
              <a:rPr dirty="0" spc="-5"/>
              <a:t>Commands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179779"/>
            <a:ext cx="2847975" cy="13589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-5" b="1">
                <a:solidFill>
                  <a:srgbClr val="595959"/>
                </a:solidFill>
                <a:latin typeface="Consolas"/>
                <a:cs typeface="Consolas"/>
              </a:rPr>
              <a:t>CREATE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TABLE Users</a:t>
            </a:r>
            <a:r>
              <a:rPr dirty="0" sz="1500" spc="-2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endParaRPr sz="1500">
              <a:latin typeface="Consolas"/>
              <a:cs typeface="Consolas"/>
            </a:endParaRPr>
          </a:p>
          <a:p>
            <a:pPr marL="430530">
              <a:lnSpc>
                <a:spcPct val="100000"/>
              </a:lnSpc>
              <a:spcBef>
                <a:spcPts val="300"/>
              </a:spcBef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id INT</a:t>
            </a:r>
            <a:r>
              <a:rPr dirty="0" sz="15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AUTO_INCREMENT,</a:t>
            </a:r>
            <a:endParaRPr sz="1500">
              <a:latin typeface="Consolas"/>
              <a:cs typeface="Consolas"/>
            </a:endParaRPr>
          </a:p>
          <a:p>
            <a:pPr marL="430530" marR="5080">
              <a:lnSpc>
                <a:spcPct val="116700"/>
              </a:lnSpc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first_name</a:t>
            </a:r>
            <a:r>
              <a:rPr dirty="0" sz="15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VARCHAR(20),  last_name VARCHAR(20),  location</a:t>
            </a:r>
            <a:r>
              <a:rPr dirty="0" sz="1500" spc="-5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VARCHAR(20));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713304"/>
            <a:ext cx="2010410" cy="21590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INSERT INTO Users</a:t>
            </a:r>
            <a:r>
              <a:rPr dirty="0" sz="1500" spc="-9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endParaRPr sz="1500">
              <a:latin typeface="Consolas"/>
              <a:cs typeface="Consolas"/>
            </a:endParaRPr>
          </a:p>
          <a:p>
            <a:pPr marL="326390" marR="527050">
              <a:lnSpc>
                <a:spcPct val="116700"/>
              </a:lnSpc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first_name,  last_name,  location)  VALUES  ('Ian',</a:t>
            </a:r>
            <a:endParaRPr sz="1500">
              <a:latin typeface="Consolas"/>
              <a:cs typeface="Consolas"/>
            </a:endParaRPr>
          </a:p>
          <a:p>
            <a:pPr marL="430530" marR="108585" indent="-104775">
              <a:lnSpc>
                <a:spcPct val="116700"/>
              </a:lnSpc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'</a:t>
            </a:r>
            <a:r>
              <a:rPr dirty="0" sz="1500" spc="-5">
                <a:latin typeface="Consolas"/>
                <a:cs typeface="Consolas"/>
              </a:rPr>
              <a:t>Malcolm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',  'Austin,</a:t>
            </a:r>
            <a:r>
              <a:rPr dirty="0" sz="15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TX');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425" y="1179779"/>
            <a:ext cx="2434590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-5" b="1">
                <a:solidFill>
                  <a:srgbClr val="595959"/>
                </a:solidFill>
                <a:latin typeface="Consolas"/>
                <a:cs typeface="Consolas"/>
              </a:rPr>
              <a:t>DELETE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FROM Users</a:t>
            </a:r>
            <a:r>
              <a:rPr dirty="0" sz="1500" spc="-8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WHERE</a:t>
            </a:r>
            <a:endParaRPr sz="1500">
              <a:latin typeface="Consolas"/>
              <a:cs typeface="Consolas"/>
            </a:endParaRPr>
          </a:p>
          <a:p>
            <a:pPr marL="326390">
              <a:lnSpc>
                <a:spcPct val="100000"/>
              </a:lnSpc>
              <a:spcBef>
                <a:spcPts val="300"/>
              </a:spcBef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last_name='</a:t>
            </a:r>
            <a:r>
              <a:rPr dirty="0" sz="1500" spc="-5">
                <a:latin typeface="Consolas"/>
                <a:cs typeface="Consolas"/>
              </a:rPr>
              <a:t>Malcolm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';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425" y="1913205"/>
            <a:ext cx="3369310" cy="8255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-5" b="1">
                <a:solidFill>
                  <a:srgbClr val="595959"/>
                </a:solidFill>
                <a:latin typeface="Consolas"/>
                <a:cs typeface="Consolas"/>
              </a:rPr>
              <a:t>UPDATE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Users</a:t>
            </a:r>
            <a:endParaRPr sz="1500">
              <a:latin typeface="Consolas"/>
              <a:cs typeface="Consolas"/>
            </a:endParaRPr>
          </a:p>
          <a:p>
            <a:pPr marL="430530" marR="5080">
              <a:lnSpc>
                <a:spcPct val="116700"/>
              </a:lnSpc>
            </a:pP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SET location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'New York,</a:t>
            </a:r>
            <a:r>
              <a:rPr dirty="0" sz="1500" spc="-9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NY  WHERE id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dirty="0" sz="1500" spc="-2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2;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5425" y="2951429"/>
            <a:ext cx="21177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solidFill>
                  <a:srgbClr val="595959"/>
                </a:solidFill>
                <a:latin typeface="Consolas"/>
                <a:cs typeface="Consolas"/>
              </a:rPr>
              <a:t>SELECT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*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FROM</a:t>
            </a:r>
            <a:r>
              <a:rPr dirty="0" sz="1500" spc="-9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Users;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5425" y="3418154"/>
            <a:ext cx="347535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solidFill>
                  <a:srgbClr val="595959"/>
                </a:solidFill>
                <a:latin typeface="Consolas"/>
                <a:cs typeface="Consolas"/>
              </a:rPr>
              <a:t>SELECT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*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from Users WHERE id </a:t>
            </a:r>
            <a:r>
              <a:rPr dirty="0" sz="150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dirty="0" sz="1500" spc="-8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500" spc="-5">
                <a:solidFill>
                  <a:srgbClr val="595959"/>
                </a:solidFill>
                <a:latin typeface="Consolas"/>
                <a:cs typeface="Consolas"/>
              </a:rPr>
              <a:t>2;</a:t>
            </a:r>
            <a:endParaRPr sz="15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467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Keys </a:t>
            </a:r>
            <a:r>
              <a:rPr dirty="0" spc="-5"/>
              <a:t>and</a:t>
            </a:r>
            <a:r>
              <a:rPr dirty="0" spc="-85"/>
              <a:t> </a:t>
            </a:r>
            <a:r>
              <a:rPr dirty="0" spc="-5"/>
              <a:t>Indexes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10220" cy="3509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2065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Consider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fetch:	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SELECT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*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FROM Users WHERE id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dirty="0" sz="1800" spc="-4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2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Database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could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implement this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by: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419734">
              <a:lnSpc>
                <a:spcPct val="100000"/>
              </a:lnSpc>
              <a:buFont typeface="Arial"/>
              <a:buAutoNum type="arabicPeriod"/>
              <a:tabLst>
                <a:tab pos="469265" algn="l"/>
                <a:tab pos="469900" algn="l"/>
              </a:tabLst>
            </a:pP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Scan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the Users table and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return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rows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id=2</a:t>
            </a:r>
            <a:endParaRPr sz="1800">
              <a:latin typeface="Arial"/>
              <a:cs typeface="Arial"/>
            </a:endParaRPr>
          </a:p>
          <a:p>
            <a:pPr marL="469900" marR="5080" indent="-419734">
              <a:lnSpc>
                <a:spcPct val="114599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Have built an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index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maps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id numbers to table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rows.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Lookup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from  index.</a:t>
            </a:r>
            <a:endParaRPr sz="1800">
              <a:latin typeface="Arial"/>
              <a:cs typeface="Arial"/>
            </a:endParaRPr>
          </a:p>
          <a:p>
            <a:pPr marL="469900" marR="930275" indent="-457200">
              <a:lnSpc>
                <a:spcPct val="149300"/>
              </a:lnSpc>
              <a:spcBef>
                <a:spcPts val="825"/>
              </a:spcBef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Uses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keys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tell database that building an index would be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good idea  Primary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key: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Organize data around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accesses</a:t>
            </a:r>
            <a:endParaRPr sz="1800">
              <a:latin typeface="Arial"/>
              <a:cs typeface="Arial"/>
            </a:endParaRPr>
          </a:p>
          <a:p>
            <a:pPr marL="469900" marR="2152015" indent="520700">
              <a:lnSpc>
                <a:spcPct val="114599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PRIMARY KEY(id)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CREATE</a:t>
            </a:r>
            <a:r>
              <a:rPr dirty="0" sz="1800" spc="-53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table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command 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Secondary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key: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Other indexes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UNIQUE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5622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Object Relational </a:t>
            </a:r>
            <a:r>
              <a:rPr dirty="0"/>
              <a:t>Mapping</a:t>
            </a:r>
            <a:r>
              <a:rPr dirty="0" spc="-95"/>
              <a:t> </a:t>
            </a:r>
            <a:r>
              <a:rPr dirty="0"/>
              <a:t>(ORM)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97928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Relational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and SQL was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bad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match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dirty="0" sz="1800" spc="-2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3" y="1498423"/>
            <a:ext cx="2138680" cy="5207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○"/>
              <a:tabLst>
                <a:tab pos="347980" algn="l"/>
                <a:tab pos="34925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versus</a:t>
            </a:r>
            <a:r>
              <a:rPr dirty="0" sz="14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tables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347980" algn="l"/>
                <a:tab pos="34925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Need to evolve</a:t>
            </a:r>
            <a:r>
              <a:rPr dirty="0" sz="14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quickly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849" y="1890726"/>
            <a:ext cx="8091805" cy="84455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4044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404495" algn="l"/>
                <a:tab pos="4051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dirty="0" baseline="30092" sz="1800" spc="-7">
                <a:solidFill>
                  <a:srgbClr val="595959"/>
                </a:solidFill>
                <a:latin typeface="Arial"/>
                <a:cs typeface="Arial"/>
              </a:rPr>
              <a:t>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generation web frameworks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(Rails)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handled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mapping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 to SQL</a:t>
            </a:r>
            <a:r>
              <a:rPr dirty="0" sz="1800" spc="-2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DB</a:t>
            </a:r>
            <a:endParaRPr sz="1800">
              <a:latin typeface="Arial"/>
              <a:cs typeface="Arial"/>
            </a:endParaRPr>
          </a:p>
          <a:p>
            <a:pPr marL="4044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04495" algn="l"/>
                <a:tab pos="4051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Rail's Active</a:t>
            </a:r>
            <a:r>
              <a:rPr dirty="0" sz="1800" spc="-114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Record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49" y="2709876"/>
            <a:ext cx="8155305" cy="172085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836294" indent="-367030">
              <a:lnSpc>
                <a:spcPct val="100000"/>
              </a:lnSpc>
              <a:spcBef>
                <a:spcPts val="414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database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records</a:t>
            </a:r>
            <a:endParaRPr sz="1800">
              <a:latin typeface="Arial"/>
              <a:cs typeface="Arial"/>
            </a:endParaRPr>
          </a:p>
          <a:p>
            <a:pPr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One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class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each table in the database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(called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Models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800" spc="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Rails)</a:t>
            </a:r>
            <a:endParaRPr sz="1800">
              <a:latin typeface="Arial"/>
              <a:cs typeface="Arial"/>
            </a:endParaRPr>
          </a:p>
          <a:p>
            <a:pPr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 of the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class correspond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rows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 the</a:t>
            </a:r>
            <a:r>
              <a:rPr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  <a:p>
            <a:pPr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Attributes of an object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correspond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columns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from the</a:t>
            </a:r>
            <a:r>
              <a:rPr dirty="0" sz="18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row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Handled all the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schema creation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and SQL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commands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behind object</a:t>
            </a:r>
            <a:r>
              <a:rPr dirty="0" sz="1800" spc="-1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interface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753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NoSQL </a:t>
            </a:r>
            <a:r>
              <a:rPr dirty="0"/>
              <a:t>-</a:t>
            </a:r>
            <a:r>
              <a:rPr dirty="0" spc="-200"/>
              <a:t> </a:t>
            </a:r>
            <a:r>
              <a:rPr dirty="0"/>
              <a:t>MongoDB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65134" cy="319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Using SQL databases provided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reliable storage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early web</a:t>
            </a:r>
            <a:r>
              <a:rPr dirty="0" sz="1800" spc="-1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Led to new databases that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matched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web application object</a:t>
            </a:r>
            <a:r>
              <a:rPr dirty="0" sz="18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106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Known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collectively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as NoSQL</a:t>
            </a:r>
            <a:r>
              <a:rPr dirty="0" sz="1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databases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MongoDB - Most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prominent NoSQL</a:t>
            </a:r>
            <a:r>
              <a:rPr dirty="0" sz="1800" spc="-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lvl="1" marL="836294" indent="-36703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model: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Stores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collections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containing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documents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(JSON</a:t>
            </a:r>
            <a:r>
              <a:rPr dirty="0" sz="18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objects)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Has expressive query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Can use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indexes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fast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lookups</a:t>
            </a:r>
            <a:endParaRPr sz="1800">
              <a:latin typeface="Arial"/>
              <a:cs typeface="Arial"/>
            </a:endParaRPr>
          </a:p>
          <a:p>
            <a:pPr lvl="1" marL="836294" indent="-367030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Tries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handle 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scalability, reliability,</a:t>
            </a:r>
            <a:r>
              <a:rPr dirty="0" sz="1800" spc="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0042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Schema</a:t>
            </a:r>
            <a:r>
              <a:rPr dirty="0" spc="-85"/>
              <a:t> </a:t>
            </a:r>
            <a:r>
              <a:rPr dirty="0" spc="-5"/>
              <a:t>enforcement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653020" cy="267652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JSON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blobs provide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super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flexibility but not what is always</a:t>
            </a:r>
            <a:r>
              <a:rPr dirty="0" sz="18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wanted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Consider: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&lt;h1&gt;Hello</a:t>
            </a:r>
            <a:r>
              <a:rPr dirty="0" sz="1400" spc="-2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{{person.informalName}}&lt;/h1&gt;</a:t>
            </a:r>
            <a:endParaRPr sz="1400">
              <a:latin typeface="Consolas"/>
              <a:cs typeface="Consolas"/>
            </a:endParaRPr>
          </a:p>
          <a:p>
            <a:pPr lvl="2" marL="1293495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Good: typeof person.informalName == 'string' and length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&lt;</a:t>
            </a:r>
            <a:r>
              <a:rPr dirty="0" sz="14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something</a:t>
            </a:r>
            <a:endParaRPr sz="1400">
              <a:latin typeface="Arial"/>
              <a:cs typeface="Arial"/>
            </a:endParaRPr>
          </a:p>
          <a:p>
            <a:pPr lvl="2" marL="1293495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Bad: </a:t>
            </a:r>
            <a:r>
              <a:rPr dirty="0" sz="1400" spc="-20">
                <a:solidFill>
                  <a:srgbClr val="595959"/>
                </a:solidFill>
                <a:latin typeface="Arial"/>
                <a:cs typeface="Arial"/>
              </a:rPr>
              <a:t>Type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is 1GB object, or undefined, or null, or</a:t>
            </a:r>
            <a:r>
              <a:rPr dirty="0" sz="14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Would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like to enforce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schema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on the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Can be implemented as </a:t>
            </a:r>
            <a:r>
              <a:rPr dirty="0" sz="1400" spc="-5" b="1">
                <a:solidFill>
                  <a:srgbClr val="595959"/>
                </a:solidFill>
                <a:latin typeface="Arial"/>
                <a:cs typeface="Arial"/>
              </a:rPr>
              <a:t>validators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mutating</a:t>
            </a: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operations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Mongoose 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 Definition Language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(ODL)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45">
                <a:solidFill>
                  <a:srgbClr val="595959"/>
                </a:solidFill>
                <a:latin typeface="Arial"/>
                <a:cs typeface="Arial"/>
              </a:rPr>
              <a:t>Take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familiar usage from ORMs and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it onto</a:t>
            </a:r>
            <a:r>
              <a:rPr dirty="0" sz="14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MongoDB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Effectively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masks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the lower level interface to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MongoDB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that is</a:t>
            </a:r>
            <a:r>
              <a:rPr dirty="0" sz="14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friendlier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616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Using: </a:t>
            </a:r>
            <a:r>
              <a:rPr dirty="0" spc="-5">
                <a:latin typeface="Consolas"/>
                <a:cs typeface="Consolas"/>
              </a:rPr>
              <a:t>var mongoose </a:t>
            </a:r>
            <a:r>
              <a:rPr dirty="0">
                <a:latin typeface="Consolas"/>
                <a:cs typeface="Consolas"/>
              </a:rPr>
              <a:t>=</a:t>
            </a:r>
            <a:r>
              <a:rPr dirty="0" spc="-100">
                <a:latin typeface="Consolas"/>
                <a:cs typeface="Consolas"/>
              </a:rPr>
              <a:t> </a:t>
            </a:r>
            <a:r>
              <a:rPr dirty="0" spc="-5">
                <a:latin typeface="Consolas"/>
                <a:cs typeface="Consolas"/>
              </a:rPr>
              <a:t>require('mongoose');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95565" cy="3395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197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Connect to the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MongoDB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instance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mongoose.connect('mongodb://localhost/cs142');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419734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Wait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connection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complete: Mongoose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exports an</a:t>
            </a:r>
            <a:r>
              <a:rPr dirty="0" sz="18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EventEmitter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5984240" algn="l"/>
              </a:tabLst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mongoose.connection.on('open', function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()	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// Can start processing model fetch</a:t>
            </a:r>
            <a:r>
              <a:rPr dirty="0" sz="1800" spc="-3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requests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mongoose.connection.on('error', function (err)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r>
              <a:rPr dirty="0" sz="1800" spc="-4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Can also listen for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connecting, connected,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disconnecting, disconnected,</a:t>
            </a:r>
            <a:r>
              <a:rPr dirty="0" sz="18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249" y="4766045"/>
            <a:ext cx="1895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0964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Mongoose: </a:t>
            </a:r>
            <a:r>
              <a:rPr dirty="0" spc="-10"/>
              <a:t>Schema </a:t>
            </a:r>
            <a:r>
              <a:rPr dirty="0" spc="-5"/>
              <a:t>define</a:t>
            </a:r>
            <a:r>
              <a:rPr dirty="0" spc="-90"/>
              <a:t> </a:t>
            </a:r>
            <a:r>
              <a:rPr dirty="0"/>
              <a:t>collections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216355"/>
            <a:ext cx="6177915" cy="3423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Schema assign property names and their types to</a:t>
            </a:r>
            <a:r>
              <a:rPr dirty="0" sz="1800" spc="-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collections</a:t>
            </a:r>
            <a:endParaRPr sz="1800">
              <a:latin typeface="Arial"/>
              <a:cs typeface="Arial"/>
            </a:endParaRPr>
          </a:p>
          <a:p>
            <a:pPr algn="just" marL="469900" marR="1830070">
              <a:lnSpc>
                <a:spcPct val="114599"/>
              </a:lnSpc>
              <a:spcBef>
                <a:spcPts val="1575"/>
              </a:spcBef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String, 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Number,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Date, 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Buffer,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Boolean  Array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e.g.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comments: [ObjectId] 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ObjectId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Reference to another object 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Mixed -</a:t>
            </a:r>
            <a:r>
              <a:rPr dirty="0" sz="1800" spc="-114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Anything</a:t>
            </a:r>
            <a:endParaRPr sz="1800">
              <a:latin typeface="Arial"/>
              <a:cs typeface="Arial"/>
            </a:endParaRPr>
          </a:p>
          <a:p>
            <a:pPr marL="1177925" marR="680085" indent="-454659">
              <a:lnSpc>
                <a:spcPct val="114599"/>
              </a:lnSpc>
              <a:spcBef>
                <a:spcPts val="750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var userSchema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new mongoose.Schema({  first_name:</a:t>
            </a:r>
            <a:r>
              <a:rPr dirty="0" sz="18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String,</a:t>
            </a:r>
            <a:endParaRPr sz="1800">
              <a:latin typeface="Consolas"/>
              <a:cs typeface="Consolas"/>
            </a:endParaRPr>
          </a:p>
          <a:p>
            <a:pPr marL="1177925" marR="1856739">
              <a:lnSpc>
                <a:spcPct val="114599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last_name: String,  emailAddresses:</a:t>
            </a:r>
            <a:r>
              <a:rPr dirty="0" sz="18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[String],  location:</a:t>
            </a:r>
            <a:r>
              <a:rPr dirty="0" sz="18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2927" y="4654880"/>
            <a:ext cx="401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50950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Schema </a:t>
            </a:r>
            <a:r>
              <a:rPr dirty="0" spc="-5"/>
              <a:t>allows </a:t>
            </a:r>
            <a:r>
              <a:rPr dirty="0"/>
              <a:t>secondary </a:t>
            </a:r>
            <a:r>
              <a:rPr dirty="0" spc="-5"/>
              <a:t>indexes and</a:t>
            </a:r>
            <a:r>
              <a:rPr dirty="0" spc="-85"/>
              <a:t> </a:t>
            </a:r>
            <a:r>
              <a:rPr dirty="0" spc="-5"/>
              <a:t>defaults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784975" cy="287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Simple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index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first_name: {type: 'String', index:</a:t>
            </a:r>
            <a:r>
              <a:rPr dirty="0" sz="1800" spc="-3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true}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Index with unique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enforcement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user_name: {type: 'String', index: {unique: true}</a:t>
            </a:r>
            <a:r>
              <a:rPr dirty="0" sz="1800" spc="-7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Defaults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date: {type: Date, default: Date.now</a:t>
            </a:r>
            <a:r>
              <a:rPr dirty="0" sz="1800" spc="-3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429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Secondary</a:t>
            </a:r>
            <a:r>
              <a:rPr dirty="0" spc="-85"/>
              <a:t> </a:t>
            </a:r>
            <a:r>
              <a:rPr dirty="0" spc="-5"/>
              <a:t>indexes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741284" cy="20383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Performance and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space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trade-off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Faster queries: Eliminate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scans -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database just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returns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matches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from the</a:t>
            </a:r>
            <a:r>
              <a:rPr dirty="0" sz="14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index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Slower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mutating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operations: Add, delete, update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r>
              <a:rPr dirty="0" sz="1400" spc="-10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indexes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Uses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more space: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Need to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store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indexes and indexes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get bigger than the data</a:t>
            </a:r>
            <a:r>
              <a:rPr dirty="0" sz="1400" spc="-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itself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When to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Common queries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spending 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lot of time</a:t>
            </a:r>
            <a:r>
              <a:rPr dirty="0" sz="14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scanning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Need to enforce</a:t>
            </a: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uniqueness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02805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Mongoose: Make Model </a:t>
            </a:r>
            <a:r>
              <a:rPr dirty="0" spc="-5"/>
              <a:t>from</a:t>
            </a:r>
            <a:r>
              <a:rPr dirty="0" spc="-120"/>
              <a:t> </a:t>
            </a:r>
            <a:r>
              <a:rPr dirty="0" spc="-5"/>
              <a:t>Schema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635" marR="1712595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82270" algn="l"/>
                <a:tab pos="382905" algn="l"/>
              </a:tabLst>
            </a:pPr>
            <a:r>
              <a:rPr dirty="0"/>
              <a:t>A </a:t>
            </a:r>
            <a:r>
              <a:rPr dirty="0" b="1">
                <a:latin typeface="Arial"/>
                <a:cs typeface="Arial"/>
              </a:rPr>
              <a:t>Model </a:t>
            </a:r>
            <a:r>
              <a:rPr dirty="0" spc="-5"/>
              <a:t>in </a:t>
            </a:r>
            <a:r>
              <a:rPr dirty="0"/>
              <a:t>Mongoose </a:t>
            </a:r>
            <a:r>
              <a:rPr dirty="0" spc="-5"/>
              <a:t>is </a:t>
            </a:r>
            <a:r>
              <a:rPr dirty="0"/>
              <a:t>a constructor </a:t>
            </a:r>
            <a:r>
              <a:rPr dirty="0" spc="-5"/>
              <a:t>of objects </a:t>
            </a:r>
            <a:r>
              <a:rPr dirty="0"/>
              <a:t>a</a:t>
            </a:r>
            <a:r>
              <a:rPr dirty="0" spc="-204"/>
              <a:t> </a:t>
            </a:r>
            <a:r>
              <a:rPr dirty="0"/>
              <a:t>collection  May </a:t>
            </a:r>
            <a:r>
              <a:rPr dirty="0" spc="-5"/>
              <a:t>or </a:t>
            </a:r>
            <a:r>
              <a:rPr dirty="0"/>
              <a:t>may </a:t>
            </a:r>
            <a:r>
              <a:rPr dirty="0" spc="-5"/>
              <a:t>not </a:t>
            </a:r>
            <a:r>
              <a:rPr dirty="0"/>
              <a:t>correspond </a:t>
            </a:r>
            <a:r>
              <a:rPr dirty="0" spc="-5"/>
              <a:t>to </a:t>
            </a:r>
            <a:r>
              <a:rPr dirty="0"/>
              <a:t>a model </a:t>
            </a:r>
            <a:r>
              <a:rPr dirty="0" spc="-5"/>
              <a:t>of the</a:t>
            </a:r>
            <a:r>
              <a:rPr dirty="0" spc="-60"/>
              <a:t> </a:t>
            </a:r>
            <a:r>
              <a:rPr dirty="0"/>
              <a:t>MVC</a:t>
            </a:r>
          </a:p>
          <a:p>
            <a:pPr marL="381635">
              <a:lnSpc>
                <a:spcPct val="100000"/>
              </a:lnSpc>
              <a:spcBef>
                <a:spcPts val="1070"/>
              </a:spcBef>
            </a:pPr>
            <a:r>
              <a:rPr dirty="0" sz="1600" spc="-5">
                <a:latin typeface="Consolas"/>
                <a:cs typeface="Consolas"/>
              </a:rPr>
              <a:t>var User </a:t>
            </a:r>
            <a:r>
              <a:rPr dirty="0" sz="1600">
                <a:latin typeface="Consolas"/>
                <a:cs typeface="Consolas"/>
              </a:rPr>
              <a:t>= </a:t>
            </a:r>
            <a:r>
              <a:rPr dirty="0" sz="1600" spc="-5">
                <a:latin typeface="Consolas"/>
                <a:cs typeface="Consolas"/>
              </a:rPr>
              <a:t>mongoose.model('User',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">
                <a:latin typeface="Consolas"/>
                <a:cs typeface="Consolas"/>
              </a:rPr>
              <a:t>userSchema);</a:t>
            </a:r>
            <a:endParaRPr sz="1600">
              <a:latin typeface="Consolas"/>
              <a:cs typeface="Consolas"/>
            </a:endParaRPr>
          </a:p>
          <a:p>
            <a:pPr marL="381635" indent="-351790">
              <a:lnSpc>
                <a:spcPct val="100000"/>
              </a:lnSpc>
              <a:spcBef>
                <a:spcPts val="930"/>
              </a:spcBef>
              <a:buChar char="●"/>
              <a:tabLst>
                <a:tab pos="382270" algn="l"/>
                <a:tab pos="382905" algn="l"/>
              </a:tabLst>
            </a:pPr>
            <a:r>
              <a:rPr dirty="0" sz="1600" spc="-5"/>
              <a:t>Create objects from</a:t>
            </a:r>
            <a:r>
              <a:rPr dirty="0" sz="1600" spc="-10"/>
              <a:t> </a:t>
            </a:r>
            <a:r>
              <a:rPr dirty="0" sz="1600"/>
              <a:t>Model</a:t>
            </a:r>
            <a:endParaRPr sz="1600"/>
          </a:p>
          <a:p>
            <a:pPr marL="381635">
              <a:lnSpc>
                <a:spcPct val="100000"/>
              </a:lnSpc>
              <a:spcBef>
                <a:spcPts val="930"/>
              </a:spcBef>
            </a:pPr>
            <a:r>
              <a:rPr dirty="0" sz="1600" spc="-5">
                <a:latin typeface="Consolas"/>
                <a:cs typeface="Consolas"/>
              </a:rPr>
              <a:t>User.</a:t>
            </a:r>
            <a:r>
              <a:rPr dirty="0" sz="1600" spc="-5" b="1">
                <a:latin typeface="Consolas"/>
                <a:cs typeface="Consolas"/>
              </a:rPr>
              <a:t>create</a:t>
            </a:r>
            <a:r>
              <a:rPr dirty="0" sz="1600" spc="-5">
                <a:latin typeface="Consolas"/>
                <a:cs typeface="Consolas"/>
              </a:rPr>
              <a:t>({ first_name: 'Ian', last_name: 'Malcolm'},</a:t>
            </a:r>
            <a:r>
              <a:rPr dirty="0" sz="1600" spc="-65">
                <a:latin typeface="Consolas"/>
                <a:cs typeface="Consolas"/>
              </a:rPr>
              <a:t> </a:t>
            </a:r>
            <a:r>
              <a:rPr dirty="0" sz="1600" spc="-5">
                <a:latin typeface="Consolas"/>
                <a:cs typeface="Consolas"/>
              </a:rPr>
              <a:t>doneCallback);</a:t>
            </a:r>
            <a:endParaRPr sz="1600">
              <a:latin typeface="Consolas"/>
              <a:cs typeface="Consolas"/>
            </a:endParaRPr>
          </a:p>
          <a:p>
            <a:pPr marL="2540"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705485" marR="3686175" indent="-323850">
              <a:lnSpc>
                <a:spcPct val="113300"/>
              </a:lnSpc>
            </a:pPr>
            <a:r>
              <a:rPr dirty="0" sz="1600" spc="-5">
                <a:latin typeface="Consolas"/>
                <a:cs typeface="Consolas"/>
              </a:rPr>
              <a:t>function doneCallback(err, newUser) </a:t>
            </a:r>
            <a:r>
              <a:rPr dirty="0" sz="1600">
                <a:latin typeface="Consolas"/>
                <a:cs typeface="Consolas"/>
              </a:rPr>
              <a:t>{  </a:t>
            </a:r>
            <a:r>
              <a:rPr dirty="0" sz="1600" spc="-5">
                <a:latin typeface="Consolas"/>
                <a:cs typeface="Consolas"/>
              </a:rPr>
              <a:t>assert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 spc="-5">
                <a:latin typeface="Consolas"/>
                <a:cs typeface="Consolas"/>
              </a:rPr>
              <a:t>(!err);</a:t>
            </a:r>
            <a:endParaRPr sz="1600">
              <a:latin typeface="Consolas"/>
              <a:cs typeface="Consolas"/>
            </a:endParaRPr>
          </a:p>
          <a:p>
            <a:pPr marL="705485">
              <a:lnSpc>
                <a:spcPct val="100000"/>
              </a:lnSpc>
              <a:spcBef>
                <a:spcPts val="254"/>
              </a:spcBef>
            </a:pPr>
            <a:r>
              <a:rPr dirty="0" sz="1600" spc="-5">
                <a:latin typeface="Consolas"/>
                <a:cs typeface="Consolas"/>
              </a:rPr>
              <a:t>console.log('Created object with ID',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newUser.</a:t>
            </a:r>
            <a:r>
              <a:rPr dirty="0" sz="1600" b="1">
                <a:latin typeface="Consolas"/>
                <a:cs typeface="Consolas"/>
              </a:rPr>
              <a:t>_id</a:t>
            </a:r>
            <a:r>
              <a:rPr dirty="0" sz="160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481965">
              <a:lnSpc>
                <a:spcPct val="100000"/>
              </a:lnSpc>
              <a:spcBef>
                <a:spcPts val="254"/>
              </a:spcBef>
            </a:pPr>
            <a:r>
              <a:rPr dirty="0" sz="160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178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 </a:t>
            </a:r>
            <a:r>
              <a:rPr dirty="0" spc="-5"/>
              <a:t>used for querying</a:t>
            </a:r>
            <a:r>
              <a:rPr dirty="0" spc="-100"/>
              <a:t> </a:t>
            </a:r>
            <a:r>
              <a:rPr dirty="0"/>
              <a:t>collection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411845" cy="360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Returning the entire User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collection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find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(function (err, users)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{/*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users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is an array of objects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*/ 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Returning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single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user object for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user_id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findOne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({_id: user_id}, function (err, user)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/*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…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*/</a:t>
            </a:r>
            <a:r>
              <a:rPr dirty="0" sz="1800" spc="4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Updating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user object for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user_id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findOne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({_id: user_id}, function (err, user)</a:t>
            </a:r>
            <a:r>
              <a:rPr dirty="0" sz="1800" spc="-2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36294" marR="1172210">
              <a:lnSpc>
                <a:spcPct val="114599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// Update user object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(Note: Object is "special")  user.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save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();</a:t>
            </a:r>
            <a:endParaRPr sz="180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7870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Other </a:t>
            </a:r>
            <a:r>
              <a:rPr dirty="0"/>
              <a:t>Mongoose </a:t>
            </a:r>
            <a:r>
              <a:rPr dirty="0" spc="-5"/>
              <a:t>query operations </a:t>
            </a:r>
            <a:r>
              <a:rPr dirty="0"/>
              <a:t>- </a:t>
            </a:r>
            <a:r>
              <a:rPr dirty="0" spc="-5"/>
              <a:t>query</a:t>
            </a:r>
            <a:r>
              <a:rPr dirty="0" spc="-100"/>
              <a:t> </a:t>
            </a:r>
            <a:r>
              <a:rPr dirty="0" spc="-5"/>
              <a:t>builder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57515" cy="330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var query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dirty="0" sz="18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User.find({});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Projections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query.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select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("first_name</a:t>
            </a:r>
            <a:r>
              <a:rPr dirty="0" sz="1800" spc="-1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last_name").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exec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(doneCallback);</a:t>
            </a:r>
            <a:endParaRPr sz="1800">
              <a:latin typeface="Consolas"/>
              <a:cs typeface="Consolas"/>
            </a:endParaRPr>
          </a:p>
          <a:p>
            <a:pPr marL="469900" marR="2052320" indent="-367030">
              <a:lnSpc>
                <a:spcPct val="114599"/>
              </a:lnSpc>
              <a:spcBef>
                <a:spcPts val="157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Sorting  query.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sort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("first_name").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exec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(doneCallback);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Limits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query.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limit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(50).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exec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(doneCallback);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query.sort("-location").select("first_name").exec(doneCallback);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Database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422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Deleting objects from</a:t>
            </a:r>
            <a:r>
              <a:rPr dirty="0" spc="-90"/>
              <a:t> </a:t>
            </a:r>
            <a:r>
              <a:rPr dirty="0"/>
              <a:t>collection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534150" cy="184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Deleting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single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user with id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user_id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User.remove({_id: user_id}, function (err)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 }</a:t>
            </a:r>
            <a:r>
              <a:rPr dirty="0" sz="1800" spc="-9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Deleting all the User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User.remove({}, function (err)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{ }</a:t>
            </a:r>
            <a:r>
              <a:rPr dirty="0" sz="1800" spc="-3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84649E-C301-480C-AB49-4B782D213324}"/>
</file>

<file path=customXml/itemProps2.xml><?xml version="1.0" encoding="utf-8"?>
<ds:datastoreItem xmlns:ds="http://schemas.openxmlformats.org/officeDocument/2006/customXml" ds:itemID="{C02339F3-23CB-47EA-A71D-B1B653291F77}"/>
</file>

<file path=customXml/itemProps3.xml><?xml version="1.0" encoding="utf-8"?>
<ds:datastoreItem xmlns:ds="http://schemas.openxmlformats.org/officeDocument/2006/customXml" ds:itemID="{77038DB8-0961-4189-910B-618BD5B8E0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2019-08-20T05:10:22Z</dcterms:created>
  <dcterms:modified xsi:type="dcterms:W3CDTF">2019-08-20T05:10:22Z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