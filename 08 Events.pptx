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9144000" cy="5143500"/>
  <p:defaultTextStyle>
    <a:defPPr>
      <a:defRPr lang="mn-M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33" autoAdjust="0"/>
  </p:normalViewPr>
  <p:slideViewPr>
    <p:cSldViewPr>
      <p:cViewPr varScale="1">
        <p:scale>
          <a:sx n="129" d="100"/>
          <a:sy n="129" d="100"/>
        </p:scale>
        <p:origin x="1098" y="6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14AB2-9422-4B06-9457-F98E1D66CB85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EFFB9-BD47-485D-B25F-A7EADF632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49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click</a:t>
            </a:r>
            <a:r>
              <a:rPr lang="en-US" dirty="0"/>
              <a:t> event pass </a:t>
            </a:r>
            <a:r>
              <a:rPr lang="en-US" dirty="0" err="1"/>
              <a:t>PointerEvent</a:t>
            </a:r>
            <a:r>
              <a:rPr lang="en-US" dirty="0"/>
              <a:t> object: its prototype chain: </a:t>
            </a:r>
            <a:r>
              <a:rPr lang="en-US" dirty="0" err="1"/>
              <a:t>PointerEvent</a:t>
            </a:r>
            <a:r>
              <a:rPr lang="en-US" dirty="0"/>
              <a:t>-&gt; </a:t>
            </a:r>
            <a:r>
              <a:rPr lang="en-US" dirty="0" err="1"/>
              <a:t>MouseEvent</a:t>
            </a:r>
            <a:r>
              <a:rPr lang="en-US" dirty="0"/>
              <a:t> -&gt; </a:t>
            </a:r>
            <a:r>
              <a:rPr lang="en-US" dirty="0" err="1"/>
              <a:t>UIEvent</a:t>
            </a:r>
            <a:r>
              <a:rPr lang="en-US" dirty="0"/>
              <a:t> -&gt; Event -&gt;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BEFFB9-BD47-485D-B25F-A7EADF6326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08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49919" y="1881758"/>
            <a:ext cx="2044160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16355"/>
            <a:ext cx="8193500" cy="2157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83919" y="4778075"/>
            <a:ext cx="173926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9919" y="1881758"/>
            <a:ext cx="2040889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0" dirty="0">
                <a:latin typeface="Arial"/>
                <a:cs typeface="Arial"/>
              </a:rPr>
              <a:t>Events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3120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DOM </a:t>
            </a:r>
            <a:r>
              <a:rPr dirty="0"/>
              <a:t>communicates </a:t>
            </a:r>
            <a:r>
              <a:rPr spc="-5" dirty="0"/>
              <a:t>to </a:t>
            </a:r>
            <a:r>
              <a:rPr dirty="0"/>
              <a:t>JavaScript </a:t>
            </a:r>
            <a:r>
              <a:rPr spc="-5" dirty="0"/>
              <a:t>with</a:t>
            </a:r>
            <a:r>
              <a:rPr spc="-105" dirty="0"/>
              <a:t> </a:t>
            </a:r>
            <a:r>
              <a:rPr spc="-5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291070" cy="322453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Event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types: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Mouse-related: mouse movement,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button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click,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enter/leave</a:t>
            </a:r>
            <a:r>
              <a:rPr sz="1800" spc="-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Keyboard-related: down, up,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press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Focus-related: focus in, focus out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(blur)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Input field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changed,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Form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submitted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Timer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events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Miscellaneous: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Content of an element has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changed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Page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loaded/unloaded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Image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loaded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Uncaught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exception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742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Event</a:t>
            </a:r>
            <a:r>
              <a:rPr spc="-85" dirty="0"/>
              <a:t> </a:t>
            </a:r>
            <a:r>
              <a:rPr spc="-5" dirty="0"/>
              <a:t>handling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741284" cy="1842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Creating an event handler: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must specify 3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things: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What happened: the event 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interest.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Where it happened: an element 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interest.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What to do: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invoke when the event occurs on the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9035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Specifying </a:t>
            </a:r>
            <a:r>
              <a:rPr spc="-5" dirty="0"/>
              <a:t>the </a:t>
            </a:r>
            <a:r>
              <a:rPr dirty="0"/>
              <a:t>JavaScript </a:t>
            </a:r>
            <a:r>
              <a:rPr spc="-5" dirty="0"/>
              <a:t>of an</a:t>
            </a:r>
            <a:r>
              <a:rPr spc="-90" dirty="0"/>
              <a:t> </a:t>
            </a:r>
            <a:r>
              <a:rPr spc="-5" dirty="0"/>
              <a:t>Event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216355"/>
            <a:ext cx="8516351" cy="28058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Option #1: in 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HTML: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398463"/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gotMouseClick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'id42'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gotMouse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true;"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79095">
              <a:lnSpc>
                <a:spcPct val="100000"/>
              </a:lnSpc>
            </a:pP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Option #2: from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using 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DOM: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460375"/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mouseClick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sz="1800" dirty="0">
              <a:latin typeface="Consolas"/>
              <a:cs typeface="Consolas"/>
            </a:endParaRPr>
          </a:p>
          <a:p>
            <a:pPr marL="836294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endParaRPr sz="1800" dirty="0">
              <a:latin typeface="Arial"/>
              <a:cs typeface="Arial"/>
            </a:endParaRPr>
          </a:p>
          <a:p>
            <a:pPr>
              <a:tabLst>
                <a:tab pos="460375" algn="l"/>
              </a:tabLst>
            </a:pP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s-E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mouseClick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9786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Event</a:t>
            </a:r>
            <a:r>
              <a:rPr spc="-90" dirty="0"/>
              <a:t> </a:t>
            </a:r>
            <a:r>
              <a:rPr spc="-5" dirty="0"/>
              <a:t>object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81100"/>
            <a:ext cx="7519670" cy="310197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Event listener functions passed an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Event</a:t>
            </a:r>
            <a:r>
              <a:rPr sz="1800" spc="-4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</a:t>
            </a:r>
            <a:endParaRPr sz="1800" dirty="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Typically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sub-classed 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MouseEvent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 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KeyboardEvent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sz="18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8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Event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properties: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type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name of the event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('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click',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'mouseDown',</a:t>
            </a:r>
            <a:r>
              <a:rPr sz="1800" spc="-53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'keyUp'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, …)</a:t>
            </a:r>
            <a:endParaRPr sz="1800" dirty="0">
              <a:latin typeface="Arial"/>
              <a:cs typeface="Arial"/>
            </a:endParaRPr>
          </a:p>
          <a:p>
            <a:pPr marL="366395" marR="1235710" indent="12065">
              <a:lnSpc>
                <a:spcPct val="149300"/>
              </a:lnSpc>
            </a:pP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timeStamp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time that the event was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created  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currentTarget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 that listener was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registered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  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target</a:t>
            </a:r>
            <a:r>
              <a:rPr sz="1800" spc="-509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 that dispatched the event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309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/>
                <a:cs typeface="Consolas"/>
              </a:rPr>
              <a:t>MouseEvent</a:t>
            </a:r>
            <a:r>
              <a:rPr spc="-830" dirty="0">
                <a:latin typeface="Consolas"/>
                <a:cs typeface="Consolas"/>
              </a:rPr>
              <a:t> </a:t>
            </a:r>
            <a:r>
              <a:rPr spc="-5" dirty="0"/>
              <a:t>and </a:t>
            </a:r>
            <a:r>
              <a:rPr spc="-5" dirty="0">
                <a:latin typeface="Consolas"/>
                <a:cs typeface="Consolas"/>
              </a:rPr>
              <a:t>KeyboardEvent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037195" cy="34883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MouseEvent</a:t>
            </a:r>
            <a:r>
              <a:rPr sz="1800" spc="-45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properties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(prototype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inherits from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Event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 dirty="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</a:pP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button</a:t>
            </a:r>
            <a:r>
              <a:rPr sz="1800" spc="-50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mouse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button that was pressed</a:t>
            </a:r>
            <a:endParaRPr sz="1800" dirty="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065"/>
              </a:spcBef>
            </a:pP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pageX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 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pageY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: mouse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position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relative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the top-left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corner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document</a:t>
            </a:r>
            <a:endParaRPr sz="1800" dirty="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065"/>
              </a:spcBef>
            </a:pP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screenX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, 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screenY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: mouse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position 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screen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coordinates</a:t>
            </a:r>
            <a:endParaRPr sz="1800" dirty="0">
              <a:latin typeface="Arial"/>
              <a:cs typeface="Arial"/>
            </a:endParaRPr>
          </a:p>
          <a:p>
            <a:pPr marL="379095" marR="1092835" indent="-367030">
              <a:lnSpc>
                <a:spcPct val="187500"/>
              </a:lnSpc>
              <a:spcBef>
                <a:spcPts val="2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KeyboardEvent</a:t>
            </a:r>
            <a:r>
              <a:rPr sz="1800" spc="-4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properties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(prototype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inherits from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Event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  </a:t>
            </a: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keyCode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identifier for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keyboard key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that was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pressed</a:t>
            </a:r>
            <a:endParaRPr sz="1800" dirty="0">
              <a:latin typeface="Arial"/>
              <a:cs typeface="Arial"/>
            </a:endParaRPr>
          </a:p>
          <a:p>
            <a:pPr marL="836294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 necessarily an ASCII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character!</a:t>
            </a:r>
            <a:endParaRPr sz="1800" dirty="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290"/>
              </a:spcBef>
            </a:pPr>
            <a:r>
              <a:rPr dirty="0">
                <a:solidFill>
                  <a:srgbClr val="001080"/>
                </a:solidFill>
                <a:latin typeface="Consolas" panose="020B0609020204030204" pitchFamily="49" charset="0"/>
              </a:rPr>
              <a:t>charCode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 integer Unicode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 corresponding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keypress,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 there is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one.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4768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Draggable Rectangle </a:t>
            </a:r>
            <a:r>
              <a:rPr dirty="0"/>
              <a:t>-</a:t>
            </a:r>
            <a:r>
              <a:rPr spc="-90" dirty="0"/>
              <a:t> </a:t>
            </a:r>
            <a:r>
              <a:rPr spc="-5" dirty="0"/>
              <a:t>HTML/CSS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4" y="1176350"/>
            <a:ext cx="8378275" cy="2854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#div1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s-E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   position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S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absolute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s-E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s-E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</a:p>
          <a:p>
            <a:r>
              <a:rPr lang="es-E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"div1"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onmousedown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mouseDown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);"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s-E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onmousemove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mouseMove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);"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onmouseup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mouseUp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);"</a:t>
            </a:r>
            <a:r>
              <a:rPr lang="es-E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Drag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Me!</a:t>
            </a:r>
          </a:p>
          <a:p>
            <a:r>
              <a:rPr lang="es-E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3397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Draggable Rectangle </a:t>
            </a:r>
            <a:r>
              <a:rPr dirty="0"/>
              <a:t>-</a:t>
            </a:r>
            <a:r>
              <a:rPr spc="-90" dirty="0"/>
              <a:t> </a:t>
            </a:r>
            <a:r>
              <a:rPr dirty="0"/>
              <a:t>JavaScript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699" y="1152475"/>
            <a:ext cx="4117975" cy="3254737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isMouseDown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</a:t>
            </a:r>
            <a:r>
              <a:rPr lang="es-E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s-E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Dragging</a:t>
            </a:r>
            <a:r>
              <a:rPr lang="es-E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 </a:t>
            </a:r>
            <a:endParaRPr lang="es-E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prevX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prevY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b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mouseDown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prevX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pageX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prevY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isMouseDown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25000"/>
              </a:lnSpc>
            </a:pPr>
            <a:b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mouseUp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isMouseDown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0" y="1152475"/>
            <a:ext cx="4362450" cy="3529171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mouseMove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isMouseDown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ES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    </a:t>
            </a:r>
          </a:p>
          <a:p>
            <a:pPr>
              <a:lnSpc>
                <a:spcPct val="125000"/>
              </a:lnSpc>
            </a:pP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"div1"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offsetLeft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   </a:t>
            </a:r>
          </a:p>
          <a:p>
            <a:pPr>
              <a:lnSpc>
                <a:spcPct val="125000"/>
              </a:lnSpc>
            </a:pP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pageX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prevX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+ 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offsetTop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</a:p>
          <a:p>
            <a:pPr>
              <a:lnSpc>
                <a:spcPct val="125000"/>
              </a:lnSpc>
            </a:pPr>
            <a:r>
              <a:rPr lang="es-E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prevY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+ 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es-E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prevX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pageX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prevY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pageY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22070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Deciding which handler(s) are invoked for an</a:t>
            </a:r>
            <a:r>
              <a:rPr spc="-75" dirty="0"/>
              <a:t> </a:t>
            </a:r>
            <a:r>
              <a:rPr spc="-5" dirty="0"/>
              <a:t>event?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174990" cy="3346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Complicating factor: elements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contain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or overlap other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elements</a:t>
            </a:r>
            <a:endParaRPr sz="1800" dirty="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305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Suppose user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clicks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mouse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"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xyz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"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in:</a:t>
            </a:r>
            <a:endParaRPr sz="1400" dirty="0">
              <a:latin typeface="Arial"/>
              <a:cs typeface="Arial"/>
            </a:endParaRPr>
          </a:p>
          <a:p>
            <a:pPr marL="836294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&lt;body&gt;</a:t>
            </a:r>
            <a:endParaRPr sz="1400" dirty="0">
              <a:latin typeface="Consolas"/>
              <a:cs typeface="Consolas"/>
            </a:endParaRPr>
          </a:p>
          <a:p>
            <a:pPr marL="103124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&lt;table&gt;</a:t>
            </a:r>
            <a:endParaRPr sz="1400" dirty="0">
              <a:latin typeface="Consolas"/>
              <a:cs typeface="Consolas"/>
            </a:endParaRPr>
          </a:p>
          <a:p>
            <a:pPr marL="122682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&lt;tr&gt;</a:t>
            </a:r>
            <a:endParaRPr sz="1400" dirty="0">
              <a:latin typeface="Consolas"/>
              <a:cs typeface="Consolas"/>
            </a:endParaRPr>
          </a:p>
          <a:p>
            <a:pPr marL="142176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&lt;td&gt;</a:t>
            </a: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xyz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&lt;/td&gt;</a:t>
            </a:r>
            <a:endParaRPr sz="1400" dirty="0">
              <a:latin typeface="Consolas"/>
              <a:cs typeface="Consolas"/>
            </a:endParaRPr>
          </a:p>
          <a:p>
            <a:pPr marL="122682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&lt;/tr&gt;</a:t>
            </a:r>
            <a:endParaRPr sz="1400" dirty="0">
              <a:latin typeface="Consolas"/>
              <a:cs typeface="Consolas"/>
            </a:endParaRPr>
          </a:p>
          <a:p>
            <a:pPr marL="103124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&lt;/table&gt;</a:t>
            </a:r>
            <a:endParaRPr sz="1400" dirty="0">
              <a:latin typeface="Consolas"/>
              <a:cs typeface="Consolas"/>
            </a:endParaRPr>
          </a:p>
          <a:p>
            <a:pPr marL="836294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&lt;/body&gt;</a:t>
            </a:r>
            <a:endParaRPr sz="1400" dirty="0">
              <a:latin typeface="Consolas"/>
              <a:cs typeface="Consolas"/>
            </a:endParaRPr>
          </a:p>
          <a:p>
            <a:pPr marL="379095">
              <a:lnSpc>
                <a:spcPct val="100000"/>
              </a:lnSpc>
              <a:spcBef>
                <a:spcPts val="123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have handlers on the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td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tr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table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and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body</a:t>
            </a:r>
            <a:r>
              <a:rPr sz="1800" spc="-45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elements which get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called?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●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Sometimes only the innermost element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should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handle the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Sometimes it's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more convenient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an outer element to handle the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9180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Capturing and </a:t>
            </a:r>
            <a:r>
              <a:rPr spc="-10" dirty="0"/>
              <a:t>Bubbling</a:t>
            </a:r>
            <a:r>
              <a:rPr spc="-85" dirty="0"/>
              <a:t> </a:t>
            </a:r>
            <a:r>
              <a:rPr spc="-5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8314055" cy="356059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Capture phase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(or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"trickle-down"):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Start at the outermost element and work down to the innermost nested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element.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Each element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stop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capture, so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that its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children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never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</a:t>
            </a:r>
            <a:endParaRPr sz="1400" dirty="0">
              <a:latin typeface="Arial"/>
              <a:cs typeface="Arial"/>
            </a:endParaRPr>
          </a:p>
          <a:p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stopPropagation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sz="1800" dirty="0">
              <a:latin typeface="Consolas"/>
              <a:cs typeface="Consolas"/>
            </a:endParaRPr>
          </a:p>
          <a:p>
            <a:pPr marL="460375">
              <a:spcBef>
                <a:spcPts val="600"/>
              </a:spcBef>
            </a:pP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eventType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sz="18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Bubble phase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Most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on</a:t>
            </a:r>
            <a:r>
              <a:rPr sz="1800" spc="-50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handlers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onclick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) use bubble, not </a:t>
            </a:r>
            <a:r>
              <a:rPr sz="1600" spc="-5" dirty="0">
                <a:solidFill>
                  <a:srgbClr val="595959"/>
                </a:solidFill>
                <a:latin typeface="Consolas"/>
                <a:cs typeface="Consolas"/>
              </a:rPr>
              <a:t>onfocus/blur</a:t>
            </a:r>
            <a:endParaRPr sz="1600" dirty="0">
              <a:latin typeface="Consolas"/>
              <a:cs typeface="Consolas"/>
            </a:endParaRPr>
          </a:p>
          <a:p>
            <a:pPr marL="836294" indent="-336550">
              <a:lnSpc>
                <a:spcPct val="100000"/>
              </a:lnSpc>
              <a:spcBef>
                <a:spcPts val="330"/>
              </a:spcBef>
              <a:buChar char="●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Invoke handlers on the innermost nested element that dispatches the event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(mostly right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thing)</a:t>
            </a:r>
            <a:endParaRPr sz="1400" dirty="0">
              <a:latin typeface="Arial"/>
              <a:cs typeface="Arial"/>
            </a:endParaRPr>
          </a:p>
          <a:p>
            <a:pPr marL="836294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repeat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 its parent, grandparent, etc. Any given element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stop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bubbling:</a:t>
            </a:r>
            <a:endParaRPr sz="1400" dirty="0">
              <a:latin typeface="Arial"/>
              <a:cs typeface="Arial"/>
            </a:endParaRPr>
          </a:p>
          <a:p>
            <a:pPr marL="836294">
              <a:lnSpc>
                <a:spcPct val="100000"/>
              </a:lnSpc>
              <a:spcBef>
                <a:spcPts val="254"/>
              </a:spcBef>
            </a:pP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stopPropagation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sz="1800" dirty="0">
              <a:latin typeface="Consolas"/>
              <a:cs typeface="Consolas"/>
            </a:endParaRPr>
          </a:p>
          <a:p>
            <a:pPr marL="379095">
              <a:spcBef>
                <a:spcPts val="1065"/>
              </a:spcBef>
            </a:pP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eventType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sz="18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Handlers in the bubble phase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more common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than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capture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phase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6899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 </a:t>
            </a:r>
            <a:r>
              <a:rPr spc="-5" dirty="0"/>
              <a:t>Timer</a:t>
            </a:r>
            <a:r>
              <a:rPr spc="-90" dirty="0"/>
              <a:t> </a:t>
            </a:r>
            <a:r>
              <a:rPr spc="-5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176350"/>
            <a:ext cx="8211551" cy="3159197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Run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myfunc</a:t>
            </a:r>
            <a:r>
              <a:rPr sz="1800" spc="-50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once,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5 seconds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from now:</a:t>
            </a:r>
            <a:endParaRPr sz="1800" dirty="0">
              <a:latin typeface="Arial"/>
              <a:cs typeface="Arial"/>
            </a:endParaRPr>
          </a:p>
          <a:p>
            <a:pPr>
              <a:tabLst>
                <a:tab pos="460375" algn="l"/>
              </a:tabLst>
            </a:pPr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myFunc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E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836294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Function 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specified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number of</a:t>
            </a:r>
            <a:r>
              <a:rPr sz="1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milliseconds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Run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myfunc</a:t>
            </a:r>
            <a:r>
              <a:rPr sz="1800" spc="-4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every 50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milliseconds:</a:t>
            </a:r>
            <a:endParaRPr sz="1800" dirty="0">
              <a:latin typeface="Arial"/>
              <a:cs typeface="Arial"/>
            </a:endParaRPr>
          </a:p>
          <a:p>
            <a:r>
              <a:rPr lang="es-E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myfunc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sz="18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Cancel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timer:</a:t>
            </a:r>
            <a:endParaRPr sz="1800" dirty="0">
              <a:latin typeface="Arial"/>
              <a:cs typeface="Arial"/>
            </a:endParaRPr>
          </a:p>
          <a:p>
            <a:r>
              <a:rPr lang="es-E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s-E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clearInterval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Used for animations, automatic page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refreshes,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0454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Event</a:t>
            </a:r>
            <a:r>
              <a:rPr spc="-85" dirty="0"/>
              <a:t> </a:t>
            </a:r>
            <a:r>
              <a:rPr spc="-5" dirty="0"/>
              <a:t>Concurrency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145655" cy="250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Events are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serialized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processed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one-at-a-time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Event handling does not interleave with other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execution.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Handlers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run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completion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No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multi-threading.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595959"/>
              </a:buClr>
              <a:buFont typeface="Arial"/>
              <a:buChar char="○"/>
            </a:pPr>
            <a:endParaRPr sz="155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Make reasoning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about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concurrency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easier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Rarely need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locks.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○"/>
            </a:pPr>
            <a:endParaRPr sz="155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Background processing is harder than with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threads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</a:t>
            </a:r>
            <a:r>
              <a:rPr spc="-80" dirty="0"/>
              <a:t> </a:t>
            </a:r>
            <a:r>
              <a:rPr spc="-5" dirty="0"/>
              <a:t>Events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9448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Event-based </a:t>
            </a:r>
            <a:r>
              <a:rPr spc="-5" dirty="0"/>
              <a:t>programming is</a:t>
            </a:r>
            <a:r>
              <a:rPr spc="-80" dirty="0"/>
              <a:t> </a:t>
            </a:r>
            <a:r>
              <a:rPr spc="-5" dirty="0"/>
              <a:t>different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112125" cy="2157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wait 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someone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invoke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your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code.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Must return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quickly from the handler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(otherwise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application will lock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up).</a:t>
            </a:r>
            <a:endParaRPr sz="1800">
              <a:latin typeface="Arial"/>
              <a:cs typeface="Arial"/>
            </a:endParaRPr>
          </a:p>
          <a:p>
            <a:pPr marL="379095" marR="477520" indent="-367030">
              <a:lnSpc>
                <a:spcPct val="114599"/>
              </a:lnSpc>
              <a:spcBef>
                <a:spcPts val="157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Key is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maintain control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through events: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make sure you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have declared  enough handlers; last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resort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timer.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Node.js uses event dispatching engine 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programming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71F734-9F2B-4018-B353-B963E3558913}"/>
</file>

<file path=customXml/itemProps2.xml><?xml version="1.0" encoding="utf-8"?>
<ds:datastoreItem xmlns:ds="http://schemas.openxmlformats.org/officeDocument/2006/customXml" ds:itemID="{475BF284-46D0-40D8-ACA1-6470B499277E}"/>
</file>

<file path=customXml/itemProps3.xml><?xml version="1.0" encoding="utf-8"?>
<ds:datastoreItem xmlns:ds="http://schemas.openxmlformats.org/officeDocument/2006/customXml" ds:itemID="{68C7E282-99C5-4BD5-8013-1BE4CA2BDC3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992</Words>
  <Application>Microsoft Office PowerPoint</Application>
  <PresentationFormat>On-screen Show (16:9)</PresentationFormat>
  <Paragraphs>150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Times New Roman</vt:lpstr>
      <vt:lpstr>Office Theme</vt:lpstr>
      <vt:lpstr>PowerPoint Presentation</vt:lpstr>
      <vt:lpstr>DOM communicates to JavaScript with Events</vt:lpstr>
      <vt:lpstr>Event handling</vt:lpstr>
      <vt:lpstr>Specifying the JavaScript of an Event</vt:lpstr>
      <vt:lpstr>Event object</vt:lpstr>
      <vt:lpstr>MouseEvent and KeyboardEvent</vt:lpstr>
      <vt:lpstr>Draggable Rectangle - HTML/CSS</vt:lpstr>
      <vt:lpstr>Draggable Rectangle - JavaScript</vt:lpstr>
      <vt:lpstr>Deciding which handler(s) are invoked for an event?</vt:lpstr>
      <vt:lpstr>Capturing and Bubbling Events</vt:lpstr>
      <vt:lpstr>Example: Timer Events</vt:lpstr>
      <vt:lpstr>Event Concurrency</vt:lpstr>
      <vt:lpstr>Event-based programming is different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Amarsanaa Ganbold</cp:lastModifiedBy>
  <cp:revision>14</cp:revision>
  <dcterms:created xsi:type="dcterms:W3CDTF">2019-08-20T05:12:42Z</dcterms:created>
  <dcterms:modified xsi:type="dcterms:W3CDTF">2021-10-19T06:07:33Z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