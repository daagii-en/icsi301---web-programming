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14" autoAdjust="0"/>
  </p:normalViewPr>
  <p:slideViewPr>
    <p:cSldViewPr>
      <p:cViewPr varScale="1">
        <p:scale>
          <a:sx n="133" d="100"/>
          <a:sy n="133" d="100"/>
        </p:scale>
        <p:origin x="978" y="6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18945" y="1091184"/>
            <a:ext cx="4906108" cy="160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11699" y="1152475"/>
            <a:ext cx="4000500" cy="341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832399" y="1152475"/>
            <a:ext cx="4000500" cy="34169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3825"/>
            <a:ext cx="8374549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3430" y="1176350"/>
            <a:ext cx="8357139" cy="3521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11/16/2021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xample.com/photo/78237489" TargetMode="External"/><Relationship Id="rId2" Type="http://schemas.openxmlformats.org/officeDocument/2006/relationships/hyperlink" Target="http://www.example.com/photo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Guide/Using_promises" TargetMode="External"/><Relationship Id="rId2" Type="http://schemas.openxmlformats.org/officeDocument/2006/relationships/hyperlink" Target="https://www.npmjs.com/package/axio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8945" y="1091184"/>
            <a:ext cx="4902835" cy="16084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232410" marR="5080" indent="-220345">
              <a:lnSpc>
                <a:spcPts val="6220"/>
              </a:lnSpc>
              <a:spcBef>
                <a:spcPts val="325"/>
              </a:spcBef>
            </a:pPr>
            <a:r>
              <a:rPr sz="5200" spc="-5" dirty="0">
                <a:latin typeface="Arial"/>
                <a:cs typeface="Arial"/>
              </a:rPr>
              <a:t>Controller/server  </a:t>
            </a:r>
            <a:r>
              <a:rPr sz="5200" dirty="0">
                <a:latin typeface="Arial"/>
                <a:cs typeface="Arial"/>
              </a:rPr>
              <a:t>communication</a:t>
            </a:r>
            <a:endParaRPr sz="5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27637" y="2892926"/>
            <a:ext cx="30886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5959"/>
                </a:solidFill>
                <a:latin typeface="Arial"/>
                <a:cs typeface="Arial"/>
              </a:rPr>
              <a:t>Mendel</a:t>
            </a:r>
            <a:r>
              <a:rPr sz="2800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595959"/>
                </a:solidFill>
                <a:latin typeface="Arial"/>
                <a:cs typeface="Arial"/>
              </a:rPr>
              <a:t>Rosenblum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624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Controller's </a:t>
            </a:r>
            <a:r>
              <a:rPr dirty="0"/>
              <a:t>role </a:t>
            </a:r>
            <a:r>
              <a:rPr spc="-5" dirty="0"/>
              <a:t>in </a:t>
            </a:r>
            <a:r>
              <a:rPr dirty="0"/>
              <a:t>Model, </a:t>
            </a:r>
            <a:r>
              <a:rPr spc="-45" dirty="0"/>
              <a:t>View,</a:t>
            </a:r>
            <a:r>
              <a:rPr spc="-105" dirty="0"/>
              <a:t> </a:t>
            </a:r>
            <a:r>
              <a:rPr spc="-5" dirty="0"/>
              <a:t>Controller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651750" cy="32956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Controller's job to fetch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view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May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other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 communication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needs as well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authentication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services)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 is already talking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web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server,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ask it for the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Early approach: have the browser do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First people 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Microsoft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liked XML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so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the DOM extension got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called:</a:t>
            </a:r>
            <a:r>
              <a:rPr sz="14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Consolas"/>
                <a:cs typeface="Consolas"/>
              </a:rPr>
              <a:t>XMLHttpRequest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Allowed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do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without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switching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page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Widely used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AJAX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synchronous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J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avaScript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nd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Since it is using an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can carry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XML or anything</a:t>
            </a:r>
            <a:r>
              <a:rPr sz="18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else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More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often used with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235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XMLHttpRequest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1698" y="1152475"/>
            <a:ext cx="4107901" cy="2662204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Sending </a:t>
            </a:r>
            <a:r>
              <a:rPr sz="1800" u="heavy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a</a:t>
            </a:r>
            <a:r>
              <a:rPr sz="1800" u="heavy" spc="-2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Request</a:t>
            </a:r>
            <a:endParaRPr sz="1800" dirty="0">
              <a:latin typeface="Arial"/>
              <a:cs typeface="Arial"/>
            </a:endParaRPr>
          </a:p>
          <a:p>
            <a:pPr marL="85725" marR="395605">
              <a:lnSpc>
                <a:spcPct val="116100"/>
              </a:lnSpc>
              <a:spcBef>
                <a:spcPts val="1635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xhr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new XMLHttpRequest();  xhr.onreadystatechange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xhrHandler;  xhr.open("GET",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url);</a:t>
            </a:r>
            <a:endParaRPr sz="1400" dirty="0">
              <a:latin typeface="Consolas"/>
              <a:cs typeface="Consolas"/>
            </a:endParaRPr>
          </a:p>
          <a:p>
            <a:pPr marL="8572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xhr.send();</a:t>
            </a:r>
            <a:endParaRPr sz="1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85725" marR="237490">
              <a:lnSpc>
                <a:spcPct val="209800"/>
              </a:lnSpc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Any HTTP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(GET, POST,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etc.) possible.  Responses/errors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as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events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832398" y="1152475"/>
            <a:ext cx="4235401" cy="341693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00"/>
              </a:spcBef>
            </a:pP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Event</a:t>
            </a:r>
            <a:r>
              <a:rPr sz="1800" u="heavy" spc="-1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handling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85725">
              <a:lnSpc>
                <a:spcPct val="1000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function xhrHandler()</a:t>
            </a:r>
            <a:r>
              <a:rPr sz="14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400" dirty="0">
              <a:latin typeface="Consolas"/>
              <a:cs typeface="Consolas"/>
            </a:endParaRPr>
          </a:p>
          <a:p>
            <a:pPr marL="671195" marR="298450" indent="-390525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(this.readyState != 4)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DONE  return;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if (this.status != 200)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{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</a:t>
            </a:r>
            <a:r>
              <a:rPr sz="1400" spc="-4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OK</a:t>
            </a:r>
            <a:endParaRPr sz="1400" dirty="0">
              <a:latin typeface="Consolas"/>
              <a:cs typeface="Consolas"/>
            </a:endParaRPr>
          </a:p>
          <a:p>
            <a:pPr marL="671195" marR="1467485">
              <a:lnSpc>
                <a:spcPct val="116100"/>
              </a:lnSpc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Handle error</a:t>
            </a:r>
            <a:r>
              <a:rPr sz="1400" spc="-9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...  return;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}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var text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400" spc="-3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this.responseText;</a:t>
            </a:r>
            <a:endParaRPr sz="1400" dirty="0">
              <a:latin typeface="Consolas"/>
              <a:cs typeface="Consolas"/>
            </a:endParaRPr>
          </a:p>
          <a:p>
            <a:pPr marL="28067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...</a:t>
            </a:r>
            <a:endParaRPr sz="14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5092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XMLHttpRequest </a:t>
            </a:r>
            <a:r>
              <a:rPr spc="-5" dirty="0"/>
              <a:t>event</a:t>
            </a:r>
            <a:r>
              <a:rPr spc="-80" dirty="0"/>
              <a:t> </a:t>
            </a:r>
            <a:r>
              <a:rPr spc="-5" dirty="0"/>
              <a:t>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99528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 handler gets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various stages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processing of the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2875" y="1762280"/>
          <a:ext cx="7666990" cy="1189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5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15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3142">
                <a:tc>
                  <a:txBody>
                    <a:bodyPr/>
                    <a:lstStyle/>
                    <a:p>
                      <a:pPr marL="31750">
                        <a:lnSpc>
                          <a:spcPts val="1545"/>
                        </a:lnSpc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1545"/>
                        </a:lnSpc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UNSENT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545"/>
                        </a:lnSpc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open() has not been </a:t>
                      </a: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called</a:t>
                      </a:r>
                      <a:r>
                        <a:rPr sz="1400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yet.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OPENED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send()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has been</a:t>
                      </a:r>
                      <a:r>
                        <a:rPr sz="1400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called.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HEADERS_RECEIVED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send()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has been </a:t>
                      </a: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called,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and headers and </a:t>
                      </a: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status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are</a:t>
                      </a:r>
                      <a:r>
                        <a:rPr sz="1400" spc="-8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available.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LOADING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Downloading; </a:t>
                      </a:r>
                      <a:r>
                        <a:rPr sz="1400" spc="-1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responseText 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holds partial data.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42">
                <a:tc>
                  <a:txBody>
                    <a:bodyPr/>
                    <a:lstStyle/>
                    <a:p>
                      <a:pPr marL="31750">
                        <a:lnSpc>
                          <a:spcPts val="1595"/>
                        </a:lnSpc>
                        <a:spcBef>
                          <a:spcPts val="60"/>
                        </a:spcBef>
                      </a:pPr>
                      <a:r>
                        <a:rPr sz="1400" b="1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ts val="1595"/>
                        </a:lnSpc>
                        <a:spcBef>
                          <a:spcPts val="60"/>
                        </a:spcBef>
                      </a:pPr>
                      <a:r>
                        <a:rPr sz="1400" b="1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DONE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595"/>
                        </a:lnSpc>
                        <a:spcBef>
                          <a:spcPts val="60"/>
                        </a:spcBef>
                      </a:pPr>
                      <a:r>
                        <a:rPr sz="1400" b="1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The operation is</a:t>
                      </a:r>
                      <a:r>
                        <a:rPr sz="1400" b="1" spc="-10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complete</a:t>
                      </a:r>
                      <a:r>
                        <a:rPr sz="1400" spc="-5" dirty="0">
                          <a:solidFill>
                            <a:srgbClr val="595959"/>
                          </a:solidFill>
                          <a:latin typeface="Arial"/>
                          <a:cs typeface="Arial"/>
                        </a:rPr>
                        <a:t>.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76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75249" y="3092781"/>
            <a:ext cx="275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Response available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as: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466" y="3367101"/>
            <a:ext cx="1553210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414"/>
              </a:spcBef>
            </a:pP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raw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text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XML</a:t>
            </a:r>
            <a:r>
              <a:rPr sz="1800" spc="-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document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0725" y="3367101"/>
            <a:ext cx="1669414" cy="654050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151765" indent="-139700">
              <a:lnSpc>
                <a:spcPct val="100000"/>
              </a:lnSpc>
              <a:spcBef>
                <a:spcPts val="414"/>
              </a:spcBef>
              <a:buFont typeface="Arial"/>
              <a:buChar char="-"/>
              <a:tabLst>
                <a:tab pos="15240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responseText</a:t>
            </a:r>
            <a:endParaRPr sz="1800">
              <a:latin typeface="Consolas"/>
              <a:cs typeface="Consolas"/>
            </a:endParaRPr>
          </a:p>
          <a:p>
            <a:pPr marL="151765" indent="-139700">
              <a:lnSpc>
                <a:spcPct val="100000"/>
              </a:lnSpc>
              <a:spcBef>
                <a:spcPts val="315"/>
              </a:spcBef>
              <a:buFont typeface="Arial"/>
              <a:buChar char="-"/>
              <a:tabLst>
                <a:tab pos="152400" algn="l"/>
              </a:tabLst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reponseXML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249" y="4235781"/>
            <a:ext cx="5752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set 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headers and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 response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headers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869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Traditional AJAX </a:t>
            </a:r>
            <a:r>
              <a:rPr spc="-5" dirty="0"/>
              <a:t>uses</a:t>
            </a:r>
            <a:r>
              <a:rPr spc="-235" dirty="0"/>
              <a:t> </a:t>
            </a:r>
            <a:r>
              <a:rPr spc="-5" dirty="0"/>
              <a:t>patterns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6483985" cy="341630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Response is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</a:t>
            </a:r>
            <a:endParaRPr sz="1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elem.innerHTML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xhr.responseText;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Response is</a:t>
            </a:r>
            <a:r>
              <a:rPr sz="1800" spc="-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JavaScript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595959"/>
              </a:buClr>
              <a:buFont typeface="Arial"/>
              <a:buChar char="●"/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eval(xhr.responseText);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Neither of the above are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modern JavaScript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framework</a:t>
            </a:r>
            <a:r>
              <a:rPr sz="18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way: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 indent="-36703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Response 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(JSON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frequently uses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here)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JSON.parse(xhr.responseText);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61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Fetching </a:t>
            </a:r>
            <a:r>
              <a:rPr dirty="0"/>
              <a:t>models </a:t>
            </a:r>
            <a:r>
              <a:rPr spc="-5" dirty="0"/>
              <a:t>with</a:t>
            </a:r>
            <a:r>
              <a:rPr spc="-100" dirty="0"/>
              <a:t> </a:t>
            </a:r>
            <a:r>
              <a:rPr spc="-5" dirty="0"/>
              <a:t>XMLHttpRequest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8441690" cy="335915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Controller needs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communicate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needed</a:t>
            </a:r>
            <a:endParaRPr sz="180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065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Can encode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model selection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information in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in: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  <a:tabLst>
                <a:tab pos="1637664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r>
              <a:rPr sz="1800" spc="-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path: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xhr.open("GET","userModel/78237489/fullname");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16510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Query params: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xhr.open("GET","userModel?id=78237489&amp;type=fullname");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body:</a:t>
            </a:r>
            <a:endParaRPr sz="1800">
              <a:latin typeface="Arial"/>
              <a:cs typeface="Arial"/>
            </a:endParaRPr>
          </a:p>
          <a:p>
            <a:pPr marL="1805305" marR="2109470" indent="-45085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xhr.open("POST", url);  xhr.setRequestHeader("Content-type",</a:t>
            </a:r>
            <a:endParaRPr sz="1800">
              <a:latin typeface="Consolas"/>
              <a:cs typeface="Consolas"/>
            </a:endParaRPr>
          </a:p>
          <a:p>
            <a:pPr marL="1805305" marR="1033780" indent="949960">
              <a:lnSpc>
                <a:spcPct val="114599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"application/x-www-form-urlencoded");  xhr.send("id=78237489&amp;type=fullname");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795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REST</a:t>
            </a:r>
            <a:r>
              <a:rPr spc="-290" dirty="0"/>
              <a:t> </a:t>
            </a:r>
            <a:r>
              <a:rPr spc="-5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487160" cy="2736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presentational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tate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ransfer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Guidelines for web app 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communications</a:t>
            </a:r>
            <a:endParaRPr sz="18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2000 PhD dissertation that was highly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impactful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Trend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at the time was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complex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Remote Procedure Calls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(RPCs)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24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Became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must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thing: Do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REST</a:t>
            </a:r>
            <a:r>
              <a:rPr sz="14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API?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Some good ideas,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good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Doesn't work for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everything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5840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Some </a:t>
            </a:r>
            <a:r>
              <a:rPr spc="-5" dirty="0"/>
              <a:t>RESTful </a:t>
            </a:r>
            <a:r>
              <a:rPr spc="-10" dirty="0"/>
              <a:t>API</a:t>
            </a:r>
            <a:r>
              <a:rPr spc="-235" dirty="0"/>
              <a:t> </a:t>
            </a:r>
            <a:r>
              <a:rPr spc="-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60995" cy="35337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should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export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resources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using unique names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URIs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  <a:hlinkClick r:id="rId2"/>
              </a:rPr>
              <a:t>http://www.example.com/photo/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collection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  <a:hlinkClick r:id="rId3"/>
              </a:rPr>
              <a:t>http://www.example.com/photo/78237489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400" spc="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Keep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"stateless"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Support easy load balancing across web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servers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Allow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caching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resources</a:t>
            </a:r>
            <a:endParaRPr sz="1400">
              <a:latin typeface="Arial"/>
              <a:cs typeface="Arial"/>
            </a:endParaRPr>
          </a:p>
          <a:p>
            <a:pPr marL="379095" marR="5080" indent="-367030">
              <a:lnSpc>
                <a:spcPct val="114599"/>
              </a:lnSpc>
              <a:spcBef>
                <a:spcPts val="9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supports a set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 mapping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reate,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ead,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U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pdate, 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elete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(CRUD)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resource specified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</a:t>
            </a:r>
            <a:r>
              <a:rPr sz="1800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</a:t>
            </a:r>
            <a:endParaRPr sz="18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GET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Read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 (list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collection)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PUT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Update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POST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Create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method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Delete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763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REST </a:t>
            </a:r>
            <a:r>
              <a:rPr spc="-10" dirty="0"/>
              <a:t>API</a:t>
            </a:r>
            <a:r>
              <a:rPr spc="-295" dirty="0"/>
              <a:t> </a:t>
            </a:r>
            <a:r>
              <a:rPr spc="-5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731125" cy="1547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Define the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resources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service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give them unique names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(URIs)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Photos, Users, Comments,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...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Have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clients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CRUD operations using HTTP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methods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Extend when needed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(e.g.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transaction across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multiple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resources)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8831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React accessing RESTful</a:t>
            </a:r>
            <a:r>
              <a:rPr spc="-240" dirty="0"/>
              <a:t> </a:t>
            </a:r>
            <a:r>
              <a:rPr spc="-5" dirty="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69250" cy="293878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React has no opinion. Prefer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something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higher level than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XMLHttpRequest</a:t>
            </a:r>
            <a:endParaRPr sz="1800" dirty="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Example: DoHTTPrequest(HTTP_METHOD, 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body,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doneCallback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595959"/>
              </a:buClr>
              <a:buFont typeface="Arial"/>
              <a:buChar char="○"/>
            </a:pPr>
            <a:endParaRPr sz="1550" dirty="0">
              <a:latin typeface="Times New Roman"/>
              <a:cs typeface="Times New Roman"/>
            </a:endParaRPr>
          </a:p>
          <a:p>
            <a:pPr marL="379095" indent="-336550">
              <a:lnSpc>
                <a:spcPct val="100000"/>
              </a:lnSpc>
              <a:buSzPct val="77777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Popular:</a:t>
            </a:r>
            <a:r>
              <a:rPr sz="1800" spc="-5" dirty="0">
                <a:solidFill>
                  <a:srgbClr val="0097A7"/>
                </a:solidFill>
                <a:latin typeface="Arial"/>
                <a:cs typeface="Arial"/>
              </a:rPr>
              <a:t> </a:t>
            </a:r>
            <a:r>
              <a:rPr sz="1800" u="heavy" spc="-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Arial"/>
                <a:cs typeface="Arial"/>
                <a:hlinkClick r:id="rId2"/>
              </a:rPr>
              <a:t>Axios</a:t>
            </a:r>
            <a:r>
              <a:rPr sz="1800" spc="-5" dirty="0">
                <a:solidFill>
                  <a:srgbClr val="0097A7"/>
                </a:solidFill>
                <a:latin typeface="Arial"/>
                <a:cs typeface="Arial"/>
                <a:hlinkClick r:id="rId2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  <a:hlinkClick r:id="rId3"/>
              </a:rPr>
              <a:t>Promise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 based HTTP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client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for the browser and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node.js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4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Wrapper around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XMLHttpRequest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50"/>
              </a:spcBef>
              <a:buChar char="●"/>
              <a:tabLst>
                <a:tab pos="379095" algn="l"/>
                <a:tab pos="379730" algn="l"/>
                <a:tab pos="362267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REST Read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(GET</a:t>
            </a:r>
            <a:r>
              <a:rPr sz="18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URL):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result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</a:t>
            </a:r>
            <a:r>
              <a:rPr sz="1800" spc="-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axios.get(URL);</a:t>
            </a:r>
            <a:endParaRPr sz="18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340"/>
              </a:spcBef>
              <a:buChar char="●"/>
              <a:tabLst>
                <a:tab pos="379095" algn="l"/>
                <a:tab pos="379730" algn="l"/>
                <a:tab pos="3660775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REST Create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POST</a:t>
            </a:r>
            <a:r>
              <a:rPr sz="18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URL):	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result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axios.post(URL,</a:t>
            </a:r>
            <a:r>
              <a:rPr sz="1800" spc="-7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object);</a:t>
            </a:r>
            <a:endParaRPr sz="1800" dirty="0">
              <a:latin typeface="Consolas"/>
              <a:cs typeface="Consolas"/>
            </a:endParaRPr>
          </a:p>
          <a:p>
            <a:pPr marL="836294" lvl="1" indent="-336550">
              <a:lnSpc>
                <a:spcPct val="100000"/>
              </a:lnSpc>
              <a:spcBef>
                <a:spcPts val="334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JSON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encoding of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object</a:t>
            </a:r>
            <a:r>
              <a:rPr sz="1400" spc="-4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into body of POST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request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Similar patterns for REST Update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(PUT)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and REST Delete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(DELETE)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488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Axios </a:t>
            </a:r>
            <a:r>
              <a:rPr spc="-5" dirty="0"/>
              <a:t>handling of HTTP</a:t>
            </a:r>
            <a:r>
              <a:rPr spc="-130" dirty="0"/>
              <a:t> </a:t>
            </a:r>
            <a:r>
              <a:rPr dirty="0"/>
              <a:t>responses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7709534" cy="2936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result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=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axios.get(URL);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// Note: no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 specified!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It's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Promise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result.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then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((response) =&gt;</a:t>
            </a:r>
            <a:r>
              <a:rPr sz="1800" spc="-1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1836420">
              <a:lnSpc>
                <a:spcPct val="100000"/>
              </a:lnSpc>
              <a:spcBef>
                <a:spcPts val="33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response.status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response status (e.g.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200)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response.statusText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HTTP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response status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text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(e.g.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OK)</a:t>
            </a:r>
            <a:endParaRPr sz="1400">
              <a:latin typeface="Arial"/>
              <a:cs typeface="Arial"/>
            </a:endParaRPr>
          </a:p>
          <a:p>
            <a:pPr marL="184150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response.data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Response body object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(JSON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 parsed)</a:t>
            </a:r>
            <a:endParaRPr sz="1400">
              <a:latin typeface="Arial"/>
              <a:cs typeface="Arial"/>
            </a:endParaRPr>
          </a:p>
          <a:p>
            <a:pPr marL="1544320">
              <a:lnSpc>
                <a:spcPct val="100000"/>
              </a:lnSpc>
              <a:spcBef>
                <a:spcPts val="254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})</a:t>
            </a:r>
            <a:endParaRPr sz="1800">
              <a:latin typeface="Consolas"/>
              <a:cs typeface="Consolas"/>
            </a:endParaRPr>
          </a:p>
          <a:p>
            <a:pPr marL="147383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.catch((err) =&gt;</a:t>
            </a:r>
            <a:r>
              <a:rPr sz="1800" spc="-1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dirty="0">
                <a:solidFill>
                  <a:srgbClr val="595959"/>
                </a:solidFill>
                <a:latin typeface="Consolas"/>
                <a:cs typeface="Consolas"/>
              </a:rPr>
              <a:t>{</a:t>
            </a:r>
            <a:endParaRPr sz="1800">
              <a:latin typeface="Consolas"/>
              <a:cs typeface="Consolas"/>
            </a:endParaRPr>
          </a:p>
          <a:p>
            <a:pPr marL="2164715">
              <a:lnSpc>
                <a:spcPct val="100000"/>
              </a:lnSpc>
              <a:spcBef>
                <a:spcPts val="33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err.response.{status, data, headers)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-</a:t>
            </a:r>
            <a:r>
              <a:rPr sz="1400" spc="-36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Non-2xxx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status</a:t>
            </a:r>
            <a:endParaRPr sz="1400">
              <a:latin typeface="Arial"/>
              <a:cs typeface="Arial"/>
            </a:endParaRPr>
          </a:p>
          <a:p>
            <a:pPr marL="2164715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// if !err.response </a:t>
            </a:r>
            <a:r>
              <a:rPr sz="1400" dirty="0">
                <a:solidFill>
                  <a:srgbClr val="595959"/>
                </a:solidFill>
                <a:latin typeface="Consolas"/>
                <a:cs typeface="Consolas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 </a:t>
            </a:r>
            <a:r>
              <a:rPr sz="1400" spc="-20" dirty="0">
                <a:solidFill>
                  <a:srgbClr val="595959"/>
                </a:solidFill>
                <a:latin typeface="Arial"/>
                <a:cs typeface="Arial"/>
              </a:rPr>
              <a:t>reply,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look at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err.request</a:t>
            </a:r>
            <a:endParaRPr sz="1400">
              <a:latin typeface="Consolas"/>
              <a:cs typeface="Consolas"/>
            </a:endParaRPr>
          </a:p>
          <a:p>
            <a:pPr marL="1543050">
              <a:lnSpc>
                <a:spcPct val="100000"/>
              </a:lnSpc>
              <a:spcBef>
                <a:spcPts val="270"/>
              </a:spcBef>
            </a:pP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});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8405" y="2264536"/>
            <a:ext cx="5761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Minor Digression </a:t>
            </a:r>
            <a:r>
              <a:rPr sz="3600" dirty="0"/>
              <a:t>-</a:t>
            </a:r>
            <a:r>
              <a:rPr sz="3600" spc="-90" dirty="0"/>
              <a:t> </a:t>
            </a:r>
            <a:r>
              <a:rPr sz="3600" spc="-5" dirty="0"/>
              <a:t>Promises</a:t>
            </a:r>
            <a:endParaRPr sz="3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217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Callbacks have</a:t>
            </a:r>
            <a:r>
              <a:rPr spc="-90" dirty="0"/>
              <a:t> </a:t>
            </a:r>
            <a:r>
              <a:rPr spc="-5" dirty="0"/>
              <a:t>haters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176350"/>
            <a:ext cx="8290559" cy="3490057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marL="469900" indent="-367030">
              <a:lnSpc>
                <a:spcPct val="100000"/>
              </a:lnSpc>
              <a:spcBef>
                <a:spcPts val="414"/>
              </a:spcBef>
              <a:buChar char="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Pyramid of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Doom</a:t>
            </a:r>
            <a:endParaRPr lang="en-US" sz="18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lvl="1"/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doSomethingMoreOnData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Called Pyramid of Doom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doneCallback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});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  <a:endParaRPr lang="en-US" sz="1600" dirty="0">
              <a:latin typeface="Arial"/>
              <a:cs typeface="Arial"/>
            </a:endParaRPr>
          </a:p>
          <a:p>
            <a:pPr marL="469900" indent="-367030">
              <a:lnSpc>
                <a:spcPct val="100000"/>
              </a:lnSpc>
              <a:spcBef>
                <a:spcPts val="1290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An alternative to pyramid: Have each </a:t>
            </a:r>
            <a:r>
              <a:rPr lang="en-US" sz="1800" dirty="0">
                <a:solidFill>
                  <a:srgbClr val="595959"/>
                </a:solidFill>
                <a:latin typeface="Arial"/>
                <a:cs typeface="Arial"/>
              </a:rPr>
              <a:t>callback 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be an individual</a:t>
            </a:r>
            <a:r>
              <a:rPr lang="en-US"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800" spc="-5" dirty="0">
                <a:solidFill>
                  <a:srgbClr val="595959"/>
                </a:solidFill>
                <a:latin typeface="Arial"/>
                <a:cs typeface="Arial"/>
              </a:rPr>
              <a:t>function</a:t>
            </a:r>
            <a:endParaRPr lang="en-US" sz="1800" dirty="0">
              <a:latin typeface="Arial"/>
              <a:cs typeface="Arial"/>
            </a:endParaRPr>
          </a:p>
          <a:p>
            <a:pPr marL="927100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26465" algn="l"/>
                <a:tab pos="92710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Sequential execution flow jumps from function to function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not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ideal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80022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Same </a:t>
            </a:r>
            <a:r>
              <a:rPr dirty="0"/>
              <a:t>code </a:t>
            </a:r>
            <a:r>
              <a:rPr spc="-5" dirty="0"/>
              <a:t>without pyramid: Control jumps</a:t>
            </a:r>
            <a:r>
              <a:rPr spc="-80" dirty="0"/>
              <a:t> </a:t>
            </a:r>
            <a:r>
              <a:rPr spc="-5" dirty="0"/>
              <a:t>around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081100"/>
            <a:ext cx="6501130" cy="321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doSomethingMoreOnData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doSomeMoreDone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doSomeMoreDone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someMoreData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someMoreData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4213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Idea behind</a:t>
            </a:r>
            <a:r>
              <a:rPr spc="-95" dirty="0"/>
              <a:t> </a:t>
            </a:r>
            <a:r>
              <a:rPr spc="-5" dirty="0"/>
              <a:t>promises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6538595" cy="2847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Rather than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specifying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done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callback</a:t>
            </a:r>
            <a:endParaRPr sz="1800" dirty="0">
              <a:latin typeface="Arial"/>
              <a:cs typeface="Arial"/>
            </a:endParaRPr>
          </a:p>
          <a:p>
            <a:pPr marL="379095">
              <a:spcBef>
                <a:spcPts val="1290"/>
              </a:spcBef>
            </a:pP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doneCallback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sz="18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Return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 that will be filled in when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done</a:t>
            </a:r>
            <a:endParaRPr sz="1800" dirty="0">
              <a:latin typeface="Arial"/>
              <a:cs typeface="Arial"/>
            </a:endParaRPr>
          </a:p>
          <a:p>
            <a:pPr marL="379095" marR="505459">
              <a:lnSpc>
                <a:spcPct val="187500"/>
              </a:lnSpc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sz="1800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379095" marR="505459">
              <a:lnSpc>
                <a:spcPct val="187500"/>
              </a:lnSpc>
            </a:pP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donePromise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will be filled in when operation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completes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Doesn't need to wait until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need the promise to be filled</a:t>
            </a:r>
            <a:r>
              <a:rPr sz="18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8387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>
                <a:latin typeface="Consolas"/>
                <a:cs typeface="Consolas"/>
              </a:rPr>
              <a:t>then()</a:t>
            </a:r>
            <a:r>
              <a:rPr spc="-835" dirty="0">
                <a:latin typeface="Consolas"/>
                <a:cs typeface="Consolas"/>
              </a:rPr>
              <a:t> </a:t>
            </a:r>
            <a:r>
              <a:rPr dirty="0"/>
              <a:t>- </a:t>
            </a:r>
            <a:r>
              <a:rPr spc="-20" dirty="0"/>
              <a:t>Waiting </a:t>
            </a:r>
            <a:r>
              <a:rPr spc="-5" dirty="0"/>
              <a:t>on </a:t>
            </a:r>
            <a:r>
              <a:rPr dirty="0"/>
              <a:t>a </a:t>
            </a:r>
            <a:r>
              <a:rPr spc="-5" dirty="0"/>
              <a:t>promise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081100"/>
            <a:ext cx="7678151" cy="2088392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Get the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(waiting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if need be) with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Consolas"/>
                <a:cs typeface="Consolas"/>
              </a:rPr>
              <a:t>then</a:t>
            </a:r>
            <a:endParaRPr lang="en-US" sz="1800" b="1" spc="-5" dirty="0">
              <a:solidFill>
                <a:srgbClr val="595959"/>
              </a:solidFill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165"/>
              </a:spcBef>
              <a:buChar char="●"/>
              <a:tabLst>
                <a:tab pos="379095" algn="l"/>
                <a:tab pos="379730" algn="l"/>
              </a:tabLst>
            </a:pPr>
            <a:endParaRPr sz="1800" dirty="0">
              <a:latin typeface="Consolas"/>
              <a:cs typeface="Consolas"/>
            </a:endParaRPr>
          </a:p>
          <a:p>
            <a:pPr lvl="1"/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donePromise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value is the promised result when successful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Error case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2640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 </a:t>
            </a:r>
            <a:r>
              <a:rPr spc="-5" dirty="0"/>
              <a:t>of </a:t>
            </a:r>
            <a:r>
              <a:rPr spc="-10" dirty="0"/>
              <a:t>Promise</a:t>
            </a:r>
            <a:r>
              <a:rPr spc="-80" dirty="0"/>
              <a:t> </a:t>
            </a:r>
            <a:r>
              <a:rPr spc="-5" dirty="0"/>
              <a:t>usage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406005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  <a:tab pos="379730" algn="l"/>
              </a:tabLst>
            </a:pPr>
            <a:r>
              <a:rPr lang="en-US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returns a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 dirty="0">
              <a:latin typeface="Times New Roman"/>
              <a:cs typeface="Times New Roman"/>
            </a:endParaRPr>
          </a:p>
          <a:p>
            <a:pPr lvl="1"/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doneCallback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doneCallback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undefined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15049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Promises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7646670" cy="3552831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lvl="1"/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myFile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lvl="1"/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finalData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tempData1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tempData2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finalData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12065">
              <a:lnSpc>
                <a:spcPct val="100000"/>
              </a:lnSpc>
              <a:spcBef>
                <a:spcPts val="315"/>
              </a:spcBef>
              <a:tabLst>
                <a:tab pos="379095" algn="l"/>
                <a:tab pos="379730" algn="l"/>
              </a:tabLst>
            </a:pPr>
            <a:endParaRPr lang="en-US" sz="18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Note no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Pyramid of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Doom</a:t>
            </a:r>
            <a:endParaRPr sz="18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31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Every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180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</a:t>
            </a:r>
            <a:endParaRPr sz="1800" dirty="0">
              <a:latin typeface="Arial"/>
              <a:cs typeface="Arial"/>
            </a:endParaRPr>
          </a:p>
          <a:p>
            <a:pPr marL="836294" marR="5080" lvl="1" indent="-336550">
              <a:lnSpc>
                <a:spcPct val="116100"/>
              </a:lnSpc>
              <a:spcBef>
                <a:spcPts val="6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standard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usage: Every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 -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If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thenable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 </a:t>
            </a:r>
            <a:r>
              <a:rPr sz="1400" spc="-5" dirty="0">
                <a:solidFill>
                  <a:srgbClr val="595959"/>
                </a:solidFill>
                <a:latin typeface="Consolas"/>
                <a:cs typeface="Consolas"/>
              </a:rPr>
              <a:t>then()</a:t>
            </a:r>
            <a:r>
              <a:rPr sz="1400" spc="-520" dirty="0">
                <a:solidFill>
                  <a:srgbClr val="595959"/>
                </a:solidFill>
                <a:latin typeface="Consolas"/>
                <a:cs typeface="Consolas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on it otherwise just use the 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variable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is.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2968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Chaining</a:t>
            </a:r>
            <a:r>
              <a:rPr spc="-85" dirty="0"/>
              <a:t> </a:t>
            </a:r>
            <a:r>
              <a:rPr spc="-5" dirty="0"/>
              <a:t>promises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84987"/>
            <a:ext cx="8378275" cy="2584682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})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errorHandlingFunc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100" dirty="0">
              <a:latin typeface="Times New Roman"/>
              <a:cs typeface="Times New Roman"/>
            </a:endParaRPr>
          </a:p>
          <a:p>
            <a:pPr marL="469900" indent="-35179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Add in ES6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arrow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functions:</a:t>
            </a:r>
            <a:endParaRPr sz="1600" dirty="0">
              <a:latin typeface="Arial"/>
              <a:cs typeface="Arial"/>
            </a:endParaRPr>
          </a:p>
          <a:p>
            <a:pPr lvl="1"/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catch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errorHandlingFunc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8347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Going all in on</a:t>
            </a:r>
            <a:r>
              <a:rPr spc="-90" dirty="0"/>
              <a:t> </a:t>
            </a:r>
            <a:r>
              <a:rPr spc="-5" dirty="0"/>
              <a:t>promises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6350"/>
            <a:ext cx="8135351" cy="2774476"/>
          </a:xfrm>
          <a:prstGeom prst="rect">
            <a:avLst/>
          </a:prstGeom>
        </p:spPr>
        <p:txBody>
          <a:bodyPr vert="horz" wrap="square" lIns="0" tIns="52704" rIns="0" bIns="0" rtlCol="0">
            <a:spAutoFit/>
          </a:bodyPr>
          <a:lstStyle/>
          <a:p>
            <a:pPr lvl="1"/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moreData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doSomethingMoreOnData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finalizeData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moreData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379095" indent="-367030">
              <a:lnSpc>
                <a:spcPct val="100000"/>
              </a:lnSpc>
              <a:spcBef>
                <a:spcPts val="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All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reads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variables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become "then"</a:t>
            </a:r>
            <a:r>
              <a:rPr sz="18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calls:</a:t>
            </a:r>
            <a:endParaRPr sz="1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00" dirty="0">
              <a:latin typeface="Times New Roman"/>
              <a:cs typeface="Times New Roman"/>
            </a:endParaRPr>
          </a:p>
          <a:p>
            <a:pPr marL="379095">
              <a:lnSpc>
                <a:spcPct val="100000"/>
              </a:lnSpc>
              <a:tabLst>
                <a:tab pos="2246630" algn="l"/>
              </a:tabLst>
            </a:pPr>
            <a:r>
              <a:rPr sz="1800" spc="-5" dirty="0">
                <a:solidFill>
                  <a:srgbClr val="595959"/>
                </a:solidFill>
                <a:latin typeface="Courier New"/>
                <a:cs typeface="Courier New"/>
              </a:rPr>
              <a:t>myVar</a:t>
            </a:r>
            <a:r>
              <a:rPr sz="1800" spc="-8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becomes	</a:t>
            </a:r>
            <a:r>
              <a:rPr sz="1800" spc="-5" dirty="0">
                <a:solidFill>
                  <a:srgbClr val="595959"/>
                </a:solidFill>
                <a:latin typeface="Courier New"/>
                <a:cs typeface="Courier New"/>
              </a:rPr>
              <a:t>myVar.then( fn -&gt; </a:t>
            </a:r>
            <a:r>
              <a:rPr sz="1800" dirty="0">
                <a:solidFill>
                  <a:srgbClr val="595959"/>
                </a:solidFill>
                <a:latin typeface="Courier New"/>
                <a:cs typeface="Courier New"/>
              </a:rPr>
              <a:t>{</a:t>
            </a:r>
            <a:r>
              <a:rPr sz="1800" spc="-35" dirty="0">
                <a:solidFill>
                  <a:srgbClr val="595959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Courier New"/>
                <a:cs typeface="Courier New"/>
              </a:rPr>
              <a:t>...</a:t>
            </a:r>
            <a:endParaRPr sz="18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613439" y="4778075"/>
            <a:ext cx="1880235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35953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Promises </a:t>
            </a:r>
            <a:r>
              <a:rPr dirty="0"/>
              <a:t>vs</a:t>
            </a:r>
            <a:r>
              <a:rPr spc="-90" dirty="0"/>
              <a:t> </a:t>
            </a:r>
            <a:r>
              <a:rPr spc="-5" dirty="0"/>
              <a:t>Callbacks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16355"/>
            <a:ext cx="7490459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Easy to go from Promise to Callback: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Just call </a:t>
            </a:r>
            <a:r>
              <a:rPr sz="1800" spc="-5" dirty="0">
                <a:solidFill>
                  <a:srgbClr val="595959"/>
                </a:solidFill>
                <a:latin typeface="Consolas"/>
                <a:cs typeface="Consolas"/>
              </a:rPr>
              <a:t>.then(callbackFunc)</a:t>
            </a:r>
            <a:endParaRPr sz="1800" dirty="0">
              <a:latin typeface="Consolas"/>
              <a:cs typeface="Consolas"/>
            </a:endParaRPr>
          </a:p>
          <a:p>
            <a:pPr marL="836294" lvl="1" indent="-336550">
              <a:spcBef>
                <a:spcPts val="1305"/>
              </a:spcBef>
              <a:buFont typeface="Arial"/>
              <a:buChar char="○"/>
              <a:tabLst>
                <a:tab pos="836294" algn="l"/>
                <a:tab pos="836930" algn="l"/>
              </a:tabLst>
            </a:pP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sz="1400" dirty="0">
              <a:latin typeface="Consolas"/>
              <a:cs typeface="Consolas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Going from Callback to Promise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requires creating a</a:t>
            </a:r>
            <a:r>
              <a:rPr sz="18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Promise</a:t>
            </a:r>
            <a:endParaRPr sz="1800" dirty="0">
              <a:latin typeface="Arial"/>
              <a:cs typeface="Arial"/>
            </a:endParaRPr>
          </a:p>
          <a:p>
            <a:pPr lvl="1"/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newPromise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fulfill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calls fulfill(value) to have promise return value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calls reject(err) to have promise signal error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3439" y="4766045"/>
            <a:ext cx="1880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52768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Converting </a:t>
            </a:r>
            <a:r>
              <a:rPr dirty="0"/>
              <a:t>callbacks </a:t>
            </a:r>
            <a:r>
              <a:rPr spc="-5" dirty="0"/>
              <a:t>to</a:t>
            </a:r>
            <a:r>
              <a:rPr spc="-100" dirty="0"/>
              <a:t> </a:t>
            </a:r>
            <a:r>
              <a:rPr spc="-5" dirty="0"/>
              <a:t>Promises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4BC67C-2522-45C1-9193-2F29A27E40DD}"/>
              </a:ext>
            </a:extLst>
          </p:cNvPr>
          <p:cNvSpPr txBox="1"/>
          <p:nvPr/>
        </p:nvSpPr>
        <p:spPr>
          <a:xfrm>
            <a:off x="384725" y="1140589"/>
            <a:ext cx="7162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myReadFile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Promise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fulfill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fs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reject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fulfill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3439" y="4766045"/>
            <a:ext cx="1880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Promises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09106" y="2264536"/>
            <a:ext cx="31222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/>
              <a:t>End</a:t>
            </a:r>
            <a:r>
              <a:rPr sz="3600" spc="-95" dirty="0"/>
              <a:t> </a:t>
            </a:r>
            <a:r>
              <a:rPr sz="3600" spc="-5" dirty="0"/>
              <a:t>Digression</a:t>
            </a:r>
            <a:endParaRPr sz="3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61398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Other </a:t>
            </a:r>
            <a:r>
              <a:rPr spc="-10" dirty="0"/>
              <a:t>Transports: </a:t>
            </a:r>
            <a:r>
              <a:rPr spc="-5" dirty="0"/>
              <a:t>HTML5</a:t>
            </a:r>
            <a:r>
              <a:rPr spc="-140" dirty="0"/>
              <a:t> </a:t>
            </a:r>
            <a:r>
              <a:rPr spc="-10" dirty="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8" y="1216355"/>
            <a:ext cx="8592551" cy="366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Rather than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running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over </a:t>
            </a:r>
            <a:r>
              <a:rPr sz="1800" spc="-50" dirty="0">
                <a:solidFill>
                  <a:srgbClr val="595959"/>
                </a:solidFill>
                <a:latin typeface="Arial"/>
                <a:cs typeface="Arial"/>
              </a:rPr>
              <a:t>HTTP,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HTML5 brings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sockets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 the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browser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108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TCP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connection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JavaScript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backend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Web</a:t>
            </a:r>
            <a:r>
              <a:rPr sz="1400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Event-based interface like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 err="1">
                <a:solidFill>
                  <a:srgbClr val="595959"/>
                </a:solidFill>
                <a:latin typeface="Arial"/>
                <a:cs typeface="Arial"/>
              </a:rPr>
              <a:t>XMLHttpRequest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:</a:t>
            </a:r>
            <a:endParaRPr lang="en-US" sz="1800" spc="-5" dirty="0">
              <a:solidFill>
                <a:srgbClr val="595959"/>
              </a:solidFill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855"/>
              </a:spcBef>
              <a:buChar char="●"/>
              <a:tabLst>
                <a:tab pos="379095" algn="l"/>
                <a:tab pos="379730" algn="l"/>
              </a:tabLst>
            </a:pPr>
            <a:endParaRPr sz="1800" dirty="0">
              <a:latin typeface="Arial"/>
              <a:cs typeface="Arial"/>
            </a:endParaRPr>
          </a:p>
          <a:p>
            <a:pPr lvl="1"/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WebSocket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ws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://www.example.com/socketserver"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onopen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stringify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lvl="1"/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socket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onmessage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JSON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parse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 marL="379095" marR="5080" indent="44450">
              <a:lnSpc>
                <a:spcPct val="114599"/>
              </a:lnSpc>
            </a:pP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7993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Remote </a:t>
            </a:r>
            <a:r>
              <a:rPr spc="-10" dirty="0"/>
              <a:t>Procedure </a:t>
            </a:r>
            <a:r>
              <a:rPr spc="-5" dirty="0"/>
              <a:t>Call</a:t>
            </a:r>
            <a:r>
              <a:rPr spc="-80" dirty="0"/>
              <a:t> </a:t>
            </a:r>
            <a:r>
              <a:rPr dirty="0"/>
              <a:t>(RPC)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0375" marR="90805" indent="-367030">
              <a:lnSpc>
                <a:spcPct val="114599"/>
              </a:lnSpc>
              <a:spcBef>
                <a:spcPts val="100"/>
              </a:spcBef>
              <a:buChar char="●"/>
              <a:tabLst>
                <a:tab pos="461009" algn="l"/>
                <a:tab pos="461645" algn="l"/>
              </a:tabLst>
            </a:pPr>
            <a:r>
              <a:rPr spc="-10" dirty="0"/>
              <a:t>Traditional </a:t>
            </a:r>
            <a:r>
              <a:rPr spc="-5" dirty="0"/>
              <a:t>distributed </a:t>
            </a:r>
            <a:r>
              <a:rPr dirty="0"/>
              <a:t>computation </a:t>
            </a:r>
            <a:r>
              <a:rPr spc="-5" dirty="0"/>
              <a:t>technology </a:t>
            </a:r>
            <a:r>
              <a:rPr dirty="0"/>
              <a:t>supporting calling </a:t>
            </a:r>
            <a:r>
              <a:rPr spc="-5" dirty="0"/>
              <a:t>of </a:t>
            </a:r>
            <a:r>
              <a:rPr dirty="0"/>
              <a:t>a </a:t>
            </a:r>
            <a:r>
              <a:rPr spc="-5" dirty="0"/>
              <a:t>function  on </a:t>
            </a:r>
            <a:r>
              <a:rPr dirty="0"/>
              <a:t>a remote</a:t>
            </a:r>
            <a:r>
              <a:rPr spc="-15" dirty="0"/>
              <a:t> </a:t>
            </a:r>
            <a:r>
              <a:rPr dirty="0"/>
              <a:t>machine.</a:t>
            </a:r>
          </a:p>
          <a:p>
            <a:pPr marL="91757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18210" algn="l"/>
                <a:tab pos="918844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Browser packages function's arguments into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message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to the web</a:t>
            </a:r>
            <a:r>
              <a:rPr sz="14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server.</a:t>
            </a:r>
            <a:endParaRPr sz="1400" dirty="0">
              <a:latin typeface="Arial"/>
              <a:cs typeface="Arial"/>
            </a:endParaRPr>
          </a:p>
          <a:p>
            <a:pPr marL="917575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18210" algn="l"/>
                <a:tab pos="918844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 is invoked with the arguments on the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server.</a:t>
            </a:r>
            <a:endParaRPr sz="1400" dirty="0">
              <a:latin typeface="Arial"/>
              <a:cs typeface="Arial"/>
            </a:endParaRPr>
          </a:p>
          <a:p>
            <a:pPr marL="917575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918210" algn="l"/>
                <a:tab pos="918844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Function's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return value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sent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back to the</a:t>
            </a:r>
            <a:r>
              <a:rPr sz="1400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browser.</a:t>
            </a:r>
            <a:endParaRPr sz="1400" dirty="0">
              <a:latin typeface="Arial"/>
              <a:cs typeface="Arial"/>
            </a:endParaRPr>
          </a:p>
          <a:p>
            <a:pPr marL="460375" marR="5080" indent="-367030">
              <a:lnSpc>
                <a:spcPct val="114599"/>
              </a:lnSpc>
              <a:spcBef>
                <a:spcPts val="915"/>
              </a:spcBef>
              <a:buChar char="●"/>
              <a:tabLst>
                <a:tab pos="461009" algn="l"/>
                <a:tab pos="461645" algn="l"/>
              </a:tabLst>
            </a:pPr>
            <a:r>
              <a:rPr spc="-5" dirty="0"/>
              <a:t>Allows arbitrary </a:t>
            </a:r>
            <a:r>
              <a:rPr dirty="0"/>
              <a:t>code </a:t>
            </a:r>
            <a:r>
              <a:rPr spc="-5" dirty="0"/>
              <a:t>to be </a:t>
            </a:r>
            <a:r>
              <a:rPr dirty="0"/>
              <a:t>run </a:t>
            </a:r>
            <a:r>
              <a:rPr spc="-5" dirty="0"/>
              <a:t>on </a:t>
            </a:r>
            <a:r>
              <a:rPr dirty="0"/>
              <a:t>server - </a:t>
            </a:r>
            <a:r>
              <a:rPr spc="-5" dirty="0"/>
              <a:t>handles </a:t>
            </a:r>
            <a:r>
              <a:rPr dirty="0"/>
              <a:t>complex, multiple resource  </a:t>
            </a:r>
            <a:r>
              <a:rPr spc="-5" dirty="0"/>
              <a:t>operations</a:t>
            </a:r>
          </a:p>
          <a:p>
            <a:pPr marL="91757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18210" algn="l"/>
                <a:tab pos="918844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Reduces number of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round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trip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messages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makes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failure handling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595959"/>
                </a:solidFill>
                <a:latin typeface="Arial"/>
                <a:cs typeface="Arial"/>
              </a:rPr>
              <a:t>easier.</a:t>
            </a:r>
            <a:endParaRPr sz="1400" dirty="0">
              <a:latin typeface="Arial"/>
              <a:cs typeface="Arial"/>
            </a:endParaRPr>
          </a:p>
          <a:p>
            <a:pPr marL="46037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461009" algn="l"/>
                <a:tab pos="461645" algn="l"/>
              </a:tabLst>
            </a:pPr>
            <a:r>
              <a:rPr spc="-5" dirty="0"/>
              <a:t>Can </a:t>
            </a:r>
            <a:r>
              <a:rPr dirty="0"/>
              <a:t>result </a:t>
            </a:r>
            <a:r>
              <a:rPr spc="-5" dirty="0"/>
              <a:t>in </a:t>
            </a:r>
            <a:r>
              <a:rPr dirty="0"/>
              <a:t>more complex </a:t>
            </a:r>
            <a:r>
              <a:rPr spc="-5" dirty="0"/>
              <a:t>to use interface </a:t>
            </a:r>
            <a:r>
              <a:rPr dirty="0"/>
              <a:t>compared </a:t>
            </a:r>
            <a:r>
              <a:rPr spc="-5" dirty="0"/>
              <a:t>to</a:t>
            </a:r>
            <a:r>
              <a:rPr spc="-50" dirty="0"/>
              <a:t> </a:t>
            </a:r>
            <a:r>
              <a:rPr spc="-5" dirty="0"/>
              <a:t>REST</a:t>
            </a:r>
          </a:p>
          <a:p>
            <a:pPr marL="917575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918210" algn="l"/>
                <a:tab pos="918844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Need to document the API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(i.e.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functions 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calling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sequence)</a:t>
            </a:r>
            <a:endParaRPr sz="1400" dirty="0">
              <a:latin typeface="Arial"/>
              <a:cs typeface="Arial"/>
            </a:endParaRPr>
          </a:p>
          <a:p>
            <a:pPr marL="46037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461009" algn="l"/>
                <a:tab pos="461645" algn="l"/>
              </a:tabLst>
            </a:pPr>
            <a:r>
              <a:rPr spc="-5" dirty="0"/>
              <a:t>RPC </a:t>
            </a:r>
            <a:r>
              <a:rPr dirty="0"/>
              <a:t>can </a:t>
            </a:r>
            <a:r>
              <a:rPr spc="-5" dirty="0"/>
              <a:t>be done over HTTP </a:t>
            </a:r>
            <a:r>
              <a:rPr dirty="0"/>
              <a:t>(e.g. </a:t>
            </a:r>
            <a:r>
              <a:rPr spc="-5" dirty="0"/>
              <a:t>POST) or</a:t>
            </a:r>
            <a:r>
              <a:rPr spc="-95" dirty="0"/>
              <a:t> </a:t>
            </a:r>
            <a:r>
              <a:rPr spc="-10" dirty="0"/>
              <a:t>WebSockets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3232402" y="4778075"/>
            <a:ext cx="2641600" cy="167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CS142 Lecture Notes </a:t>
            </a:r>
            <a:r>
              <a:rPr sz="10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Server</a:t>
            </a:r>
            <a:r>
              <a:rPr sz="1000" spc="-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00" spc="-5" dirty="0">
                <a:solidFill>
                  <a:srgbClr val="595959"/>
                </a:solidFill>
                <a:latin typeface="Arial"/>
                <a:cs typeface="Arial"/>
              </a:rPr>
              <a:t>Communication</a:t>
            </a:r>
            <a:endParaRPr sz="10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3825"/>
            <a:ext cx="46539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Trending </a:t>
            </a:r>
            <a:r>
              <a:rPr spc="-5" dirty="0"/>
              <a:t>approach:</a:t>
            </a:r>
            <a:r>
              <a:rPr spc="-75" dirty="0"/>
              <a:t> </a:t>
            </a:r>
            <a:r>
              <a:rPr spc="-5" dirty="0"/>
              <a:t>GraphQL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62308"/>
            <a:ext cx="7985759" cy="32194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5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Standard protocol for backends from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Facebook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Like </a:t>
            </a:r>
            <a:r>
              <a:rPr sz="1400" spc="-35" dirty="0">
                <a:solidFill>
                  <a:srgbClr val="595959"/>
                </a:solidFill>
                <a:latin typeface="Arial"/>
                <a:cs typeface="Arial"/>
              </a:rPr>
              <a:t>REST,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server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exports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that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be fetched by the web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app</a:t>
            </a:r>
            <a:endParaRPr sz="14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27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Unlike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REST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Server exports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"schema" describing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supported</a:t>
            </a:r>
            <a:r>
              <a:rPr sz="14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queries.</a:t>
            </a:r>
            <a:endParaRPr sz="1400" dirty="0">
              <a:latin typeface="Arial"/>
              <a:cs typeface="Arial"/>
            </a:endParaRPr>
          </a:p>
          <a:p>
            <a:pPr marL="1293495" lvl="2" indent="-336550">
              <a:lnSpc>
                <a:spcPct val="100000"/>
              </a:lnSpc>
              <a:spcBef>
                <a:spcPts val="270"/>
              </a:spcBef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Client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specifies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what properties of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it is interested in</a:t>
            </a:r>
            <a:r>
              <a:rPr sz="1400" spc="-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retrieving.</a:t>
            </a:r>
            <a:endParaRPr sz="1400" dirty="0">
              <a:latin typeface="Arial"/>
              <a:cs typeface="Arial"/>
            </a:endParaRPr>
          </a:p>
          <a:p>
            <a:pPr marL="1293495" marR="5080" lvl="2" indent="-336550">
              <a:lnSpc>
                <a:spcPct val="116100"/>
              </a:lnSpc>
              <a:buChar char="■"/>
              <a:tabLst>
                <a:tab pos="1293495" algn="l"/>
                <a:tab pos="12941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Can fetch from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many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resources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the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same request (i.e.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entire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model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 one  query).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5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Update operations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specified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in the exported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schema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05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Allows an RPC-like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interface</a:t>
            </a:r>
            <a:endParaRPr sz="1400" dirty="0">
              <a:latin typeface="Arial"/>
              <a:cs typeface="Arial"/>
            </a:endParaRPr>
          </a:p>
          <a:p>
            <a:pPr marL="379095" indent="-367030">
              <a:lnSpc>
                <a:spcPct val="100000"/>
              </a:lnSpc>
              <a:spcBef>
                <a:spcPts val="123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Gaining in popularity particularly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compared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REST</a:t>
            </a:r>
            <a:endParaRPr sz="1800" dirty="0">
              <a:latin typeface="Arial"/>
              <a:cs typeface="Arial"/>
            </a:endParaRPr>
          </a:p>
          <a:p>
            <a:pPr marL="836294" lvl="1" indent="-336550">
              <a:lnSpc>
                <a:spcPct val="100000"/>
              </a:lnSpc>
              <a:spcBef>
                <a:spcPts val="33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Gives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a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program accessible backend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Application Programming Interface</a:t>
            </a:r>
            <a:r>
              <a:rPr sz="1400" b="1" spc="-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(API)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E511CF504F4646AB54E0ACE4A117EC" ma:contentTypeVersion="0" ma:contentTypeDescription="Create a new document." ma:contentTypeScope="" ma:versionID="d4f0da77cb7c9de5903bc21ca831b4e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166ECC-AFFE-456F-89BA-EE3A49EEB2CC}"/>
</file>

<file path=customXml/itemProps2.xml><?xml version="1.0" encoding="utf-8"?>
<ds:datastoreItem xmlns:ds="http://schemas.openxmlformats.org/officeDocument/2006/customXml" ds:itemID="{EF3E5AB0-6B6A-4847-A026-724E2C40B7FA}"/>
</file>

<file path=customXml/itemProps3.xml><?xml version="1.0" encoding="utf-8"?>
<ds:datastoreItem xmlns:ds="http://schemas.openxmlformats.org/officeDocument/2006/customXml" ds:itemID="{91520BED-37FC-4C51-B157-E10F1DDC97F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</TotalTime>
  <Words>2013</Words>
  <Application>Microsoft Office PowerPoint</Application>
  <PresentationFormat>On-screen Show (16:9)</PresentationFormat>
  <Paragraphs>287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Times New Roman</vt:lpstr>
      <vt:lpstr>Office Theme</vt:lpstr>
      <vt:lpstr>PowerPoint Presentation</vt:lpstr>
      <vt:lpstr>Controller's role in Model, View, Controller</vt:lpstr>
      <vt:lpstr>XMLHttpRequest</vt:lpstr>
      <vt:lpstr>XMLHttpRequest event processing</vt:lpstr>
      <vt:lpstr>Traditional AJAX uses patterns</vt:lpstr>
      <vt:lpstr>Fetching models with XMLHttpRequest</vt:lpstr>
      <vt:lpstr>REST APIs</vt:lpstr>
      <vt:lpstr>Some RESTful API attributes</vt:lpstr>
      <vt:lpstr>REST API design</vt:lpstr>
      <vt:lpstr>React accessing RESTful APIs</vt:lpstr>
      <vt:lpstr>Axios handling of HTTP responses</vt:lpstr>
      <vt:lpstr>Minor Digression - Promises</vt:lpstr>
      <vt:lpstr>Callbacks have haters</vt:lpstr>
      <vt:lpstr>Same code without pyramid: Control jumps around</vt:lpstr>
      <vt:lpstr>Idea behind promises</vt:lpstr>
      <vt:lpstr>then() - Waiting on a promise</vt:lpstr>
      <vt:lpstr>Example of Promise usage</vt:lpstr>
      <vt:lpstr>Promises</vt:lpstr>
      <vt:lpstr>Chaining promises</vt:lpstr>
      <vt:lpstr>Going all in on promises</vt:lpstr>
      <vt:lpstr>Promises vs Callbacks</vt:lpstr>
      <vt:lpstr>Converting callbacks to Promises</vt:lpstr>
      <vt:lpstr>End Digression</vt:lpstr>
      <vt:lpstr>Other Transports: HTML5 WebSockets</vt:lpstr>
      <vt:lpstr>Remote Procedure Call (RPC)</vt:lpstr>
      <vt:lpstr>Trending approach: GraphQL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Amarsanaa Ganbold</cp:lastModifiedBy>
  <cp:revision>17</cp:revision>
  <dcterms:created xsi:type="dcterms:W3CDTF">2019-08-20T05:21:26Z</dcterms:created>
  <dcterms:modified xsi:type="dcterms:W3CDTF">2021-11-16T06:01:03Z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ContentTypeId">
    <vt:lpwstr>0x01010055E511CF504F4646AB54E0ACE4A117EC</vt:lpwstr>
  </property>
</Properties>
</file>