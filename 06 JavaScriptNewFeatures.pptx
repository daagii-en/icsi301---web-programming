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9144000" cy="5143500"/>
  <p:defaultTextStyle>
    <a:defPPr>
      <a:defRPr lang="mn-M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96" autoAdjust="0"/>
  </p:normalViewPr>
  <p:slideViewPr>
    <p:cSldViewPr>
      <p:cViewPr varScale="1">
        <p:scale>
          <a:sx n="41" d="100"/>
          <a:sy n="41" d="100"/>
        </p:scale>
        <p:origin x="592" y="-4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89599-5324-4B2A-879E-B3A00239D0B2}" type="datetimeFigureOut">
              <a:rPr lang="mn-MN" smtClean="0"/>
              <a:t>2022.03.24</a:t>
            </a:fld>
            <a:endParaRPr lang="mn-M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mn-M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n-M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mn-M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99906-FA02-4167-8980-CD22AD73D4CD}" type="slidenum">
              <a:rPr lang="mn-MN" smtClean="0"/>
              <a:t>‹#›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17089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file test.js</a:t>
            </a:r>
            <a:r>
              <a:rPr lang="es-ES" dirty="0"/>
              <a:t> 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es-ES" dirty="0"/>
              <a:t> k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es-ES" dirty="0"/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</a:t>
            </a:r>
            <a:r>
              <a:rPr lang="es-ES" dirty="0"/>
              <a:t> 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default</a:t>
            </a:r>
            <a:r>
              <a:rPr lang="es-ES" dirty="0"/>
              <a:t> k 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lang="es-ES" dirty="0"/>
              <a:t> 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12;</a:t>
            </a:r>
          </a:p>
          <a:p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some other file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</a:t>
            </a:r>
            <a:r>
              <a:rPr lang="en-US" dirty="0"/>
              <a:t> m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'./test';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note that we have the freedom to use import m instead of import k, because k was default export</a:t>
            </a:r>
            <a:r>
              <a:rPr lang="en-US" dirty="0"/>
              <a:t> </a:t>
            </a:r>
          </a:p>
          <a:p>
            <a:r>
              <a:rPr lang="en-US" dirty="0"/>
              <a:t>console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.log(</a:t>
            </a:r>
            <a:r>
              <a:rPr lang="en-US" dirty="0"/>
              <a:t>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 will log 12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mn-MN" dirty="0"/>
              <a:t>Модулийн хувьсагчдыг функцийн хамрах хүрээ болгохын тулд хаагдсан функцийг ашиглан шууд дуудагдсан функцийн илэрхийлэлүүдийг ашиглан тэдгээрт хандахын тулд зөвхөн нэг объектыг буцаана уу.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D99906-FA02-4167-8980-CD22AD73D4CD}" type="slidenum">
              <a:rPr lang="mn-MN" smtClean="0"/>
              <a:t>4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2039732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console.log(o)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en-US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// </a:t>
            </a:r>
            <a:r>
              <a:rPr lang="mn-M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[ 5, 1, 2, 3, 6 ]</a:t>
            </a:r>
            <a:endParaRPr lang="es-E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D99906-FA02-4167-8980-CD22AD73D4CD}" type="slidenum">
              <a:rPr lang="mn-MN" smtClean="0"/>
              <a:t>7</a:t>
            </a:fld>
            <a:endParaRPr lang="mn-MN"/>
          </a:p>
        </p:txBody>
      </p:sp>
    </p:spTree>
    <p:extLst>
      <p:ext uri="{BB962C8B-B14F-4D97-AF65-F5344CB8AC3E}">
        <p14:creationId xmlns:p14="http://schemas.microsoft.com/office/powerpoint/2010/main" val="649751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70954" y="1881758"/>
            <a:ext cx="7402091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4725" y="1216355"/>
            <a:ext cx="3738245" cy="278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05425" y="1732738"/>
            <a:ext cx="3640454" cy="2915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595959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62308"/>
            <a:ext cx="4671060" cy="1043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77050" y="4778075"/>
            <a:ext cx="2353310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68825" y="4778067"/>
            <a:ext cx="1924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beljs.io/en/repl" TargetMode="External"/><Relationship Id="rId2" Type="http://schemas.openxmlformats.org/officeDocument/2006/relationships/hyperlink" Target="https://babeljs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statements/expor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WeakSet" TargetMode="External"/><Relationship Id="rId2" Type="http://schemas.openxmlformats.org/officeDocument/2006/relationships/hyperlink" Target="https://developer.mozilla.org/en-US/docs/Web/JavaScript/Reference/Global_Objects/Ma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Web/JavaScript/Reference/Statements/async_function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954" y="1881758"/>
            <a:ext cx="739648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dirty="0">
                <a:latin typeface="Arial"/>
                <a:cs typeface="Arial"/>
              </a:rPr>
              <a:t>JavaScript </a:t>
            </a:r>
            <a:r>
              <a:rPr sz="5200" spc="-5" dirty="0">
                <a:latin typeface="Arial"/>
                <a:cs typeface="Arial"/>
              </a:rPr>
              <a:t>New</a:t>
            </a:r>
            <a:r>
              <a:rPr sz="5200" spc="-110" dirty="0">
                <a:latin typeface="Arial"/>
                <a:cs typeface="Arial"/>
              </a:rPr>
              <a:t> </a:t>
            </a:r>
            <a:r>
              <a:rPr sz="5200" spc="-5" dirty="0">
                <a:latin typeface="Arial"/>
                <a:cs typeface="Arial"/>
              </a:rPr>
              <a:t>Features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3029" y="4778075"/>
            <a:ext cx="274066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JavaScript</a:t>
            </a:r>
            <a:r>
              <a:rPr sz="1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83029" y="4778075"/>
            <a:ext cx="274066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JavaScript</a:t>
            </a:r>
            <a:r>
              <a:rPr sz="1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5516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ECMAScript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97825" cy="24765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New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standard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ECMAScript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released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yearly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Relatively easy to 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new feature into 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language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Transpiling: Translate new language to old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style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Allows front-end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software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be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coded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new features but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run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everywhere.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For example:</a:t>
            </a:r>
            <a:r>
              <a:rPr sz="1400" spc="-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Babel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 Check out:</a:t>
            </a:r>
            <a:r>
              <a:rPr sz="1400" spc="-5" dirty="0">
                <a:solidFill>
                  <a:srgbClr val="0097A7"/>
                </a:solidFill>
                <a:latin typeface="Arial"/>
                <a:cs typeface="Arial"/>
                <a:hlinkClick r:id="rId3"/>
              </a:rPr>
              <a:t> </a:t>
            </a:r>
            <a:r>
              <a:rPr sz="14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https://babeljs.io/en/repl</a:t>
            </a:r>
            <a:r>
              <a:rPr sz="1400" spc="-5" dirty="0">
                <a:solidFill>
                  <a:srgbClr val="0097A7"/>
                </a:solidFill>
                <a:latin typeface="Arial"/>
                <a:cs typeface="Arial"/>
                <a:hlinkClick r:id="rId3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-&gt;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old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Frontend frameworks are aggressively using new language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React.js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Encourages use of newer ECMAScript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Angular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Encourages Typescript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Extended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static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types and type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checking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183029" y="4778075"/>
            <a:ext cx="274066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JavaScript</a:t>
            </a:r>
            <a:r>
              <a:rPr sz="1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6280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Lots of new features in</a:t>
            </a:r>
            <a:r>
              <a:rPr spc="-85" dirty="0"/>
              <a:t> </a:t>
            </a:r>
            <a:r>
              <a:rPr spc="-5" dirty="0"/>
              <a:t>ECMAScript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Already </a:t>
            </a:r>
            <a:r>
              <a:rPr dirty="0"/>
              <a:t>seen a</a:t>
            </a:r>
            <a:r>
              <a:rPr spc="-25" dirty="0"/>
              <a:t> </a:t>
            </a:r>
            <a:r>
              <a:rPr spc="-5" dirty="0"/>
              <a:t>few</a:t>
            </a: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let, const, class,</a:t>
            </a:r>
            <a:r>
              <a:rPr sz="14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=&gt;</a:t>
            </a:r>
            <a:endParaRPr sz="140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pc="-5" dirty="0"/>
              <a:t>Here are </a:t>
            </a:r>
            <a:r>
              <a:rPr dirty="0"/>
              <a:t>a </a:t>
            </a:r>
            <a:r>
              <a:rPr spc="-5" dirty="0"/>
              <a:t>few </a:t>
            </a:r>
            <a:r>
              <a:rPr dirty="0"/>
              <a:t>more you might</a:t>
            </a:r>
            <a:r>
              <a:rPr spc="-105" dirty="0"/>
              <a:t> </a:t>
            </a:r>
            <a:r>
              <a:rPr spc="-5" dirty="0"/>
              <a:t>encounter: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3193" y="2108023"/>
            <a:ext cx="5057775" cy="229235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969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40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Rest parameters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Spread operator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...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Destructuring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assignment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Template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literals</a:t>
            </a:r>
            <a:endParaRPr sz="1400">
              <a:latin typeface="Arial"/>
              <a:cs typeface="Arial"/>
            </a:endParaRPr>
          </a:p>
          <a:p>
            <a:pPr marL="348615" indent="-336550">
              <a:lnSpc>
                <a:spcPct val="100000"/>
              </a:lnSpc>
              <a:spcBef>
                <a:spcPts val="870"/>
              </a:spcBef>
              <a:buChar char="○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Set,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Map,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WeakSet, WeakMap objects, async</a:t>
            </a:r>
            <a:r>
              <a:rPr sz="14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66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Modules - </a:t>
            </a:r>
            <a:r>
              <a:rPr spc="-10" dirty="0"/>
              <a:t>Variables </a:t>
            </a:r>
            <a:r>
              <a:rPr spc="-5" dirty="0"/>
              <a:t>global to </a:t>
            </a:r>
            <a:r>
              <a:rPr dirty="0"/>
              <a:t>a </a:t>
            </a:r>
            <a:r>
              <a:rPr spc="-5" dirty="0"/>
              <a:t>file not</a:t>
            </a:r>
            <a:r>
              <a:rPr spc="-100" dirty="0"/>
              <a:t> </a:t>
            </a:r>
            <a:r>
              <a:rPr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746073"/>
            <a:ext cx="289052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047115" indent="-45720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 exportedName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(function ()</a:t>
            </a:r>
            <a:r>
              <a:rPr sz="14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var x, y,</a:t>
            </a:r>
            <a:r>
              <a:rPr sz="1400" spc="-3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x;</a:t>
            </a:r>
            <a:endParaRPr sz="1400" dirty="0">
              <a:latin typeface="Consolas"/>
              <a:cs typeface="Consolas"/>
            </a:endParaRPr>
          </a:p>
          <a:p>
            <a:pPr marL="95758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return {x: x, y:</a:t>
            </a:r>
            <a:r>
              <a:rPr sz="1400" spc="-8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y};</a:t>
            </a:r>
            <a:endParaRPr sz="1400" dirty="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})();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431997"/>
            <a:ext cx="3786504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Use Immediately Invoked Function Expressions  using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closures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make module variables 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scope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only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return a single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object</a:t>
            </a:r>
            <a:r>
              <a:rPr sz="14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 access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them.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216355"/>
            <a:ext cx="552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3265" algn="l"/>
              </a:tabLst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Old Way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New</a:t>
            </a:r>
            <a:r>
              <a:rPr sz="1800" u="heavy" spc="-8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5425" y="1698448"/>
            <a:ext cx="3145790" cy="7683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var x, y,</a:t>
            </a:r>
            <a:r>
              <a:rPr sz="1400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x;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var exportedName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{x: x, y:</a:t>
            </a:r>
            <a:r>
              <a:rPr sz="1400" spc="-8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y};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5425" y="2723338"/>
            <a:ext cx="19767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0000"/>
                </a:solidFill>
                <a:latin typeface="Consolas"/>
                <a:cs typeface="Consolas"/>
              </a:rPr>
              <a:t>export</a:t>
            </a:r>
            <a:r>
              <a:rPr sz="1400" b="1" spc="-8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exportedName;</a:t>
            </a:r>
            <a:endParaRPr sz="14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5425" y="3184348"/>
            <a:ext cx="3917950" cy="491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explicitly define file's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  <a:hlinkClick r:id="rId3"/>
              </a:rPr>
              <a:t>exports and then import 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module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another file. Two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common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ways: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6693" y="3803472"/>
            <a:ext cx="2843530" cy="84455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8615" indent="-336550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Common.js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(Node.js):</a:t>
            </a:r>
            <a:endParaRPr sz="1400">
              <a:latin typeface="Arial"/>
              <a:cs typeface="Arial"/>
            </a:endParaRPr>
          </a:p>
          <a:p>
            <a:pPr marL="34861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module.exports/require()</a:t>
            </a:r>
            <a:endParaRPr sz="1400">
              <a:latin typeface="Consolas"/>
              <a:cs typeface="Consolas"/>
            </a:endParaRPr>
          </a:p>
          <a:p>
            <a:pPr marL="348615" indent="-336550">
              <a:lnSpc>
                <a:spcPct val="100000"/>
              </a:lnSpc>
              <a:spcBef>
                <a:spcPts val="869"/>
              </a:spcBef>
              <a:buChar char="●"/>
              <a:tabLst>
                <a:tab pos="347980" algn="l"/>
                <a:tab pos="34925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ECMAScript 6: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export/import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72885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Default parameters </a:t>
            </a:r>
            <a:r>
              <a:rPr dirty="0"/>
              <a:t>- </a:t>
            </a:r>
            <a:r>
              <a:rPr spc="-10" dirty="0"/>
              <a:t>Parameters </a:t>
            </a:r>
            <a:r>
              <a:rPr spc="-5" dirty="0"/>
              <a:t>not</a:t>
            </a:r>
            <a:r>
              <a:rPr spc="-85" dirty="0"/>
              <a:t> </a:t>
            </a:r>
            <a:r>
              <a:rPr dirty="0"/>
              <a:t>specified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746073"/>
            <a:ext cx="2170430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function myFunc(a,b)</a:t>
            </a:r>
            <a:r>
              <a:rPr sz="1400" spc="-9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a = a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||</a:t>
            </a:r>
            <a:r>
              <a:rPr sz="1400" spc="-6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1;</a:t>
            </a:r>
            <a:endParaRPr sz="14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b = b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||</a:t>
            </a:r>
            <a:r>
              <a:rPr sz="1400" spc="-10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"Hello";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384372"/>
            <a:ext cx="3570604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Unspecified parameters are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undefined.  You need to explicitly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them if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want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default.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216355"/>
            <a:ext cx="5523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3265" algn="l"/>
              </a:tabLst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Old Way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New</a:t>
            </a:r>
            <a:r>
              <a:rPr sz="1800" u="heavy" spc="-8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5425" y="1732738"/>
            <a:ext cx="3738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function myFunc </a:t>
            </a:r>
            <a:r>
              <a:rPr sz="1400" spc="10" dirty="0">
                <a:solidFill>
                  <a:srgbClr val="595959"/>
                </a:solidFill>
                <a:latin typeface="Consolas"/>
                <a:cs typeface="Consolas"/>
              </a:rPr>
              <a:t>(</a:t>
            </a:r>
            <a:r>
              <a:rPr sz="1400" spc="10" dirty="0">
                <a:solidFill>
                  <a:srgbClr val="FF0000"/>
                </a:solidFill>
                <a:latin typeface="Consolas"/>
                <a:cs typeface="Consolas"/>
              </a:rPr>
              <a:t>a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1,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b = </a:t>
            </a:r>
            <a:r>
              <a:rPr sz="1400" spc="-5" dirty="0">
                <a:solidFill>
                  <a:srgbClr val="FF0000"/>
                </a:solidFill>
                <a:latin typeface="Consolas"/>
                <a:cs typeface="Consolas"/>
              </a:rPr>
              <a:t>"Hello"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)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5425" y="2180413"/>
            <a:ext cx="1231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05425" y="3041473"/>
            <a:ext cx="3748404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explicitly define default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parameter  is not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defined.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3375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Rest parameters</a:t>
            </a:r>
            <a:r>
              <a:rPr spc="-75" dirty="0"/>
              <a:t> </a:t>
            </a:r>
            <a:r>
              <a:rPr spc="-5" dirty="0">
                <a:latin typeface="Consolas"/>
                <a:cs typeface="Consolas"/>
              </a:rPr>
              <a:t>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3202940" cy="257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Old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s-E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es-E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s-E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[N]</a:t>
            </a:r>
            <a:endParaRPr lang="es-E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Parameters not listed but passed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 accessed using the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arguments</a:t>
            </a:r>
            <a:r>
              <a:rPr sz="1400" spc="-409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array.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216355"/>
            <a:ext cx="100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New</a:t>
            </a:r>
            <a:r>
              <a:rPr sz="1800" u="heavy" spc="-8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5425" y="3489147"/>
            <a:ext cx="339026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Additional parameters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placed into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named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array.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00600" y="1673873"/>
            <a:ext cx="416062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theArgsArray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theArgsArray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279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Spread </a:t>
            </a:r>
            <a:r>
              <a:rPr spc="-5" dirty="0"/>
              <a:t>operator</a:t>
            </a:r>
            <a:r>
              <a:rPr spc="-45" dirty="0"/>
              <a:t> </a:t>
            </a:r>
            <a:r>
              <a:rPr spc="-5" dirty="0">
                <a:latin typeface="Consolas"/>
                <a:cs typeface="Consolas"/>
              </a:rPr>
              <a:t>...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4034875" cy="14260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Old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/>
              <a:cs typeface="Times New Roman"/>
            </a:endParaRPr>
          </a:p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anArray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apply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anArray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anArray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concat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4725" y="3431997"/>
            <a:ext cx="3961129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Expand an array to pass its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values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 or  insert it into an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array.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5425" y="1216355"/>
            <a:ext cx="100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New</a:t>
            </a:r>
            <a:r>
              <a:rPr sz="1800" u="heavy" spc="-8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5425" y="1698448"/>
            <a:ext cx="321183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anArray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(...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anArray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anArray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05425" y="3418663"/>
            <a:ext cx="3211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Works on iterable types: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strings &amp;</a:t>
            </a:r>
            <a:r>
              <a:rPr sz="14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arrays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0551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Destructuring</a:t>
            </a:r>
            <a:r>
              <a:rPr spc="-85" dirty="0"/>
              <a:t> </a:t>
            </a:r>
            <a:r>
              <a:rPr spc="-5" dirty="0"/>
              <a:t>assignment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2465070" cy="314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Old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/>
              <a:cs typeface="Times New Roman"/>
            </a:endParaRPr>
          </a:p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s-E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s-E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05425" y="1216355"/>
            <a:ext cx="100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New</a:t>
            </a:r>
            <a:r>
              <a:rPr sz="1800" u="heavy" spc="-8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5425" y="1732738"/>
            <a:ext cx="3400375" cy="2610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salary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{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96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Template </a:t>
            </a:r>
            <a:r>
              <a:rPr dirty="0"/>
              <a:t>string</a:t>
            </a:r>
            <a:r>
              <a:rPr spc="-100" dirty="0"/>
              <a:t> </a:t>
            </a:r>
            <a:r>
              <a:rPr spc="-5" dirty="0"/>
              <a:t>literals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384725" y="1216355"/>
            <a:ext cx="3738245" cy="3072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Old</a:t>
            </a:r>
            <a:r>
              <a:rPr spc="-10" dirty="0"/>
              <a:t> </a:t>
            </a:r>
            <a:r>
              <a:rPr spc="-5" dirty="0"/>
              <a:t>Way</a:t>
            </a:r>
          </a:p>
          <a:p>
            <a:endParaRPr lang="en-US" sz="1400" u="non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u="none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u="none" dirty="0" err="1">
                <a:solidFill>
                  <a:srgbClr val="795E26"/>
                </a:solidFill>
                <a:latin typeface="Consolas" panose="020B0609020204030204" pitchFamily="49" charset="0"/>
              </a:rPr>
              <a:t>formatGreetings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u="none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u="none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endParaRPr lang="en-US" sz="1400" u="non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u="none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u="none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u="none" dirty="0" err="1">
                <a:solidFill>
                  <a:srgbClr val="001080"/>
                </a:solidFill>
                <a:latin typeface="Consolas" panose="020B0609020204030204" pitchFamily="49" charset="0"/>
              </a:rPr>
              <a:t>str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</a:p>
          <a:p>
            <a:r>
              <a:rPr lang="en-US" sz="1400" u="none" dirty="0">
                <a:solidFill>
                  <a:srgbClr val="A31515"/>
                </a:solidFill>
                <a:latin typeface="Consolas" panose="020B0609020204030204" pitchFamily="49" charset="0"/>
              </a:rPr>
              <a:t>    "Hi "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u="none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 +</a:t>
            </a:r>
          </a:p>
          <a:p>
            <a:r>
              <a:rPr lang="en-US" sz="1400" u="none" dirty="0">
                <a:solidFill>
                  <a:srgbClr val="A31515"/>
                </a:solidFill>
                <a:latin typeface="Consolas" panose="020B0609020204030204" pitchFamily="49" charset="0"/>
              </a:rPr>
              <a:t>    " your age is "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u="none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u="non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695960">
              <a:lnSpc>
                <a:spcPct val="100000"/>
              </a:lnSpc>
              <a:spcBef>
                <a:spcPts val="270"/>
              </a:spcBef>
            </a:pPr>
            <a:endParaRPr sz="1400" dirty="0">
              <a:latin typeface="Consolas"/>
              <a:cs typeface="Consolas"/>
            </a:endParaRPr>
          </a:p>
          <a:p>
            <a:pPr marL="109855">
              <a:lnSpc>
                <a:spcPct val="100000"/>
              </a:lnSpc>
              <a:spcBef>
                <a:spcPts val="270"/>
              </a:spcBef>
            </a:pPr>
            <a:r>
              <a:rPr sz="1400" u="none" spc="-5" dirty="0"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 marR="5080">
              <a:lnSpc>
                <a:spcPct val="116100"/>
              </a:lnSpc>
            </a:pPr>
            <a:r>
              <a:rPr sz="1400" u="none" spc="-5" dirty="0"/>
              <a:t>Use </a:t>
            </a:r>
            <a:r>
              <a:rPr sz="1400" u="none" dirty="0"/>
              <a:t>string concatenation </a:t>
            </a:r>
            <a:r>
              <a:rPr sz="1400" u="none" spc="-5" dirty="0"/>
              <a:t>to build up </a:t>
            </a:r>
            <a:r>
              <a:rPr sz="1400" u="none" dirty="0"/>
              <a:t>string</a:t>
            </a:r>
            <a:r>
              <a:rPr sz="1400" u="none" spc="-95" dirty="0"/>
              <a:t> </a:t>
            </a:r>
            <a:r>
              <a:rPr sz="1400" u="none" spc="-5" dirty="0"/>
              <a:t>from  </a:t>
            </a:r>
            <a:r>
              <a:rPr sz="1400" u="none" dirty="0"/>
              <a:t>variables.</a:t>
            </a:r>
            <a:endParaRPr sz="1400" dirty="0"/>
          </a:p>
        </p:txBody>
      </p:sp>
      <p:sp>
        <p:nvSpPr>
          <p:cNvPr id="4" name="object 4"/>
          <p:cNvSpPr txBox="1"/>
          <p:nvPr/>
        </p:nvSpPr>
        <p:spPr>
          <a:xfrm>
            <a:off x="4905425" y="1216355"/>
            <a:ext cx="100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New</a:t>
            </a:r>
            <a:r>
              <a:rPr sz="1800" u="heavy" spc="-8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sz="half" idx="3"/>
          </p:nvPr>
        </p:nvSpPr>
        <p:spPr>
          <a:xfrm>
            <a:off x="4905424" y="1732738"/>
            <a:ext cx="3781375" cy="2933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formatGreetings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endParaRPr dirty="0"/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 dirty="0"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</a:t>
            </a: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   `Hi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your age is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pc="-5" dirty="0">
                <a:latin typeface="Arial"/>
                <a:cs typeface="Arial"/>
              </a:rPr>
              <a:t>Also allows </a:t>
            </a:r>
            <a:r>
              <a:rPr dirty="0">
                <a:latin typeface="Arial"/>
                <a:cs typeface="Arial"/>
              </a:rPr>
              <a:t>multi-line</a:t>
            </a:r>
            <a:r>
              <a:rPr spc="-1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strings: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 dirty="0">
              <a:latin typeface="Times New Roman"/>
              <a:cs typeface="Times New Roman"/>
            </a:endParaRP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`This string has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two lines`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 marR="178435">
              <a:lnSpc>
                <a:spcPct val="116100"/>
              </a:lnSpc>
              <a:spcBef>
                <a:spcPts val="5"/>
              </a:spcBef>
            </a:pPr>
            <a:r>
              <a:rPr spc="-5" dirty="0">
                <a:latin typeface="Arial"/>
                <a:cs typeface="Arial"/>
              </a:rPr>
              <a:t>Very useful in frontend </a:t>
            </a:r>
            <a:r>
              <a:rPr dirty="0">
                <a:latin typeface="Arial"/>
                <a:cs typeface="Arial"/>
              </a:rPr>
              <a:t>code. </a:t>
            </a:r>
            <a:r>
              <a:rPr spc="-5" dirty="0">
                <a:latin typeface="Arial"/>
                <a:cs typeface="Arial"/>
              </a:rPr>
              <a:t>Strings </a:t>
            </a:r>
            <a:r>
              <a:rPr dirty="0">
                <a:latin typeface="Arial"/>
                <a:cs typeface="Arial"/>
              </a:rPr>
              <a:t>can </a:t>
            </a:r>
            <a:r>
              <a:rPr spc="-5" dirty="0">
                <a:latin typeface="Arial"/>
                <a:cs typeface="Arial"/>
              </a:rPr>
              <a:t>be  delimited by </a:t>
            </a:r>
            <a:r>
              <a:rPr dirty="0">
                <a:latin typeface="Arial"/>
                <a:cs typeface="Arial"/>
              </a:rPr>
              <a:t>" </a:t>
            </a:r>
            <a:r>
              <a:rPr spc="-5" dirty="0">
                <a:latin typeface="Arial"/>
                <a:cs typeface="Arial"/>
              </a:rPr>
              <a:t>", </a:t>
            </a:r>
            <a:r>
              <a:rPr dirty="0">
                <a:latin typeface="Arial"/>
                <a:cs typeface="Arial"/>
              </a:rPr>
              <a:t>' </a:t>
            </a:r>
            <a:r>
              <a:rPr spc="-5" dirty="0">
                <a:latin typeface="Arial"/>
                <a:cs typeface="Arial"/>
              </a:rPr>
              <a:t>', or </a:t>
            </a:r>
            <a:r>
              <a:rPr dirty="0">
                <a:latin typeface="Arial"/>
                <a:cs typeface="Arial"/>
              </a:rPr>
              <a:t>`</a:t>
            </a:r>
            <a:r>
              <a:rPr spc="-3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`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9518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For</a:t>
            </a:r>
            <a:r>
              <a:rPr spc="-95" dirty="0"/>
              <a:t> </a:t>
            </a:r>
            <a:r>
              <a:rPr spc="-5" dirty="0"/>
              <a:t>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373007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Old</a:t>
            </a:r>
            <a:r>
              <a:rPr sz="1800" u="heavy" spc="-1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 dirty="0">
              <a:latin typeface="Times New Roman"/>
              <a:cs typeface="Times New Roman"/>
            </a:endParaRPr>
          </a:p>
          <a:p>
            <a:r>
              <a:rPr lang="nn-NO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nn-NO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nn-NO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nn-NO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 </a:t>
            </a:r>
          </a:p>
          <a:p>
            <a:r>
              <a:rPr lang="nn-NO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nn-NO" sz="14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nn-NO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n-NO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 { </a:t>
            </a:r>
          </a:p>
          <a:p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sum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nn-NO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Iterator over an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array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05425" y="1216355"/>
            <a:ext cx="1002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New</a:t>
            </a:r>
            <a:r>
              <a:rPr sz="1800" u="heavy" spc="-8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Way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5424" y="1698448"/>
            <a:ext cx="3324175" cy="112466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85A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sum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05425" y="3384372"/>
            <a:ext cx="3827779" cy="512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1400" spc="-5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Iterate over arrays, strings, Map, Set, without using</a:t>
            </a:r>
            <a:r>
              <a:rPr sz="1400" spc="-15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indexes.</a:t>
            </a:r>
            <a:endParaRPr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CS142 Lecture Notes </a:t>
            </a:r>
            <a:r>
              <a:rPr dirty="0"/>
              <a:t>- JavaScript</a:t>
            </a:r>
            <a:r>
              <a:rPr spc="-85" dirty="0"/>
              <a:t> </a:t>
            </a:r>
            <a:r>
              <a:rPr spc="-5" dirty="0"/>
              <a:t>Basics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369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spc="-5" dirty="0"/>
              <a:t>additional</a:t>
            </a:r>
            <a:r>
              <a:rPr spc="-85" dirty="0"/>
              <a:t> </a:t>
            </a:r>
            <a:r>
              <a:rPr spc="-5" dirty="0"/>
              <a:t>extensions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4297045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Set,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  <a:hlinkClick r:id="rId2"/>
              </a:rPr>
              <a:t>Map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  <a:hlinkClick r:id="rId3"/>
              </a:rPr>
              <a:t>WeakSet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, WeakMap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objects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08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Defined interfaces for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common</a:t>
            </a:r>
            <a:r>
              <a:rPr sz="14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abstractions</a:t>
            </a:r>
            <a:endParaRPr sz="1400" dirty="0">
              <a:latin typeface="Arial"/>
              <a:cs typeface="Arial"/>
            </a:endParaRPr>
          </a:p>
          <a:p>
            <a:pPr marL="442595" indent="-430530">
              <a:lnSpc>
                <a:spcPct val="100000"/>
              </a:lnSpc>
              <a:spcBef>
                <a:spcPts val="855"/>
              </a:spcBef>
              <a:buChar char="●"/>
              <a:tabLst>
                <a:tab pos="442595" algn="l"/>
                <a:tab pos="443230" algn="l"/>
              </a:tabLst>
            </a:pPr>
            <a:r>
              <a:rPr sz="1800" spc="-5" dirty="0" err="1">
                <a:solidFill>
                  <a:srgbClr val="595959"/>
                </a:solidFill>
                <a:latin typeface="Arial"/>
                <a:cs typeface="Arial"/>
                <a:hlinkClick r:id="rId4"/>
              </a:rPr>
              <a:t>async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/await 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800" dirty="0">
              <a:latin typeface="Arial"/>
              <a:cs typeface="Arial"/>
            </a:endParaRPr>
          </a:p>
          <a:p>
            <a:pPr marL="885825" lvl="1" indent="-385445">
              <a:lnSpc>
                <a:spcPct val="100000"/>
              </a:lnSpc>
              <a:spcBef>
                <a:spcPts val="1080"/>
              </a:spcBef>
              <a:buChar char="○"/>
              <a:tabLst>
                <a:tab pos="885190" algn="l"/>
                <a:tab pos="885825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Asynchronous programming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help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6F6274-7E1E-4B31-A4C7-40D5943402B8}"/>
              </a:ext>
            </a:extLst>
          </p:cNvPr>
          <p:cNvSpPr txBox="1"/>
          <p:nvPr/>
        </p:nvSpPr>
        <p:spPr>
          <a:xfrm>
            <a:off x="2286000" y="-5367917"/>
            <a:ext cx="4572000" cy="1588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'use strict'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cs142MakeMultiFilter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global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bogood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originalArray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-g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parametreer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avdag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ym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cs142MakeMultiFilter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originalArray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originalArray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iin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utgiig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ruu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huulan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avna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originalArray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slice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//cs142MakeMultiFilter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arrayFilterer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butsaan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//callback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gesen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hoyr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parametereer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avdag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uuriiguu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butsaah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baina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arrayFilterer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iin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turul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baih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esehiig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shalgaad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baih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ym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bol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function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iin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buh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utgaar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orj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filter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hiine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'function'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filter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hiij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duussanii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daraa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duudagdna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'function'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originalArray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arrayFilterer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herev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filterCriteria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funtion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bish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bol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g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uuriig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ni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butsaadag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baina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   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};    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  </a:t>
            </a:r>
          </a:p>
        </p:txBody>
      </p:sp>
    </p:spTree>
    <p:extLst>
      <p:ext uri="{BB962C8B-B14F-4D97-AF65-F5344CB8AC3E}">
        <p14:creationId xmlns:p14="http://schemas.microsoft.com/office/powerpoint/2010/main" val="2754883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AD2E3D-A889-4052-825D-37DCEE583E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263BE3A-9D89-494F-81A6-043C62B209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9F51A8-CEAA-4DE0-946F-0B14895E67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1217</Words>
  <Application>Microsoft Office PowerPoint</Application>
  <PresentationFormat>On-screen Show (16:9)</PresentationFormat>
  <Paragraphs>210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Times New Roman</vt:lpstr>
      <vt:lpstr>Office Theme</vt:lpstr>
      <vt:lpstr>PowerPoint Presentation</vt:lpstr>
      <vt:lpstr>ECMAScript</vt:lpstr>
      <vt:lpstr>Lots of new features in ECMAScript</vt:lpstr>
      <vt:lpstr>Modules - Variables global to a file not system</vt:lpstr>
      <vt:lpstr>Default parameters - Parameters not specified</vt:lpstr>
      <vt:lpstr>Rest parameters ...</vt:lpstr>
      <vt:lpstr>Spread operator ...</vt:lpstr>
      <vt:lpstr>Destructuring assignment</vt:lpstr>
      <vt:lpstr>Template string literals</vt:lpstr>
      <vt:lpstr>For of</vt:lpstr>
      <vt:lpstr>Some additional extensions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DELL</cp:lastModifiedBy>
  <cp:revision>19</cp:revision>
  <dcterms:created xsi:type="dcterms:W3CDTF">2019-08-20T05:19:54Z</dcterms:created>
  <dcterms:modified xsi:type="dcterms:W3CDTF">2022-03-24T01:48:19Z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