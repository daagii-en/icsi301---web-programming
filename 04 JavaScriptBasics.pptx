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1" r:id="rId9"/>
    <p:sldId id="264" r:id="rId10"/>
    <p:sldId id="265" r:id="rId11"/>
    <p:sldId id="266" r:id="rId12"/>
    <p:sldId id="267" r:id="rId13"/>
    <p:sldId id="268" r:id="rId14"/>
    <p:sldId id="280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9144000" cy="5143500" type="screen16x9"/>
  <p:notesSz cx="9144000" cy="5143500"/>
  <p:defaultTextStyle>
    <a:defPPr>
      <a:defRPr lang="mn-M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8578" autoAdjust="0"/>
  </p:normalViewPr>
  <p:slideViewPr>
    <p:cSldViewPr>
      <p:cViewPr varScale="1">
        <p:scale>
          <a:sx n="137" d="100"/>
          <a:sy n="137" d="100"/>
        </p:scale>
        <p:origin x="837" y="6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mn-M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6376D-B469-49E5-9ACD-051BFC738D53}" type="datetimeFigureOut">
              <a:rPr lang="mn-MN" smtClean="0"/>
              <a:t>2021.09.28</a:t>
            </a:fld>
            <a:endParaRPr lang="mn-M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mn-M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n-M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mn-M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6078A4-067B-4217-B75C-638F78D89B96}" type="slidenum">
              <a:rPr lang="mn-MN" smtClean="0"/>
              <a:t>‹#›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4260850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Control_flow" TargetMode="External"/><Relationship Id="rId3" Type="http://schemas.openxmlformats.org/officeDocument/2006/relationships/hyperlink" Target="https://en.wikipedia.org/wiki/Function_(programming)" TargetMode="External"/><Relationship Id="rId7" Type="http://schemas.openxmlformats.org/officeDocument/2006/relationships/hyperlink" Target="https://en.wikipedia.org/wiki/Computation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State_(computer_science)" TargetMode="External"/><Relationship Id="rId5" Type="http://schemas.openxmlformats.org/officeDocument/2006/relationships/hyperlink" Target="https://en.wikipedia.org/wiki/Statement_(computer_science)" TargetMode="External"/><Relationship Id="rId10" Type="http://schemas.openxmlformats.org/officeDocument/2006/relationships/hyperlink" Target="https://en.wikipedia.org/wiki/Expression_(computer_science)" TargetMode="External"/><Relationship Id="rId4" Type="http://schemas.openxmlformats.org/officeDocument/2006/relationships/hyperlink" Target="https://en.wikipedia.org/wiki/First-class_citizen" TargetMode="External"/><Relationship Id="rId9" Type="http://schemas.openxmlformats.org/officeDocument/2006/relationships/hyperlink" Target="https://en.wikipedia.org/wiki/Declarative_programming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TR/REC-xml/#sec-cdata-sect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www.w3.org/TR/REC-xml/#dt-chardata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first-class functions</a:t>
            </a:r>
            <a:r>
              <a:rPr lang="en-US" dirty="0"/>
              <a:t> 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treats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Function (programming)"/>
              </a:rPr>
              <a:t>functions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as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First-class citizen"/>
              </a:rPr>
              <a:t>first-class citizens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passing functions as arguments to other functions, 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returning them as the values from other functions, 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assigning them to variables or storing them in data structures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Imperative</a:t>
            </a:r>
            <a:r>
              <a:rPr lang="en-US" b="0" baseline="0" dirty="0"/>
              <a:t>:</a:t>
            </a:r>
            <a:endParaRPr lang="en-US" baseline="0" dirty="0"/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Statement (computer science)"/>
              </a:rPr>
              <a:t>statements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change a program's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State (computer science)"/>
              </a:rPr>
              <a:t>state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focuses on describing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program operates (control flow)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vs. declarative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expresses the logic of a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Computation"/>
              </a:rPr>
              <a:t>computation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 describing its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Control flow"/>
              </a:rPr>
              <a:t>control flow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 programming:</a:t>
            </a:r>
          </a:p>
          <a:p>
            <a:pPr marL="171450" indent="-171450">
              <a:buFontTx/>
              <a:buChar char="-"/>
            </a:pP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 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Declarative programming"/>
              </a:rPr>
              <a:t>declarative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Declarative programming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Declarative programming"/>
              </a:rPr>
              <a:t>programming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paradigm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programming is done with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 tooltip="Expression (computer science)"/>
              </a:rPr>
              <a:t>expressions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or declarations instead of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statements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mn-M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6078A4-067B-4217-B75C-638F78D89B96}" type="slidenum">
              <a:rPr lang="mn-MN" smtClean="0"/>
              <a:t>2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605195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rush ~ </a:t>
            </a:r>
            <a:r>
              <a:rPr lang="mn-MN" baseline="0" dirty="0"/>
              <a:t>түргэн, шалмаг</a:t>
            </a:r>
          </a:p>
          <a:p>
            <a:r>
              <a:rPr lang="en-US" baseline="0" dirty="0"/>
              <a:t>ES5 (2009) </a:t>
            </a:r>
            <a:r>
              <a:rPr lang="en-US" baseline="0" dirty="0">
                <a:sym typeface="Wingdings" panose="05000000000000000000" pitchFamily="2" charset="2"/>
              </a:rPr>
              <a:t> strict mode – removes features, making programs simpler and less error-prone</a:t>
            </a:r>
          </a:p>
          <a:p>
            <a:r>
              <a:rPr lang="en-US" b="1" baseline="0" dirty="0">
                <a:latin typeface="Comic Sans MS" panose="030F0702030302020204" pitchFamily="66" charset="0"/>
                <a:sym typeface="Wingdings" panose="05000000000000000000" pitchFamily="2" charset="2"/>
              </a:rPr>
              <a:t>“use strict“;</a:t>
            </a:r>
            <a:r>
              <a:rPr lang="en-US" baseline="0" dirty="0">
                <a:sym typeface="Wingdings" panose="05000000000000000000" pitchFamily="2" charset="2"/>
              </a:rPr>
              <a:t> – is just string literal in code in older browser – is ordinary string -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Defines that JavaScript code should be executed in "strict mode".</a:t>
            </a:r>
            <a:endParaRPr lang="mn-M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6078A4-067B-4217-B75C-638F78D89B96}" type="slidenum">
              <a:rPr lang="mn-MN" smtClean="0"/>
              <a:t>3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56780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"use </a:t>
            </a:r>
            <a:r>
              <a:rPr lang="es-ES" dirty="0" err="1"/>
              <a:t>strict</a:t>
            </a:r>
            <a:r>
              <a:rPr lang="es-ES" dirty="0"/>
              <a:t>";</a:t>
            </a:r>
          </a:p>
          <a:p>
            <a:r>
              <a:rPr lang="es-ES" dirty="0" err="1"/>
              <a:t>var</a:t>
            </a:r>
            <a:r>
              <a:rPr lang="es-ES" dirty="0"/>
              <a:t> i;</a:t>
            </a:r>
            <a:r>
              <a:rPr lang="mn-MN" dirty="0"/>
              <a:t> //</a:t>
            </a:r>
            <a:r>
              <a:rPr lang="en-US" dirty="0"/>
              <a:t> works!</a:t>
            </a:r>
            <a:endParaRPr lang="es-ES" dirty="0"/>
          </a:p>
          <a:p>
            <a:r>
              <a:rPr lang="es-ES" dirty="0"/>
              <a:t>k = 0; // </a:t>
            </a:r>
            <a:r>
              <a:rPr lang="es-ES" dirty="0" err="1"/>
              <a:t>does</a:t>
            </a:r>
            <a:r>
              <a:rPr lang="es-ES" dirty="0"/>
              <a:t> 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works</a:t>
            </a:r>
            <a:r>
              <a:rPr lang="es-ES" dirty="0"/>
              <a:t>!</a:t>
            </a:r>
            <a:endParaRPr lang="mn-M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6078A4-067B-4217-B75C-638F78D89B96}" type="slidenum">
              <a:rPr lang="mn-MN" smtClean="0"/>
              <a:t>5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3884487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hoisted – </a:t>
            </a:r>
            <a:r>
              <a:rPr lang="mn-MN" dirty="0"/>
              <a:t>дээр</a:t>
            </a:r>
            <a:r>
              <a:rPr lang="mn-MN" baseline="0" dirty="0"/>
              <a:t> нь гарч зарлагдах</a:t>
            </a:r>
            <a:endParaRPr lang="mn-M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6078A4-067B-4217-B75C-638F78D89B96}" type="slidenum">
              <a:rPr lang="mn-MN" smtClean="0"/>
              <a:t>6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1430982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n-MN" dirty="0"/>
              <a:t>// Хэрэв </a:t>
            </a:r>
            <a:r>
              <a:rPr lang="es-ES" dirty="0" err="1"/>
              <a:t>var</a:t>
            </a:r>
            <a:r>
              <a:rPr lang="es-ES" dirty="0"/>
              <a:t> </a:t>
            </a:r>
            <a:r>
              <a:rPr lang="mn-MN" dirty="0"/>
              <a:t>түлхүүрээр хувьсагчийг энд зарлавал</a:t>
            </a:r>
          </a:p>
          <a:p>
            <a:r>
              <a:rPr lang="mn-MN" dirty="0"/>
              <a:t>// дээр хэрэглэсэн </a:t>
            </a:r>
            <a:r>
              <a:rPr lang="es-ES" dirty="0"/>
              <a:t>val </a:t>
            </a:r>
            <a:r>
              <a:rPr lang="mn-MN" dirty="0"/>
              <a:t>хувьсагч функцийг эхлэхэд</a:t>
            </a:r>
          </a:p>
          <a:p>
            <a:r>
              <a:rPr lang="mn-MN" dirty="0"/>
              <a:t>// тодорхойлогдож </a:t>
            </a:r>
            <a:r>
              <a:rPr lang="es-ES" dirty="0" err="1"/>
              <a:t>undefined</a:t>
            </a:r>
            <a:r>
              <a:rPr lang="es-ES" dirty="0"/>
              <a:t> </a:t>
            </a:r>
            <a:r>
              <a:rPr lang="mn-MN" dirty="0"/>
              <a:t>утгатай болно.</a:t>
            </a:r>
          </a:p>
          <a:p>
            <a:r>
              <a:rPr lang="mn-MN" dirty="0"/>
              <a:t>// өөрөөр хэлбэл энэ хувьсагч дээш өгсөж зарлагдана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6078A4-067B-4217-B75C-638F78D89B96}" type="slidenum">
              <a:rPr lang="mn-MN" smtClean="0"/>
              <a:t>7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2967212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// </a:t>
            </a:r>
            <a:r>
              <a:rPr lang="es-ES" dirty="0" err="1"/>
              <a:t>let</a:t>
            </a:r>
            <a:r>
              <a:rPr lang="es-ES" dirty="0"/>
              <a:t> val = '</a:t>
            </a:r>
            <a:r>
              <a:rPr lang="es-ES" dirty="0" err="1"/>
              <a:t>different</a:t>
            </a:r>
            <a:r>
              <a:rPr lang="es-ES" dirty="0"/>
              <a:t> </a:t>
            </a:r>
            <a:r>
              <a:rPr lang="es-ES" dirty="0" err="1"/>
              <a:t>string</a:t>
            </a:r>
            <a:r>
              <a:rPr lang="es-ES" dirty="0"/>
              <a:t>';</a:t>
            </a:r>
          </a:p>
          <a:p>
            <a:r>
              <a:rPr lang="es-ES" dirty="0"/>
              <a:t>// ES6 </a:t>
            </a:r>
            <a:r>
              <a:rPr lang="mn-MN" dirty="0"/>
              <a:t>дээр </a:t>
            </a:r>
            <a:r>
              <a:rPr lang="es-ES" dirty="0" err="1"/>
              <a:t>let</a:t>
            </a:r>
            <a:r>
              <a:rPr lang="es-ES" dirty="0"/>
              <a:t> </a:t>
            </a:r>
            <a:r>
              <a:rPr lang="mn-MN" dirty="0"/>
              <a:t>болон </a:t>
            </a:r>
            <a:r>
              <a:rPr lang="es-ES" dirty="0" err="1"/>
              <a:t>const</a:t>
            </a:r>
            <a:r>
              <a:rPr lang="es-ES" dirty="0"/>
              <a:t> </a:t>
            </a:r>
            <a:r>
              <a:rPr lang="mn-MN" dirty="0"/>
              <a:t>түлхүүрээр үйлчлэх хүрээг</a:t>
            </a:r>
          </a:p>
          <a:p>
            <a:r>
              <a:rPr lang="mn-MN" dirty="0"/>
              <a:t>// шууд хязгаарладаг болсон.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6078A4-067B-4217-B75C-638F78D89B96}" type="slidenum">
              <a:rPr lang="mn-MN" smtClean="0"/>
              <a:t>8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19564062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arguments[] – special array contains </a:t>
            </a:r>
            <a:r>
              <a:rPr lang="en-US"/>
              <a:t>functions arguments</a:t>
            </a:r>
            <a:endParaRPr lang="mn-M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6078A4-067B-4217-B75C-638F78D89B96}" type="slidenum">
              <a:rPr lang="mn-MN" smtClean="0"/>
              <a:t>13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1364752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 – global match -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find all matches rather than stopping after the first match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6078A4-067B-4217-B75C-638F78D89B96}" type="slidenum">
              <a:rPr lang="mn-MN" smtClean="0"/>
              <a:t>22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16237311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//&lt;![CDATA[      //]]&gt; </a:t>
            </a:r>
            <a:r>
              <a:rPr lang="en-US" b="0" i="0" u="sng" dirty="0">
                <a:solidFill>
                  <a:srgbClr val="232629"/>
                </a:solidFill>
                <a:effectLst/>
                <a:latin typeface="inherit"/>
                <a:hlinkClick r:id="rId3"/>
              </a:rPr>
              <a:t>CDATA</a:t>
            </a:r>
            <a:r>
              <a:rPr lang="en-US" b="0" i="0" dirty="0">
                <a:solidFill>
                  <a:srgbClr val="232629"/>
                </a:solidFill>
                <a:effectLst/>
                <a:latin typeface="inherit"/>
              </a:rPr>
              <a:t> stands for </a:t>
            </a:r>
            <a:r>
              <a:rPr lang="en-US" b="0" i="0" u="sng" dirty="0">
                <a:solidFill>
                  <a:srgbClr val="232629"/>
                </a:solidFill>
                <a:effectLst/>
                <a:latin typeface="inherit"/>
                <a:hlinkClick r:id="rId4"/>
              </a:rPr>
              <a:t>Character Data</a:t>
            </a:r>
            <a:r>
              <a:rPr lang="en-US" b="0" i="0" dirty="0">
                <a:solidFill>
                  <a:srgbClr val="232629"/>
                </a:solidFill>
                <a:effectLst/>
                <a:latin typeface="inherit"/>
              </a:rPr>
              <a:t> and it means that the data in between these strings includes data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6078A4-067B-4217-B75C-638F78D89B96}" type="slidenum">
              <a:rPr lang="mn-MN" smtClean="0"/>
              <a:t>25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3119119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53696" y="1881758"/>
            <a:ext cx="5236606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905425" y="1176350"/>
            <a:ext cx="3911600" cy="3454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3825"/>
            <a:ext cx="837454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176350"/>
            <a:ext cx="7926070" cy="1911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77050" y="4778075"/>
            <a:ext cx="2353310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68825" y="4778067"/>
            <a:ext cx="19240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53696" y="1881758"/>
            <a:ext cx="523303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dirty="0">
                <a:latin typeface="Arial"/>
                <a:cs typeface="Arial"/>
              </a:rPr>
              <a:t>JavaScript</a:t>
            </a:r>
            <a:r>
              <a:rPr sz="5200" spc="-100" dirty="0">
                <a:latin typeface="Arial"/>
                <a:cs typeface="Arial"/>
              </a:rPr>
              <a:t> </a:t>
            </a:r>
            <a:r>
              <a:rPr sz="5200" spc="-10" dirty="0">
                <a:latin typeface="Arial"/>
                <a:cs typeface="Arial"/>
              </a:rPr>
              <a:t>Basics</a:t>
            </a:r>
            <a:endParaRPr sz="5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27637" y="2892926"/>
            <a:ext cx="3088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595959"/>
                </a:solidFill>
                <a:latin typeface="Arial"/>
                <a:cs typeface="Arial"/>
              </a:rPr>
              <a:t>Mendel</a:t>
            </a:r>
            <a:r>
              <a:rPr sz="2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595959"/>
                </a:solidFill>
                <a:latin typeface="Arial"/>
                <a:cs typeface="Arial"/>
              </a:rPr>
              <a:t>Rosenblum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1648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What is</a:t>
            </a:r>
            <a:r>
              <a:rPr spc="-95" dirty="0"/>
              <a:t> </a:t>
            </a:r>
            <a:r>
              <a:rPr dirty="0"/>
              <a:t>JavaScript?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194675" cy="34009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Wikipedia: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...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high-level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,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dynamic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,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untyped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, and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interpreted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programming</a:t>
            </a:r>
            <a:r>
              <a:rPr sz="1800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language</a:t>
            </a:r>
            <a:endParaRPr sz="18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59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... is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prototype-based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with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first-class functions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,</a:t>
            </a:r>
            <a:r>
              <a:rPr sz="1800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…</a:t>
            </a:r>
            <a:endParaRPr sz="18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59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...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supporting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object-oriented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,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imperative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, and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functional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 programming</a:t>
            </a:r>
            <a:endParaRPr sz="18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59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... has an API for working with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text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,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arrays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,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dates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regular</a:t>
            </a:r>
            <a:r>
              <a:rPr sz="1800" b="1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expressions</a:t>
            </a:r>
            <a:endParaRPr sz="1800" dirty="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1590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Not particularly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similar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Java: More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like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 crossed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8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Self/Scheme</a:t>
            </a:r>
            <a:endParaRPr sz="1800" dirty="0">
              <a:latin typeface="Arial"/>
              <a:cs typeface="Arial"/>
            </a:endParaRPr>
          </a:p>
          <a:p>
            <a:pPr marL="13843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1383665" algn="l"/>
                <a:tab pos="13843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C-like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statements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with everything objects,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closures,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garbage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collection,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400" dirty="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85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Also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known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ECMAScript</a:t>
            </a:r>
            <a:r>
              <a:rPr lang="en-US" sz="1800" spc="-5" dirty="0">
                <a:solidFill>
                  <a:srgbClr val="595959"/>
                </a:solidFill>
                <a:latin typeface="Arial"/>
                <a:cs typeface="Arial"/>
              </a:rPr>
              <a:t> (short ES)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1562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Some </a:t>
            </a:r>
            <a:r>
              <a:rPr spc="-5" dirty="0"/>
              <a:t>thoughts about</a:t>
            </a:r>
            <a:r>
              <a:rPr spc="-90" dirty="0"/>
              <a:t> </a:t>
            </a:r>
            <a:r>
              <a:rPr dirty="0"/>
              <a:t>JavaScript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8042909" cy="3345179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lr>
                <a:srgbClr val="595959"/>
              </a:buClr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434343"/>
                </a:solidFill>
                <a:latin typeface="Arial"/>
                <a:cs typeface="Arial"/>
              </a:rPr>
              <a:t>Example of </a:t>
            </a:r>
            <a:r>
              <a:rPr sz="1800" dirty="0">
                <a:solidFill>
                  <a:srgbClr val="434343"/>
                </a:solidFill>
                <a:latin typeface="Arial"/>
                <a:cs typeface="Arial"/>
              </a:rPr>
              <a:t>a </a:t>
            </a:r>
            <a:r>
              <a:rPr sz="1800" b="1" spc="-5" dirty="0">
                <a:solidFill>
                  <a:srgbClr val="434343"/>
                </a:solidFill>
                <a:latin typeface="Arial"/>
                <a:cs typeface="Arial"/>
              </a:rPr>
              <a:t>scripting</a:t>
            </a:r>
            <a:r>
              <a:rPr sz="1800" b="1" spc="1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434343"/>
                </a:solidFill>
                <a:latin typeface="Arial"/>
                <a:cs typeface="Arial"/>
              </a:rPr>
              <a:t>language</a:t>
            </a:r>
            <a:endParaRPr sz="1800" dirty="0">
              <a:latin typeface="Arial"/>
              <a:cs typeface="Arial"/>
            </a:endParaRPr>
          </a:p>
          <a:p>
            <a:pPr marL="1293495" lvl="1" indent="-336550">
              <a:lnSpc>
                <a:spcPct val="100000"/>
              </a:lnSpc>
              <a:spcBef>
                <a:spcPts val="330"/>
              </a:spcBef>
              <a:buClr>
                <a:srgbClr val="595959"/>
              </a:buClr>
              <a:buChar char="○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434343"/>
                </a:solidFill>
                <a:latin typeface="Arial"/>
                <a:cs typeface="Arial"/>
              </a:rPr>
              <a:t>Interpreted, less declaring of things, just use</a:t>
            </a:r>
            <a:r>
              <a:rPr sz="1400" spc="-1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34343"/>
                </a:solidFill>
                <a:latin typeface="Arial"/>
                <a:cs typeface="Arial"/>
              </a:rPr>
              <a:t>them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lr>
                <a:srgbClr val="595959"/>
              </a:buClr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434343"/>
                </a:solidFill>
                <a:latin typeface="Arial"/>
                <a:cs typeface="Arial"/>
              </a:rPr>
              <a:t>Seems like it was designed in </a:t>
            </a:r>
            <a:r>
              <a:rPr sz="1800" dirty="0">
                <a:solidFill>
                  <a:srgbClr val="434343"/>
                </a:solidFill>
                <a:latin typeface="Arial"/>
                <a:cs typeface="Arial"/>
              </a:rPr>
              <a:t>a</a:t>
            </a:r>
            <a:r>
              <a:rPr sz="1800" spc="-2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34343"/>
                </a:solidFill>
                <a:latin typeface="Arial"/>
                <a:cs typeface="Arial"/>
              </a:rPr>
              <a:t>rush</a:t>
            </a:r>
            <a:endParaRPr sz="1800" dirty="0">
              <a:latin typeface="Arial"/>
              <a:cs typeface="Arial"/>
            </a:endParaRPr>
          </a:p>
          <a:p>
            <a:pPr marL="1293495" lvl="1" indent="-336550">
              <a:lnSpc>
                <a:spcPct val="100000"/>
              </a:lnSpc>
              <a:spcBef>
                <a:spcPts val="330"/>
              </a:spcBef>
              <a:buClr>
                <a:srgbClr val="595959"/>
              </a:buClr>
              <a:buChar char="○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434343"/>
                </a:solidFill>
                <a:latin typeface="Arial"/>
                <a:cs typeface="Arial"/>
              </a:rPr>
              <a:t>Some </a:t>
            </a:r>
            <a:r>
              <a:rPr sz="1400" dirty="0">
                <a:solidFill>
                  <a:srgbClr val="434343"/>
                </a:solidFill>
                <a:latin typeface="Arial"/>
                <a:cs typeface="Arial"/>
              </a:rPr>
              <a:t>“Good </a:t>
            </a:r>
            <a:r>
              <a:rPr sz="1400" spc="-5" dirty="0">
                <a:solidFill>
                  <a:srgbClr val="434343"/>
                </a:solidFill>
                <a:latin typeface="Arial"/>
                <a:cs typeface="Arial"/>
              </a:rPr>
              <a:t>Parts”, </a:t>
            </a:r>
            <a:r>
              <a:rPr sz="1400" dirty="0">
                <a:solidFill>
                  <a:srgbClr val="434343"/>
                </a:solidFill>
                <a:latin typeface="Arial"/>
                <a:cs typeface="Arial"/>
              </a:rPr>
              <a:t>some </a:t>
            </a:r>
            <a:r>
              <a:rPr sz="1400" spc="-5" dirty="0">
                <a:solidFill>
                  <a:srgbClr val="434343"/>
                </a:solidFill>
                <a:latin typeface="Arial"/>
                <a:cs typeface="Arial"/>
              </a:rPr>
              <a:t>not </a:t>
            </a:r>
            <a:r>
              <a:rPr sz="1400" dirty="0">
                <a:solidFill>
                  <a:srgbClr val="434343"/>
                </a:solidFill>
                <a:latin typeface="Arial"/>
                <a:cs typeface="Arial"/>
              </a:rPr>
              <a:t>so</a:t>
            </a:r>
            <a:r>
              <a:rPr sz="1400" spc="-2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34343"/>
                </a:solidFill>
                <a:latin typeface="Arial"/>
                <a:cs typeface="Arial"/>
              </a:rPr>
              <a:t>good</a:t>
            </a:r>
            <a:endParaRPr sz="1400" dirty="0">
              <a:latin typeface="Arial"/>
              <a:cs typeface="Arial"/>
            </a:endParaRPr>
          </a:p>
          <a:p>
            <a:pPr marL="1293495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434343"/>
                </a:solidFill>
                <a:latin typeface="Arial"/>
                <a:cs typeface="Arial"/>
              </a:rPr>
              <a:t>Got bad</a:t>
            </a:r>
            <a:r>
              <a:rPr sz="1400" spc="-1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34343"/>
                </a:solidFill>
                <a:latin typeface="Arial"/>
                <a:cs typeface="Arial"/>
              </a:rPr>
              <a:t>reputation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lr>
                <a:srgbClr val="595959"/>
              </a:buClr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434343"/>
                </a:solidFill>
                <a:latin typeface="Arial"/>
                <a:cs typeface="Arial"/>
              </a:rPr>
              <a:t>Many </a:t>
            </a:r>
            <a:r>
              <a:rPr sz="1800" spc="-5" dirty="0">
                <a:solidFill>
                  <a:srgbClr val="434343"/>
                </a:solidFill>
                <a:latin typeface="Arial"/>
                <a:cs typeface="Arial"/>
              </a:rPr>
              <a:t>programmers use </a:t>
            </a:r>
            <a:r>
              <a:rPr sz="1800" dirty="0">
                <a:solidFill>
                  <a:srgbClr val="434343"/>
                </a:solidFill>
                <a:latin typeface="Arial"/>
                <a:cs typeface="Arial"/>
              </a:rPr>
              <a:t>a subset </a:t>
            </a:r>
            <a:r>
              <a:rPr sz="1800" spc="-5" dirty="0">
                <a:solidFill>
                  <a:srgbClr val="434343"/>
                </a:solidFill>
                <a:latin typeface="Arial"/>
                <a:cs typeface="Arial"/>
              </a:rPr>
              <a:t>that avoids </a:t>
            </a:r>
            <a:r>
              <a:rPr sz="1800" dirty="0">
                <a:solidFill>
                  <a:srgbClr val="434343"/>
                </a:solidFill>
                <a:latin typeface="Arial"/>
                <a:cs typeface="Arial"/>
              </a:rPr>
              <a:t>some common</a:t>
            </a:r>
            <a:r>
              <a:rPr sz="1800" spc="-6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"/>
                <a:cs typeface="Arial"/>
              </a:rPr>
              <a:t>problems</a:t>
            </a:r>
            <a:endParaRPr sz="1800" dirty="0">
              <a:latin typeface="Arial"/>
              <a:cs typeface="Arial"/>
            </a:endParaRPr>
          </a:p>
          <a:p>
            <a:pPr marL="836294" indent="-336550">
              <a:lnSpc>
                <a:spcPct val="100000"/>
              </a:lnSpc>
              <a:spcBef>
                <a:spcPts val="330"/>
              </a:spcBef>
              <a:buClr>
                <a:srgbClr val="595959"/>
              </a:buClr>
              <a:buFont typeface="Arial"/>
              <a:buChar char="●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A86E7"/>
                </a:solidFill>
                <a:latin typeface="Consolas"/>
                <a:cs typeface="Consolas"/>
              </a:rPr>
              <a:t>"use strict"; </a:t>
            </a:r>
            <a:r>
              <a:rPr sz="1400" spc="-5" dirty="0">
                <a:latin typeface="Arial"/>
                <a:cs typeface="Arial"/>
              </a:rPr>
              <a:t>tweaks language to avoid </a:t>
            </a:r>
            <a:r>
              <a:rPr sz="1400" dirty="0">
                <a:latin typeface="Arial"/>
                <a:cs typeface="Arial"/>
              </a:rPr>
              <a:t>some </a:t>
            </a:r>
            <a:r>
              <a:rPr sz="1400" spc="-5" dirty="0">
                <a:latin typeface="Arial"/>
                <a:cs typeface="Arial"/>
              </a:rPr>
              <a:t>problematic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parts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lr>
                <a:srgbClr val="595959"/>
              </a:buClr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Arial"/>
                <a:cs typeface="Arial"/>
              </a:rPr>
              <a:t>Language being extended to enhance things: New ECMAScript every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year!</a:t>
            </a:r>
          </a:p>
          <a:p>
            <a:pPr marL="1293495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1293495" algn="l"/>
                <a:tab pos="1294130" algn="l"/>
              </a:tabLst>
            </a:pPr>
            <a:r>
              <a:rPr sz="1400" spc="-5" dirty="0">
                <a:latin typeface="Arial"/>
                <a:cs typeface="Arial"/>
              </a:rPr>
              <a:t>Transpiling </a:t>
            </a:r>
            <a:r>
              <a:rPr sz="1400" dirty="0">
                <a:latin typeface="Arial"/>
                <a:cs typeface="Arial"/>
              </a:rPr>
              <a:t>common so </a:t>
            </a:r>
            <a:r>
              <a:rPr sz="1400" spc="-5" dirty="0">
                <a:latin typeface="Arial"/>
                <a:cs typeface="Arial"/>
              </a:rPr>
              <a:t>new features used: e.g ECMAScript Version N,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TypeScript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Arial"/>
                <a:cs typeface="Arial"/>
              </a:rPr>
              <a:t>Code quality </a:t>
            </a:r>
            <a:r>
              <a:rPr sz="1800" dirty="0">
                <a:latin typeface="Arial"/>
                <a:cs typeface="Arial"/>
              </a:rPr>
              <a:t>checkers (e.g. </a:t>
            </a:r>
            <a:r>
              <a:rPr sz="1800" spc="-5" dirty="0">
                <a:latin typeface="Consolas"/>
                <a:cs typeface="Consolas"/>
              </a:rPr>
              <a:t>jslint</a:t>
            </a:r>
            <a:r>
              <a:rPr sz="1800" spc="-5" dirty="0">
                <a:latin typeface="Arial"/>
                <a:cs typeface="Arial"/>
              </a:rPr>
              <a:t>, </a:t>
            </a:r>
            <a:r>
              <a:rPr sz="1800" spc="-5" dirty="0">
                <a:latin typeface="Consolas"/>
                <a:cs typeface="Consolas"/>
              </a:rPr>
              <a:t>jshint, </a:t>
            </a:r>
            <a:r>
              <a:rPr sz="1800" dirty="0">
                <a:latin typeface="Consolas"/>
                <a:cs typeface="Consolas"/>
              </a:rPr>
              <a:t>eslint</a:t>
            </a:r>
            <a:r>
              <a:rPr sz="1800" dirty="0">
                <a:latin typeface="Arial"/>
                <a:cs typeface="Arial"/>
              </a:rPr>
              <a:t>) </a:t>
            </a:r>
            <a:r>
              <a:rPr sz="1800" spc="-5" dirty="0">
                <a:latin typeface="Arial"/>
                <a:cs typeface="Arial"/>
              </a:rPr>
              <a:t>widely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used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16775" y="1860000"/>
            <a:ext cx="3701524" cy="932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50950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Good news if </a:t>
            </a:r>
            <a:r>
              <a:rPr dirty="0"/>
              <a:t>you know C - JavaScript </a:t>
            </a:r>
            <a:r>
              <a:rPr spc="-5" dirty="0"/>
              <a:t>is</a:t>
            </a:r>
            <a:r>
              <a:rPr spc="-114" dirty="0"/>
              <a:t> </a:t>
            </a:r>
            <a:r>
              <a:rPr dirty="0"/>
              <a:t>similar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32867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nn-NO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nn-NO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nn-NO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nn-NO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4724" y="2205051"/>
            <a:ext cx="3577676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nn-NO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nn-NO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sum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n-NO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comment</a:t>
            </a:r>
            <a:endParaRPr lang="nn-NO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--;</a:t>
            </a:r>
          </a:p>
          <a:p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4725" y="3702380"/>
            <a:ext cx="3411220" cy="1128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  {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this is a comment */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sz="half" idx="3"/>
          </p:nvPr>
        </p:nvSpPr>
        <p:spPr>
          <a:xfrm>
            <a:off x="4905425" y="1176350"/>
            <a:ext cx="3911600" cy="3377206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foobar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.02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kern="1200" spc="-5" dirty="0">
                <a:solidFill>
                  <a:srgbClr val="434343"/>
                </a:solidFill>
                <a:latin typeface="Arial"/>
                <a:cs typeface="Arial"/>
              </a:rPr>
              <a:t>Most C operators work: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/ % + - ! &gt;= &lt;= &gt; &lt; &amp;&amp; || ?:</a:t>
            </a:r>
          </a:p>
          <a:p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foobar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;}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continue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break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56650" y="1190949"/>
            <a:ext cx="34925" cy="3383279"/>
          </a:xfrm>
          <a:custGeom>
            <a:avLst/>
            <a:gdLst/>
            <a:ahLst/>
            <a:cxnLst/>
            <a:rect l="l" t="t" r="r" b="b"/>
            <a:pathLst>
              <a:path w="34925" h="3383279">
                <a:moveTo>
                  <a:pt x="0" y="0"/>
                </a:moveTo>
                <a:lnTo>
                  <a:pt x="34499" y="33830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9447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JavaScript </a:t>
            </a:r>
            <a:r>
              <a:rPr spc="-5" dirty="0"/>
              <a:t>has </a:t>
            </a:r>
            <a:r>
              <a:rPr b="1" spc="-5" dirty="0">
                <a:latin typeface="Arial"/>
                <a:cs typeface="Arial"/>
              </a:rPr>
              <a:t>dynamic</a:t>
            </a:r>
            <a:r>
              <a:rPr b="1" spc="-75" dirty="0">
                <a:latin typeface="Arial"/>
                <a:cs typeface="Arial"/>
              </a:rPr>
              <a:t> </a:t>
            </a:r>
            <a:r>
              <a:rPr spc="-5" dirty="0"/>
              <a:t>typing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319770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Need to define variable ('use strict';), note: </a:t>
            </a:r>
            <a:r>
              <a:rPr lang="en-US" b="1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untyped</a:t>
            </a:r>
            <a:endParaRPr lang="en-US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'undefined'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It does have a type of ‘undefined’</a:t>
            </a:r>
          </a:p>
          <a:p>
            <a:endParaRPr lang="en-US" b="0" dirty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//now: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32 == 'number‘</a:t>
            </a:r>
          </a:p>
          <a:p>
            <a:endParaRPr lang="en-US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foobar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//now: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'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foobar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 == 'string‘</a:t>
            </a:r>
          </a:p>
          <a:p>
            <a:endParaRPr lang="en-US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now: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== '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5249" y="3943350"/>
            <a:ext cx="7678151" cy="7335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Variables have the type of the last thing assigned to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it</a:t>
            </a:r>
            <a:endParaRPr sz="18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Primitive types: undefined, number,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string,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boolean,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function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,</a:t>
            </a:r>
            <a:r>
              <a:rPr sz="18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object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64226"/>
            <a:ext cx="62045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Variable </a:t>
            </a:r>
            <a:r>
              <a:rPr dirty="0"/>
              <a:t>scoping: </a:t>
            </a:r>
            <a:r>
              <a:rPr spc="-5" dirty="0"/>
              <a:t>Lexical/static</a:t>
            </a:r>
            <a:r>
              <a:rPr spc="-90" dirty="0"/>
              <a:t> </a:t>
            </a:r>
            <a:r>
              <a:rPr dirty="0"/>
              <a:t>scoping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386842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Two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scopes: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Global and function</a:t>
            </a:r>
            <a:r>
              <a:rPr sz="18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local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6139" y="1614849"/>
            <a:ext cx="3327661" cy="201529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globalVar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localVar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globalVar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s-ES" sz="16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localVar2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6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s-E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localVar2 </a:t>
            </a:r>
            <a:r>
              <a:rPr lang="es-E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s-E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valid</a:t>
            </a:r>
            <a:r>
              <a:rPr lang="es-E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here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905425" y="1176350"/>
            <a:ext cx="3665220" cy="6228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All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var</a:t>
            </a:r>
            <a:r>
              <a:rPr sz="1800" spc="-54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statements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hoisted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top of 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scope: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39487" y="3999896"/>
            <a:ext cx="3119452" cy="576696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85725" marR="114300">
              <a:lnSpc>
                <a:spcPct val="101600"/>
              </a:lnSpc>
              <a:spcBef>
                <a:spcPts val="580"/>
              </a:spcBef>
            </a:pPr>
            <a:r>
              <a:rPr sz="1600" b="1" spc="-5" dirty="0">
                <a:solidFill>
                  <a:srgbClr val="595959"/>
                </a:solidFill>
                <a:latin typeface="Consolas"/>
                <a:cs typeface="Consolas"/>
              </a:rPr>
              <a:t>localVar2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is hoisted </a:t>
            </a:r>
            <a:r>
              <a:rPr lang="en-US" sz="1600" spc="-5" dirty="0">
                <a:solidFill>
                  <a:srgbClr val="595959"/>
                </a:solidFill>
                <a:latin typeface="Consolas"/>
                <a:cs typeface="Consolas"/>
              </a:rPr>
              <a:t>h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ere but has value</a:t>
            </a:r>
            <a:r>
              <a:rPr sz="1600" spc="-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undefined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164099" y="2190750"/>
            <a:ext cx="3150235" cy="2097494"/>
          </a:xfrm>
          <a:custGeom>
            <a:avLst/>
            <a:gdLst/>
            <a:ahLst/>
            <a:cxnLst/>
            <a:rect l="l" t="t" r="r" b="b"/>
            <a:pathLst>
              <a:path w="4373245" h="1895475">
                <a:moveTo>
                  <a:pt x="4372651" y="1894969"/>
                </a:moveTo>
                <a:lnTo>
                  <a:pt x="4306864" y="1894404"/>
                </a:lnTo>
                <a:lnTo>
                  <a:pt x="4242379" y="1892724"/>
                </a:lnTo>
                <a:lnTo>
                  <a:pt x="4179171" y="1889953"/>
                </a:lnTo>
                <a:lnTo>
                  <a:pt x="4117211" y="1886113"/>
                </a:lnTo>
                <a:lnTo>
                  <a:pt x="4056474" y="1881227"/>
                </a:lnTo>
                <a:lnTo>
                  <a:pt x="3996933" y="1875317"/>
                </a:lnTo>
                <a:lnTo>
                  <a:pt x="3938562" y="1868407"/>
                </a:lnTo>
                <a:lnTo>
                  <a:pt x="3881333" y="1860518"/>
                </a:lnTo>
                <a:lnTo>
                  <a:pt x="3825221" y="1851674"/>
                </a:lnTo>
                <a:lnTo>
                  <a:pt x="3770198" y="1841897"/>
                </a:lnTo>
                <a:lnTo>
                  <a:pt x="3716239" y="1831211"/>
                </a:lnTo>
                <a:lnTo>
                  <a:pt x="3663316" y="1819638"/>
                </a:lnTo>
                <a:lnTo>
                  <a:pt x="3611403" y="1807200"/>
                </a:lnTo>
                <a:lnTo>
                  <a:pt x="3560474" y="1793921"/>
                </a:lnTo>
                <a:lnTo>
                  <a:pt x="3510501" y="1779823"/>
                </a:lnTo>
                <a:lnTo>
                  <a:pt x="3461459" y="1764929"/>
                </a:lnTo>
                <a:lnTo>
                  <a:pt x="3413320" y="1749262"/>
                </a:lnTo>
                <a:lnTo>
                  <a:pt x="3366059" y="1732844"/>
                </a:lnTo>
                <a:lnTo>
                  <a:pt x="3319648" y="1715698"/>
                </a:lnTo>
                <a:lnTo>
                  <a:pt x="3274061" y="1697847"/>
                </a:lnTo>
                <a:lnTo>
                  <a:pt x="3229271" y="1679314"/>
                </a:lnTo>
                <a:lnTo>
                  <a:pt x="3185252" y="1660121"/>
                </a:lnTo>
                <a:lnTo>
                  <a:pt x="3141977" y="1640291"/>
                </a:lnTo>
                <a:lnTo>
                  <a:pt x="3099420" y="1619848"/>
                </a:lnTo>
                <a:lnTo>
                  <a:pt x="3057554" y="1598812"/>
                </a:lnTo>
                <a:lnTo>
                  <a:pt x="3016353" y="1577209"/>
                </a:lnTo>
                <a:lnTo>
                  <a:pt x="2975789" y="1555059"/>
                </a:lnTo>
                <a:lnTo>
                  <a:pt x="2935836" y="1532386"/>
                </a:lnTo>
                <a:lnTo>
                  <a:pt x="2896469" y="1509213"/>
                </a:lnTo>
                <a:lnTo>
                  <a:pt x="2857659" y="1485562"/>
                </a:lnTo>
                <a:lnTo>
                  <a:pt x="2819381" y="1461457"/>
                </a:lnTo>
                <a:lnTo>
                  <a:pt x="2781609" y="1436919"/>
                </a:lnTo>
                <a:lnTo>
                  <a:pt x="2744314" y="1411971"/>
                </a:lnTo>
                <a:lnTo>
                  <a:pt x="2707471" y="1386638"/>
                </a:lnTo>
                <a:lnTo>
                  <a:pt x="2671054" y="1360940"/>
                </a:lnTo>
                <a:lnTo>
                  <a:pt x="2635035" y="1334901"/>
                </a:lnTo>
                <a:lnTo>
                  <a:pt x="2599389" y="1308543"/>
                </a:lnTo>
                <a:lnTo>
                  <a:pt x="2564088" y="1281890"/>
                </a:lnTo>
                <a:lnTo>
                  <a:pt x="2529106" y="1254964"/>
                </a:lnTo>
                <a:lnTo>
                  <a:pt x="2494416" y="1227788"/>
                </a:lnTo>
                <a:lnTo>
                  <a:pt x="2459992" y="1200384"/>
                </a:lnTo>
                <a:lnTo>
                  <a:pt x="2425807" y="1172776"/>
                </a:lnTo>
                <a:lnTo>
                  <a:pt x="2391835" y="1144985"/>
                </a:lnTo>
                <a:lnTo>
                  <a:pt x="2358049" y="1117036"/>
                </a:lnTo>
                <a:lnTo>
                  <a:pt x="2324422" y="1088950"/>
                </a:lnTo>
                <a:lnTo>
                  <a:pt x="2290928" y="1060750"/>
                </a:lnTo>
                <a:lnTo>
                  <a:pt x="2257541" y="1032459"/>
                </a:lnTo>
                <a:lnTo>
                  <a:pt x="2224233" y="1004100"/>
                </a:lnTo>
                <a:lnTo>
                  <a:pt x="2190979" y="975696"/>
                </a:lnTo>
                <a:lnTo>
                  <a:pt x="2157751" y="947269"/>
                </a:lnTo>
                <a:lnTo>
                  <a:pt x="2119991" y="914966"/>
                </a:lnTo>
                <a:lnTo>
                  <a:pt x="2082191" y="882697"/>
                </a:lnTo>
                <a:lnTo>
                  <a:pt x="2044314" y="850495"/>
                </a:lnTo>
                <a:lnTo>
                  <a:pt x="2006319" y="818393"/>
                </a:lnTo>
                <a:lnTo>
                  <a:pt x="1968169" y="786424"/>
                </a:lnTo>
                <a:lnTo>
                  <a:pt x="1929823" y="754622"/>
                </a:lnTo>
                <a:lnTo>
                  <a:pt x="1891244" y="723021"/>
                </a:lnTo>
                <a:lnTo>
                  <a:pt x="1852391" y="691653"/>
                </a:lnTo>
                <a:lnTo>
                  <a:pt x="1813226" y="660552"/>
                </a:lnTo>
                <a:lnTo>
                  <a:pt x="1773711" y="629752"/>
                </a:lnTo>
                <a:lnTo>
                  <a:pt x="1733805" y="599285"/>
                </a:lnTo>
                <a:lnTo>
                  <a:pt x="1693471" y="569185"/>
                </a:lnTo>
                <a:lnTo>
                  <a:pt x="1652668" y="539486"/>
                </a:lnTo>
                <a:lnTo>
                  <a:pt x="1611358" y="510221"/>
                </a:lnTo>
                <a:lnTo>
                  <a:pt x="1569503" y="481423"/>
                </a:lnTo>
                <a:lnTo>
                  <a:pt x="1527062" y="453126"/>
                </a:lnTo>
                <a:lnTo>
                  <a:pt x="1483997" y="425363"/>
                </a:lnTo>
                <a:lnTo>
                  <a:pt x="1440269" y="398167"/>
                </a:lnTo>
                <a:lnTo>
                  <a:pt x="1395840" y="371572"/>
                </a:lnTo>
                <a:lnTo>
                  <a:pt x="1350669" y="345611"/>
                </a:lnTo>
                <a:lnTo>
                  <a:pt x="1304718" y="320317"/>
                </a:lnTo>
                <a:lnTo>
                  <a:pt x="1257948" y="295725"/>
                </a:lnTo>
                <a:lnTo>
                  <a:pt x="1214323" y="273826"/>
                </a:lnTo>
                <a:lnTo>
                  <a:pt x="1169946" y="252570"/>
                </a:lnTo>
                <a:lnTo>
                  <a:pt x="1124789" y="231982"/>
                </a:lnTo>
                <a:lnTo>
                  <a:pt x="1078820" y="212088"/>
                </a:lnTo>
                <a:lnTo>
                  <a:pt x="1032011" y="192914"/>
                </a:lnTo>
                <a:lnTo>
                  <a:pt x="984330" y="174486"/>
                </a:lnTo>
                <a:lnTo>
                  <a:pt x="935748" y="156829"/>
                </a:lnTo>
                <a:lnTo>
                  <a:pt x="886234" y="139969"/>
                </a:lnTo>
                <a:lnTo>
                  <a:pt x="835760" y="123931"/>
                </a:lnTo>
                <a:lnTo>
                  <a:pt x="784293" y="108742"/>
                </a:lnTo>
                <a:lnTo>
                  <a:pt x="731806" y="94427"/>
                </a:lnTo>
                <a:lnTo>
                  <a:pt x="678267" y="81012"/>
                </a:lnTo>
                <a:lnTo>
                  <a:pt x="631517" y="70248"/>
                </a:lnTo>
                <a:lnTo>
                  <a:pt x="583953" y="60181"/>
                </a:lnTo>
                <a:lnTo>
                  <a:pt x="535557" y="50827"/>
                </a:lnTo>
                <a:lnTo>
                  <a:pt x="486310" y="42200"/>
                </a:lnTo>
                <a:lnTo>
                  <a:pt x="436192" y="34319"/>
                </a:lnTo>
                <a:lnTo>
                  <a:pt x="385185" y="27198"/>
                </a:lnTo>
                <a:lnTo>
                  <a:pt x="333270" y="20855"/>
                </a:lnTo>
                <a:lnTo>
                  <a:pt x="287085" y="15955"/>
                </a:lnTo>
                <a:lnTo>
                  <a:pt x="240177" y="11672"/>
                </a:lnTo>
                <a:lnTo>
                  <a:pt x="192535" y="8019"/>
                </a:lnTo>
                <a:lnTo>
                  <a:pt x="144144" y="5006"/>
                </a:lnTo>
                <a:lnTo>
                  <a:pt x="94993" y="2643"/>
                </a:lnTo>
                <a:lnTo>
                  <a:pt x="45069" y="942"/>
                </a:lnTo>
                <a:lnTo>
                  <a:pt x="7111" y="107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  <a:tailEnd type="triangle" w="sm" len="lg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164099" y="2496048"/>
            <a:ext cx="43815" cy="31750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43105" y="31464"/>
                </a:moveTo>
                <a:lnTo>
                  <a:pt x="0" y="15406"/>
                </a:lnTo>
                <a:lnTo>
                  <a:pt x="43342" y="0"/>
                </a:lnTo>
                <a:lnTo>
                  <a:pt x="43105" y="31464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64099" y="2496048"/>
            <a:ext cx="43815" cy="31750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43342" y="0"/>
                </a:moveTo>
                <a:lnTo>
                  <a:pt x="0" y="15406"/>
                </a:lnTo>
                <a:lnTo>
                  <a:pt x="43105" y="31464"/>
                </a:lnTo>
                <a:lnTo>
                  <a:pt x="43342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4905425" y="1857416"/>
            <a:ext cx="366522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Same as: 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1851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Var </a:t>
            </a:r>
            <a:r>
              <a:rPr dirty="0"/>
              <a:t>scope</a:t>
            </a:r>
            <a:r>
              <a:rPr spc="-90" dirty="0"/>
              <a:t> </a:t>
            </a:r>
            <a:r>
              <a:rPr spc="-5"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081100"/>
            <a:ext cx="8185150" cy="3489801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16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Global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variables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are bad in browsers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Easy to get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conflicts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between</a:t>
            </a:r>
            <a:r>
              <a:rPr sz="18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modules</a:t>
            </a:r>
            <a:endParaRPr sz="18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spcAft>
                <a:spcPts val="600"/>
              </a:spcAft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Hoisting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cause confusion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local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scopes (e.g.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access before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value</a:t>
            </a:r>
            <a:r>
              <a:rPr sz="1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set)</a:t>
            </a:r>
            <a:endParaRPr sz="1800" dirty="0">
              <a:latin typeface="Arial"/>
              <a:cs typeface="Arial"/>
            </a:endParaRPr>
          </a:p>
          <a:p>
            <a:pPr marL="400050"/>
            <a:r>
              <a:rPr lang="nn-NO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400050"/>
            <a:r>
              <a:rPr lang="nn-NO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console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n-NO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n-NO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'Val is:'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     </a:t>
            </a:r>
            <a:r>
              <a:rPr lang="nn-NO" dirty="0">
                <a:solidFill>
                  <a:srgbClr val="008000"/>
                </a:solidFill>
                <a:latin typeface="Consolas" panose="020B0609020204030204" pitchFamily="49" charset="0"/>
              </a:rPr>
              <a:t>// Val is: undefined</a:t>
            </a:r>
            <a:endParaRPr lang="nn-NO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00050"/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...</a:t>
            </a:r>
          </a:p>
          <a:p>
            <a:pPr marL="400050"/>
            <a:r>
              <a:rPr lang="nn-NO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for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n-NO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nn-NO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nn-NO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 marL="400050"/>
            <a:r>
              <a:rPr lang="nn-NO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nn-NO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nn-NO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nn-NO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"different string"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n-NO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Hoisted to func start</a:t>
            </a:r>
            <a:endParaRPr lang="nn-NO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Some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guides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suggest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always declaring all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at function</a:t>
            </a:r>
            <a:r>
              <a:rPr sz="18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start</a:t>
            </a:r>
            <a:endParaRPr sz="1800" dirty="0">
              <a:latin typeface="Arial"/>
              <a:cs typeface="Arial"/>
            </a:endParaRPr>
          </a:p>
          <a:p>
            <a:pPr marL="379095" marR="403225" indent="-379095">
              <a:lnSpc>
                <a:spcPct val="114599"/>
              </a:lnSpc>
              <a:spcBef>
                <a:spcPts val="75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ES6 introduced non-hoisting,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scoped </a:t>
            </a: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let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800" b="1" spc="-5" dirty="0" err="1">
                <a:solidFill>
                  <a:srgbClr val="595959"/>
                </a:solidFill>
                <a:latin typeface="Consolas"/>
                <a:cs typeface="Consolas"/>
              </a:rPr>
              <a:t>const</a:t>
            </a:r>
            <a:r>
              <a:rPr sz="1800" b="1" spc="-5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with explicit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scopes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Some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coding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environments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ban</a:t>
            </a:r>
            <a:r>
              <a:rPr sz="1800" spc="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 err="1">
                <a:solidFill>
                  <a:srgbClr val="595959"/>
                </a:solidFill>
                <a:latin typeface="Consolas"/>
                <a:cs typeface="Consolas"/>
              </a:rPr>
              <a:t>var</a:t>
            </a:r>
            <a:r>
              <a:rPr sz="1800" b="1" spc="-4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use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let</a:t>
            </a:r>
            <a:r>
              <a:rPr sz="1800" b="1" spc="-4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or </a:t>
            </a:r>
            <a:r>
              <a:rPr sz="1800" b="1" spc="-5" dirty="0" err="1">
                <a:solidFill>
                  <a:srgbClr val="595959"/>
                </a:solidFill>
                <a:latin typeface="Consolas"/>
                <a:cs typeface="Consolas"/>
              </a:rPr>
              <a:t>const</a:t>
            </a:r>
            <a:r>
              <a:rPr sz="1800" b="1" spc="-4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instead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1851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Var </a:t>
            </a:r>
            <a:r>
              <a:rPr dirty="0"/>
              <a:t>scope</a:t>
            </a:r>
            <a:r>
              <a:rPr spc="-90" dirty="0"/>
              <a:t> </a:t>
            </a:r>
            <a:r>
              <a:rPr spc="-5"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081100"/>
            <a:ext cx="8185150" cy="3489801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16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Global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variables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are bad in browsers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Easy to get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conflicts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between</a:t>
            </a:r>
            <a:r>
              <a:rPr sz="18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modules</a:t>
            </a:r>
            <a:endParaRPr sz="18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spcAft>
                <a:spcPts val="600"/>
              </a:spcAft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Hoisting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cause confusion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local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scopes (e.g.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access before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value</a:t>
            </a:r>
            <a:r>
              <a:rPr sz="1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set)</a:t>
            </a:r>
            <a:endParaRPr sz="1800" dirty="0">
              <a:latin typeface="Arial"/>
              <a:cs typeface="Arial"/>
            </a:endParaRPr>
          </a:p>
          <a:p>
            <a:pPr marL="400050"/>
            <a:r>
              <a:rPr lang="nn-NO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400050"/>
            <a:r>
              <a:rPr lang="nn-NO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console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n-NO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n-NO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'Val is:'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	</a:t>
            </a:r>
            <a:r>
              <a:rPr lang="nn-NO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// </a:t>
            </a:r>
            <a:r>
              <a:rPr lang="nn-NO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Syntax error!</a:t>
            </a:r>
            <a:endParaRPr lang="nn-NO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00050"/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...</a:t>
            </a:r>
          </a:p>
          <a:p>
            <a:pPr marL="400050"/>
            <a:r>
              <a:rPr lang="nn-NO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for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nn-NO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nn-NO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 marL="400050"/>
            <a:r>
              <a:rPr lang="nn-NO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nn-NO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nn-NO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nn-NO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"different string"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n-NO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nn-NO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Works!</a:t>
            </a:r>
            <a:endParaRPr lang="nn-NO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Some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guides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suggest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always declaring all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at function</a:t>
            </a:r>
            <a:r>
              <a:rPr sz="18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start</a:t>
            </a:r>
            <a:endParaRPr sz="1800" dirty="0">
              <a:latin typeface="Arial"/>
              <a:cs typeface="Arial"/>
            </a:endParaRPr>
          </a:p>
          <a:p>
            <a:pPr marL="379095" marR="403225" indent="-379095">
              <a:lnSpc>
                <a:spcPct val="114599"/>
              </a:lnSpc>
              <a:spcBef>
                <a:spcPts val="75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ES6 introduced non-hoisting,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scoped </a:t>
            </a: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let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800" b="1" spc="-5" dirty="0" err="1">
                <a:solidFill>
                  <a:srgbClr val="595959"/>
                </a:solidFill>
                <a:latin typeface="Consolas"/>
                <a:cs typeface="Consolas"/>
              </a:rPr>
              <a:t>const</a:t>
            </a:r>
            <a:r>
              <a:rPr sz="1800" b="1" spc="-5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with explicit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scopes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Some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coding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environments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ban</a:t>
            </a:r>
            <a:r>
              <a:rPr sz="1800" spc="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 err="1">
                <a:solidFill>
                  <a:srgbClr val="595959"/>
                </a:solidFill>
                <a:latin typeface="Consolas"/>
                <a:cs typeface="Consolas"/>
              </a:rPr>
              <a:t>var</a:t>
            </a:r>
            <a:r>
              <a:rPr sz="1800" b="1" spc="-4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use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let</a:t>
            </a:r>
            <a:r>
              <a:rPr sz="1800" b="1" spc="-4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or </a:t>
            </a:r>
            <a:r>
              <a:rPr sz="1800" b="1" spc="-5" dirty="0" err="1">
                <a:solidFill>
                  <a:srgbClr val="595959"/>
                </a:solidFill>
                <a:latin typeface="Consolas"/>
                <a:cs typeface="Consolas"/>
              </a:rPr>
              <a:t>const</a:t>
            </a:r>
            <a:r>
              <a:rPr sz="1800" b="1" spc="-4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instead</a:t>
            </a:r>
            <a:endParaRPr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8036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9665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onsolas"/>
                <a:cs typeface="Consolas"/>
              </a:rPr>
              <a:t>number</a:t>
            </a:r>
            <a:r>
              <a:rPr spc="-840" dirty="0">
                <a:latin typeface="Consolas"/>
                <a:cs typeface="Consolas"/>
              </a:rPr>
              <a:t> </a:t>
            </a:r>
            <a:r>
              <a:rPr spc="-5" dirty="0"/>
              <a:t>type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325" y="1216355"/>
            <a:ext cx="5588000" cy="13619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number</a:t>
            </a:r>
            <a:r>
              <a:rPr sz="1800" spc="-55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type 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stored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floating point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(i.e.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double in C)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es-E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MAX_INT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s-E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b="0" baseline="3000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53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s-E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s-E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9007199254740991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Some oddities: </a:t>
            </a:r>
            <a:r>
              <a:rPr sz="1800" spc="-5" dirty="0">
                <a:solidFill>
                  <a:srgbClr val="4D4E53"/>
                </a:solidFill>
                <a:latin typeface="Consolas"/>
                <a:cs typeface="Consolas"/>
              </a:rPr>
              <a:t>NaN, Infinity </a:t>
            </a:r>
            <a:r>
              <a:rPr sz="1800" spc="-5" dirty="0">
                <a:solidFill>
                  <a:srgbClr val="4D4E53"/>
                </a:solidFill>
                <a:latin typeface="Arial"/>
                <a:cs typeface="Arial"/>
              </a:rPr>
              <a:t>are</a:t>
            </a:r>
            <a:r>
              <a:rPr sz="1800" spc="25" dirty="0">
                <a:solidFill>
                  <a:srgbClr val="4D4E5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D4E53"/>
                </a:solidFill>
                <a:latin typeface="Arial"/>
                <a:cs typeface="Arial"/>
              </a:rPr>
              <a:t>numbers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4" y="2719401"/>
            <a:ext cx="7844876" cy="12875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1"/>
            <a:r>
              <a:rPr lang="en-U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Infinity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NaN</a:t>
            </a:r>
            <a:endParaRPr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1800" spc="-5" dirty="0">
                <a:solidFill>
                  <a:srgbClr val="4D4E53"/>
                </a:solidFill>
                <a:latin typeface="Arial"/>
                <a:cs typeface="Arial"/>
              </a:rPr>
              <a:t>Watch</a:t>
            </a:r>
            <a:r>
              <a:rPr sz="1800" spc="-10" dirty="0">
                <a:solidFill>
                  <a:srgbClr val="4D4E5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D4E53"/>
                </a:solidFill>
                <a:latin typeface="Arial"/>
                <a:cs typeface="Arial"/>
              </a:rPr>
              <a:t>out:</a:t>
            </a:r>
            <a:endParaRPr sz="1800" dirty="0">
              <a:latin typeface="Arial"/>
              <a:cs typeface="Arial"/>
            </a:endParaRPr>
          </a:p>
          <a:p>
            <a:pPr marL="461963"/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0.30000000000000004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1925" y="4391356"/>
            <a:ext cx="6268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48585" algn="l"/>
              </a:tabLst>
            </a:pPr>
            <a:r>
              <a:rPr sz="1800" spc="-5" dirty="0">
                <a:solidFill>
                  <a:srgbClr val="4D4E53"/>
                </a:solidFill>
                <a:latin typeface="Arial"/>
                <a:cs typeface="Arial"/>
              </a:rPr>
              <a:t>bitwise operators</a:t>
            </a:r>
            <a:r>
              <a:rPr sz="1800" dirty="0">
                <a:solidFill>
                  <a:srgbClr val="4D4E53"/>
                </a:solidFill>
                <a:latin typeface="Arial"/>
                <a:cs typeface="Arial"/>
              </a:rPr>
              <a:t> (e.g.</a:t>
            </a:r>
            <a:r>
              <a:rPr sz="1800" spc="-5" dirty="0">
                <a:solidFill>
                  <a:srgbClr val="4D4E53"/>
                </a:solidFill>
                <a:latin typeface="Arial"/>
                <a:cs typeface="Arial"/>
              </a:rPr>
              <a:t> ~,	</a:t>
            </a:r>
            <a:r>
              <a:rPr sz="1800" spc="-5" dirty="0">
                <a:solidFill>
                  <a:srgbClr val="4D4E53"/>
                </a:solidFill>
                <a:latin typeface="Consolas"/>
                <a:cs typeface="Consolas"/>
              </a:rPr>
              <a:t>&amp;, |, ^, &gt;&gt;, &lt;&lt;, </a:t>
            </a:r>
            <a:r>
              <a:rPr sz="1800" spc="5" dirty="0">
                <a:solidFill>
                  <a:srgbClr val="4D4E53"/>
                </a:solidFill>
                <a:latin typeface="Consolas"/>
                <a:cs typeface="Consolas"/>
              </a:rPr>
              <a:t>&gt;&gt;&gt;</a:t>
            </a:r>
            <a:r>
              <a:rPr sz="1800" spc="5" dirty="0">
                <a:solidFill>
                  <a:srgbClr val="4D4E53"/>
                </a:solidFill>
                <a:latin typeface="Arial"/>
                <a:cs typeface="Arial"/>
              </a:rPr>
              <a:t>) </a:t>
            </a:r>
            <a:r>
              <a:rPr sz="1800" spc="-5" dirty="0">
                <a:solidFill>
                  <a:srgbClr val="4D4E53"/>
                </a:solidFill>
                <a:latin typeface="Arial"/>
                <a:cs typeface="Arial"/>
              </a:rPr>
              <a:t>are</a:t>
            </a:r>
            <a:r>
              <a:rPr sz="1800" spc="-70" dirty="0">
                <a:solidFill>
                  <a:srgbClr val="4D4E5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D4E53"/>
                </a:solidFill>
                <a:latin typeface="Arial"/>
                <a:cs typeface="Arial"/>
              </a:rPr>
              <a:t>32bit!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14999" y="3037750"/>
            <a:ext cx="4257675" cy="3937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10"/>
              </a:spcBef>
              <a:tabLst>
                <a:tab pos="1179195" algn="l"/>
              </a:tabLst>
            </a:pPr>
            <a:r>
              <a:rPr sz="1600" spc="-5" dirty="0">
                <a:latin typeface="Arial"/>
                <a:cs typeface="Arial"/>
              </a:rPr>
              <a:t>Nerd joke:	</a:t>
            </a:r>
            <a:r>
              <a:rPr sz="1600" spc="-5" dirty="0">
                <a:latin typeface="Consolas"/>
                <a:cs typeface="Consolas"/>
              </a:rPr>
              <a:t>typeof NaN </a:t>
            </a:r>
            <a:r>
              <a:rPr sz="1600" dirty="0">
                <a:latin typeface="Arial"/>
                <a:cs typeface="Arial"/>
              </a:rPr>
              <a:t>returns</a:t>
            </a:r>
            <a:r>
              <a:rPr sz="1600" spc="400" dirty="0">
                <a:latin typeface="Arial"/>
                <a:cs typeface="Arial"/>
              </a:rPr>
              <a:t> </a:t>
            </a:r>
            <a:r>
              <a:rPr sz="1600" spc="-5" dirty="0">
                <a:latin typeface="Consolas"/>
                <a:cs typeface="Consolas"/>
              </a:rPr>
              <a:t>'number'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96786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onsolas"/>
                <a:cs typeface="Consolas"/>
              </a:rPr>
              <a:t>string</a:t>
            </a:r>
            <a:r>
              <a:rPr spc="-840" dirty="0">
                <a:latin typeface="Consolas"/>
                <a:cs typeface="Consolas"/>
              </a:rPr>
              <a:t> </a:t>
            </a:r>
            <a:r>
              <a:rPr spc="-5" dirty="0"/>
              <a:t>type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795259" cy="32871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spcAft>
                <a:spcPts val="600"/>
              </a:spcAf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string</a:t>
            </a:r>
            <a:r>
              <a:rPr sz="1800" spc="-4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type 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variable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length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(no</a:t>
            </a:r>
            <a:r>
              <a:rPr sz="1800" spc="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char</a:t>
            </a:r>
            <a:r>
              <a:rPr sz="1800" spc="-4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type)</a:t>
            </a:r>
            <a:endParaRPr sz="1800" dirty="0">
              <a:latin typeface="Arial"/>
              <a:cs typeface="Arial"/>
            </a:endParaRPr>
          </a:p>
          <a:p>
            <a:pPr marL="461963">
              <a:lnSpc>
                <a:spcPct val="114000"/>
              </a:lnSpc>
            </a:pP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'This is a test'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can use "This is a test" 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61963">
              <a:lnSpc>
                <a:spcPct val="114000"/>
              </a:lnSpc>
            </a:pP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14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595959"/>
                </a:solidFill>
                <a:latin typeface="Consolas"/>
                <a:cs typeface="Consolas"/>
              </a:rPr>
              <a:t>+</a:t>
            </a:r>
            <a:r>
              <a:rPr sz="2400" b="1" spc="-844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string concat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operator</a:t>
            </a:r>
            <a:endParaRPr sz="1800" dirty="0">
              <a:latin typeface="Arial"/>
              <a:cs typeface="Arial"/>
            </a:endParaRPr>
          </a:p>
          <a:p>
            <a:pPr marL="461963"/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'XXX'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This is a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testXXX</a:t>
            </a:r>
            <a:endParaRPr sz="1800" dirty="0">
              <a:latin typeface="Consolas"/>
              <a:cs typeface="Consolas"/>
            </a:endParaRPr>
          </a:p>
          <a:p>
            <a:pPr marL="12700" marR="5080">
              <a:lnSpc>
                <a:spcPct val="114599"/>
              </a:lnSpc>
              <a:spcBef>
                <a:spcPts val="157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Lots of useful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methods: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indexOf(), charAt(), match(), search(),  replace(), toUpperCase(), toLowerCase(), slice(), substr(),</a:t>
            </a:r>
            <a:r>
              <a:rPr sz="1800" spc="8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…</a:t>
            </a:r>
            <a:endParaRPr sz="1800" dirty="0">
              <a:latin typeface="Arial"/>
              <a:cs typeface="Arial"/>
            </a:endParaRPr>
          </a:p>
          <a:p>
            <a:endParaRPr lang="es-ES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pPr marL="460375"/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foo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toUpperCase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s-ES" dirty="0">
                <a:solidFill>
                  <a:srgbClr val="008000"/>
                </a:solidFill>
                <a:latin typeface="Consolas" panose="020B0609020204030204" pitchFamily="49" charset="0"/>
              </a:rPr>
              <a:t>// 'FOO'</a:t>
            </a:r>
            <a:endParaRPr lang="es-E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1634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onsolas"/>
                <a:cs typeface="Consolas"/>
              </a:rPr>
              <a:t>boolean</a:t>
            </a:r>
            <a:r>
              <a:rPr spc="-840" dirty="0">
                <a:latin typeface="Consolas"/>
                <a:cs typeface="Consolas"/>
              </a:rPr>
              <a:t> </a:t>
            </a:r>
            <a:r>
              <a:rPr spc="-5" dirty="0"/>
              <a:t>type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673975" cy="3332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Either </a:t>
            </a: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true</a:t>
            </a:r>
            <a:r>
              <a:rPr sz="1800" b="1" spc="-47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or </a:t>
            </a: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false</a:t>
            </a:r>
            <a:endParaRPr sz="1800" dirty="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Language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classifies values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 either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truthy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falsy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Used when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value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converted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boolean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(e.g.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if (foo)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…</a:t>
            </a:r>
            <a:r>
              <a:rPr sz="1400" spc="3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Falsy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: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 dirty="0">
              <a:latin typeface="Times New Roman"/>
              <a:cs typeface="Times New Roman"/>
            </a:endParaRPr>
          </a:p>
          <a:p>
            <a:pPr marL="401638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undefined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spc="-5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NaN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Truthy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:</a:t>
            </a:r>
            <a:endParaRPr sz="1800" dirty="0">
              <a:latin typeface="Consolas"/>
              <a:cs typeface="Consolas"/>
            </a:endParaRPr>
          </a:p>
          <a:p>
            <a:pPr marL="379095" marR="5080">
              <a:lnSpc>
                <a:spcPct val="114599"/>
              </a:lnSpc>
              <a:spcBef>
                <a:spcPts val="157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Not falsy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(all objects, non-empty strings, non-zero numbers,  functions,</a:t>
            </a:r>
            <a:r>
              <a:rPr sz="18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etc.)</a:t>
            </a:r>
            <a:endParaRPr sz="1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3566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onsolas"/>
                <a:cs typeface="Consolas"/>
              </a:rPr>
              <a:t>undefined</a:t>
            </a:r>
            <a:r>
              <a:rPr spc="-830" dirty="0">
                <a:latin typeface="Consolas"/>
                <a:cs typeface="Consolas"/>
              </a:rPr>
              <a:t> </a:t>
            </a:r>
            <a:r>
              <a:rPr spc="-5" dirty="0"/>
              <a:t>and </a:t>
            </a:r>
            <a:r>
              <a:rPr spc="-5" dirty="0">
                <a:latin typeface="Consolas"/>
                <a:cs typeface="Consolas"/>
              </a:rPr>
              <a:t>null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8041640" cy="32729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undefined</a:t>
            </a:r>
            <a:r>
              <a:rPr sz="1800" b="1" spc="-50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does not have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value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assign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 dirty="0">
              <a:latin typeface="Times New Roman"/>
              <a:cs typeface="Times New Roman"/>
            </a:endParaRPr>
          </a:p>
          <a:p>
            <a:pPr marL="401638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  x has a value of undefined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1638"/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undefined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It can be explicitly store 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1638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'undefined'</a:t>
            </a:r>
            <a:endParaRPr sz="1800" dirty="0">
              <a:latin typeface="Consolas"/>
              <a:cs typeface="Consolas"/>
            </a:endParaRPr>
          </a:p>
          <a:p>
            <a:pPr marL="379095" marR="1593850" indent="-367030">
              <a:lnSpc>
                <a:spcPct val="187500"/>
              </a:lnSpc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null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a value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that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represents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whatever the user wants it to  Use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return special condition (e.g.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value)</a:t>
            </a:r>
            <a:endParaRPr sz="1800" dirty="0">
              <a:latin typeface="Arial"/>
              <a:cs typeface="Arial"/>
            </a:endParaRPr>
          </a:p>
          <a:p>
            <a:pPr marL="401638"/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typeof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object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endParaRPr lang="es-E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Both are falsy but not equal 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800" spc="5" dirty="0">
                <a:solidFill>
                  <a:srgbClr val="595959"/>
                </a:solidFill>
                <a:latin typeface="Consolas"/>
                <a:cs typeface="Consolas"/>
              </a:rPr>
              <a:t>null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== undefined; null !==</a:t>
            </a:r>
            <a:r>
              <a:rPr sz="1800" spc="-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undefined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3590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onsolas"/>
                <a:cs typeface="Consolas"/>
              </a:rPr>
              <a:t>function</a:t>
            </a:r>
            <a:r>
              <a:rPr spc="-835" dirty="0">
                <a:latin typeface="Consolas"/>
                <a:cs typeface="Consolas"/>
              </a:rPr>
              <a:t> </a:t>
            </a:r>
            <a:r>
              <a:rPr spc="-5" dirty="0"/>
              <a:t>type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1925" y="1184098"/>
            <a:ext cx="6854275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foobar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foobar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Same as function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foobar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(x)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  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    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  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foobar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5249" y="2582890"/>
            <a:ext cx="6332855" cy="109709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401638"/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foobar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'function'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foobar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foobar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Function definitions are hoisted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(i.e. can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 before</a:t>
            </a:r>
            <a:r>
              <a:rPr sz="18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define)</a:t>
            </a:r>
            <a:endParaRPr sz="18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Can be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with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variable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arguments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5249" y="3670122"/>
            <a:ext cx="5984240" cy="82740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836294" indent="-336550">
              <a:lnSpc>
                <a:spcPct val="100000"/>
              </a:lnSpc>
              <a:spcBef>
                <a:spcPts val="370"/>
              </a:spcBef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Array</a:t>
            </a:r>
            <a:r>
              <a:rPr sz="1400" spc="-2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arguments</a:t>
            </a:r>
            <a:r>
              <a:rPr sz="1400" spc="-38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variable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(e.g.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arguments[0]</a:t>
            </a:r>
            <a:r>
              <a:rPr sz="1400" spc="-38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first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argument)</a:t>
            </a:r>
            <a:endParaRPr sz="1400">
              <a:latin typeface="Arial"/>
              <a:cs typeface="Arial"/>
            </a:endParaRPr>
          </a:p>
          <a:p>
            <a:pPr marL="836294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Unspecified arguments have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value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undefined</a:t>
            </a:r>
            <a:endParaRPr sz="140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All functions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return a value (default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undefined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725" y="503825"/>
            <a:ext cx="8374549" cy="430887"/>
          </a:xfrm>
        </p:spPr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function</a:t>
            </a:r>
            <a:r>
              <a:rPr lang="en-US" dirty="0"/>
              <a:t> type (cont.)</a:t>
            </a:r>
            <a:endParaRPr lang="mn-M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725" y="1176350"/>
            <a:ext cx="7926070" cy="3323987"/>
          </a:xfrm>
        </p:spPr>
        <p:txBody>
          <a:bodyPr/>
          <a:lstStyle/>
          <a:p>
            <a:r>
              <a:rPr lang="es-E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s-ES" dirty="0" err="1">
                <a:solidFill>
                  <a:srgbClr val="008000"/>
                </a:solidFill>
                <a:latin typeface="Consolas" panose="020B0609020204030204" pitchFamily="49" charset="0"/>
              </a:rPr>
              <a:t>function</a:t>
            </a:r>
            <a:r>
              <a:rPr lang="es-ES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008000"/>
                </a:solidFill>
                <a:latin typeface="Consolas" panose="020B0609020204030204" pitchFamily="49" charset="0"/>
              </a:rPr>
              <a:t>definitions</a:t>
            </a:r>
            <a:r>
              <a:rPr lang="es-ES" dirty="0">
                <a:solidFill>
                  <a:srgbClr val="008000"/>
                </a:solidFill>
                <a:latin typeface="Consolas" panose="020B0609020204030204" pitchFamily="49" charset="0"/>
              </a:rPr>
              <a:t> are </a:t>
            </a:r>
            <a:r>
              <a:rPr lang="es-ES" dirty="0" err="1">
                <a:solidFill>
                  <a:srgbClr val="008000"/>
                </a:solidFill>
                <a:latin typeface="Consolas" panose="020B0609020204030204" pitchFamily="49" charset="0"/>
              </a:rPr>
              <a:t>hoisted</a:t>
            </a:r>
            <a:r>
              <a:rPr lang="es-ES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s-ES" dirty="0">
                <a:solidFill>
                  <a:srgbClr val="008000"/>
                </a:solidFill>
                <a:latin typeface="Consolas" panose="020B0609020204030204" pitchFamily="49" charset="0"/>
              </a:rPr>
              <a:t>// (i.e. can use </a:t>
            </a:r>
            <a:r>
              <a:rPr lang="es-ES" dirty="0" err="1">
                <a:solidFill>
                  <a:srgbClr val="008000"/>
                </a:solidFill>
                <a:latin typeface="Consolas" panose="020B0609020204030204" pitchFamily="49" charset="0"/>
              </a:rPr>
              <a:t>before</a:t>
            </a:r>
            <a:r>
              <a:rPr lang="es-ES" dirty="0">
                <a:solidFill>
                  <a:srgbClr val="008000"/>
                </a:solidFill>
                <a:latin typeface="Consolas" panose="020B0609020204030204" pitchFamily="49" charset="0"/>
              </a:rPr>
              <a:t> define)</a:t>
            </a:r>
            <a:endParaRPr lang="es-E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s-ES" dirty="0">
                <a:solidFill>
                  <a:srgbClr val="267F99"/>
                </a:solidFill>
                <a:latin typeface="Consolas" panose="020B0609020204030204" pitchFamily="49" charset="0"/>
              </a:rPr>
              <a:t>console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foobar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s-E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s-ES" dirty="0" err="1">
                <a:solidFill>
                  <a:srgbClr val="008000"/>
                </a:solidFill>
                <a:latin typeface="Consolas" panose="020B0609020204030204" pitchFamily="49" charset="0"/>
              </a:rPr>
              <a:t>undefined</a:t>
            </a:r>
            <a:endParaRPr lang="es-E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foobar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foobar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s-ES" dirty="0">
                <a:solidFill>
                  <a:srgbClr val="267F99"/>
                </a:solidFill>
                <a:latin typeface="Consolas" panose="020B0609020204030204" pitchFamily="49" charset="0"/>
              </a:rPr>
              <a:t>  console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arguments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s-ES" dirty="0">
                <a:solidFill>
                  <a:srgbClr val="AF00DB"/>
                </a:solidFill>
                <a:latin typeface="Consolas" panose="020B0609020204030204" pitchFamily="49" charset="0"/>
              </a:rPr>
              <a:t>  </a:t>
            </a:r>
            <a:r>
              <a:rPr lang="es-ES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s-ES" dirty="0">
                <a:solidFill>
                  <a:srgbClr val="AF00DB"/>
                </a:solidFill>
                <a:latin typeface="Consolas" panose="020B0609020204030204" pitchFamily="49" charset="0"/>
              </a:rPr>
              <a:t>    </a:t>
            </a:r>
            <a:r>
              <a:rPr lang="es-ES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s-ES" dirty="0">
                <a:solidFill>
                  <a:srgbClr val="AF00DB"/>
                </a:solidFill>
                <a:latin typeface="Consolas" panose="020B0609020204030204" pitchFamily="49" charset="0"/>
              </a:rPr>
              <a:t>  </a:t>
            </a:r>
            <a:r>
              <a:rPr lang="es-ES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foobar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s-ES" dirty="0">
                <a:solidFill>
                  <a:srgbClr val="267F99"/>
                </a:solidFill>
                <a:latin typeface="Consolas" panose="020B0609020204030204" pitchFamily="49" charset="0"/>
              </a:rPr>
              <a:t>console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typeof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foobar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s-E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s-ES" dirty="0" err="1">
                <a:solidFill>
                  <a:srgbClr val="008000"/>
                </a:solidFill>
                <a:latin typeface="Consolas" panose="020B0609020204030204" pitchFamily="49" charset="0"/>
              </a:rPr>
              <a:t>function</a:t>
            </a:r>
            <a:r>
              <a:rPr lang="es-ES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endParaRPr lang="es-E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s-ES" dirty="0">
                <a:solidFill>
                  <a:srgbClr val="267F99"/>
                </a:solidFill>
                <a:latin typeface="Consolas" panose="020B0609020204030204" pitchFamily="49" charset="0"/>
              </a:rPr>
              <a:t>console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foobar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)); </a:t>
            </a:r>
            <a:r>
              <a:rPr lang="es-ES" dirty="0">
                <a:solidFill>
                  <a:srgbClr val="008000"/>
                </a:solidFill>
                <a:latin typeface="Consolas" panose="020B0609020204030204" pitchFamily="49" charset="0"/>
              </a:rPr>
              <a:t>// output: 3, 2, 1, 6 </a:t>
            </a:r>
            <a:endParaRPr lang="es-E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999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4043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First </a:t>
            </a:r>
            <a:r>
              <a:rPr dirty="0"/>
              <a:t>class </a:t>
            </a:r>
            <a:r>
              <a:rPr spc="-5" dirty="0"/>
              <a:t>function</a:t>
            </a:r>
            <a:r>
              <a:rPr spc="-105"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84725" y="1176350"/>
            <a:ext cx="7926070" cy="2823208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aFuncVar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s-ES" dirty="0">
                <a:solidFill>
                  <a:srgbClr val="267F99"/>
                </a:solidFill>
                <a:latin typeface="Consolas" panose="020B0609020204030204" pitchFamily="49" charset="0"/>
              </a:rPr>
              <a:t>  console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Called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with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s-ES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myFunc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routine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{  </a:t>
            </a:r>
            <a:r>
              <a:rPr lang="es-E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s-ES" dirty="0" err="1">
                <a:solidFill>
                  <a:srgbClr val="008000"/>
                </a:solidFill>
                <a:latin typeface="Consolas" panose="020B0609020204030204" pitchFamily="49" charset="0"/>
              </a:rPr>
              <a:t>passed</a:t>
            </a:r>
            <a:r>
              <a:rPr lang="es-ES" dirty="0">
                <a:solidFill>
                  <a:srgbClr val="008000"/>
                </a:solidFill>
                <a:latin typeface="Consolas" panose="020B0609020204030204" pitchFamily="49" charset="0"/>
              </a:rPr>
              <a:t> as a </a:t>
            </a:r>
            <a:r>
              <a:rPr lang="es-ES" dirty="0" err="1">
                <a:solidFill>
                  <a:srgbClr val="008000"/>
                </a:solidFill>
                <a:latin typeface="Consolas" panose="020B0609020204030204" pitchFamily="49" charset="0"/>
              </a:rPr>
              <a:t>param</a:t>
            </a:r>
            <a:r>
              <a:rPr lang="es-ES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endParaRPr lang="es-E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s-ES" dirty="0">
                <a:solidFill>
                  <a:srgbClr val="267F99"/>
                </a:solidFill>
                <a:latin typeface="Consolas" panose="020B0609020204030204" pitchFamily="49" charset="0"/>
              </a:rPr>
              <a:t>  console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Called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with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routine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toString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s-ES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retVal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routine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dirty="0">
                <a:solidFill>
                  <a:srgbClr val="267F99"/>
                </a:solidFill>
                <a:latin typeface="Consolas" panose="020B0609020204030204" pitchFamily="49" charset="0"/>
              </a:rPr>
              <a:t>console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retVal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retVal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retVal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myFunc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aFuncVar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80159" y="2888739"/>
            <a:ext cx="3481070" cy="186055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R="1442085" algn="r">
              <a:lnSpc>
                <a:spcPts val="1664"/>
              </a:lnSpc>
              <a:spcBef>
                <a:spcPts val="620"/>
              </a:spcBef>
            </a:pPr>
            <a:r>
              <a:rPr sz="1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Output</a:t>
            </a:r>
            <a:endParaRPr sz="1400" dirty="0">
              <a:latin typeface="Arial"/>
              <a:cs typeface="Arial"/>
            </a:endParaRPr>
          </a:p>
          <a:p>
            <a:pPr marR="1483360" algn="r">
              <a:lnSpc>
                <a:spcPts val="1650"/>
              </a:lnSpc>
            </a:pPr>
            <a:r>
              <a:rPr sz="1400" spc="-5" dirty="0">
                <a:latin typeface="Arial"/>
                <a:cs typeface="Arial"/>
              </a:rPr>
              <a:t>Called with function </a:t>
            </a:r>
            <a:r>
              <a:rPr sz="1400" dirty="0">
                <a:latin typeface="Arial"/>
                <a:cs typeface="Arial"/>
              </a:rPr>
              <a:t>(x)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{</a:t>
            </a:r>
          </a:p>
          <a:p>
            <a:pPr marL="972185" marR="308610">
              <a:lnSpc>
                <a:spcPts val="1650"/>
              </a:lnSpc>
              <a:spcBef>
                <a:spcPts val="65"/>
              </a:spcBef>
            </a:pPr>
            <a:r>
              <a:rPr sz="1400" dirty="0">
                <a:latin typeface="Arial"/>
                <a:cs typeface="Arial"/>
              </a:rPr>
              <a:t>console.log('Called </a:t>
            </a:r>
            <a:r>
              <a:rPr sz="1400" spc="-5" dirty="0">
                <a:latin typeface="Arial"/>
                <a:cs typeface="Arial"/>
              </a:rPr>
              <a:t>with',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x);  return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x+1;</a:t>
            </a:r>
          </a:p>
          <a:p>
            <a:pPr marL="824230">
              <a:lnSpc>
                <a:spcPts val="1585"/>
              </a:lnSpc>
            </a:pPr>
            <a:r>
              <a:rPr sz="1400" dirty="0">
                <a:latin typeface="Arial"/>
                <a:cs typeface="Arial"/>
              </a:rPr>
              <a:t>}</a:t>
            </a:r>
          </a:p>
          <a:p>
            <a:pPr marL="85725">
              <a:lnSpc>
                <a:spcPts val="1650"/>
              </a:lnSpc>
            </a:pPr>
            <a:r>
              <a:rPr sz="1400" spc="-5" dirty="0">
                <a:latin typeface="Arial"/>
                <a:cs typeface="Arial"/>
              </a:rPr>
              <a:t>Called with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10</a:t>
            </a:r>
            <a:endParaRPr sz="1400" dirty="0">
              <a:latin typeface="Arial"/>
              <a:cs typeface="Arial"/>
            </a:endParaRPr>
          </a:p>
          <a:p>
            <a:pPr marL="85725">
              <a:lnSpc>
                <a:spcPts val="1664"/>
              </a:lnSpc>
            </a:pPr>
            <a:r>
              <a:rPr sz="1400" dirty="0">
                <a:latin typeface="Arial"/>
                <a:cs typeface="Arial"/>
              </a:rPr>
              <a:t>retVal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11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25870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onsolas" panose="020B0609020204030204" pitchFamily="49" charset="0"/>
              </a:rPr>
              <a:t>object</a:t>
            </a:r>
            <a:r>
              <a:rPr spc="-90" dirty="0"/>
              <a:t> </a:t>
            </a:r>
            <a:r>
              <a:rPr spc="-5" dirty="0"/>
              <a:t>type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827645" cy="3356687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Object is an unordered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collection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name-value pairs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called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properties</a:t>
            </a:r>
            <a:endParaRPr sz="1800" dirty="0">
              <a:latin typeface="Arial"/>
              <a:cs typeface="Arial"/>
            </a:endParaRPr>
          </a:p>
          <a:p>
            <a:pPr marL="404813">
              <a:spcBef>
                <a:spcPts val="1200"/>
              </a:spcBef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foo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{};</a:t>
            </a:r>
          </a:p>
          <a:p>
            <a:pPr marL="404813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bar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{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name: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"Alice"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age: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23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state: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"California"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spcBef>
                <a:spcPts val="6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Name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be any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string:	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{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: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empty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"---"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: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dashes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sz="1800" dirty="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Referenced either like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structure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or like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hash table with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string</a:t>
            </a:r>
            <a:r>
              <a:rPr sz="18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keys:</a:t>
            </a:r>
            <a:endParaRPr sz="1800" dirty="0">
              <a:latin typeface="Arial"/>
              <a:cs typeface="Arial"/>
            </a:endParaRPr>
          </a:p>
          <a:p>
            <a:pPr marL="404813">
              <a:spcBef>
                <a:spcPts val="1200"/>
              </a:spcBef>
            </a:pP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bar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bar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"name"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"---"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have to use hash format for illegal names</a:t>
            </a:r>
            <a:b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foo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nonExistent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undefined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  <a:tab pos="4177029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Global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scope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 an object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browser	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(i.e.</a:t>
            </a:r>
            <a:r>
              <a:rPr sz="1800" spc="4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window[prop]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5672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Properties </a:t>
            </a:r>
            <a:r>
              <a:rPr dirty="0"/>
              <a:t>can </a:t>
            </a:r>
            <a:r>
              <a:rPr spc="-5" dirty="0"/>
              <a:t>be added, </a:t>
            </a:r>
            <a:r>
              <a:rPr dirty="0"/>
              <a:t>removed,</a:t>
            </a:r>
            <a:r>
              <a:rPr spc="-90" dirty="0"/>
              <a:t> </a:t>
            </a:r>
            <a:r>
              <a:rPr spc="-5" dirty="0"/>
              <a:t>enumerated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39071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add, just assign to the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property: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1925" y="1690701"/>
            <a:ext cx="6701875" cy="8779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foo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{}; </a:t>
            </a: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foo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"Fred"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foo.name returns "Fred"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2700" marR="5080">
              <a:lnSpc>
                <a:spcPct val="114599"/>
              </a:lnSpc>
              <a:spcBef>
                <a:spcPts val="100"/>
              </a:spcBef>
            </a:pPr>
            <a:endParaRPr sz="18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5249" y="2559380"/>
            <a:ext cx="7678151" cy="24519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remove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delete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 dirty="0">
              <a:latin typeface="Times New Roman"/>
              <a:cs typeface="Times New Roman"/>
            </a:endParaRPr>
          </a:p>
          <a:p>
            <a:pPr marL="404813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foo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{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name: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"Fred"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404813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foo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foo is now an empty object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enumerate use</a:t>
            </a:r>
            <a:r>
              <a:rPr sz="18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Object.keys():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404813"/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Object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keys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({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name: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"Alice"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age: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23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}) --&gt; [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"name"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"age"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379095">
              <a:lnSpc>
                <a:spcPct val="100000"/>
              </a:lnSpc>
            </a:pPr>
            <a:endParaRPr sz="1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1969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onsolas"/>
                <a:cs typeface="Consolas"/>
              </a:rPr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462010" cy="34470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1963"/>
            <a:r>
              <a:rPr lang="es-ES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s-E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anArr</a:t>
            </a:r>
            <a:r>
              <a:rPr lang="es-ES" b="1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s-ES" b="1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s-ES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s-ES" b="1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s-ES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s-ES" b="1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s-ES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Are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special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objects: 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typeof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anArr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object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endParaRPr lang="es-E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Indexed by non-negative integers: 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anArr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] ==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Can be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sparse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polymorphic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: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anArr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]=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FooBar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s-ES" dirty="0">
                <a:solidFill>
                  <a:srgbClr val="008000"/>
                </a:solidFill>
                <a:latin typeface="Consolas" panose="020B0609020204030204" pitchFamily="49" charset="0"/>
              </a:rPr>
              <a:t>//[1,2,3,,,'FooBar']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Like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strings,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have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many methods: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anArr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length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endParaRPr sz="1800" dirty="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push, pop, shift, unshift, sort, reverse, splice,</a:t>
            </a:r>
            <a:r>
              <a:rPr sz="1800" spc="10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…</a:t>
            </a:r>
            <a:endParaRPr sz="1800" dirty="0">
              <a:latin typeface="Arial"/>
              <a:cs typeface="Arial"/>
            </a:endParaRPr>
          </a:p>
          <a:p>
            <a:pPr>
              <a:spcBef>
                <a:spcPts val="6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Oddity: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store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properties like objects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e.g. 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anArr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Foo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) </a:t>
            </a:r>
            <a:endParaRPr lang="en-US" sz="1800" dirty="0">
              <a:solidFill>
                <a:srgbClr val="595959"/>
              </a:solidFill>
              <a:latin typeface="Arial"/>
              <a:cs typeface="Arial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				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[1, 2, 3, , , , "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FooBar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", name: "Foo"]</a:t>
            </a:r>
          </a:p>
          <a:p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Some properties have implications: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(e.g.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anArr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length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sz="1800" spc="10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r>
              <a:rPr lang="en-US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[name: "Foo"]</a:t>
            </a:r>
            <a:endParaRPr dirty="0">
              <a:solidFill>
                <a:srgbClr val="008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9544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575550" cy="3242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6075"/>
            <a:r>
              <a:rPr lang="es-ES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s-E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b="1" dirty="0">
                <a:solidFill>
                  <a:srgbClr val="001080"/>
                </a:solidFill>
                <a:latin typeface="Consolas" panose="020B0609020204030204" pitchFamily="49" charset="0"/>
              </a:rPr>
              <a:t>date</a:t>
            </a:r>
            <a:r>
              <a:rPr lang="es-ES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s-E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b="1" dirty="0">
                <a:solidFill>
                  <a:srgbClr val="267F99"/>
                </a:solidFill>
                <a:latin typeface="Consolas" panose="020B0609020204030204" pitchFamily="49" charset="0"/>
              </a:rPr>
              <a:t>Date</a:t>
            </a:r>
            <a:r>
              <a:rPr lang="es-ES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sz="1800" b="1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Are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special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objects: 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typeof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date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object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endParaRPr sz="1800" dirty="0">
              <a:latin typeface="Consolas"/>
              <a:cs typeface="Consolas"/>
            </a:endParaRPr>
          </a:p>
          <a:p>
            <a:pPr marL="469900" marR="5080" indent="-457200">
              <a:lnSpc>
                <a:spcPct val="149300"/>
              </a:lnSpc>
              <a:spcBef>
                <a:spcPts val="82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number of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milliseconds since midnight January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1, 1970 UTC  Timezone needed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convert.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Not good for fixed dates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(e.g.</a:t>
            </a:r>
            <a:r>
              <a:rPr sz="18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birthdays)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Aft>
                <a:spcPts val="600"/>
              </a:spcAf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Many methods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returning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setting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data object. For</a:t>
            </a:r>
            <a:r>
              <a:rPr sz="18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example:</a:t>
            </a:r>
            <a:endParaRPr sz="1800" dirty="0">
              <a:latin typeface="Arial"/>
              <a:cs typeface="Arial"/>
            </a:endParaRPr>
          </a:p>
          <a:p>
            <a:pPr marL="346075"/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date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valueOf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() --&gt;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1452359316314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346075"/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date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toISOString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() --&gt;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'2019-09-01T17:08:36.314Z'</a:t>
            </a:r>
            <a:endParaRPr lang="es-E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6075"/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date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toLocaleString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() --&gt;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'9/1/2019, 9:08:36 AM'</a:t>
            </a:r>
            <a:endParaRPr lang="es-E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3013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Regular</a:t>
            </a:r>
            <a:r>
              <a:rPr spc="-85" dirty="0"/>
              <a:t> </a:t>
            </a:r>
            <a:r>
              <a:rPr spc="-5" dirty="0"/>
              <a:t>Expressions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383145" cy="2614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6075"/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re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</a:t>
            </a:r>
            <a:r>
              <a:rPr lang="es-ES" dirty="0">
                <a:solidFill>
                  <a:srgbClr val="811F3F"/>
                </a:solidFill>
                <a:latin typeface="Consolas" panose="020B0609020204030204" pitchFamily="49" charset="0"/>
              </a:rPr>
              <a:t> /</a:t>
            </a:r>
            <a:r>
              <a:rPr lang="es-ES" dirty="0" err="1">
                <a:solidFill>
                  <a:srgbClr val="811F3F"/>
                </a:solidFill>
                <a:latin typeface="Consolas" panose="020B0609020204030204" pitchFamily="49" charset="0"/>
              </a:rPr>
              <a:t>ab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s-ES" dirty="0" err="1">
                <a:solidFill>
                  <a:srgbClr val="811F3F"/>
                </a:solidFill>
                <a:latin typeface="Consolas" panose="020B0609020204030204" pitchFamily="49" charset="0"/>
              </a:rPr>
              <a:t>c</a:t>
            </a:r>
            <a:r>
              <a:rPr lang="es-ES" dirty="0">
                <a:solidFill>
                  <a:srgbClr val="811F3F"/>
                </a:solidFill>
                <a:latin typeface="Consolas" panose="020B0609020204030204" pitchFamily="49" charset="0"/>
              </a:rPr>
              <a:t>/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	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lang="en-US" sz="1800" spc="-5" dirty="0">
                <a:solidFill>
                  <a:srgbClr val="595959"/>
                </a:solidFill>
                <a:latin typeface="Arial"/>
                <a:cs typeface="Arial"/>
              </a:rPr>
              <a:t>    </a:t>
            </a: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re2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267F99"/>
                </a:solidFill>
                <a:latin typeface="Consolas" panose="020B0609020204030204" pitchFamily="49" charset="0"/>
              </a:rPr>
              <a:t>RegExp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ab+c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Defines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pattern that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searched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in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string</a:t>
            </a:r>
            <a:endParaRPr sz="18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  <a:tabLst>
                <a:tab pos="13208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String:	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search(), match(), replace(),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split()</a:t>
            </a:r>
            <a:endParaRPr sz="1800" dirty="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RegExp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: exec()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test()</a:t>
            </a:r>
            <a:endParaRPr sz="1800" dirty="0">
              <a:latin typeface="Consolas"/>
              <a:cs typeface="Consolas"/>
            </a:endParaRPr>
          </a:p>
          <a:p>
            <a:pPr marL="12700" marR="2034539">
              <a:lnSpc>
                <a:spcPct val="1875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Uses:</a:t>
            </a:r>
            <a:endParaRPr sz="1800" dirty="0">
              <a:latin typeface="Arial"/>
              <a:cs typeface="Arial"/>
            </a:endParaRPr>
          </a:p>
          <a:p>
            <a:pPr marL="469900" marR="5080">
              <a:lnSpc>
                <a:spcPct val="114599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Searching: Does this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string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have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pattern I’m interested in?  Parsing: Interpret this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string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program and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return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its</a:t>
            </a:r>
            <a:r>
              <a:rPr sz="1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components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26820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Regular </a:t>
            </a:r>
            <a:r>
              <a:rPr spc="-10" dirty="0"/>
              <a:t>Expressions </a:t>
            </a:r>
            <a:r>
              <a:rPr spc="-5" dirty="0"/>
              <a:t>by example </a:t>
            </a:r>
            <a:r>
              <a:rPr dirty="0"/>
              <a:t>-</a:t>
            </a:r>
            <a:r>
              <a:rPr spc="-80" dirty="0"/>
              <a:t> </a:t>
            </a:r>
            <a:r>
              <a:rPr dirty="0"/>
              <a:t>search/test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2284095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/HALT/.test(str);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/halt/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i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.test(str);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91626" y="1176350"/>
            <a:ext cx="5054600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//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Returns true if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string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str</a:t>
            </a:r>
            <a:r>
              <a:rPr sz="1800" spc="-47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has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substr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HALT</a:t>
            </a:r>
            <a:endParaRPr sz="18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//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Same but ignore</a:t>
            </a:r>
            <a:r>
              <a:rPr sz="1800" spc="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1845005"/>
            <a:ext cx="81603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/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[Hh]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alt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[A-Z]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/.test(str); //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Returns true if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str</a:t>
            </a:r>
            <a:r>
              <a:rPr sz="1800" spc="-459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either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“Halt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L” 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“halt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L”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5675" y="2393710"/>
          <a:ext cx="7001510" cy="8944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5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047">
                <a:tc>
                  <a:txBody>
                    <a:bodyPr/>
                    <a:lstStyle/>
                    <a:p>
                      <a:pPr marR="22860" algn="ctr">
                        <a:lnSpc>
                          <a:spcPts val="1989"/>
                        </a:lnSpc>
                      </a:pP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'XXX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989"/>
                        </a:lnSpc>
                      </a:pP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abbbbbbc'.search(/ab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c/);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989"/>
                        </a:lnSpc>
                      </a:pP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// </a:t>
                      </a:r>
                      <a:r>
                        <a:rPr sz="1800" spc="-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Returns </a:t>
                      </a:r>
                      <a:r>
                        <a:rPr sz="180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4 (position </a:t>
                      </a:r>
                      <a:r>
                        <a:rPr sz="1800" spc="-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800" spc="-7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‘a’)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R="22860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'XXX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ac'.search(/ab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c/);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// </a:t>
                      </a:r>
                      <a:r>
                        <a:rPr sz="1800" spc="-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Returns </a:t>
                      </a:r>
                      <a:r>
                        <a:rPr sz="180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-1, </a:t>
                      </a:r>
                      <a:r>
                        <a:rPr sz="1800" spc="-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sz="1800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match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47">
                <a:tc>
                  <a:txBody>
                    <a:bodyPr/>
                    <a:lstStyle/>
                    <a:p>
                      <a:pPr marR="22860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'XXX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ac'.search(/ab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*</a:t>
                      </a: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c/);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// </a:t>
                      </a:r>
                      <a:r>
                        <a:rPr sz="1800" spc="-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Returns</a:t>
                      </a:r>
                      <a:r>
                        <a:rPr sz="1800" spc="1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84725" y="3462351"/>
            <a:ext cx="5415280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  <a:tabLst>
                <a:tab pos="4031615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'12e34'.search(/[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^\d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]/);	//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Returns</a:t>
            </a:r>
            <a:r>
              <a:rPr sz="18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'foo:</a:t>
            </a:r>
            <a:r>
              <a:rPr sz="18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bar;'.search(/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...\s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*: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\s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*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...\s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*;/);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86804" y="3816680"/>
            <a:ext cx="1332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//</a:t>
            </a:r>
            <a:r>
              <a:rPr sz="1800" spc="-55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Returns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6954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Regular </a:t>
            </a:r>
            <a:r>
              <a:rPr spc="-10" dirty="0"/>
              <a:t>Expressions </a:t>
            </a:r>
            <a:r>
              <a:rPr dirty="0"/>
              <a:t>-</a:t>
            </a:r>
            <a:r>
              <a:rPr spc="-85" dirty="0"/>
              <a:t> </a:t>
            </a:r>
            <a:r>
              <a:rPr spc="-5" dirty="0"/>
              <a:t>exec/match/replace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6043930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var str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"This has 'quoted' words like 'this'";  var re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/'[^']*'/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g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;</a:t>
            </a:r>
            <a:endParaRPr sz="1800" dirty="0">
              <a:latin typeface="Consolas"/>
              <a:cs typeface="Consola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65675" y="2079385"/>
          <a:ext cx="7313930" cy="8944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6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047">
                <a:tc>
                  <a:txBody>
                    <a:bodyPr/>
                    <a:lstStyle/>
                    <a:p>
                      <a:pPr marL="31750">
                        <a:lnSpc>
                          <a:spcPts val="1989"/>
                        </a:lnSpc>
                      </a:pP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re.exec(str);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ts val="1989"/>
                        </a:lnSpc>
                      </a:pP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// </a:t>
                      </a:r>
                      <a:r>
                        <a:rPr sz="1800" spc="-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Returns </a:t>
                      </a: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["'quoted'", index:</a:t>
                      </a:r>
                      <a:r>
                        <a:rPr sz="1800" spc="-2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9,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ts val="1989"/>
                        </a:lnSpc>
                      </a:pP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input: </a:t>
                      </a:r>
                      <a:r>
                        <a:rPr sz="180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re.exec(str);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// </a:t>
                      </a:r>
                      <a:r>
                        <a:rPr sz="1800" spc="-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Returns </a:t>
                      </a: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["'this'", index:</a:t>
                      </a:r>
                      <a:r>
                        <a:rPr sz="1800" spc="-1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29,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input:</a:t>
                      </a:r>
                      <a:r>
                        <a:rPr sz="1800" spc="30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4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re.exec(str);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// </a:t>
                      </a:r>
                      <a:r>
                        <a:rPr sz="1800" spc="-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Returns</a:t>
                      </a:r>
                      <a:r>
                        <a:rPr sz="1800" spc="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null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84725" y="3188030"/>
            <a:ext cx="7901940" cy="1128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20060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str.match(/'[^']*'/g);	//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Returns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["'quoted'",</a:t>
            </a:r>
            <a:r>
              <a:rPr sz="1800" spc="3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"'this'"]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str.replace(/'[^']*'/g, 'XXX'); //</a:t>
            </a:r>
            <a:r>
              <a:rPr sz="1800" spc="7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Returns:</a:t>
            </a:r>
            <a:endParaRPr sz="1800">
              <a:latin typeface="Arial"/>
              <a:cs typeface="Arial"/>
            </a:endParaRPr>
          </a:p>
          <a:p>
            <a:pPr marL="41275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'This has XXX words with</a:t>
            </a:r>
            <a:r>
              <a:rPr sz="1800" spc="-8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XXX.'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8379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Exceptions </a:t>
            </a:r>
            <a:r>
              <a:rPr dirty="0"/>
              <a:t>-</a:t>
            </a:r>
            <a:r>
              <a:rPr spc="-30" dirty="0"/>
              <a:t> </a:t>
            </a:r>
            <a:r>
              <a:rPr spc="-5" dirty="0">
                <a:latin typeface="Consolas"/>
                <a:cs typeface="Consolas"/>
              </a:rPr>
              <a:t>try/catch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8168640" cy="3373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304927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Error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reporting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frequently done with exceptions  Example:</a:t>
            </a:r>
            <a:endParaRPr sz="1800" dirty="0">
              <a:latin typeface="Arial"/>
              <a:cs typeface="Arial"/>
            </a:endParaRPr>
          </a:p>
          <a:p>
            <a:r>
              <a:rPr lang="es-ES" dirty="0">
                <a:solidFill>
                  <a:srgbClr val="795E26"/>
                </a:solidFill>
                <a:latin typeface="Consolas" panose="020B0609020204030204" pitchFamily="49" charset="0"/>
              </a:rPr>
              <a:t>	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nonExistentFunction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sz="1800" dirty="0">
              <a:latin typeface="Consolas"/>
              <a:cs typeface="Consolas"/>
            </a:endParaRPr>
          </a:p>
          <a:p>
            <a:pPr marL="37909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Terminates execution with</a:t>
            </a:r>
            <a:r>
              <a:rPr sz="1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error:</a:t>
            </a:r>
            <a:endParaRPr sz="1800" dirty="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315"/>
              </a:spcBef>
            </a:pP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Uncaught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ReferenceError: nonExistentFunction is not</a:t>
            </a:r>
            <a:r>
              <a:rPr sz="1800" spc="-7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defined</a:t>
            </a:r>
            <a:endParaRPr sz="1800" dirty="0">
              <a:solidFill>
                <a:srgbClr val="FF0000"/>
              </a:solidFill>
              <a:latin typeface="Consolas"/>
              <a:cs typeface="Consolas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Exceptio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n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 u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stack: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 Catc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 exception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 wit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	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try/catch  </a:t>
            </a:r>
            <a:endParaRPr lang="en-US" sz="1800" spc="-5" dirty="0">
              <a:solidFill>
                <a:srgbClr val="595959"/>
              </a:solidFill>
              <a:latin typeface="Consolas"/>
              <a:cs typeface="Consolas"/>
            </a:endParaRPr>
          </a:p>
          <a:p>
            <a:r>
              <a:rPr lang="es-ES" dirty="0">
                <a:solidFill>
                  <a:srgbClr val="AF00DB"/>
                </a:solidFill>
                <a:latin typeface="Consolas" panose="020B0609020204030204" pitchFamily="49" charset="0"/>
              </a:rPr>
              <a:t>try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s-ES" dirty="0">
                <a:solidFill>
                  <a:srgbClr val="795E26"/>
                </a:solidFill>
                <a:latin typeface="Consolas" panose="020B0609020204030204" pitchFamily="49" charset="0"/>
              </a:rPr>
              <a:t>  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nonExistentFunction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s-ES" dirty="0">
                <a:solidFill>
                  <a:srgbClr val="AF00DB"/>
                </a:solidFill>
                <a:latin typeface="Consolas" panose="020B0609020204030204" pitchFamily="49" charset="0"/>
              </a:rPr>
              <a:t>catch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 { </a:t>
            </a:r>
            <a:r>
              <a:rPr lang="es-E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s-ES" dirty="0" err="1">
                <a:solidFill>
                  <a:srgbClr val="008000"/>
                </a:solidFill>
                <a:latin typeface="Consolas" panose="020B0609020204030204" pitchFamily="49" charset="0"/>
              </a:rPr>
              <a:t>typeof</a:t>
            </a:r>
            <a:r>
              <a:rPr lang="es-ES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008000"/>
                </a:solidFill>
                <a:latin typeface="Consolas" panose="020B0609020204030204" pitchFamily="49" charset="0"/>
              </a:rPr>
              <a:t>err</a:t>
            </a:r>
            <a:r>
              <a:rPr lang="es-ES" dirty="0">
                <a:solidFill>
                  <a:srgbClr val="008000"/>
                </a:solidFill>
                <a:latin typeface="Consolas" panose="020B0609020204030204" pitchFamily="49" charset="0"/>
              </a:rPr>
              <a:t> '</a:t>
            </a:r>
            <a:r>
              <a:rPr lang="es-ES" dirty="0" err="1">
                <a:solidFill>
                  <a:srgbClr val="008000"/>
                </a:solidFill>
                <a:latin typeface="Consolas" panose="020B0609020204030204" pitchFamily="49" charset="0"/>
              </a:rPr>
              <a:t>object</a:t>
            </a:r>
            <a:r>
              <a:rPr lang="es-ES" dirty="0">
                <a:solidFill>
                  <a:srgbClr val="008000"/>
                </a:solidFill>
                <a:latin typeface="Consolas" panose="020B0609020204030204" pitchFamily="49" charset="0"/>
              </a:rPr>
              <a:t>' </a:t>
            </a:r>
            <a:endParaRPr lang="es-E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s-ES" dirty="0">
                <a:solidFill>
                  <a:srgbClr val="267F99"/>
                </a:solidFill>
                <a:latin typeface="Consolas" panose="020B0609020204030204" pitchFamily="49" charset="0"/>
              </a:rPr>
              <a:t>  console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"Error 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call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func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message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s-E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6189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Exceptions </a:t>
            </a:r>
            <a:r>
              <a:rPr dirty="0"/>
              <a:t>-</a:t>
            </a:r>
            <a:r>
              <a:rPr spc="-30" dirty="0"/>
              <a:t> </a:t>
            </a:r>
            <a:r>
              <a:rPr spc="-5" dirty="0">
                <a:latin typeface="Consolas"/>
                <a:cs typeface="Consolas"/>
              </a:rPr>
              <a:t>throw/finally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8135351" cy="2938624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Raise exceptions with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throw</a:t>
            </a:r>
            <a:r>
              <a:rPr sz="1800" spc="-484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statement</a:t>
            </a:r>
            <a:endParaRPr sz="1800" dirty="0">
              <a:latin typeface="Arial"/>
              <a:cs typeface="Arial"/>
            </a:endParaRPr>
          </a:p>
          <a:p>
            <a:pPr marL="403225"/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try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403225"/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  throw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"Help!"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03225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catch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errstr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errstr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=== "Help!" 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3225"/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  console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'Got exception'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errstr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403225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finally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403225"/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 // This block is executed after try/catch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3225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Conventions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are to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throw</a:t>
            </a:r>
            <a:r>
              <a:rPr sz="1800" spc="-4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sub-classes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 of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Error</a:t>
            </a:r>
            <a:r>
              <a:rPr sz="1800" spc="-4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object</a:t>
            </a:r>
            <a:endParaRPr sz="1800" dirty="0">
              <a:latin typeface="Arial"/>
              <a:cs typeface="Arial"/>
            </a:endParaRPr>
          </a:p>
          <a:p>
            <a:pPr marL="403225">
              <a:spcBef>
                <a:spcPts val="600"/>
              </a:spcBef>
            </a:pPr>
            <a:r>
              <a:rPr lang="es-ES" dirty="0">
                <a:solidFill>
                  <a:srgbClr val="267F99"/>
                </a:solidFill>
                <a:latin typeface="Consolas" panose="020B0609020204030204" pitchFamily="49" charset="0"/>
              </a:rPr>
              <a:t>console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" dirty="0" err="1">
                <a:solidFill>
                  <a:srgbClr val="A31515"/>
                </a:solidFill>
                <a:latin typeface="Consolas" panose="020B0609020204030204" pitchFamily="49" charset="0"/>
              </a:rPr>
              <a:t>Got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 Error:"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stack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message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5340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Getting </a:t>
            </a:r>
            <a:r>
              <a:rPr dirty="0"/>
              <a:t>JavaScript </a:t>
            </a:r>
            <a:r>
              <a:rPr spc="-5" dirty="0"/>
              <a:t>into </a:t>
            </a:r>
            <a:r>
              <a:rPr dirty="0"/>
              <a:t>a </a:t>
            </a:r>
            <a:r>
              <a:rPr spc="-5" dirty="0"/>
              <a:t>web</a:t>
            </a:r>
            <a:r>
              <a:rPr spc="-105" dirty="0"/>
              <a:t> </a:t>
            </a:r>
            <a:r>
              <a:rPr spc="-5" dirty="0"/>
              <a:t>page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216355"/>
            <a:ext cx="7830551" cy="328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By including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separate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file: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 dirty="0">
              <a:latin typeface="Times New Roman"/>
              <a:cs typeface="Times New Roman"/>
            </a:endParaRPr>
          </a:p>
          <a:p>
            <a:pPr marL="403225"/>
            <a:r>
              <a:rPr lang="fr-FR" dirty="0">
                <a:solidFill>
                  <a:srgbClr val="800000"/>
                </a:solidFill>
                <a:latin typeface="Consolas" panose="020B0609020204030204" pitchFamily="49" charset="0"/>
              </a:rPr>
              <a:t>&lt;script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fr-FR" dirty="0" err="1">
                <a:solidFill>
                  <a:srgbClr val="0000FF"/>
                </a:solidFill>
                <a:latin typeface="Consolas" panose="020B0609020204030204" pitchFamily="49" charset="0"/>
              </a:rPr>
              <a:t>text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/</a:t>
            </a:r>
            <a:r>
              <a:rPr lang="fr-FR" dirty="0" err="1">
                <a:solidFill>
                  <a:srgbClr val="0000FF"/>
                </a:solidFill>
                <a:latin typeface="Consolas" panose="020B0609020204030204" pitchFamily="49" charset="0"/>
              </a:rPr>
              <a:t>javascript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"code.js"</a:t>
            </a:r>
            <a:r>
              <a:rPr lang="fr-FR" dirty="0">
                <a:solidFill>
                  <a:srgbClr val="800000"/>
                </a:solidFill>
                <a:latin typeface="Consolas" panose="020B0609020204030204" pitchFamily="49" charset="0"/>
              </a:rPr>
              <a:t>&gt;&lt;/script&gt;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79095">
              <a:lnSpc>
                <a:spcPct val="100000"/>
              </a:lnSpc>
            </a:pP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Inline in the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HTML: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403225"/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&lt;script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"text/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javascript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3225"/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//&lt;![CDATA[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3225"/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JavaScript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goes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here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</a:p>
          <a:p>
            <a:pPr marL="403225"/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//]]&gt;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3225"/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E511CF504F4646AB54E0ACE4A117EC" ma:contentTypeVersion="0" ma:contentTypeDescription="Create a new document." ma:contentTypeScope="" ma:versionID="d4f0da77cb7c9de5903bc21ca831b4e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550003C-0F67-4276-9C83-8513DDB3D60A}"/>
</file>

<file path=customXml/itemProps2.xml><?xml version="1.0" encoding="utf-8"?>
<ds:datastoreItem xmlns:ds="http://schemas.openxmlformats.org/officeDocument/2006/customXml" ds:itemID="{13643945-DD7B-451B-9C54-F25C38AEDB0C}"/>
</file>

<file path=customXml/itemProps3.xml><?xml version="1.0" encoding="utf-8"?>
<ds:datastoreItem xmlns:ds="http://schemas.openxmlformats.org/officeDocument/2006/customXml" ds:itemID="{D1296002-FA88-441F-91A7-561DF2BA1251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2895</TotalTime>
  <Words>2751</Words>
  <Application>Microsoft Office PowerPoint</Application>
  <PresentationFormat>On-screen Show (16:9)</PresentationFormat>
  <Paragraphs>380</Paragraphs>
  <Slides>25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Comic Sans MS</vt:lpstr>
      <vt:lpstr>Consolas</vt:lpstr>
      <vt:lpstr>inherit</vt:lpstr>
      <vt:lpstr>Times New Roman</vt:lpstr>
      <vt:lpstr>Verdana</vt:lpstr>
      <vt:lpstr>Office Theme</vt:lpstr>
      <vt:lpstr>PowerPoint Presentation</vt:lpstr>
      <vt:lpstr>What is JavaScript?</vt:lpstr>
      <vt:lpstr>Some thoughts about JavaScript</vt:lpstr>
      <vt:lpstr>Good news if you know C - JavaScript is similar</vt:lpstr>
      <vt:lpstr>JavaScript has dynamic typing</vt:lpstr>
      <vt:lpstr>Variable scoping: Lexical/static scoping</vt:lpstr>
      <vt:lpstr>Var scope problems</vt:lpstr>
      <vt:lpstr>Var scope problems</vt:lpstr>
      <vt:lpstr>number type</vt:lpstr>
      <vt:lpstr>string type</vt:lpstr>
      <vt:lpstr>boolean type</vt:lpstr>
      <vt:lpstr>undefined and null</vt:lpstr>
      <vt:lpstr>function type</vt:lpstr>
      <vt:lpstr>function type (cont.)</vt:lpstr>
      <vt:lpstr>First class function example</vt:lpstr>
      <vt:lpstr>object type</vt:lpstr>
      <vt:lpstr>Properties can be added, removed, enumerated</vt:lpstr>
      <vt:lpstr>Arrays</vt:lpstr>
      <vt:lpstr>Dates</vt:lpstr>
      <vt:lpstr>Regular Expressions</vt:lpstr>
      <vt:lpstr>Regular Expressions by example - search/test</vt:lpstr>
      <vt:lpstr>Regular Expressions - exec/match/replace</vt:lpstr>
      <vt:lpstr>Exceptions - try/catch</vt:lpstr>
      <vt:lpstr>Exceptions - throw/finally</vt:lpstr>
      <vt:lpstr>Getting JavaScript into a web page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Amarsanaa Ganbold</cp:lastModifiedBy>
  <cp:revision>50</cp:revision>
  <dcterms:created xsi:type="dcterms:W3CDTF">2019-08-20T05:04:49Z</dcterms:created>
  <dcterms:modified xsi:type="dcterms:W3CDTF">2021-09-28T05:02:14Z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ContentTypeId">
    <vt:lpwstr>0x01010055E511CF504F4646AB54E0ACE4A117EC</vt:lpwstr>
  </property>
</Properties>
</file>