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58" r:id="rId5"/>
    <p:sldId id="28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51" autoAdjust="0"/>
  </p:normalViewPr>
  <p:slideViewPr>
    <p:cSldViewPr>
      <p:cViewPr varScale="1">
        <p:scale>
          <a:sx n="127" d="100"/>
          <a:sy n="127" d="100"/>
        </p:scale>
        <p:origin x="115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F924B-C824-4F01-8289-F677662AF122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B6F4-A551-46C0-B97F-D02C86288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aolan.github.io/async/v3/global.html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Async</a:t>
            </a:r>
            <a:r>
              <a:rPr lang="en-US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 is a utility module which provides straight-forward, powerful functions for working with </a:t>
            </a:r>
            <a:r>
              <a:rPr lang="en-US" b="1" i="0" u="none" strike="noStrike" dirty="0">
                <a:solidFill>
                  <a:srgbClr val="CB3837"/>
                </a:solidFill>
                <a:effectLst/>
                <a:latin typeface="Source Sans Pro" panose="020B0503030403020204" pitchFamily="34" charset="0"/>
                <a:hlinkClick r:id="rId3"/>
              </a:rPr>
              <a:t>asynchronous JavaScript</a:t>
            </a:r>
            <a:r>
              <a:rPr lang="en-US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CB6F4-A551-46C0-B97F-D02C86288D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6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39782" y="1881758"/>
            <a:ext cx="2264434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423910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2750" y="4778075"/>
            <a:ext cx="1782445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nodejs/met_buffer_copy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9125" y="503825"/>
            <a:ext cx="13258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2127" y="503825"/>
            <a:ext cx="1073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versus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1125" y="503825"/>
            <a:ext cx="1110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"/>
                <a:cs typeface="Arial"/>
              </a:rPr>
              <a:t>Events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431748"/>
            <a:ext cx="3424554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request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readRequest(socket);  reply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processRequest(request);  sendReply(socket,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reply);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3210100"/>
            <a:ext cx="3424554" cy="929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Implementation:</a:t>
            </a:r>
            <a:endParaRPr lang="en-US" sz="1800" dirty="0">
              <a:latin typeface="Arial"/>
              <a:cs typeface="Arial"/>
            </a:endParaRPr>
          </a:p>
          <a:p>
            <a:pPr marL="12700" marR="5080" indent="457200">
              <a:lnSpc>
                <a:spcPct val="151800"/>
              </a:lnSpc>
              <a:spcBef>
                <a:spcPts val="210"/>
              </a:spcBef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Thread </a:t>
            </a: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switching (i.e. </a:t>
            </a: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blocking) and</a:t>
            </a:r>
            <a:r>
              <a:rPr lang="en-US"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a  scheduler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9146" y="1431748"/>
            <a:ext cx="4080509" cy="2446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5080" indent="-29337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readRequest(socket, function(request)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processRequest(request,</a:t>
            </a:r>
            <a:endParaRPr sz="1400" dirty="0">
              <a:latin typeface="Consolas"/>
              <a:cs typeface="Consolas"/>
            </a:endParaRPr>
          </a:p>
          <a:p>
            <a:pPr marL="927100" marR="454659" indent="-23114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function (reply)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sendReply(socket,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reply);</a:t>
            </a:r>
            <a:endParaRPr sz="1400" dirty="0">
              <a:latin typeface="Consolas"/>
              <a:cs typeface="Consolas"/>
            </a:endParaRPr>
          </a:p>
          <a:p>
            <a:pPr marL="79311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Implementation: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85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 queue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80499" y="1018349"/>
            <a:ext cx="17145" cy="3426460"/>
          </a:xfrm>
          <a:custGeom>
            <a:avLst/>
            <a:gdLst/>
            <a:ahLst/>
            <a:cxnLst/>
            <a:rect l="l" t="t" r="r" b="b"/>
            <a:pathLst>
              <a:path w="17145" h="3426460">
                <a:moveTo>
                  <a:pt x="0" y="0"/>
                </a:moveTo>
                <a:lnTo>
                  <a:pt x="17099" y="34259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theosp.github.io/presentations/pong/presentation/nonblocking.png">
            <a:extLst>
              <a:ext uri="{FF2B5EF4-FFF2-40B4-BE49-F238E27FC236}">
                <a16:creationId xmlns:a16="http://schemas.microsoft.com/office/drawing/2014/main" id="{D5DB5D46-9988-4201-ACD8-1A7D96F21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62663"/>
            <a:ext cx="4603953" cy="293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2.bp.blogspot.com/-I9lzkfaYdrk/VZveysjldAI/AAAAAAAAPCo/lGqH0YLmZkI/s640/bb.png">
            <a:extLst>
              <a:ext uri="{FF2B5EF4-FFF2-40B4-BE49-F238E27FC236}">
                <a16:creationId xmlns:a16="http://schemas.microsoft.com/office/drawing/2014/main" id="{7A389B77-FBCF-4051-A51E-0988ADEAE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6" y="1200150"/>
            <a:ext cx="3403791" cy="1792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DDB97D2-8A5B-4952-A142-A7CC1A5E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30887"/>
          </a:xfrm>
        </p:spPr>
        <p:txBody>
          <a:bodyPr/>
          <a:lstStyle/>
          <a:p>
            <a:r>
              <a:rPr lang="en-US" dirty="0"/>
              <a:t>Blocking vs Non-blocking</a:t>
            </a:r>
          </a:p>
        </p:txBody>
      </p:sp>
    </p:spTree>
    <p:extLst>
      <p:ext uri="{BB962C8B-B14F-4D97-AF65-F5344CB8AC3E}">
        <p14:creationId xmlns:p14="http://schemas.microsoft.com/office/powerpoint/2010/main" val="276202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0180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Event</a:t>
            </a:r>
            <a:r>
              <a:rPr spc="-90" dirty="0"/>
              <a:t> </a:t>
            </a:r>
            <a:r>
              <a:rPr spc="-5"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409180" cy="2809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Inner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loop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3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while (true)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95680" marR="3902075" indent="-32385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(!eventQueue.notEmpty())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eventQueue.pop().call();</a:t>
            </a:r>
            <a:endParaRPr sz="1400">
              <a:latin typeface="Consolas"/>
              <a:cs typeface="Consolas"/>
            </a:endParaRPr>
          </a:p>
          <a:p>
            <a:pPr marL="70294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Never wait/block in event handler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readRequest(socket);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836294" lvl="1" indent="-424815">
              <a:lnSpc>
                <a:spcPct val="100000"/>
              </a:lnSpc>
              <a:buAutoNum type="arabicPeriod"/>
              <a:tabLst>
                <a:tab pos="836294" algn="l"/>
                <a:tab pos="836930" algn="l"/>
                <a:tab pos="3571875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launchReadRequest(socket);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Returns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immediately</a:t>
            </a:r>
            <a:endParaRPr sz="1400">
              <a:latin typeface="Arial"/>
              <a:cs typeface="Arial"/>
            </a:endParaRPr>
          </a:p>
          <a:p>
            <a:pPr marL="836294" lvl="1" indent="-424815">
              <a:lnSpc>
                <a:spcPct val="100000"/>
              </a:lnSpc>
              <a:spcBef>
                <a:spcPts val="869"/>
              </a:spcBef>
              <a:buFont typeface="Consolas"/>
              <a:buAutoNum type="arabicPeriod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finishes: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eventQueue.push(readDoneEventHandler);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E8B4-485E-45A3-9A7A-6C04AFEB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30887"/>
          </a:xfrm>
        </p:spPr>
        <p:txBody>
          <a:bodyPr/>
          <a:lstStyle/>
          <a:p>
            <a:r>
              <a:rPr lang="en-US" dirty="0"/>
              <a:t>Event queue</a:t>
            </a:r>
          </a:p>
        </p:txBody>
      </p:sp>
      <p:pic>
        <p:nvPicPr>
          <p:cNvPr id="4" name="Picture 6" descr="https://delftswa.gitbooks.io/desosa-2017/content/node/images-node/nodejs-event-loop.png">
            <a:extLst>
              <a:ext uri="{FF2B5EF4-FFF2-40B4-BE49-F238E27FC236}">
                <a16:creationId xmlns:a16="http://schemas.microsoft.com/office/drawing/2014/main" id="{CA56748B-922E-4263-BEBD-C0104AB2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3699"/>
            <a:ext cx="6477000" cy="357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85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230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63534" cy="31623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Take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engine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(Chrome's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V8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Engine)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 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both browser and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Don't need the DOM on the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 events and an event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queue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Everything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call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the event loop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(already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had one for browser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events)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 interface to all OS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Wrap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 the OS blocking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calls (file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socket/network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io)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 handle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gets its own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scope (not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everything 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window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3426"/>
            <a:ext cx="4938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Node.js </a:t>
            </a:r>
            <a:r>
              <a:rPr dirty="0"/>
              <a:t>reading a</a:t>
            </a:r>
            <a:r>
              <a:rPr spc="-95" dirty="0"/>
              <a:t> </a:t>
            </a:r>
            <a:r>
              <a:rPr spc="-5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38770" cy="36734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var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require("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fs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");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require</a:t>
            </a:r>
            <a:r>
              <a:rPr sz="18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endParaRPr sz="1800">
              <a:latin typeface="Arial"/>
              <a:cs typeface="Arial"/>
            </a:endParaRPr>
          </a:p>
          <a:p>
            <a:pPr marL="298831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fs object wraps OS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sync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read()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synchronous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 Node's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asynchronous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566039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smallFile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",</a:t>
            </a:r>
            <a:r>
              <a:rPr sz="1800" spc="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readDoneCallback);	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r>
              <a:rPr sz="1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readDoneCallback(error, dataBuffer)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 convention: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First argument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  <a:tabLst>
                <a:tab pos="374713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dataBuffer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	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Buffer</a:t>
            </a:r>
            <a:r>
              <a:rPr sz="1800" b="1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328295">
              <a:lnSpc>
                <a:spcPct val="100000"/>
              </a:lnSpc>
              <a:spcBef>
                <a:spcPts val="315"/>
              </a:spcBef>
              <a:tabLst>
                <a:tab pos="1958339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if (!error)	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51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console.log("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smallFile contents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",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dataBuffer.toString());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17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</a:t>
            </a:r>
            <a:r>
              <a:rPr spc="-90" dirty="0"/>
              <a:t> </a:t>
            </a:r>
            <a:r>
              <a:rPr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867015" cy="341185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Import using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require()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Can use ES6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import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if file name</a:t>
            </a:r>
            <a:r>
              <a:rPr sz="1800" spc="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*.mjs</a:t>
            </a:r>
            <a:endParaRPr sz="1800" dirty="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  <a:tab pos="2257425" algn="l"/>
                <a:tab pos="381698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System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module:	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require("fs");	//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Looks in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node_modules</a:t>
            </a:r>
            <a:r>
              <a:rPr sz="14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directories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  <a:tab pos="1968500" algn="l"/>
                <a:tab pos="40697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:	require("./XXX.js");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Reads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  <a:tab pos="46228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directory: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require("./myModule");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Reads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myModule/index.js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files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private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declare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would be global in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Require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returns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what is assigned to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module.exports</a:t>
            </a:r>
            <a:endParaRPr sz="1400" dirty="0">
              <a:latin typeface="Consolas"/>
              <a:cs typeface="Consolas"/>
            </a:endParaRPr>
          </a:p>
          <a:p>
            <a:pPr marL="379095" marR="5097780">
              <a:lnSpc>
                <a:spcPct val="114599"/>
              </a:lnSpc>
              <a:spcBef>
                <a:spcPts val="9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notGlobal;  function func1()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{}  function func2()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{}</a:t>
            </a:r>
            <a:endParaRPr sz="1800" dirty="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module.exports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{func1: func1, func2: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func2};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17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</a:t>
            </a:r>
            <a:r>
              <a:rPr spc="-90" dirty="0"/>
              <a:t> </a:t>
            </a:r>
            <a:r>
              <a:rPr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551930" cy="22288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standard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 access, networking, timers, devices,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crypto,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Huge library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(npm)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 pretty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anything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use: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Express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Fast, unopinionated,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minimalist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web framework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(speak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HTTP)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Mongoose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Elegant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mongodb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modeling (speak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database)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21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 </a:t>
            </a:r>
            <a:r>
              <a:rPr spc="-15" dirty="0"/>
              <a:t>Buffer</a:t>
            </a:r>
            <a:r>
              <a:rPr spc="-85" dirty="0"/>
              <a:t> </a:t>
            </a:r>
            <a:r>
              <a:rPr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103234" cy="29146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Manipulating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lots of binary data wasn't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strength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engine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Unfortunately that is what web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do: DBMS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</a:t>
            </a:r>
            <a:r>
              <a:rPr sz="1400" spc="-10" dirty="0">
                <a:solidFill>
                  <a:srgbClr val="595959"/>
                </a:solidFill>
                <a:latin typeface="MS PGothic"/>
                <a:cs typeface="MS PGothic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Buffer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 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Optimized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operating on binary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Interface looks an array of bytes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(like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OS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 calls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use)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Memory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allocated outside of the V8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heap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by the wrapped OS I/O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 (fs,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net,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…)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pointers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rather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always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copying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  <a:hlinkClick r:id="rId2"/>
              </a:rPr>
              <a:t>buffer.copy()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example: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fs.readFile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socket.write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23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Buffer</a:t>
            </a:r>
            <a:r>
              <a:rPr spc="-8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829425" cy="17907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Supports operations for picking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out or updating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them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peek 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some values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bulk of it on its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convert a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buffer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parts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buffer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JavaScript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string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  <a:tab pos="3035935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buf.toString("utf8");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Convert to UTF8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commonly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 on the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  <a:tab pos="3085465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buf.toString("hex");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Convert to hex encoding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(2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digits per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byte)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buf.toString("base64");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Convert to base64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2750" y="4766045"/>
            <a:ext cx="1782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443426"/>
            <a:ext cx="61620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Node.js </a:t>
            </a:r>
            <a:r>
              <a:rPr dirty="0"/>
              <a:t>reading a </a:t>
            </a:r>
            <a:r>
              <a:rPr spc="-5" dirty="0"/>
              <a:t>file</a:t>
            </a:r>
            <a:r>
              <a:rPr spc="-100" dirty="0"/>
              <a:t> </a:t>
            </a:r>
            <a:r>
              <a:rPr dirty="0"/>
              <a:t>(redux)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6350"/>
            <a:ext cx="8231505" cy="34829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var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require("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fs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");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81 properties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readFile,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writeFile,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566039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smallFile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",</a:t>
            </a:r>
            <a:r>
              <a:rPr sz="1800" spc="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readDoneCallback);	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r>
              <a:rPr sz="1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Read has been launched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execution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continues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Node.js exits when no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outstanding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readDoneCallback(error, dataBuffer)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7207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console.log(dataBuffer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prints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&lt;Buffer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66 73 20 3d 20 72 65 71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800" dirty="0">
              <a:latin typeface="Arial"/>
              <a:cs typeface="Arial"/>
            </a:endParaRPr>
          </a:p>
          <a:p>
            <a:pPr marL="705485">
              <a:lnSpc>
                <a:spcPct val="100000"/>
              </a:lnSpc>
              <a:spcBef>
                <a:spcPts val="315"/>
              </a:spcBef>
              <a:tabLst>
                <a:tab pos="233489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if (!error)	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101663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console.log("</a:t>
            </a:r>
            <a:r>
              <a:rPr sz="1800" spc="-5" dirty="0">
                <a:solidFill>
                  <a:srgbClr val="6AA84F"/>
                </a:solidFill>
                <a:latin typeface="Consolas"/>
                <a:cs typeface="Consolas"/>
              </a:rPr>
              <a:t>smallFile contents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",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dataBuffer.toString());</a:t>
            </a:r>
            <a:endParaRPr sz="1800" dirty="0">
              <a:latin typeface="Consolas"/>
              <a:cs typeface="Consolas"/>
            </a:endParaRPr>
          </a:p>
          <a:p>
            <a:pPr marL="7651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673930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02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Programming </a:t>
            </a:r>
            <a:r>
              <a:rPr spc="-5" dirty="0"/>
              <a:t>with</a:t>
            </a:r>
            <a:r>
              <a:rPr spc="-85" dirty="0"/>
              <a:t> </a:t>
            </a:r>
            <a:r>
              <a:rPr spc="-5" dirty="0"/>
              <a:t>Events/Callbacks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625590" cy="27209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Key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difference</a:t>
            </a:r>
            <a:endParaRPr sz="1800">
              <a:latin typeface="Arial"/>
              <a:cs typeface="Arial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Threads: Blocking/waiting 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transparent</a:t>
            </a:r>
            <a:endParaRPr sz="1800">
              <a:latin typeface="Arial"/>
              <a:cs typeface="Arial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Events: Blocking/waiting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Mental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doesn't block: Same as thread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does block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(or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needs to block): Need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setup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Often what was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return statement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becomes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34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Three </a:t>
            </a:r>
            <a:r>
              <a:rPr dirty="0"/>
              <a:t>step</a:t>
            </a:r>
            <a:r>
              <a:rPr spc="-14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2950845" cy="227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Threads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16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step1();  console.log('step1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r1);  r2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step2(r1);  console.log('step2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r2);  r3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step3(r2);  console.log('step3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r3);  console.log('All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Done!');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684092"/>
            <a:ext cx="3319145" cy="863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spc="-15" dirty="0">
                <a:solidFill>
                  <a:srgbClr val="595959"/>
                </a:solidFill>
                <a:latin typeface="Arial"/>
                <a:cs typeface="Arial"/>
              </a:rPr>
              <a:t>Works </a:t>
            </a: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595959"/>
                </a:solidFill>
                <a:latin typeface="Arial"/>
                <a:cs typeface="Arial"/>
              </a:rPr>
              <a:t>non-blocking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calls </a:t>
            </a: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in both</a:t>
            </a:r>
            <a:r>
              <a:rPr sz="2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styles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425" y="1213308"/>
            <a:ext cx="1346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Callbacks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425" y="1803223"/>
            <a:ext cx="3768090" cy="256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529590" indent="-29337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step1(function(r1)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console.log('step1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r1);  step2(r1, function (r2)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98170" marR="236854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console.log('step2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r2);  step3(r2, function (r3)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console.log('step3</a:t>
            </a:r>
            <a:r>
              <a:rPr sz="14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done',r3);</a:t>
            </a:r>
            <a:endParaRPr sz="140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console.log('All Done!'); //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Wrong!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34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Three </a:t>
            </a:r>
            <a:r>
              <a:rPr dirty="0"/>
              <a:t>step</a:t>
            </a:r>
            <a:r>
              <a:rPr spc="-14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2950845" cy="227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Threads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16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step1();  console.log('step1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r1);  r2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step2(r1);  console.log('step2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r2);  r3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step3(r2);  console.log('step3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r3);  console.log('All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Done!');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213308"/>
            <a:ext cx="1346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Callbacks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425" y="1803223"/>
            <a:ext cx="3865245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626110" indent="-29337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step1(function(r1)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console.log('step1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r1);  step2(r1, function (r2)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98170" marR="333375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console.log('step2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r2);  step3(r2, function (r3)</a:t>
            </a:r>
            <a:r>
              <a:rPr sz="1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console.log('step3 done',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r3);</a:t>
            </a:r>
            <a:endParaRPr sz="14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70"/>
              </a:spcBef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console.log('All</a:t>
            </a:r>
            <a:r>
              <a:rPr sz="1400" b="1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Done!');</a:t>
            </a:r>
            <a:endParaRPr sz="140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791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Listener/emitter</a:t>
            </a:r>
            <a:r>
              <a:rPr spc="-85" dirty="0"/>
              <a:t> </a:t>
            </a:r>
            <a:r>
              <a:rPr spc="-5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81009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programing with events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(rather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threads)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listener/emitter pattern  is often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used.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Listener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to 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the event is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signaled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163790"/>
            <a:ext cx="6065520" cy="79057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36294" indent="-336550">
              <a:lnSpc>
                <a:spcPct val="100000"/>
              </a:lnSpc>
              <a:spcBef>
                <a:spcPts val="105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Should be familiar from DOM programming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addEventListerner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Emitter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Signal that an event has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occurred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3" y="2970988"/>
            <a:ext cx="4830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Emit an event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cause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 the listener functions to be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120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Node: </a:t>
            </a:r>
            <a:r>
              <a:rPr spc="-5" dirty="0">
                <a:latin typeface="Consolas"/>
                <a:cs typeface="Consolas"/>
              </a:rPr>
              <a:t>EventEmitter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10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require('events');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46084" cy="283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Listen with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on()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signal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emit()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myEmitter.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('myEvent', function(param1, param2)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76962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console.log('myEvent occurred with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' +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param1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+ '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and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' +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param2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+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'!');</a:t>
            </a:r>
            <a:endParaRPr sz="14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myEmitter.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emit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('myEvent', 'arg1',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'arg2');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emit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listeners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synchronously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in the order the listeners  were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registered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no listener then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emit()</a:t>
            </a:r>
            <a:r>
              <a:rPr sz="1800" spc="-4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nop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056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Typical </a:t>
            </a:r>
            <a:r>
              <a:rPr spc="-5" dirty="0">
                <a:latin typeface="Consolas"/>
                <a:cs typeface="Consolas"/>
              </a:rPr>
              <a:t>EventEmitter</a:t>
            </a:r>
            <a:r>
              <a:rPr spc="-10" dirty="0">
                <a:latin typeface="Consolas"/>
                <a:cs typeface="Consolas"/>
              </a:rPr>
              <a:t> </a:t>
            </a:r>
            <a:r>
              <a:rPr spc="-5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6220460" cy="302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36550">
              <a:lnSpc>
                <a:spcPct val="149300"/>
              </a:lnSpc>
              <a:spcBef>
                <a:spcPts val="100"/>
              </a:spcBef>
              <a:buSzPct val="77777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events for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actions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myEmitter.on('conditionA', doConditionA);  myEmitter.on('conditionB', doConditionB);  myEmitter.on('conditionC', doConditionC);  myEmitter.on('error',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handleErrorCondition);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●"/>
            </a:pPr>
            <a:endParaRPr sz="17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Handling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'error'</a:t>
            </a:r>
            <a:r>
              <a:rPr sz="1800" spc="-5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important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exits if not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caught!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myEmitter.emit('error', new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Error('Ouch!'));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59420" cy="335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Build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produce and/or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consume streams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popular way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structuring</a:t>
            </a:r>
            <a:r>
              <a:rPr sz="18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Network interface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TCP/IP protocol processing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 protocol processing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400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build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connected streams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dynamically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stream: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stream.push(Encryption)</a:t>
            </a:r>
            <a:endParaRPr sz="140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Network interface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TCP/IP protocol processing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Encryption </a:t>
            </a:r>
            <a:r>
              <a:rPr sz="1400" dirty="0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r>
              <a:rPr sz="14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Node's APIs heavily uses</a:t>
            </a:r>
            <a:r>
              <a:rPr sz="18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streams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Readable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streams (e.g.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fs.createReadStream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Writable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stream (e.g.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fs.createWriteStream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Duplex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stream (e.g.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net.createConnection)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Transform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stream (e.g.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zlib,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crypto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3920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Readable </a:t>
            </a:r>
            <a:r>
              <a:rPr dirty="0"/>
              <a:t>streams - </a:t>
            </a:r>
            <a:r>
              <a:rPr spc="-5" dirty="0"/>
              <a:t>File </a:t>
            </a:r>
            <a:r>
              <a:rPr dirty="0"/>
              <a:t>reading </a:t>
            </a:r>
            <a:r>
              <a:rPr spc="-5" dirty="0"/>
              <a:t>using</a:t>
            </a:r>
            <a:r>
              <a:rPr spc="-110" dirty="0"/>
              <a:t> </a:t>
            </a:r>
            <a:r>
              <a:rPr dirty="0"/>
              <a:t>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8101965" cy="3458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readableStreamEvent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fs.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createReadStream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("bigFile");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581015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readableStreamEvent.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('data', function</a:t>
            </a:r>
            <a:r>
              <a:rPr sz="1400" spc="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(chunkBuffer)</a:t>
            </a:r>
            <a:r>
              <a:rPr sz="14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// Could 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called multiple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console.log('got chunk of', chunkBuffer.length,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'bytes');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readableStreamEvent.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('end', function()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07645" marR="4765675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Called after all chunks read  console.log('got all the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data');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Times New Roman"/>
              <a:cs typeface="Times New Roman"/>
            </a:endParaRPr>
          </a:p>
          <a:p>
            <a:pPr marL="207645" marR="3397250" indent="-1955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readableStreamEvent.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('error', function (err)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console.error('got error',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err);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008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Writable </a:t>
            </a:r>
            <a:r>
              <a:rPr dirty="0"/>
              <a:t>streams - </a:t>
            </a:r>
            <a:r>
              <a:rPr spc="-5" dirty="0"/>
              <a:t>File writing using</a:t>
            </a:r>
            <a:r>
              <a:rPr spc="-75" dirty="0"/>
              <a:t> </a:t>
            </a:r>
            <a:r>
              <a:rPr dirty="0"/>
              <a:t>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89850" cy="318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writableStreamEvent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createWriteStream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('outputFile');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63525" marR="1895475" indent="-251460">
              <a:lnSpc>
                <a:spcPct val="114599"/>
              </a:lnSpc>
              <a:spcBef>
                <a:spcPts val="138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writableStreamEvent.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('finish', function ()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console.log('file has been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written!');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 marR="2144395">
              <a:lnSpc>
                <a:spcPct val="2743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writableStreamEvent.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write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('Hello world!\n');  writableStreamEvent.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end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56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Digression: </a:t>
            </a:r>
            <a:r>
              <a:rPr spc="-10" dirty="0"/>
              <a:t>Socket </a:t>
            </a:r>
            <a:r>
              <a:rPr dirty="0"/>
              <a:t>setup </a:t>
            </a:r>
            <a:r>
              <a:rPr spc="-5" dirty="0"/>
              <a:t>for TCP</a:t>
            </a:r>
            <a:r>
              <a:rPr spc="-195" dirty="0"/>
              <a:t> </a:t>
            </a:r>
            <a:r>
              <a:rPr dirty="0"/>
              <a:t>connections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2146123"/>
            <a:ext cx="380682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connect(sock,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&amp;serverAddr,</a:t>
            </a:r>
            <a:endParaRPr sz="1400">
              <a:latin typeface="Consolas"/>
              <a:cs typeface="Consolas"/>
            </a:endParaRPr>
          </a:p>
          <a:p>
            <a:pPr marL="18415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sizeof(serverAddr));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75738"/>
            <a:ext cx="2170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write(sock, "Hi!",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3);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323413"/>
            <a:ext cx="17805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read(sock, buf,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3)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216355"/>
            <a:ext cx="7906384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846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Client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(Browser)	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(Web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Server)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18846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socket(AF_INET,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SOCK_STREAM,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0);	lfd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socket(AF_INET, SOCK_STREAM,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0);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0649" y="2104213"/>
            <a:ext cx="4220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bind(lfd, &amp;serverSddr,</a:t>
            </a:r>
            <a:r>
              <a:rPr sz="14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sizeof(serveraddr));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0649" y="2475688"/>
            <a:ext cx="1487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listen(lfd,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5);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0649" y="2847163"/>
            <a:ext cx="43167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sock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accept(lfd, &amp;clientaddr,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&amp;clientlen);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0649" y="3218638"/>
            <a:ext cx="1878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read(sock, buf,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3);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168" y="3590113"/>
            <a:ext cx="5821680" cy="906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write(sock, buf,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3)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348615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latin typeface="Arial"/>
                <a:cs typeface="Arial"/>
              </a:rPr>
              <a:t>TCP/IP </a:t>
            </a:r>
            <a:r>
              <a:rPr sz="1400" dirty="0">
                <a:latin typeface="Arial"/>
                <a:cs typeface="Arial"/>
              </a:rPr>
              <a:t>socket connection </a:t>
            </a:r>
            <a:r>
              <a:rPr sz="1400" spc="-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a reliable, </a:t>
            </a:r>
            <a:r>
              <a:rPr sz="1400" spc="-5" dirty="0">
                <a:latin typeface="Arial"/>
                <a:cs typeface="Arial"/>
              </a:rPr>
              <a:t>in-order byte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stream</a:t>
            </a:r>
            <a:endParaRPr sz="1400">
              <a:latin typeface="Arial"/>
              <a:cs typeface="Arial"/>
            </a:endParaRPr>
          </a:p>
          <a:p>
            <a:pPr marL="805815" lvl="1" indent="-337185">
              <a:lnSpc>
                <a:spcPct val="100000"/>
              </a:lnSpc>
              <a:spcBef>
                <a:spcPts val="270"/>
              </a:spcBef>
              <a:buChar char="○"/>
              <a:tabLst>
                <a:tab pos="805180" algn="l"/>
                <a:tab pos="806450" algn="l"/>
              </a:tabLst>
            </a:pPr>
            <a:r>
              <a:rPr sz="1400" spc="-5" dirty="0">
                <a:latin typeface="Arial"/>
                <a:cs typeface="Arial"/>
              </a:rPr>
              <a:t>Note: </a:t>
            </a:r>
            <a:r>
              <a:rPr sz="1400" dirty="0">
                <a:latin typeface="Arial"/>
                <a:cs typeface="Arial"/>
              </a:rPr>
              <a:t>reads can return </a:t>
            </a:r>
            <a:r>
              <a:rPr sz="1400" spc="-5" dirty="0">
                <a:latin typeface="Arial"/>
                <a:cs typeface="Arial"/>
              </a:rPr>
              <a:t>data in </a:t>
            </a:r>
            <a:r>
              <a:rPr sz="1400" spc="-10" dirty="0">
                <a:latin typeface="Arial"/>
                <a:cs typeface="Arial"/>
              </a:rPr>
              <a:t>different </a:t>
            </a:r>
            <a:r>
              <a:rPr sz="1400" dirty="0">
                <a:latin typeface="Arial"/>
                <a:cs typeface="Arial"/>
              </a:rPr>
              <a:t>chunks </a:t>
            </a:r>
            <a:r>
              <a:rPr sz="1400" spc="-5" dirty="0">
                <a:latin typeface="Arial"/>
                <a:cs typeface="Arial"/>
              </a:rPr>
              <a:t>that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sent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403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TCP Networking on</a:t>
            </a:r>
            <a:r>
              <a:rPr spc="-140" dirty="0"/>
              <a:t> </a:t>
            </a:r>
            <a:r>
              <a:rPr spc="-5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418705" cy="287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net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wraps OS's network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routines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Includes higher level functionality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like:</a:t>
            </a:r>
            <a:endParaRPr sz="1800">
              <a:latin typeface="Arial"/>
              <a:cs typeface="Arial"/>
            </a:endParaRPr>
          </a:p>
          <a:p>
            <a:pPr marL="379095" marR="51435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net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require('net');  net.createServer(processTCPconnection).listen(4000);</a:t>
            </a:r>
            <a:endParaRPr sz="1800">
              <a:latin typeface="Consolas"/>
              <a:cs typeface="Consolas"/>
            </a:endParaRPr>
          </a:p>
          <a:p>
            <a:pPr marL="836294" marR="508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Creates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socket,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binds port 4000, and listens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connections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Calls 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processTCPconnection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each TCP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55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dirty="0"/>
              <a:t>A chat</a:t>
            </a:r>
            <a:r>
              <a:rPr spc="-405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48625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6060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clients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[]; // List of connected clients  function processTCPconnection(socket)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clients.push(socket); // Add this client to our connected</a:t>
            </a:r>
            <a:r>
              <a:rPr sz="1800" spc="-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list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8812" y="2597481"/>
            <a:ext cx="292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received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to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727" y="2243151"/>
            <a:ext cx="441261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marR="5080" indent="-25146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socket.on('data', function (data)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broadcast( "&gt;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" +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data,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socket);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socket.on('end', function ()</a:t>
            </a:r>
            <a:r>
              <a:rPr sz="18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500451"/>
            <a:ext cx="8048625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clients.splice(clients.indexOf(socket), 1); // remove</a:t>
            </a:r>
            <a:r>
              <a:rPr sz="18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socket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753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Chat </a:t>
            </a:r>
            <a:r>
              <a:rPr spc="-10" dirty="0"/>
              <a:t>Server:</a:t>
            </a:r>
            <a:r>
              <a:rPr spc="-90" dirty="0"/>
              <a:t> </a:t>
            </a:r>
            <a:r>
              <a:rPr spc="-5" dirty="0"/>
              <a:t>broadcast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018020" cy="28543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Send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message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clients</a:t>
            </a:r>
            <a:endParaRPr sz="1800">
              <a:latin typeface="Arial"/>
              <a:cs typeface="Arial"/>
            </a:endParaRPr>
          </a:p>
          <a:p>
            <a:pPr marL="263525" marR="2359025" indent="-25146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function broadcast(message, sender)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clients.forEach(function (client)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64008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if (client === sender) return;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Don't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 to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sender</a:t>
            </a:r>
            <a:endParaRPr sz="1800">
              <a:latin typeface="Arial"/>
              <a:cs typeface="Arial"/>
            </a:endParaRPr>
          </a:p>
          <a:p>
            <a:pPr marL="596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client.write(message);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chat 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implementation is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done!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651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Putting </a:t>
            </a:r>
            <a:r>
              <a:rPr spc="-5" dirty="0"/>
              <a:t>it together: </a:t>
            </a:r>
            <a:r>
              <a:rPr dirty="0"/>
              <a:t>A real simple </a:t>
            </a:r>
            <a:r>
              <a:rPr spc="-5" dirty="0"/>
              <a:t>file</a:t>
            </a:r>
            <a:r>
              <a:rPr spc="-415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3138170" indent="-376555">
              <a:lnSpc>
                <a:spcPct val="114599"/>
              </a:lnSpc>
              <a:spcBef>
                <a:spcPts val="100"/>
              </a:spcBef>
            </a:pPr>
            <a:r>
              <a:rPr spc="-5" dirty="0"/>
              <a:t>net.createServer(function (socket) </a:t>
            </a:r>
            <a:r>
              <a:rPr dirty="0"/>
              <a:t>{  </a:t>
            </a:r>
            <a:r>
              <a:rPr spc="-5" dirty="0"/>
              <a:t>socket.on('data', function (fileName)</a:t>
            </a:r>
            <a:r>
              <a:rPr spc="-90" dirty="0"/>
              <a:t> </a:t>
            </a:r>
            <a:r>
              <a:rPr dirty="0"/>
              <a:t>{</a:t>
            </a:r>
          </a:p>
          <a:p>
            <a:pPr marL="1016635" marR="5080" indent="-251460">
              <a:lnSpc>
                <a:spcPct val="114599"/>
              </a:lnSpc>
            </a:pPr>
            <a:r>
              <a:rPr spc="-5" dirty="0"/>
              <a:t>fs.readFile(fileName.toString(), function (error, fileData) </a:t>
            </a:r>
            <a:r>
              <a:rPr dirty="0"/>
              <a:t>{  </a:t>
            </a:r>
            <a:r>
              <a:rPr spc="-5" dirty="0"/>
              <a:t>if (!error)</a:t>
            </a:r>
            <a:r>
              <a:rPr spc="-10" dirty="0"/>
              <a:t> </a:t>
            </a:r>
            <a:r>
              <a:rPr dirty="0"/>
              <a:t>{</a:t>
            </a:r>
          </a:p>
          <a:p>
            <a:pPr marL="1393190">
              <a:lnSpc>
                <a:spcPct val="100000"/>
              </a:lnSpc>
              <a:spcBef>
                <a:spcPts val="315"/>
              </a:spcBef>
              <a:tabLst>
                <a:tab pos="4526280" algn="l"/>
              </a:tabLst>
            </a:pPr>
            <a:r>
              <a:rPr spc="-5" dirty="0"/>
              <a:t>socket.write(fileData);	// Writing </a:t>
            </a:r>
            <a:r>
              <a:rPr dirty="0"/>
              <a:t>a</a:t>
            </a:r>
            <a:r>
              <a:rPr spc="-25" dirty="0"/>
              <a:t> </a:t>
            </a:r>
            <a:r>
              <a:rPr spc="-5" dirty="0"/>
              <a:t>Buffer</a:t>
            </a:r>
          </a:p>
          <a:p>
            <a:pPr marL="1016635">
              <a:lnSpc>
                <a:spcPct val="100000"/>
              </a:lnSpc>
              <a:spcBef>
                <a:spcPts val="315"/>
              </a:spcBef>
            </a:pPr>
            <a:r>
              <a:rPr dirty="0"/>
              <a:t>} </a:t>
            </a:r>
            <a:r>
              <a:rPr spc="-5" dirty="0"/>
              <a:t>else</a:t>
            </a:r>
            <a:r>
              <a:rPr spc="-15" dirty="0"/>
              <a:t> </a:t>
            </a:r>
            <a:r>
              <a:rPr dirty="0"/>
              <a:t>{</a:t>
            </a:r>
          </a:p>
          <a:p>
            <a:pPr marL="139319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socket.write(error.message); // Writing </a:t>
            </a:r>
            <a:r>
              <a:rPr dirty="0"/>
              <a:t>a</a:t>
            </a:r>
            <a:r>
              <a:rPr spc="-35" dirty="0"/>
              <a:t> </a:t>
            </a:r>
            <a:r>
              <a:rPr spc="-5" dirty="0"/>
              <a:t>String</a:t>
            </a:r>
          </a:p>
          <a:p>
            <a:pPr marL="1016635">
              <a:lnSpc>
                <a:spcPct val="100000"/>
              </a:lnSpc>
              <a:spcBef>
                <a:spcPts val="315"/>
              </a:spcBef>
            </a:pPr>
            <a:r>
              <a:rPr dirty="0"/>
              <a:t>}</a:t>
            </a:r>
          </a:p>
          <a:p>
            <a:pPr marL="1016635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socket.end();</a:t>
            </a:r>
          </a:p>
          <a:p>
            <a:pPr marL="64008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});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4319601"/>
            <a:ext cx="2033905" cy="6540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4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}).listen(4000);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6193" y="4318480"/>
            <a:ext cx="4322445" cy="62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SzPct val="77777"/>
              <a:buChar char="●"/>
              <a:tabLst>
                <a:tab pos="347980" algn="l"/>
                <a:tab pos="349250" algn="l"/>
              </a:tabLst>
            </a:pPr>
            <a:r>
              <a:rPr sz="1800" spc="-5" dirty="0">
                <a:latin typeface="Arial"/>
                <a:cs typeface="Arial"/>
              </a:rPr>
              <a:t>Think about </a:t>
            </a:r>
            <a:r>
              <a:rPr sz="1800" dirty="0">
                <a:latin typeface="Arial"/>
                <a:cs typeface="Arial"/>
              </a:rPr>
              <a:t>concurrency </a:t>
            </a:r>
            <a:r>
              <a:rPr sz="1800" spc="-5" dirty="0">
                <a:latin typeface="Arial"/>
                <a:cs typeface="Arial"/>
              </a:rPr>
              <a:t>going on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here</a:t>
            </a:r>
            <a:endParaRPr sz="180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136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862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Read three</a:t>
            </a:r>
            <a:r>
              <a:rPr spc="-85" dirty="0"/>
              <a:t> </a:t>
            </a:r>
            <a:r>
              <a:rPr spc="-5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696709" cy="3568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read(open("f1"),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buf1,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f1Size);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read(open("f2"),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buf2,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f2Size);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read(open("f3"),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buf3,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f3Size);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endParaRPr sz="1800">
              <a:latin typeface="Arial"/>
              <a:cs typeface="Arial"/>
            </a:endParaRPr>
          </a:p>
          <a:p>
            <a:pPr marL="836294" marR="462280" indent="-45720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fs.readFile("f1", function (error, data1)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fs.readFile("f2", function (error, data2)</a:t>
            </a:r>
            <a:r>
              <a:rPr sz="18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2934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fs.readFile("f3", function (error, data3)</a:t>
            </a:r>
            <a:r>
              <a:rPr sz="18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7506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</a:t>
            </a:r>
            <a:r>
              <a:rPr sz="18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Pyramid of Doom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Callback Hell</a:t>
            </a:r>
            <a:endParaRPr sz="1800">
              <a:latin typeface="Arial"/>
              <a:cs typeface="Arial"/>
            </a:endParaRPr>
          </a:p>
          <a:p>
            <a:pPr marL="42418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 });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35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Read </a:t>
            </a:r>
            <a:r>
              <a:rPr dirty="0"/>
              <a:t>N</a:t>
            </a:r>
            <a:r>
              <a:rPr spc="-85" dirty="0"/>
              <a:t> </a:t>
            </a:r>
            <a:r>
              <a:rPr spc="-5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71790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8567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fileContents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{};  ['f1','f2','f3'].forEach(function (fileName)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 marR="975994" indent="-45720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fs.readFile(fileName, function (error, dataBuffer)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assert(!error);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fileContents[fileName]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dataBuffer;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we want to use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fileContents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know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finished?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Recall: Can't wait 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NodeJS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35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Read </a:t>
            </a:r>
            <a:r>
              <a:rPr dirty="0"/>
              <a:t>N</a:t>
            </a:r>
            <a:r>
              <a:rPr spc="-85" dirty="0"/>
              <a:t> </a:t>
            </a:r>
            <a:r>
              <a:rPr spc="-5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58761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1495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fileContents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{};  ['f1','f2','f3'].forEach(function (fileName)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 marR="591820" indent="-45720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fs.readFile(fileName, function (error, dataBuffer)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assert(!error);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fileContents[fileName]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dataBuffer;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if (gotLastCallBack())</a:t>
            </a:r>
            <a:r>
              <a:rPr sz="1800" b="1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allDoneCallback(fileContents);</a:t>
            </a:r>
            <a:endParaRPr sz="180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Yuck!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115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Async </a:t>
            </a:r>
            <a:r>
              <a:rPr dirty="0"/>
              <a:t>module: </a:t>
            </a:r>
            <a:r>
              <a:rPr spc="-5" dirty="0">
                <a:latin typeface="Consolas"/>
                <a:cs typeface="Consolas"/>
              </a:rPr>
              <a:t>var async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7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require('async');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216355"/>
            <a:ext cx="7921075" cy="37746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Solution: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Write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that turns waiting 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fileContents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{};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async.each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(['f1','f2','f3'], readIt, function (err)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305435" marR="537210">
              <a:lnSpc>
                <a:spcPct val="116100"/>
              </a:lnSpc>
              <a:spcBef>
                <a:spcPts val="97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(!err) console.log('Done'); // fileContents filled in  </a:t>
            </a:r>
            <a:endParaRPr lang="en-US" sz="1400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305435" marR="537210">
              <a:lnSpc>
                <a:spcPct val="116100"/>
              </a:lnSpc>
              <a:spcBef>
                <a:spcPts val="97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(err) console.error('Got an error:',</a:t>
            </a:r>
            <a:r>
              <a:rPr sz="1400"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err.message);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 dirty="0">
              <a:latin typeface="Consolas"/>
              <a:cs typeface="Consolas"/>
            </a:endParaRPr>
          </a:p>
          <a:p>
            <a:pPr marL="305435" marR="927100" indent="-293370">
              <a:lnSpc>
                <a:spcPct val="116100"/>
              </a:lnSpc>
              <a:spcBef>
                <a:spcPts val="97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function readIt(fileName, callback)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br>
              <a:rPr lang="en-US" sz="1400" dirty="0">
                <a:solidFill>
                  <a:srgbClr val="595959"/>
                </a:solidFill>
                <a:latin typeface="Consolas"/>
                <a:cs typeface="Consolas"/>
              </a:rPr>
            </a:br>
            <a:r>
              <a:rPr sz="1400" spc="-5" dirty="0" err="1">
                <a:solidFill>
                  <a:srgbClr val="595959"/>
                </a:solidFill>
                <a:latin typeface="Consolas"/>
                <a:cs typeface="Consolas"/>
              </a:rPr>
              <a:t>fs.readFile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(fileName, function (error, dataBuffer)</a:t>
            </a:r>
            <a:r>
              <a:rPr sz="14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695960" marR="209550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fileContents[fileName]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dataBuffer;  callback(error);</a:t>
            </a:r>
            <a:endParaRPr sz="1400" dirty="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Node.js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306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9430" algn="l"/>
              </a:tabLst>
            </a:pPr>
            <a:r>
              <a:rPr spc="-5" dirty="0"/>
              <a:t>Node.JS </a:t>
            </a:r>
            <a:r>
              <a:rPr dirty="0"/>
              <a:t>-	many </a:t>
            </a:r>
            <a:r>
              <a:rPr spc="-5" dirty="0"/>
              <a:t>useful built-in</a:t>
            </a:r>
            <a:r>
              <a:rPr spc="-95" dirty="0"/>
              <a:t> </a:t>
            </a:r>
            <a:r>
              <a:rPr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1644014" cy="29972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Buffer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C/C++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Addons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Child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Console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Crypto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Debugger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DNS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Errors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Globals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0393" y="1184098"/>
            <a:ext cx="1566545" cy="22542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Timers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TLS/SSL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TTY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UDP/Datagram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Utilities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V8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VM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ZLIB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8343" y="1232948"/>
            <a:ext cx="1544955" cy="32448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Net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Path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Punycode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Query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Strings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Readline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REPL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Stream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String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Decoder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4837CA-551C-48B5-8F0F-0E1CCF0D7AB3}"/>
</file>

<file path=customXml/itemProps2.xml><?xml version="1.0" encoding="utf-8"?>
<ds:datastoreItem xmlns:ds="http://schemas.openxmlformats.org/officeDocument/2006/customXml" ds:itemID="{439F0B10-ABAC-427A-BAED-9FEDEFD5107F}"/>
</file>

<file path=customXml/itemProps3.xml><?xml version="1.0" encoding="utf-8"?>
<ds:datastoreItem xmlns:ds="http://schemas.openxmlformats.org/officeDocument/2006/customXml" ds:itemID="{54A8BA9C-3B38-4D1B-A505-3E4689EB8AD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2612</Words>
  <Application>Microsoft Office PowerPoint</Application>
  <PresentationFormat>On-screen Show (16:9)</PresentationFormat>
  <Paragraphs>344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MS PGothic</vt:lpstr>
      <vt:lpstr>Arial</vt:lpstr>
      <vt:lpstr>Calibri</vt:lpstr>
      <vt:lpstr>Consolas</vt:lpstr>
      <vt:lpstr>Source Sans Pro</vt:lpstr>
      <vt:lpstr>Times New Roman</vt:lpstr>
      <vt:lpstr>Office Theme</vt:lpstr>
      <vt:lpstr>Node.js</vt:lpstr>
      <vt:lpstr>Threads</vt:lpstr>
      <vt:lpstr>Blocking vs Non-blocking</vt:lpstr>
      <vt:lpstr>Event queue</vt:lpstr>
      <vt:lpstr>Event queue</vt:lpstr>
      <vt:lpstr>Node.js</vt:lpstr>
      <vt:lpstr>Example: Node.js reading a file</vt:lpstr>
      <vt:lpstr>Node Modules</vt:lpstr>
      <vt:lpstr>Node modules</vt:lpstr>
      <vt:lpstr>Node Buffer class</vt:lpstr>
      <vt:lpstr>Buffer operations</vt:lpstr>
      <vt:lpstr>Example: Node.js reading a file (redux)</vt:lpstr>
      <vt:lpstr>Programming with Events/Callbacks</vt:lpstr>
      <vt:lpstr>Example: Three step process</vt:lpstr>
      <vt:lpstr>Example: Three step process</vt:lpstr>
      <vt:lpstr>Listener/emitter pattern</vt:lpstr>
      <vt:lpstr>Node: EventEmitter = require('events');</vt:lpstr>
      <vt:lpstr>Typical EventEmitter patterns</vt:lpstr>
      <vt:lpstr>Streams</vt:lpstr>
      <vt:lpstr>Readable streams - File reading using streams</vt:lpstr>
      <vt:lpstr>Writable streams - File writing using streams</vt:lpstr>
      <vt:lpstr>Digression: Socket setup for TCP connections</vt:lpstr>
      <vt:lpstr>TCP Networking on Node.js</vt:lpstr>
      <vt:lpstr>Example: A chat server</vt:lpstr>
      <vt:lpstr>Chat Server: broadcast</vt:lpstr>
      <vt:lpstr>Putting it together: A real simple file server</vt:lpstr>
      <vt:lpstr>Example: Read three files</vt:lpstr>
      <vt:lpstr>Example: Read N files</vt:lpstr>
      <vt:lpstr>Example: Read N files</vt:lpstr>
      <vt:lpstr>Async module: var async = require('async');</vt:lpstr>
      <vt:lpstr>Node.JS - many useful built-in modules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</dc:title>
  <cp:lastModifiedBy>Amarsanaa Ganbold</cp:lastModifiedBy>
  <cp:revision>5</cp:revision>
  <dcterms:created xsi:type="dcterms:W3CDTF">2019-08-20T05:20:41Z</dcterms:created>
  <dcterms:modified xsi:type="dcterms:W3CDTF">2021-11-30T06:20:05Z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