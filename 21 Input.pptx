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64956" y="1881758"/>
            <a:ext cx="581408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9244" y="1156151"/>
            <a:ext cx="8165510" cy="2776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736795" y="4778075"/>
            <a:ext cx="163385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aredpalmer.com/formik/" TargetMode="External"/><Relationship Id="rId3" Type="http://schemas.openxmlformats.org/officeDocument/2006/relationships/image" Target="../media/image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eact-autosuggest.js.org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pmjs.com/package/axios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4956" y="1881758"/>
            <a:ext cx="58064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>
                <a:latin typeface="Arial"/>
                <a:cs typeface="Arial"/>
              </a:rPr>
              <a:t>Input </a:t>
            </a:r>
            <a:r>
              <a:rPr dirty="0" sz="5200" spc="-5">
                <a:latin typeface="Arial"/>
                <a:cs typeface="Arial"/>
              </a:rPr>
              <a:t>and</a:t>
            </a:r>
            <a:r>
              <a:rPr dirty="0" sz="5200" spc="-85">
                <a:latin typeface="Arial"/>
                <a:cs typeface="Arial"/>
              </a:rPr>
              <a:t> </a:t>
            </a:r>
            <a:r>
              <a:rPr dirty="0" sz="5200" spc="-45">
                <a:latin typeface="Arial"/>
                <a:cs typeface="Arial"/>
              </a:rPr>
              <a:t>Validation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dirty="0" sz="2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83946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5825" algn="l"/>
              </a:tabLst>
            </a:pPr>
            <a:r>
              <a:rPr dirty="0" spc="-10"/>
              <a:t>Early </a:t>
            </a:r>
            <a:r>
              <a:rPr dirty="0" spc="-5"/>
              <a:t>web</a:t>
            </a:r>
            <a:r>
              <a:rPr dirty="0"/>
              <a:t> </a:t>
            </a:r>
            <a:r>
              <a:rPr dirty="0" spc="-5"/>
              <a:t>app</a:t>
            </a:r>
            <a:r>
              <a:rPr dirty="0"/>
              <a:t> </a:t>
            </a:r>
            <a:r>
              <a:rPr dirty="0" spc="-5"/>
              <a:t>input:	HTTP </a:t>
            </a:r>
            <a:r>
              <a:rPr dirty="0" spc="-5">
                <a:latin typeface="Consolas"/>
                <a:cs typeface="Consolas"/>
              </a:rPr>
              <a:t>form</a:t>
            </a:r>
            <a:r>
              <a:rPr dirty="0" spc="-840">
                <a:latin typeface="Consolas"/>
                <a:cs typeface="Consolas"/>
              </a:rPr>
              <a:t> </a:t>
            </a:r>
            <a:r>
              <a:rPr dirty="0" spc="-5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700" y="1156151"/>
            <a:ext cx="8307705" cy="351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3525" marR="1505585" indent="-251460">
              <a:lnSpc>
                <a:spcPct val="114599"/>
              </a:lnSpc>
              <a:spcBef>
                <a:spcPts val="100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form action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="/product/update" 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method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="post"&gt;  Product: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dirty="0" sz="1800" b="1">
                <a:solidFill>
                  <a:srgbClr val="595959"/>
                </a:solidFill>
                <a:latin typeface="Consolas"/>
                <a:cs typeface="Consolas"/>
              </a:rPr>
              <a:t>input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type="text" 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name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="product"/&gt;&lt;br /&gt;  Deluxe: </a:t>
            </a:r>
            <a:r>
              <a:rPr dirty="0" sz="1800">
                <a:solidFill>
                  <a:srgbClr val="595959"/>
                </a:solidFill>
                <a:latin typeface="Consolas"/>
                <a:cs typeface="Consolas"/>
              </a:rPr>
              <a:t>&lt;</a:t>
            </a:r>
            <a:r>
              <a:rPr dirty="0" sz="1800" b="1">
                <a:solidFill>
                  <a:srgbClr val="595959"/>
                </a:solidFill>
                <a:latin typeface="Consolas"/>
                <a:cs typeface="Consolas"/>
              </a:rPr>
              <a:t>input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type="checkbox" 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name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="delux" /&gt;&lt;br</a:t>
            </a:r>
            <a:r>
              <a:rPr dirty="0" sz="1800" spc="-3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&lt;input </a:t>
            </a:r>
            <a:r>
              <a:rPr dirty="0" sz="1800" spc="-5" b="1">
                <a:solidFill>
                  <a:srgbClr val="595959"/>
                </a:solidFill>
                <a:latin typeface="Consolas"/>
                <a:cs typeface="Consolas"/>
              </a:rPr>
              <a:t>type="submit"</a:t>
            </a:r>
            <a:r>
              <a:rPr dirty="0" sz="1800" spc="25" b="1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value="Submit"/&gt;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&lt;/form&gt;</a:t>
            </a:r>
            <a:endParaRPr sz="180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method="get"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Encode form properties as query</a:t>
            </a:r>
            <a:r>
              <a:rPr dirty="0" sz="1800" spc="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params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HTTP GET</a:t>
            </a:r>
            <a:r>
              <a:rPr dirty="0" sz="1800" spc="-2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product/update?product=foobar&amp;delux=on</a:t>
            </a:r>
            <a:endParaRPr sz="1800">
              <a:latin typeface="Consolas"/>
              <a:cs typeface="Consolas"/>
            </a:endParaRPr>
          </a:p>
          <a:p>
            <a:pPr marL="469900" indent="-367030">
              <a:lnSpc>
                <a:spcPct val="100000"/>
              </a:lnSpc>
              <a:spcBef>
                <a:spcPts val="106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method="post"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Encode form properties as query params in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message</a:t>
            </a:r>
            <a:r>
              <a:rPr dirty="0" sz="1800" spc="-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body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HTTP POST</a:t>
            </a:r>
            <a:r>
              <a:rPr dirty="0" sz="18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product/update</a:t>
            </a:r>
            <a:endParaRPr sz="1800">
              <a:latin typeface="Consolas"/>
              <a:cs typeface="Consolas"/>
            </a:endParaRPr>
          </a:p>
          <a:p>
            <a:pPr marL="927100" marR="2131695">
              <a:lnSpc>
                <a:spcPct val="113300"/>
              </a:lnSpc>
              <a:spcBef>
                <a:spcPts val="65"/>
              </a:spcBef>
            </a:pPr>
            <a:r>
              <a:rPr dirty="0" sz="1600" spc="-5">
                <a:solidFill>
                  <a:srgbClr val="595959"/>
                </a:solidFill>
                <a:latin typeface="Consolas"/>
                <a:cs typeface="Consolas"/>
              </a:rPr>
              <a:t>Content-Type: application/x-www-form-urlencoded  product=foobar&amp;delux=on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7099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Rails input pattern using form</a:t>
            </a:r>
            <a:r>
              <a:rPr dirty="0" spc="-85"/>
              <a:t> </a:t>
            </a:r>
            <a:r>
              <a:rPr dirty="0" spc="-5"/>
              <a:t>POST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42108"/>
            <a:ext cx="7683500" cy="179070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GET Page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containing</a:t>
            </a:r>
            <a:r>
              <a:rPr dirty="0" sz="18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form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Contains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method="post"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form to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POST</a:t>
            </a:r>
            <a:r>
              <a:rPr dirty="0" sz="1400" spc="-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POST Page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Validate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and perform operation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(typically create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800" spc="-7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update)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successful, redirect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"done "page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(possibly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another GET Page) if</a:t>
            </a:r>
            <a:r>
              <a:rPr dirty="0" sz="1400" spc="-1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successful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If failed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validation, redirect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page to the GET Page with incorrect fields</a:t>
            </a:r>
            <a:r>
              <a:rPr dirty="0" sz="14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highlighted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dirty="0" sz="1400" spc="-20">
                <a:solidFill>
                  <a:srgbClr val="595959"/>
                </a:solidFill>
                <a:latin typeface="Arial"/>
                <a:cs typeface="Arial"/>
              </a:rPr>
              <a:t>error,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redirect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oops page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83514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Validation </a:t>
            </a:r>
            <a:r>
              <a:rPr dirty="0"/>
              <a:t>requirements </a:t>
            </a:r>
            <a:r>
              <a:rPr dirty="0" spc="-5"/>
              <a:t>in web</a:t>
            </a:r>
            <a:r>
              <a:rPr dirty="0" spc="-75"/>
              <a:t> </a:t>
            </a:r>
            <a:r>
              <a:rPr dirty="0" spc="-5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42108"/>
            <a:ext cx="7777480" cy="27241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Protect integrity of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storage (required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fields, organization, 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security,</a:t>
            </a:r>
            <a:r>
              <a:rPr dirty="0" sz="1800" spc="-6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etc.)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Can not let HTTP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either from web app or generated out the web app damage</a:t>
            </a:r>
            <a:r>
              <a:rPr dirty="0" sz="1400" spc="-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us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Need to enforce at web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dirty="0" sz="1400" spc="-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API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Provide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good user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experience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Don't let users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make mistakes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or warn them as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soon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dirty="0" sz="14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possible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Pushing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validation closer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to the user is</a:t>
            </a:r>
            <a:r>
              <a:rPr dirty="0" sz="14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helpful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Validation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frameworks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(ReactJS)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Rule #1: Still need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server-side validation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to protect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storage system</a:t>
            </a:r>
            <a:r>
              <a:rPr dirty="0" sz="14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integrity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Rule #2: Let user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know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about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validity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problems as early as</a:t>
            </a:r>
            <a:r>
              <a:rPr dirty="0" sz="14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possible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6795" y="4766045"/>
            <a:ext cx="16338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dirty="0" sz="100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000" spc="-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76224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Input in ReactJS: familiar HTML form/input</a:t>
            </a:r>
            <a:r>
              <a:rPr dirty="0" spc="-195"/>
              <a:t> </a:t>
            </a:r>
            <a:r>
              <a:rPr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24" y="1196156"/>
            <a:ext cx="8085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  <a:tab pos="4232275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ReactJS uses HTML</a:t>
            </a:r>
            <a:r>
              <a:rPr dirty="0" sz="1800" spc="4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form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elements:	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&lt;input&gt;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&lt;textarea&gt;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, and</a:t>
            </a:r>
            <a:r>
              <a:rPr dirty="0" sz="18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Consolas"/>
                <a:cs typeface="Consolas"/>
              </a:rPr>
              <a:t>&lt;select&gt;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700" y="1495495"/>
            <a:ext cx="7075170" cy="33305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-5" b="1">
                <a:solidFill>
                  <a:srgbClr val="78B6F1"/>
                </a:solidFill>
                <a:latin typeface="Consolas"/>
                <a:cs typeface="Consolas"/>
              </a:rPr>
              <a:t>render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() </a:t>
            </a:r>
            <a:r>
              <a:rPr dirty="0" sz="1000" b="1">
                <a:solidFill>
                  <a:srgbClr val="88C6BE"/>
                </a:solidFill>
                <a:latin typeface="Consolas"/>
                <a:cs typeface="Consolas"/>
              </a:rPr>
              <a:t>{</a:t>
            </a:r>
            <a:endParaRPr sz="1000">
              <a:latin typeface="Consolas"/>
              <a:cs typeface="Consolas"/>
            </a:endParaRPr>
          </a:p>
          <a:p>
            <a:pPr marL="2914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return </a:t>
            </a:r>
            <a:r>
              <a:rPr dirty="0" sz="1000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endParaRPr sz="1000">
              <a:latin typeface="Consolas"/>
              <a:cs typeface="Consolas"/>
            </a:endParaRPr>
          </a:p>
          <a:p>
            <a:pPr marL="4311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form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onSubmit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handleSubmit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}&gt;</a:t>
            </a:r>
            <a:endParaRPr sz="1000">
              <a:latin typeface="Consolas"/>
              <a:cs typeface="Consolas"/>
            </a:endParaRPr>
          </a:p>
          <a:p>
            <a:pPr marL="67881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label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7105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latin typeface="Consolas"/>
                <a:cs typeface="Consolas"/>
              </a:rPr>
              <a:t>Name: 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input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type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="</a:t>
            </a:r>
            <a:r>
              <a:rPr dirty="0" sz="1000" spc="-5" b="1">
                <a:solidFill>
                  <a:srgbClr val="8DC891"/>
                </a:solidFill>
                <a:latin typeface="Consolas"/>
                <a:cs typeface="Consolas"/>
              </a:rPr>
              <a:t>text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"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state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inputValue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onChange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handleChangeInput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r>
              <a:rPr dirty="0" sz="1000" spc="10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/&gt;</a:t>
            </a:r>
            <a:endParaRPr sz="1000">
              <a:latin typeface="Consolas"/>
              <a:cs typeface="Consolas"/>
            </a:endParaRPr>
          </a:p>
          <a:p>
            <a:pPr marL="64071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label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678815">
              <a:lnSpc>
                <a:spcPct val="100000"/>
              </a:lnSpc>
              <a:spcBef>
                <a:spcPts val="525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label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7486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latin typeface="Consolas"/>
                <a:cs typeface="Consolas"/>
              </a:rPr>
              <a:t>Essay: 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textarea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state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textValue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onChange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handleChangeText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r>
              <a:rPr dirty="0" sz="1000" spc="5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/&gt;</a:t>
            </a:r>
            <a:endParaRPr sz="1000">
              <a:latin typeface="Consolas"/>
              <a:cs typeface="Consolas"/>
            </a:endParaRPr>
          </a:p>
          <a:p>
            <a:pPr marL="64071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label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64071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label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989330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select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state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selValue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r>
              <a:rPr dirty="0" sz="1000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onChange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={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handleChangeSelect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}&gt;</a:t>
            </a:r>
            <a:endParaRPr sz="10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option</a:t>
            </a:r>
            <a:r>
              <a:rPr dirty="0" sz="1000" b="1">
                <a:solidFill>
                  <a:srgbClr val="FC929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="</a:t>
            </a:r>
            <a:r>
              <a:rPr dirty="0" sz="1000" spc="-5" b="1">
                <a:solidFill>
                  <a:srgbClr val="8DC891"/>
                </a:solidFill>
                <a:latin typeface="Consolas"/>
                <a:cs typeface="Consolas"/>
              </a:rPr>
              <a:t>yes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"&gt;</a:t>
            </a:r>
            <a:r>
              <a:rPr dirty="0" sz="1000" spc="-5" b="1">
                <a:latin typeface="Consolas"/>
                <a:cs typeface="Consolas"/>
              </a:rPr>
              <a:t>Yes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option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option</a:t>
            </a:r>
            <a:r>
              <a:rPr dirty="0" sz="1000" b="1">
                <a:solidFill>
                  <a:srgbClr val="FC929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="</a:t>
            </a:r>
            <a:r>
              <a:rPr dirty="0" sz="1000" spc="-5" b="1">
                <a:solidFill>
                  <a:srgbClr val="8DC891"/>
                </a:solidFill>
                <a:latin typeface="Consolas"/>
                <a:cs typeface="Consolas"/>
              </a:rPr>
              <a:t>no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"&gt;</a:t>
            </a:r>
            <a:r>
              <a:rPr dirty="0" sz="1000" spc="-5" b="1">
                <a:latin typeface="Consolas"/>
                <a:cs typeface="Consolas"/>
              </a:rPr>
              <a:t>No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option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option</a:t>
            </a:r>
            <a:r>
              <a:rPr dirty="0" sz="1000" b="1">
                <a:solidFill>
                  <a:srgbClr val="FC929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="</a:t>
            </a:r>
            <a:r>
              <a:rPr dirty="0" sz="1000" spc="-5" b="1">
                <a:solidFill>
                  <a:srgbClr val="8DC891"/>
                </a:solidFill>
                <a:latin typeface="Consolas"/>
                <a:cs typeface="Consolas"/>
              </a:rPr>
              <a:t>maybe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"&gt;</a:t>
            </a:r>
            <a:r>
              <a:rPr dirty="0" sz="1000" spc="-5" b="1">
                <a:latin typeface="Consolas"/>
                <a:cs typeface="Consolas"/>
              </a:rPr>
              <a:t>Maybe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option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919480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select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5708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label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5708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input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type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="</a:t>
            </a:r>
            <a:r>
              <a:rPr dirty="0" sz="1000" spc="-5" b="1">
                <a:solidFill>
                  <a:srgbClr val="8DC891"/>
                </a:solidFill>
                <a:latin typeface="Consolas"/>
                <a:cs typeface="Consolas"/>
              </a:rPr>
              <a:t>submit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" </a:t>
            </a:r>
            <a:r>
              <a:rPr dirty="0" sz="1000" spc="-5" b="1">
                <a:solidFill>
                  <a:srgbClr val="C5A5C5"/>
                </a:solidFill>
                <a:latin typeface="Consolas"/>
                <a:cs typeface="Consolas"/>
              </a:rPr>
              <a:t>value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="</a:t>
            </a:r>
            <a:r>
              <a:rPr dirty="0" sz="1000" spc="-5" b="1">
                <a:solidFill>
                  <a:srgbClr val="8DC891"/>
                </a:solidFill>
                <a:latin typeface="Consolas"/>
                <a:cs typeface="Consolas"/>
              </a:rPr>
              <a:t>Submit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"</a:t>
            </a:r>
            <a:r>
              <a:rPr dirty="0" sz="1000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/&gt;</a:t>
            </a:r>
            <a:endParaRPr sz="1000">
              <a:latin typeface="Consolas"/>
              <a:cs typeface="Consolas"/>
            </a:endParaRPr>
          </a:p>
          <a:p>
            <a:pPr marL="4311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&lt;/</a:t>
            </a:r>
            <a:r>
              <a:rPr dirty="0" sz="1000" spc="-5" b="1">
                <a:solidFill>
                  <a:srgbClr val="FC929E"/>
                </a:solidFill>
                <a:latin typeface="Consolas"/>
                <a:cs typeface="Consolas"/>
              </a:rPr>
              <a:t>form</a:t>
            </a: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291465">
              <a:lnSpc>
                <a:spcPct val="100000"/>
              </a:lnSpc>
              <a:spcBef>
                <a:spcPts val="150"/>
              </a:spcBef>
            </a:pPr>
            <a:r>
              <a:rPr dirty="0" sz="1000" spc="-5" b="1">
                <a:solidFill>
                  <a:srgbClr val="88C6BE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700" y="4819720"/>
            <a:ext cx="952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2184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Input in ReactJS handling</a:t>
            </a:r>
            <a:r>
              <a:rPr dirty="0" spc="-90"/>
              <a:t> </a:t>
            </a:r>
            <a:r>
              <a:rPr dirty="0" spc="-5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700" y="1179010"/>
            <a:ext cx="7599045" cy="2959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4792345" indent="-146685">
              <a:lnSpc>
                <a:spcPct val="113100"/>
              </a:lnSpc>
              <a:spcBef>
                <a:spcPts val="100"/>
              </a:spcBef>
            </a:pP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class </a:t>
            </a:r>
            <a:r>
              <a:rPr dirty="0" sz="1050" spc="-5" b="1">
                <a:solidFill>
                  <a:srgbClr val="FAC863"/>
                </a:solidFill>
                <a:latin typeface="Consolas"/>
                <a:cs typeface="Consolas"/>
              </a:rPr>
              <a:t>MyForm 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extends </a:t>
            </a:r>
            <a:r>
              <a:rPr dirty="0" sz="1050" spc="-5" b="1">
                <a:solidFill>
                  <a:srgbClr val="FAC863"/>
                </a:solidFill>
                <a:latin typeface="Consolas"/>
                <a:cs typeface="Consolas"/>
              </a:rPr>
              <a:t>React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solidFill>
                  <a:srgbClr val="FAC863"/>
                </a:solidFill>
                <a:latin typeface="Consolas"/>
                <a:cs typeface="Consolas"/>
              </a:rPr>
              <a:t>Component </a:t>
            </a: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{  </a:t>
            </a: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constructor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050" spc="-5" b="1">
                <a:latin typeface="Consolas"/>
                <a:cs typeface="Consolas"/>
              </a:rPr>
              <a:t>props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) </a:t>
            </a: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5965190">
              <a:lnSpc>
                <a:spcPct val="113100"/>
              </a:lnSpc>
              <a:tabLst>
                <a:tab pos="1478915" algn="l"/>
              </a:tabLst>
            </a:pP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super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050" spc="-5" b="1">
                <a:latin typeface="Consolas"/>
                <a:cs typeface="Consolas"/>
              </a:rPr>
              <a:t>props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);  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</a:t>
            </a:r>
            <a:r>
              <a:rPr dirty="0" sz="1050" b="1">
                <a:solidFill>
                  <a:srgbClr val="C5A5C5"/>
                </a:solidFill>
                <a:latin typeface="Consolas"/>
                <a:cs typeface="Consolas"/>
              </a:rPr>
              <a:t>s</a:t>
            </a: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solidFill>
                  <a:srgbClr val="434343"/>
                </a:solidFill>
                <a:latin typeface="Consolas"/>
                <a:cs typeface="Consolas"/>
              </a:rPr>
              <a:t>stat</a:t>
            </a:r>
            <a:r>
              <a:rPr dirty="0" sz="1050" b="1">
                <a:solidFill>
                  <a:srgbClr val="434343"/>
                </a:solidFill>
                <a:latin typeface="Consolas"/>
                <a:cs typeface="Consolas"/>
              </a:rPr>
              <a:t>e </a:t>
            </a:r>
            <a:r>
              <a:rPr dirty="0" sz="1050" b="1">
                <a:solidFill>
                  <a:srgbClr val="D7DEEA"/>
                </a:solidFill>
                <a:latin typeface="Consolas"/>
                <a:cs typeface="Consolas"/>
              </a:rPr>
              <a:t>= </a:t>
            </a: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{	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};</a:t>
            </a:r>
            <a:endParaRPr sz="1050">
              <a:latin typeface="Consolas"/>
              <a:cs typeface="Consolas"/>
            </a:endParaRPr>
          </a:p>
          <a:p>
            <a:pPr marL="305435" marR="3692525">
              <a:lnSpc>
                <a:spcPct val="113100"/>
              </a:lnSpc>
            </a:pP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latin typeface="Consolas"/>
                <a:cs typeface="Consolas"/>
              </a:rPr>
              <a:t>handleChange </a:t>
            </a:r>
            <a:r>
              <a:rPr dirty="0" sz="1050" b="1">
                <a:solidFill>
                  <a:srgbClr val="D7DEEA"/>
                </a:solidFill>
                <a:latin typeface="Consolas"/>
                <a:cs typeface="Consolas"/>
              </a:rPr>
              <a:t>= 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latin typeface="Consolas"/>
                <a:cs typeface="Consolas"/>
              </a:rPr>
              <a:t>handleChange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bind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);  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latin typeface="Consolas"/>
                <a:cs typeface="Consolas"/>
              </a:rPr>
              <a:t>handleSubmit </a:t>
            </a:r>
            <a:r>
              <a:rPr dirty="0" sz="1050" b="1">
                <a:solidFill>
                  <a:srgbClr val="D7DEEA"/>
                </a:solidFill>
                <a:latin typeface="Consolas"/>
                <a:cs typeface="Consolas"/>
              </a:rPr>
              <a:t>=</a:t>
            </a:r>
            <a:r>
              <a:rPr dirty="0" sz="1050" spc="-30" b="1">
                <a:solidFill>
                  <a:srgbClr val="D7DEEA"/>
                </a:solidFill>
                <a:latin typeface="Consolas"/>
                <a:cs typeface="Consolas"/>
              </a:rPr>
              <a:t> 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latin typeface="Consolas"/>
                <a:cs typeface="Consolas"/>
              </a:rPr>
              <a:t>handleSubmit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bind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  <a:spcBef>
                <a:spcPts val="165"/>
              </a:spcBef>
            </a:pP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665"/>
              </a:spcBef>
            </a:pP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handleChange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050" spc="-5" b="1">
                <a:latin typeface="Consolas"/>
                <a:cs typeface="Consolas"/>
              </a:rPr>
              <a:t>event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) </a:t>
            </a: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78460">
              <a:lnSpc>
                <a:spcPct val="100000"/>
              </a:lnSpc>
              <a:spcBef>
                <a:spcPts val="155"/>
              </a:spcBef>
              <a:tabLst>
                <a:tab pos="3677920" algn="l"/>
              </a:tabLst>
            </a:pPr>
            <a:r>
              <a:rPr dirty="0" sz="105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setState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({</a:t>
            </a:r>
            <a:r>
              <a:rPr dirty="0" sz="1050" spc="-5" b="1">
                <a:latin typeface="Consolas"/>
                <a:cs typeface="Consolas"/>
              </a:rPr>
              <a:t>value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:</a:t>
            </a:r>
            <a:r>
              <a:rPr dirty="0" sz="1050" spc="30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050" spc="-5" b="1">
                <a:latin typeface="Consolas"/>
                <a:cs typeface="Consolas"/>
              </a:rPr>
              <a:t>event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latin typeface="Consolas"/>
                <a:cs typeface="Consolas"/>
              </a:rPr>
              <a:t>target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latin typeface="Consolas"/>
                <a:cs typeface="Consolas"/>
              </a:rPr>
              <a:t>value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});	</a:t>
            </a:r>
            <a:r>
              <a:rPr dirty="0" sz="1050" spc="-5" b="1">
                <a:latin typeface="Consolas"/>
                <a:cs typeface="Consolas"/>
              </a:rPr>
              <a:t>// </a:t>
            </a:r>
            <a:r>
              <a:rPr dirty="0" sz="1200" spc="-5" b="1">
                <a:latin typeface="Consolas"/>
                <a:cs typeface="Consolas"/>
              </a:rPr>
              <a:t>Common approach to push into component</a:t>
            </a:r>
            <a:r>
              <a:rPr dirty="0" sz="1200" spc="15" b="1">
                <a:latin typeface="Consolas"/>
                <a:cs typeface="Consolas"/>
              </a:rPr>
              <a:t> </a:t>
            </a:r>
            <a:r>
              <a:rPr dirty="0" sz="1200" spc="-5" b="1">
                <a:latin typeface="Consolas"/>
                <a:cs typeface="Consolas"/>
              </a:rPr>
              <a:t>state</a:t>
            </a:r>
            <a:endParaRPr sz="120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  <a:spcBef>
                <a:spcPts val="219"/>
              </a:spcBef>
            </a:pP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</a:pP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handleSubmit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050" spc="-5" b="1">
                <a:latin typeface="Consolas"/>
                <a:cs typeface="Consolas"/>
              </a:rPr>
              <a:t>event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) </a:t>
            </a: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215"/>
              </a:spcBef>
            </a:pP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// </a:t>
            </a:r>
            <a:r>
              <a:rPr dirty="0" sz="1050" spc="-5" b="1">
                <a:latin typeface="Consolas"/>
                <a:cs typeface="Consolas"/>
              </a:rPr>
              <a:t>Process submit from this.state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60"/>
              </a:spcBef>
              <a:tabLst>
                <a:tab pos="2295525" algn="l"/>
              </a:tabLst>
            </a:pPr>
            <a:r>
              <a:rPr dirty="0" sz="1050" spc="-5" b="1">
                <a:latin typeface="Consolas"/>
                <a:cs typeface="Consolas"/>
              </a:rPr>
              <a:t>event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preventDefault</a:t>
            </a:r>
            <a:r>
              <a:rPr dirty="0" sz="1050" spc="-5" b="1">
                <a:solidFill>
                  <a:srgbClr val="88C6BE"/>
                </a:solidFill>
                <a:latin typeface="Consolas"/>
                <a:cs typeface="Consolas"/>
              </a:rPr>
              <a:t>();	</a:t>
            </a:r>
            <a:r>
              <a:rPr dirty="0" sz="1200" spc="-5" b="1">
                <a:latin typeface="Consolas"/>
                <a:cs typeface="Consolas"/>
              </a:rPr>
              <a:t>// Need to stop DOM from generating </a:t>
            </a:r>
            <a:r>
              <a:rPr dirty="0" sz="1200" b="1">
                <a:latin typeface="Consolas"/>
                <a:cs typeface="Consolas"/>
              </a:rPr>
              <a:t>a</a:t>
            </a:r>
            <a:r>
              <a:rPr dirty="0" sz="1200" spc="-25" b="1">
                <a:latin typeface="Consolas"/>
                <a:cs typeface="Consolas"/>
              </a:rPr>
              <a:t> </a:t>
            </a:r>
            <a:r>
              <a:rPr dirty="0" sz="1200" spc="-5" b="1">
                <a:latin typeface="Consolas"/>
                <a:cs typeface="Consolas"/>
              </a:rPr>
              <a:t>POST</a:t>
            </a:r>
            <a:endParaRPr sz="120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  <a:spcBef>
                <a:spcPts val="215"/>
              </a:spcBef>
            </a:pPr>
            <a:r>
              <a:rPr dirty="0" sz="1050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22871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JSX </a:t>
            </a:r>
            <a:r>
              <a:rPr dirty="0" spc="-5"/>
              <a:t>and </a:t>
            </a:r>
            <a:r>
              <a:rPr dirty="0" spc="-5">
                <a:latin typeface="Courier New"/>
                <a:cs typeface="Courier New"/>
              </a:rPr>
              <a:t>this </a:t>
            </a:r>
            <a:r>
              <a:rPr dirty="0" spc="-5"/>
              <a:t>handling </a:t>
            </a:r>
            <a:r>
              <a:rPr dirty="0"/>
              <a:t>- </a:t>
            </a:r>
            <a:r>
              <a:rPr dirty="0" spc="-5"/>
              <a:t>No ideal</a:t>
            </a:r>
            <a:r>
              <a:rPr dirty="0" spc="-80"/>
              <a:t> </a:t>
            </a:r>
            <a:r>
              <a:rPr dirty="0" spc="-5"/>
              <a:t>way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96156"/>
            <a:ext cx="8159750" cy="323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Specifying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method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as DOM event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callback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doesn't</a:t>
            </a:r>
            <a:r>
              <a:rPr dirty="0" sz="1800" spc="-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work: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290"/>
              </a:spcBef>
              <a:tabLst>
                <a:tab pos="4423410" algn="l"/>
              </a:tabLst>
            </a:pPr>
            <a:r>
              <a:rPr dirty="0" sz="1400" spc="-5" b="1">
                <a:solidFill>
                  <a:srgbClr val="595959"/>
                </a:solidFill>
                <a:latin typeface="Courier New"/>
                <a:cs typeface="Courier New"/>
              </a:rPr>
              <a:t>&lt;form onSubmit={this.formSubmit}&gt;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…	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// </a:t>
            </a:r>
            <a:r>
              <a:rPr dirty="0" sz="1800" spc="-10">
                <a:solidFill>
                  <a:srgbClr val="FF0000"/>
                </a:solidFill>
                <a:latin typeface="Arial"/>
                <a:cs typeface="Arial"/>
              </a:rPr>
              <a:t>Wrong!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Calls with </a:t>
            </a:r>
            <a:r>
              <a:rPr dirty="0" sz="1800" spc="-5">
                <a:solidFill>
                  <a:srgbClr val="595959"/>
                </a:solidFill>
                <a:latin typeface="Courier New"/>
                <a:cs typeface="Courier New"/>
              </a:rPr>
              <a:t>this</a:t>
            </a:r>
            <a:r>
              <a:rPr dirty="0" sz="1800" spc="-60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undefined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Arrow function embedded in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JSX render: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instance</a:t>
            </a:r>
            <a:r>
              <a:rPr dirty="0" sz="180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290"/>
              </a:spcBef>
            </a:pPr>
            <a:r>
              <a:rPr dirty="0" sz="1400" spc="-5" b="1">
                <a:solidFill>
                  <a:srgbClr val="595959"/>
                </a:solidFill>
                <a:latin typeface="Courier New"/>
                <a:cs typeface="Courier New"/>
              </a:rPr>
              <a:t>&lt;form onSubmit={event =&gt; this.formSubmit(event)}&gt;</a:t>
            </a:r>
            <a:r>
              <a:rPr dirty="0" sz="14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Redefine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function in instance to have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correct </a:t>
            </a:r>
            <a:r>
              <a:rPr dirty="0" sz="1800" spc="-5">
                <a:solidFill>
                  <a:srgbClr val="595959"/>
                </a:solidFill>
                <a:latin typeface="Courier New"/>
                <a:cs typeface="Courier New"/>
              </a:rPr>
              <a:t>this</a:t>
            </a:r>
            <a:r>
              <a:rPr dirty="0" sz="1800" spc="-58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constructor: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tabLst>
                <a:tab pos="5378450" algn="l"/>
              </a:tabLst>
            </a:pPr>
            <a:r>
              <a:rPr dirty="0" sz="1400" spc="-5" b="1">
                <a:solidFill>
                  <a:srgbClr val="595959"/>
                </a:solidFill>
                <a:latin typeface="Courier New"/>
                <a:cs typeface="Courier New"/>
              </a:rPr>
              <a:t>this.formSubmit </a:t>
            </a:r>
            <a:r>
              <a:rPr dirty="0" sz="1400" b="1">
                <a:solidFill>
                  <a:srgbClr val="595959"/>
                </a:solidFill>
                <a:latin typeface="Courier New"/>
                <a:cs typeface="Courier New"/>
              </a:rPr>
              <a:t>= </a:t>
            </a:r>
            <a:r>
              <a:rPr dirty="0" sz="1400" spc="-5" b="1">
                <a:solidFill>
                  <a:srgbClr val="595959"/>
                </a:solidFill>
                <a:latin typeface="Courier New"/>
                <a:cs typeface="Courier New"/>
              </a:rPr>
              <a:t>this.formSubmit.bind(this);	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// In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component</a:t>
            </a:r>
            <a:r>
              <a:rPr dirty="0" sz="1800" spc="-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constructor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  <a:tab pos="561721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Use new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JavaScript class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fields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:  </a:t>
            </a:r>
            <a:r>
              <a:rPr dirty="0" sz="1800" spc="-5" b="1">
                <a:solidFill>
                  <a:srgbClr val="595959"/>
                </a:solidFill>
                <a:latin typeface="Courier New"/>
                <a:cs typeface="Courier New"/>
              </a:rPr>
              <a:t>class</a:t>
            </a:r>
            <a:r>
              <a:rPr dirty="0" sz="1800" spc="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Courier New"/>
                <a:cs typeface="Courier New"/>
              </a:rPr>
              <a:t>Foo</a:t>
            </a:r>
            <a:r>
              <a:rPr dirty="0" sz="1800" b="1">
                <a:solidFill>
                  <a:srgbClr val="595959"/>
                </a:solidFill>
                <a:latin typeface="Courier New"/>
                <a:cs typeface="Courier New"/>
              </a:rPr>
              <a:t> {	</a:t>
            </a:r>
            <a:r>
              <a:rPr dirty="0" sz="1800" spc="-5" b="1">
                <a:solidFill>
                  <a:srgbClr val="595959"/>
                </a:solidFill>
                <a:latin typeface="Courier New"/>
                <a:cs typeface="Courier New"/>
              </a:rPr>
              <a:t>fieldName </a:t>
            </a:r>
            <a:r>
              <a:rPr dirty="0" sz="18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800" spc="-8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Courier New"/>
                <a:cs typeface="Courier New"/>
              </a:rPr>
              <a:t>value;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7692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Validation </a:t>
            </a:r>
            <a:r>
              <a:rPr dirty="0" spc="-5"/>
              <a:t>in</a:t>
            </a:r>
            <a:r>
              <a:rPr dirty="0" spc="-75"/>
              <a:t> </a:t>
            </a:r>
            <a:r>
              <a:rPr dirty="0" spc="-5"/>
              <a:t>ReactJS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42108"/>
            <a:ext cx="6339205" cy="154495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  <a:tab pos="186055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Opinionated!	Lots of 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packages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r>
              <a:rPr dirty="0" sz="1400" spc="-5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dirty="0" u="heavy" sz="1400" spc="-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Formik</a:t>
            </a:r>
            <a:r>
              <a:rPr dirty="0" sz="1400" spc="-5">
                <a:solidFill>
                  <a:srgbClr val="0097A7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Build forms in React, without tears.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Handles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specifying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form,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validation methods,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form error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reporting,</a:t>
            </a:r>
            <a:r>
              <a:rPr dirty="0" sz="1400" spc="-9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595959"/>
              </a:buClr>
              <a:buFont typeface="Arial"/>
              <a:buChar char="○"/>
            </a:pPr>
            <a:endParaRPr sz="15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Arial"/>
              <a:buChar char="○"/>
            </a:pPr>
            <a:endParaRPr sz="13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Flexible: Can do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validation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anyway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332" y="3132652"/>
            <a:ext cx="4330700" cy="11747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050" spc="-5" b="1">
                <a:solidFill>
                  <a:srgbClr val="78B6F1"/>
                </a:solidFill>
                <a:latin typeface="Consolas"/>
                <a:cs typeface="Consolas"/>
              </a:rPr>
              <a:t>h</a:t>
            </a:r>
            <a:r>
              <a:rPr dirty="0" sz="1100" spc="-5" b="1">
                <a:solidFill>
                  <a:srgbClr val="78B6F1"/>
                </a:solidFill>
                <a:latin typeface="Consolas"/>
                <a:cs typeface="Consolas"/>
              </a:rPr>
              <a:t>andleChange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100" spc="-5" b="1">
                <a:latin typeface="Consolas"/>
                <a:cs typeface="Consolas"/>
              </a:rPr>
              <a:t>event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)</a:t>
            </a:r>
            <a:r>
              <a:rPr dirty="0" sz="1100" spc="-10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100" b="1">
                <a:solidFill>
                  <a:srgbClr val="88C6BE"/>
                </a:solidFill>
                <a:latin typeface="Consolas"/>
                <a:cs typeface="Consolas"/>
              </a:rPr>
              <a:t>{</a:t>
            </a:r>
            <a:endParaRPr sz="1100">
              <a:latin typeface="Consolas"/>
              <a:cs typeface="Consolas"/>
            </a:endParaRPr>
          </a:p>
          <a:p>
            <a:pPr marL="553085" marR="5080" indent="-304165">
              <a:lnSpc>
                <a:spcPct val="113599"/>
              </a:lnSpc>
              <a:spcBef>
                <a:spcPts val="25"/>
              </a:spcBef>
            </a:pPr>
            <a:r>
              <a:rPr dirty="0" sz="1100" spc="-5" b="1">
                <a:solidFill>
                  <a:srgbClr val="78B6F1"/>
                </a:solidFill>
                <a:latin typeface="Consolas"/>
                <a:cs typeface="Consolas"/>
              </a:rPr>
              <a:t>if 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1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100" spc="-5" b="1">
                <a:latin typeface="Consolas"/>
                <a:cs typeface="Consolas"/>
              </a:rPr>
              <a:t>validateIt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(</a:t>
            </a:r>
            <a:r>
              <a:rPr dirty="0" sz="1100" spc="-5" b="1">
                <a:latin typeface="Consolas"/>
                <a:cs typeface="Consolas"/>
              </a:rPr>
              <a:t>event.target.value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, </a:t>
            </a:r>
            <a:r>
              <a:rPr dirty="0" sz="11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100" spc="-5" b="1">
                <a:solidFill>
                  <a:srgbClr val="434343"/>
                </a:solidFill>
                <a:latin typeface="Consolas"/>
                <a:cs typeface="Consolas"/>
              </a:rPr>
              <a:t>state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) </a:t>
            </a:r>
            <a:r>
              <a:rPr dirty="0" sz="1100" b="1">
                <a:solidFill>
                  <a:srgbClr val="88C6BE"/>
                </a:solidFill>
                <a:latin typeface="Consolas"/>
                <a:cs typeface="Consolas"/>
              </a:rPr>
              <a:t>{  </a:t>
            </a:r>
            <a:r>
              <a:rPr dirty="0" sz="11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100" spc="-5" b="1">
                <a:solidFill>
                  <a:srgbClr val="78B6F1"/>
                </a:solidFill>
                <a:latin typeface="Consolas"/>
                <a:cs typeface="Consolas"/>
              </a:rPr>
              <a:t>setState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({</a:t>
            </a:r>
            <a:r>
              <a:rPr dirty="0" sz="1100" spc="-5" b="1">
                <a:latin typeface="Consolas"/>
                <a:cs typeface="Consolas"/>
              </a:rPr>
              <a:t>renderValidationError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:</a:t>
            </a:r>
            <a:r>
              <a:rPr dirty="0" sz="1100" spc="-20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100" spc="-5" b="1">
                <a:latin typeface="Consolas"/>
                <a:cs typeface="Consolas"/>
              </a:rPr>
              <a:t>true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});</a:t>
            </a:r>
            <a:endParaRPr sz="1100">
              <a:latin typeface="Consolas"/>
              <a:cs typeface="Consolas"/>
            </a:endParaRPr>
          </a:p>
          <a:p>
            <a:pPr marL="248920">
              <a:lnSpc>
                <a:spcPct val="100000"/>
              </a:lnSpc>
              <a:spcBef>
                <a:spcPts val="180"/>
              </a:spcBef>
            </a:pPr>
            <a:r>
              <a:rPr dirty="0" sz="1100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100">
              <a:latin typeface="Consolas"/>
              <a:cs typeface="Consolas"/>
            </a:endParaRPr>
          </a:p>
          <a:p>
            <a:pPr marL="248920">
              <a:lnSpc>
                <a:spcPct val="100000"/>
              </a:lnSpc>
              <a:spcBef>
                <a:spcPts val="180"/>
              </a:spcBef>
            </a:pPr>
            <a:r>
              <a:rPr dirty="0" sz="1100" spc="-5" b="1">
                <a:solidFill>
                  <a:srgbClr val="C5A5C5"/>
                </a:solidFill>
                <a:latin typeface="Consolas"/>
                <a:cs typeface="Consolas"/>
              </a:rPr>
              <a:t>this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100" spc="-5" b="1">
                <a:solidFill>
                  <a:srgbClr val="78B6F1"/>
                </a:solidFill>
                <a:latin typeface="Consolas"/>
                <a:cs typeface="Consolas"/>
              </a:rPr>
              <a:t>setState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({</a:t>
            </a:r>
            <a:r>
              <a:rPr dirty="0" sz="1100" spc="-5" b="1">
                <a:latin typeface="Consolas"/>
                <a:cs typeface="Consolas"/>
              </a:rPr>
              <a:t>value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:</a:t>
            </a:r>
            <a:r>
              <a:rPr dirty="0" sz="1100" spc="-15" b="1">
                <a:solidFill>
                  <a:srgbClr val="88C6BE"/>
                </a:solidFill>
                <a:latin typeface="Consolas"/>
                <a:cs typeface="Consolas"/>
              </a:rPr>
              <a:t> </a:t>
            </a:r>
            <a:r>
              <a:rPr dirty="0" sz="1100" spc="-5" b="1">
                <a:latin typeface="Consolas"/>
                <a:cs typeface="Consolas"/>
              </a:rPr>
              <a:t>event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100" spc="-5" b="1">
                <a:latin typeface="Consolas"/>
                <a:cs typeface="Consolas"/>
              </a:rPr>
              <a:t>target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.</a:t>
            </a:r>
            <a:r>
              <a:rPr dirty="0" sz="1100" spc="-5" b="1">
                <a:latin typeface="Consolas"/>
                <a:cs typeface="Consolas"/>
              </a:rPr>
              <a:t>value</a:t>
            </a:r>
            <a:r>
              <a:rPr dirty="0" sz="1100" spc="-5" b="1">
                <a:solidFill>
                  <a:srgbClr val="88C6BE"/>
                </a:solidFill>
                <a:latin typeface="Consolas"/>
                <a:cs typeface="Consolas"/>
              </a:rPr>
              <a:t>});</a:t>
            </a:r>
            <a:endParaRPr sz="1100">
              <a:latin typeface="Consolas"/>
              <a:cs typeface="Consolas"/>
            </a:endParaRPr>
          </a:p>
          <a:p>
            <a:pPr marL="19050">
              <a:lnSpc>
                <a:spcPct val="100000"/>
              </a:lnSpc>
              <a:spcBef>
                <a:spcPts val="180"/>
              </a:spcBef>
            </a:pPr>
            <a:r>
              <a:rPr dirty="0" sz="1100" b="1">
                <a:solidFill>
                  <a:srgbClr val="88C6BE"/>
                </a:solidFill>
                <a:latin typeface="Consolas"/>
                <a:cs typeface="Consolas"/>
              </a:rPr>
              <a:t>}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8977" y="2873474"/>
            <a:ext cx="4092575" cy="98361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85725" marR="186055">
              <a:lnSpc>
                <a:spcPts val="1650"/>
              </a:lnSpc>
              <a:spcBef>
                <a:spcPts val="700"/>
              </a:spcBef>
            </a:pPr>
            <a:r>
              <a:rPr dirty="0" sz="1400" spc="-5">
                <a:latin typeface="Arial"/>
                <a:cs typeface="Arial"/>
              </a:rPr>
              <a:t>Arbitrary </a:t>
            </a:r>
            <a:r>
              <a:rPr dirty="0" sz="1400">
                <a:latin typeface="Arial"/>
                <a:cs typeface="Arial"/>
              </a:rPr>
              <a:t>JavaScript can </a:t>
            </a:r>
            <a:r>
              <a:rPr dirty="0" sz="1400" spc="-5">
                <a:latin typeface="Arial"/>
                <a:cs typeface="Arial"/>
              </a:rPr>
              <a:t>look at  </a:t>
            </a:r>
            <a:r>
              <a:rPr dirty="0" sz="1400" spc="-5">
                <a:latin typeface="Consolas"/>
                <a:cs typeface="Consolas"/>
              </a:rPr>
              <a:t>event.target.value</a:t>
            </a:r>
            <a:r>
              <a:rPr dirty="0" sz="1400" spc="-395">
                <a:latin typeface="Consolas"/>
                <a:cs typeface="Consolas"/>
              </a:rPr>
              <a:t> </a:t>
            </a:r>
            <a:r>
              <a:rPr dirty="0" sz="1400" spc="-5">
                <a:latin typeface="Arial"/>
                <a:cs typeface="Arial"/>
              </a:rPr>
              <a:t>and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5">
                <a:latin typeface="Consolas"/>
                <a:cs typeface="Consolas"/>
              </a:rPr>
              <a:t>this.state</a:t>
            </a:r>
            <a:r>
              <a:rPr dirty="0" sz="1400" spc="-395">
                <a:latin typeface="Consolas"/>
                <a:cs typeface="Consolas"/>
              </a:rPr>
              <a:t> </a:t>
            </a:r>
            <a:r>
              <a:rPr dirty="0" sz="1400" spc="-5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use  </a:t>
            </a:r>
            <a:r>
              <a:rPr dirty="0" sz="1400" spc="-5">
                <a:latin typeface="Consolas"/>
                <a:cs typeface="Consolas"/>
              </a:rPr>
              <a:t>setState </a:t>
            </a:r>
            <a:r>
              <a:rPr dirty="0" sz="1400">
                <a:latin typeface="Arial"/>
                <a:cs typeface="Arial"/>
              </a:rPr>
              <a:t>causing </a:t>
            </a:r>
            <a:r>
              <a:rPr dirty="0" sz="1400" spc="-5">
                <a:latin typeface="Consolas"/>
                <a:cs typeface="Consolas"/>
              </a:rPr>
              <a:t>render()</a:t>
            </a:r>
            <a:r>
              <a:rPr dirty="0" sz="1400" spc="-425">
                <a:latin typeface="Consolas"/>
                <a:cs typeface="Consolas"/>
              </a:rPr>
              <a:t> </a:t>
            </a:r>
            <a:r>
              <a:rPr dirty="0" sz="1400" spc="-5">
                <a:latin typeface="Arial"/>
                <a:cs typeface="Arial"/>
              </a:rPr>
              <a:t>be </a:t>
            </a:r>
            <a:r>
              <a:rPr dirty="0" sz="1400">
                <a:latin typeface="Arial"/>
                <a:cs typeface="Arial"/>
              </a:rPr>
              <a:t>called </a:t>
            </a:r>
            <a:r>
              <a:rPr dirty="0" sz="1400" spc="-5">
                <a:latin typeface="Arial"/>
                <a:cs typeface="Arial"/>
              </a:rPr>
              <a:t>again.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9798" y="2868174"/>
            <a:ext cx="2692400" cy="436245"/>
          </a:xfrm>
          <a:custGeom>
            <a:avLst/>
            <a:gdLst/>
            <a:ahLst/>
            <a:cxnLst/>
            <a:rect l="l" t="t" r="r" b="b"/>
            <a:pathLst>
              <a:path w="2692400" h="436245">
                <a:moveTo>
                  <a:pt x="2692056" y="0"/>
                </a:moveTo>
                <a:lnTo>
                  <a:pt x="0" y="435848"/>
                </a:lnTo>
              </a:path>
            </a:pathLst>
          </a:custGeom>
          <a:ln w="2857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30077" y="3252878"/>
            <a:ext cx="120865" cy="92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7159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Asynchronous</a:t>
            </a:r>
            <a:r>
              <a:rPr dirty="0" spc="-85"/>
              <a:t> </a:t>
            </a:r>
            <a:r>
              <a:rPr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42108"/>
            <a:ext cx="7046595" cy="3535679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Can in background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communicate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with web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validate</a:t>
            </a:r>
            <a:r>
              <a:rPr dirty="0" sz="1800" spc="-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Example: username already</a:t>
            </a:r>
            <a:r>
              <a:rPr dirty="0" sz="14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taken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Example: Autocomplete with</a:t>
            </a:r>
            <a:r>
              <a:rPr dirty="0" sz="1800" spc="-45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dirty="0" u="heavy" sz="1800" spc="-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React-AutoSuggest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Arial"/>
              <a:buChar char="●"/>
            </a:pPr>
            <a:endParaRPr sz="1650">
              <a:latin typeface="Times New Roman"/>
              <a:cs typeface="Times New Roman"/>
            </a:endParaRPr>
          </a:p>
          <a:p>
            <a:pPr marL="256540">
              <a:lnSpc>
                <a:spcPct val="100000"/>
              </a:lnSpc>
            </a:pP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Autosuggest</a:t>
            </a:r>
            <a:endParaRPr sz="1200">
              <a:latin typeface="Consolas"/>
              <a:cs typeface="Consolas"/>
            </a:endParaRPr>
          </a:p>
          <a:p>
            <a:pPr marL="591185" marR="1254125">
              <a:lnSpc>
                <a:spcPct val="114599"/>
              </a:lnSpc>
            </a:pP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suggestions</a:t>
            </a: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{suggestions}  onSuggestionsFetchRequested</a:t>
            </a: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{</a:t>
            </a:r>
            <a:r>
              <a:rPr dirty="0" sz="1200" spc="-5">
                <a:solidFill>
                  <a:srgbClr val="005CC5"/>
                </a:solidFill>
                <a:latin typeface="Consolas"/>
                <a:cs typeface="Consolas"/>
              </a:rPr>
              <a:t>this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.onSuggestionsFetchRequested}  onSuggestionsClearRequested</a:t>
            </a: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{</a:t>
            </a:r>
            <a:r>
              <a:rPr dirty="0" sz="1200" spc="-5">
                <a:solidFill>
                  <a:srgbClr val="005CC5"/>
                </a:solidFill>
                <a:latin typeface="Consolas"/>
                <a:cs typeface="Consolas"/>
              </a:rPr>
              <a:t>this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.onSuggestionsClearRequested}  getSuggestionValue</a:t>
            </a: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{getSuggestionValue}  renderSuggestion</a:t>
            </a: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{renderSuggestion}</a:t>
            </a:r>
            <a:endParaRPr sz="12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  <a:spcBef>
                <a:spcPts val="210"/>
              </a:spcBef>
            </a:pP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inputProps</a:t>
            </a: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24292E"/>
                </a:solidFill>
                <a:latin typeface="Consolas"/>
                <a:cs typeface="Consolas"/>
              </a:rPr>
              <a:t>{inputProps}</a:t>
            </a:r>
            <a:endParaRPr sz="1200">
              <a:latin typeface="Consolas"/>
              <a:cs typeface="Consolas"/>
            </a:endParaRPr>
          </a:p>
          <a:p>
            <a:pPr marL="577215">
              <a:lnSpc>
                <a:spcPct val="100000"/>
              </a:lnSpc>
              <a:spcBef>
                <a:spcPts val="210"/>
              </a:spcBef>
            </a:pPr>
            <a:r>
              <a:rPr dirty="0" sz="1200" spc="-5">
                <a:solidFill>
                  <a:srgbClr val="D73949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dirty="0" sz="1800" spc="-15">
                <a:solidFill>
                  <a:srgbClr val="595959"/>
                </a:solidFill>
                <a:latin typeface="Arial"/>
                <a:cs typeface="Arial"/>
              </a:rPr>
              <a:t>Trend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towards using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recommendation systems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for input</a:t>
            </a:r>
            <a:r>
              <a:rPr dirty="0" sz="1800" spc="-7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guidance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337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Single Page App</a:t>
            </a:r>
            <a:r>
              <a:rPr dirty="0" spc="-229"/>
              <a:t> </a:t>
            </a:r>
            <a:r>
              <a:rPr dirty="0" spc="-5"/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96156"/>
            <a:ext cx="7934325" cy="2584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Rather than POST with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redirect you can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do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XMLHttpRequest</a:t>
            </a:r>
            <a:r>
              <a:rPr dirty="0" sz="1800" spc="-1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POST/PUT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React: Unopinionated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- Many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options 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choose</a:t>
            </a:r>
            <a:r>
              <a:rPr dirty="0" sz="1800" spc="-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from.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r>
              <a:rPr dirty="0" sz="1400" spc="-5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dirty="0" u="heavy" sz="1400" spc="-5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Axios</a:t>
            </a:r>
            <a:r>
              <a:rPr dirty="0" sz="1400" spc="-5">
                <a:solidFill>
                  <a:srgbClr val="0097A7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Promise based HTTP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client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for the browser and</a:t>
            </a:r>
            <a:r>
              <a:rPr dirty="0" sz="14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node.js</a:t>
            </a:r>
            <a:endParaRPr sz="1400">
              <a:latin typeface="Arial"/>
              <a:cs typeface="Arial"/>
            </a:endParaRPr>
          </a:p>
          <a:p>
            <a:pPr marL="1293495" marR="4584700">
              <a:lnSpc>
                <a:spcPct val="178600"/>
              </a:lnSpc>
              <a:spcBef>
                <a:spcPts val="525"/>
              </a:spcBef>
            </a:pPr>
            <a:r>
              <a:rPr dirty="0" sz="1400" spc="-5">
                <a:latin typeface="Consolas"/>
                <a:cs typeface="Consolas"/>
              </a:rPr>
              <a:t>axios.get(url)  axios.delete(url)  axios.post(url,</a:t>
            </a:r>
            <a:r>
              <a:rPr dirty="0" sz="1400" spc="-95">
                <a:latin typeface="Consolas"/>
                <a:cs typeface="Consolas"/>
              </a:rPr>
              <a:t> </a:t>
            </a:r>
            <a:r>
              <a:rPr dirty="0" sz="1400" spc="-5">
                <a:latin typeface="Consolas"/>
                <a:cs typeface="Consolas"/>
              </a:rPr>
              <a:t>body)  axios.put(url,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">
                <a:latin typeface="Consolas"/>
                <a:cs typeface="Consolas"/>
              </a:rPr>
              <a:t>body)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2638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Axios </a:t>
            </a:r>
            <a:r>
              <a:rPr dirty="0"/>
              <a:t>Model</a:t>
            </a:r>
            <a:r>
              <a:rPr dirty="0" spc="-90"/>
              <a:t> </a:t>
            </a:r>
            <a:r>
              <a:rPr dirty="0" spc="-5"/>
              <a:t>fetch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704" rIns="0" bIns="0" rtlCol="0" vert="horz">
            <a:spAutoFit/>
          </a:bodyPr>
          <a:lstStyle/>
          <a:p>
            <a:pPr marL="564515">
              <a:lnSpc>
                <a:spcPct val="100000"/>
              </a:lnSpc>
              <a:spcBef>
                <a:spcPts val="414"/>
              </a:spcBef>
            </a:pPr>
            <a:r>
              <a:rPr dirty="0" spc="-5"/>
              <a:t>axios.get(URLpath)</a:t>
            </a:r>
          </a:p>
          <a:p>
            <a:pPr marL="1443990">
              <a:lnSpc>
                <a:spcPct val="100000"/>
              </a:lnSpc>
              <a:spcBef>
                <a:spcPts val="315"/>
              </a:spcBef>
            </a:pPr>
            <a:r>
              <a:rPr dirty="0" spc="-5"/>
              <a:t>.then((response) =&gt;</a:t>
            </a:r>
            <a:r>
              <a:rPr dirty="0" spc="-15"/>
              <a:t> </a:t>
            </a:r>
            <a:r>
              <a:rPr dirty="0"/>
              <a:t>{</a:t>
            </a:r>
          </a:p>
          <a:p>
            <a:pPr marL="1758950">
              <a:lnSpc>
                <a:spcPct val="100000"/>
              </a:lnSpc>
              <a:spcBef>
                <a:spcPts val="33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>
                <a:latin typeface="Arial"/>
                <a:cs typeface="Arial"/>
              </a:rPr>
              <a:t>response.status - </a:t>
            </a:r>
            <a:r>
              <a:rPr dirty="0" sz="1400" spc="-5">
                <a:latin typeface="Arial"/>
                <a:cs typeface="Arial"/>
              </a:rPr>
              <a:t>HTTP </a:t>
            </a:r>
            <a:r>
              <a:rPr dirty="0" sz="1400">
                <a:latin typeface="Arial"/>
                <a:cs typeface="Arial"/>
              </a:rPr>
              <a:t>response status (eg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200)</a:t>
            </a:r>
            <a:endParaRPr sz="1400">
              <a:latin typeface="Arial"/>
              <a:cs typeface="Arial"/>
            </a:endParaRPr>
          </a:p>
          <a:p>
            <a:pPr marL="171831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-10">
                <a:latin typeface="Arial"/>
                <a:cs typeface="Arial"/>
              </a:rPr>
              <a:t>response.statusText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HTTP </a:t>
            </a:r>
            <a:r>
              <a:rPr dirty="0" sz="1400">
                <a:latin typeface="Arial"/>
                <a:cs typeface="Arial"/>
              </a:rPr>
              <a:t>response status </a:t>
            </a:r>
            <a:r>
              <a:rPr dirty="0" sz="1400" spc="-5">
                <a:latin typeface="Arial"/>
                <a:cs typeface="Arial"/>
              </a:rPr>
              <a:t>text </a:t>
            </a:r>
            <a:r>
              <a:rPr dirty="0" sz="1400">
                <a:latin typeface="Arial"/>
                <a:cs typeface="Arial"/>
              </a:rPr>
              <a:t>(eg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OK)</a:t>
            </a:r>
            <a:endParaRPr sz="1400">
              <a:latin typeface="Arial"/>
              <a:cs typeface="Arial"/>
            </a:endParaRPr>
          </a:p>
          <a:p>
            <a:pPr marL="171831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>
                <a:latin typeface="Arial"/>
                <a:cs typeface="Arial"/>
              </a:rPr>
              <a:t>response.data - </a:t>
            </a:r>
            <a:r>
              <a:rPr dirty="0" sz="1400" spc="-5">
                <a:latin typeface="Arial"/>
                <a:cs typeface="Arial"/>
              </a:rPr>
              <a:t>Response body object </a:t>
            </a:r>
            <a:r>
              <a:rPr dirty="0" sz="1400">
                <a:latin typeface="Arial"/>
                <a:cs typeface="Arial"/>
              </a:rPr>
              <a:t>(JSON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parsed)</a:t>
            </a:r>
            <a:endParaRPr sz="1400">
              <a:latin typeface="Arial"/>
              <a:cs typeface="Arial"/>
            </a:endParaRPr>
          </a:p>
          <a:p>
            <a:pPr marL="1541780">
              <a:lnSpc>
                <a:spcPct val="100000"/>
              </a:lnSpc>
              <a:spcBef>
                <a:spcPts val="254"/>
              </a:spcBef>
            </a:pPr>
            <a:r>
              <a:rPr dirty="0" spc="-5"/>
              <a:t>})</a:t>
            </a:r>
          </a:p>
          <a:p>
            <a:pPr marL="1443990">
              <a:lnSpc>
                <a:spcPct val="100000"/>
              </a:lnSpc>
              <a:spcBef>
                <a:spcPts val="315"/>
              </a:spcBef>
            </a:pPr>
            <a:r>
              <a:rPr dirty="0" spc="-5"/>
              <a:t>.catch((err) =&gt;</a:t>
            </a:r>
            <a:r>
              <a:rPr dirty="0" spc="-15"/>
              <a:t> </a:t>
            </a:r>
            <a:r>
              <a:rPr dirty="0"/>
              <a:t>{</a:t>
            </a:r>
          </a:p>
          <a:p>
            <a:pPr marL="1753870">
              <a:lnSpc>
                <a:spcPct val="100000"/>
              </a:lnSpc>
              <a:spcBef>
                <a:spcPts val="33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-5">
                <a:latin typeface="Consolas"/>
                <a:cs typeface="Consolas"/>
              </a:rPr>
              <a:t>err.response.{status, data, headers)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Non-2xx </a:t>
            </a:r>
            <a:r>
              <a:rPr dirty="0" sz="1400">
                <a:latin typeface="Arial"/>
                <a:cs typeface="Arial"/>
              </a:rPr>
              <a:t>status </a:t>
            </a:r>
            <a:r>
              <a:rPr dirty="0" sz="1400" spc="-5">
                <a:latin typeface="Arial"/>
                <a:cs typeface="Arial"/>
              </a:rPr>
              <a:t>HTTP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  <a:p>
            <a:pPr marL="165544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5">
                <a:latin typeface="Arial"/>
                <a:cs typeface="Arial"/>
              </a:rPr>
              <a:t>i</a:t>
            </a:r>
            <a:r>
              <a:rPr dirty="0" sz="1400" spc="5">
                <a:latin typeface="Consolas"/>
                <a:cs typeface="Consolas"/>
              </a:rPr>
              <a:t>f </a:t>
            </a:r>
            <a:r>
              <a:rPr dirty="0" sz="1400" spc="-5">
                <a:latin typeface="Consolas"/>
                <a:cs typeface="Consolas"/>
              </a:rPr>
              <a:t>!err.response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No </a:t>
            </a:r>
            <a:r>
              <a:rPr dirty="0" sz="1400" spc="-20">
                <a:latin typeface="Arial"/>
                <a:cs typeface="Arial"/>
              </a:rPr>
              <a:t>reply, </a:t>
            </a:r>
            <a:r>
              <a:rPr dirty="0" sz="1400">
                <a:latin typeface="Arial"/>
                <a:cs typeface="Arial"/>
              </a:rPr>
              <a:t>can </a:t>
            </a:r>
            <a:r>
              <a:rPr dirty="0" sz="1400" spc="-5">
                <a:latin typeface="Arial"/>
                <a:cs typeface="Arial"/>
              </a:rPr>
              <a:t>look at</a:t>
            </a:r>
            <a:r>
              <a:rPr dirty="0" sz="1400" spc="65">
                <a:latin typeface="Arial"/>
                <a:cs typeface="Arial"/>
              </a:rPr>
              <a:t> </a:t>
            </a:r>
            <a:r>
              <a:rPr dirty="0" sz="1400" spc="-5"/>
              <a:t>err.request</a:t>
            </a:r>
            <a:endParaRPr sz="14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270"/>
              </a:spcBef>
            </a:pPr>
            <a:r>
              <a:rPr dirty="0" sz="1400" spc="-5"/>
              <a:t>});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17994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Axios </a:t>
            </a:r>
            <a:r>
              <a:rPr dirty="0"/>
              <a:t>Model </a:t>
            </a:r>
            <a:r>
              <a:rPr dirty="0" spc="-5"/>
              <a:t>fetch </a:t>
            </a:r>
            <a:r>
              <a:rPr dirty="0"/>
              <a:t>- </a:t>
            </a:r>
            <a:r>
              <a:rPr dirty="0" spc="-10"/>
              <a:t>Alternative Error</a:t>
            </a:r>
            <a:r>
              <a:rPr dirty="0" spc="-245"/>
              <a:t> </a:t>
            </a:r>
            <a:r>
              <a:rPr dirty="0" spc="-5"/>
              <a:t>Handling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704" rIns="0" bIns="0" rtlCol="0" vert="horz">
            <a:spAutoFit/>
          </a:bodyPr>
          <a:lstStyle/>
          <a:p>
            <a:pPr marL="564515">
              <a:lnSpc>
                <a:spcPct val="100000"/>
              </a:lnSpc>
              <a:spcBef>
                <a:spcPts val="414"/>
              </a:spcBef>
            </a:pPr>
            <a:r>
              <a:rPr dirty="0" spc="-5"/>
              <a:t>axios.get(URLpath)</a:t>
            </a:r>
          </a:p>
          <a:p>
            <a:pPr marL="1443990">
              <a:lnSpc>
                <a:spcPct val="100000"/>
              </a:lnSpc>
              <a:spcBef>
                <a:spcPts val="315"/>
              </a:spcBef>
            </a:pPr>
            <a:r>
              <a:rPr dirty="0" spc="-5"/>
              <a:t>.then((response) =&gt;</a:t>
            </a:r>
            <a:r>
              <a:rPr dirty="0" spc="-15"/>
              <a:t> </a:t>
            </a:r>
            <a:r>
              <a:rPr dirty="0"/>
              <a:t>{</a:t>
            </a:r>
          </a:p>
          <a:p>
            <a:pPr marL="1758950">
              <a:lnSpc>
                <a:spcPct val="100000"/>
              </a:lnSpc>
              <a:spcBef>
                <a:spcPts val="33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>
                <a:latin typeface="Arial"/>
                <a:cs typeface="Arial"/>
              </a:rPr>
              <a:t>response.status - </a:t>
            </a:r>
            <a:r>
              <a:rPr dirty="0" sz="1400" spc="-5">
                <a:latin typeface="Arial"/>
                <a:cs typeface="Arial"/>
              </a:rPr>
              <a:t>HTTP </a:t>
            </a:r>
            <a:r>
              <a:rPr dirty="0" sz="1400">
                <a:latin typeface="Arial"/>
                <a:cs typeface="Arial"/>
              </a:rPr>
              <a:t>response status (eg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200)</a:t>
            </a:r>
            <a:endParaRPr sz="1400">
              <a:latin typeface="Arial"/>
              <a:cs typeface="Arial"/>
            </a:endParaRPr>
          </a:p>
          <a:p>
            <a:pPr marL="171831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-10">
                <a:latin typeface="Arial"/>
                <a:cs typeface="Arial"/>
              </a:rPr>
              <a:t>response.statusText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HTTP </a:t>
            </a:r>
            <a:r>
              <a:rPr dirty="0" sz="1400">
                <a:latin typeface="Arial"/>
                <a:cs typeface="Arial"/>
              </a:rPr>
              <a:t>response status </a:t>
            </a:r>
            <a:r>
              <a:rPr dirty="0" sz="1400" spc="-5">
                <a:latin typeface="Arial"/>
                <a:cs typeface="Arial"/>
              </a:rPr>
              <a:t>text </a:t>
            </a:r>
            <a:r>
              <a:rPr dirty="0" sz="1400">
                <a:latin typeface="Arial"/>
                <a:cs typeface="Arial"/>
              </a:rPr>
              <a:t>(eg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OK)</a:t>
            </a:r>
            <a:endParaRPr sz="1400">
              <a:latin typeface="Arial"/>
              <a:cs typeface="Arial"/>
            </a:endParaRPr>
          </a:p>
          <a:p>
            <a:pPr marL="171831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>
                <a:latin typeface="Arial"/>
                <a:cs typeface="Arial"/>
              </a:rPr>
              <a:t>response.data - </a:t>
            </a:r>
            <a:r>
              <a:rPr dirty="0" sz="1400" spc="-5">
                <a:latin typeface="Arial"/>
                <a:cs typeface="Arial"/>
              </a:rPr>
              <a:t>Response body object </a:t>
            </a:r>
            <a:r>
              <a:rPr dirty="0" sz="1400">
                <a:latin typeface="Arial"/>
                <a:cs typeface="Arial"/>
              </a:rPr>
              <a:t>(JSON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parsed)</a:t>
            </a:r>
            <a:endParaRPr sz="1400">
              <a:latin typeface="Arial"/>
              <a:cs typeface="Arial"/>
            </a:endParaRPr>
          </a:p>
          <a:p>
            <a:pPr marL="1541780">
              <a:lnSpc>
                <a:spcPct val="100000"/>
              </a:lnSpc>
              <a:spcBef>
                <a:spcPts val="254"/>
              </a:spcBef>
            </a:pPr>
            <a:r>
              <a:rPr dirty="0" spc="-5"/>
              <a:t>},</a:t>
            </a:r>
          </a:p>
          <a:p>
            <a:pPr marL="1443990">
              <a:lnSpc>
                <a:spcPct val="100000"/>
              </a:lnSpc>
              <a:spcBef>
                <a:spcPts val="315"/>
              </a:spcBef>
            </a:pPr>
            <a:r>
              <a:rPr dirty="0" spc="-5"/>
              <a:t>(err) =&gt;</a:t>
            </a:r>
            <a:r>
              <a:rPr dirty="0" spc="-10"/>
              <a:t> </a:t>
            </a:r>
            <a:r>
              <a:rPr dirty="0"/>
              <a:t>{</a:t>
            </a:r>
          </a:p>
          <a:p>
            <a:pPr marL="1753870">
              <a:lnSpc>
                <a:spcPct val="100000"/>
              </a:lnSpc>
              <a:spcBef>
                <a:spcPts val="33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-5">
                <a:latin typeface="Consolas"/>
                <a:cs typeface="Consolas"/>
              </a:rPr>
              <a:t>err.response.{status, data, headers)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Non-2xx </a:t>
            </a:r>
            <a:r>
              <a:rPr dirty="0" sz="1400">
                <a:latin typeface="Arial"/>
                <a:cs typeface="Arial"/>
              </a:rPr>
              <a:t>status </a:t>
            </a:r>
            <a:r>
              <a:rPr dirty="0" sz="1400" spc="-5">
                <a:latin typeface="Arial"/>
                <a:cs typeface="Arial"/>
              </a:rPr>
              <a:t>HTTP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  <a:p>
            <a:pPr marL="165544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5">
                <a:latin typeface="Arial"/>
                <a:cs typeface="Arial"/>
              </a:rPr>
              <a:t>i</a:t>
            </a:r>
            <a:r>
              <a:rPr dirty="0" sz="1400" spc="5">
                <a:latin typeface="Consolas"/>
                <a:cs typeface="Consolas"/>
              </a:rPr>
              <a:t>f </a:t>
            </a:r>
            <a:r>
              <a:rPr dirty="0" sz="1400" spc="-5">
                <a:latin typeface="Consolas"/>
                <a:cs typeface="Consolas"/>
              </a:rPr>
              <a:t>!err.response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No </a:t>
            </a:r>
            <a:r>
              <a:rPr dirty="0" sz="1400" spc="-20">
                <a:latin typeface="Arial"/>
                <a:cs typeface="Arial"/>
              </a:rPr>
              <a:t>reply, </a:t>
            </a:r>
            <a:r>
              <a:rPr dirty="0" sz="1400">
                <a:latin typeface="Arial"/>
                <a:cs typeface="Arial"/>
              </a:rPr>
              <a:t>can </a:t>
            </a:r>
            <a:r>
              <a:rPr dirty="0" sz="1400" spc="-5">
                <a:latin typeface="Arial"/>
                <a:cs typeface="Arial"/>
              </a:rPr>
              <a:t>look at</a:t>
            </a:r>
            <a:r>
              <a:rPr dirty="0" sz="1400" spc="65">
                <a:latin typeface="Arial"/>
                <a:cs typeface="Arial"/>
              </a:rPr>
              <a:t> </a:t>
            </a:r>
            <a:r>
              <a:rPr dirty="0" sz="1400" spc="-5"/>
              <a:t>err.request</a:t>
            </a:r>
            <a:endParaRPr sz="14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270"/>
              </a:spcBef>
            </a:pPr>
            <a:r>
              <a:rPr dirty="0" sz="1400" spc="-5"/>
              <a:t>});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9179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Axios </a:t>
            </a:r>
            <a:r>
              <a:rPr dirty="0"/>
              <a:t>Model</a:t>
            </a:r>
            <a:r>
              <a:rPr dirty="0" spc="-90"/>
              <a:t> </a:t>
            </a:r>
            <a:r>
              <a:rPr dirty="0" spc="-5"/>
              <a:t>uploading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2704" rIns="0" bIns="0" rtlCol="0" vert="horz">
            <a:spAutoFit/>
          </a:bodyPr>
          <a:lstStyle/>
          <a:p>
            <a:pPr marL="564515">
              <a:lnSpc>
                <a:spcPct val="100000"/>
              </a:lnSpc>
              <a:spcBef>
                <a:spcPts val="414"/>
              </a:spcBef>
            </a:pPr>
            <a:r>
              <a:rPr dirty="0" spc="-5"/>
              <a:t>axios.post(URLpath,</a:t>
            </a:r>
            <a:r>
              <a:rPr dirty="0" spc="-15"/>
              <a:t> </a:t>
            </a:r>
            <a:r>
              <a:rPr dirty="0" spc="-5"/>
              <a:t>objectWithParameters)</a:t>
            </a:r>
          </a:p>
          <a:p>
            <a:pPr marL="1443990">
              <a:lnSpc>
                <a:spcPct val="100000"/>
              </a:lnSpc>
              <a:spcBef>
                <a:spcPts val="315"/>
              </a:spcBef>
            </a:pPr>
            <a:r>
              <a:rPr dirty="0" spc="-5"/>
              <a:t>.then((response) =&gt;</a:t>
            </a:r>
            <a:r>
              <a:rPr dirty="0" spc="-15"/>
              <a:t> </a:t>
            </a:r>
            <a:r>
              <a:rPr dirty="0"/>
              <a:t>{</a:t>
            </a:r>
          </a:p>
          <a:p>
            <a:pPr marL="1758950">
              <a:lnSpc>
                <a:spcPct val="100000"/>
              </a:lnSpc>
              <a:spcBef>
                <a:spcPts val="33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>
                <a:latin typeface="Arial"/>
                <a:cs typeface="Arial"/>
              </a:rPr>
              <a:t>response.status - </a:t>
            </a:r>
            <a:r>
              <a:rPr dirty="0" sz="1400" spc="-5">
                <a:latin typeface="Arial"/>
                <a:cs typeface="Arial"/>
              </a:rPr>
              <a:t>HTTP </a:t>
            </a:r>
            <a:r>
              <a:rPr dirty="0" sz="1400">
                <a:latin typeface="Arial"/>
                <a:cs typeface="Arial"/>
              </a:rPr>
              <a:t>response status (eg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200)</a:t>
            </a:r>
            <a:endParaRPr sz="1400">
              <a:latin typeface="Arial"/>
              <a:cs typeface="Arial"/>
            </a:endParaRPr>
          </a:p>
          <a:p>
            <a:pPr marL="171831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-10">
                <a:latin typeface="Arial"/>
                <a:cs typeface="Arial"/>
              </a:rPr>
              <a:t>response.statusText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HTTP </a:t>
            </a:r>
            <a:r>
              <a:rPr dirty="0" sz="1400">
                <a:latin typeface="Arial"/>
                <a:cs typeface="Arial"/>
              </a:rPr>
              <a:t>response status </a:t>
            </a:r>
            <a:r>
              <a:rPr dirty="0" sz="1400" spc="-5">
                <a:latin typeface="Arial"/>
                <a:cs typeface="Arial"/>
              </a:rPr>
              <a:t>text </a:t>
            </a:r>
            <a:r>
              <a:rPr dirty="0" sz="1400">
                <a:latin typeface="Arial"/>
                <a:cs typeface="Arial"/>
              </a:rPr>
              <a:t>(eg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OK)</a:t>
            </a:r>
            <a:endParaRPr sz="1400">
              <a:latin typeface="Arial"/>
              <a:cs typeface="Arial"/>
            </a:endParaRPr>
          </a:p>
          <a:p>
            <a:pPr marL="171831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>
                <a:latin typeface="Arial"/>
                <a:cs typeface="Arial"/>
              </a:rPr>
              <a:t>response.data - </a:t>
            </a:r>
            <a:r>
              <a:rPr dirty="0" sz="1400" spc="-5">
                <a:latin typeface="Arial"/>
                <a:cs typeface="Arial"/>
              </a:rPr>
              <a:t>Response body object </a:t>
            </a:r>
            <a:r>
              <a:rPr dirty="0" sz="1400">
                <a:latin typeface="Arial"/>
                <a:cs typeface="Arial"/>
              </a:rPr>
              <a:t>(JSON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parsed)</a:t>
            </a:r>
            <a:endParaRPr sz="1400">
              <a:latin typeface="Arial"/>
              <a:cs typeface="Arial"/>
            </a:endParaRPr>
          </a:p>
          <a:p>
            <a:pPr marL="1541780">
              <a:lnSpc>
                <a:spcPct val="100000"/>
              </a:lnSpc>
              <a:spcBef>
                <a:spcPts val="254"/>
              </a:spcBef>
            </a:pPr>
            <a:r>
              <a:rPr dirty="0" spc="-5"/>
              <a:t>})</a:t>
            </a:r>
          </a:p>
          <a:p>
            <a:pPr marL="1443990">
              <a:lnSpc>
                <a:spcPct val="100000"/>
              </a:lnSpc>
              <a:spcBef>
                <a:spcPts val="315"/>
              </a:spcBef>
            </a:pPr>
            <a:r>
              <a:rPr dirty="0" spc="-5"/>
              <a:t>.catch((err) =&gt;</a:t>
            </a:r>
            <a:r>
              <a:rPr dirty="0" spc="-15"/>
              <a:t> </a:t>
            </a:r>
            <a:r>
              <a:rPr dirty="0"/>
              <a:t>{</a:t>
            </a:r>
          </a:p>
          <a:p>
            <a:pPr marL="1753870">
              <a:lnSpc>
                <a:spcPct val="100000"/>
              </a:lnSpc>
              <a:spcBef>
                <a:spcPts val="33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-5">
                <a:latin typeface="Consolas"/>
                <a:cs typeface="Consolas"/>
              </a:rPr>
              <a:t>err.response.{status, data, headers)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Non-2xx </a:t>
            </a:r>
            <a:r>
              <a:rPr dirty="0" sz="1400">
                <a:latin typeface="Arial"/>
                <a:cs typeface="Arial"/>
              </a:rPr>
              <a:t>status </a:t>
            </a:r>
            <a:r>
              <a:rPr dirty="0" sz="1400" spc="-5">
                <a:latin typeface="Arial"/>
                <a:cs typeface="Arial"/>
              </a:rPr>
              <a:t>HTTP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response</a:t>
            </a:r>
            <a:endParaRPr sz="1400">
              <a:latin typeface="Arial"/>
              <a:cs typeface="Arial"/>
            </a:endParaRPr>
          </a:p>
          <a:p>
            <a:pPr marL="165544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latin typeface="Arial"/>
                <a:cs typeface="Arial"/>
              </a:rPr>
              <a:t>// </a:t>
            </a:r>
            <a:r>
              <a:rPr dirty="0" sz="1400" spc="5">
                <a:latin typeface="Arial"/>
                <a:cs typeface="Arial"/>
              </a:rPr>
              <a:t>i</a:t>
            </a:r>
            <a:r>
              <a:rPr dirty="0" sz="1400" spc="5">
                <a:latin typeface="Consolas"/>
                <a:cs typeface="Consolas"/>
              </a:rPr>
              <a:t>f </a:t>
            </a:r>
            <a:r>
              <a:rPr dirty="0" sz="1400" spc="-5">
                <a:latin typeface="Consolas"/>
                <a:cs typeface="Consolas"/>
              </a:rPr>
              <a:t>!err.response </a:t>
            </a:r>
            <a:r>
              <a:rPr dirty="0" sz="1400">
                <a:latin typeface="Arial"/>
                <a:cs typeface="Arial"/>
              </a:rPr>
              <a:t>- </a:t>
            </a:r>
            <a:r>
              <a:rPr dirty="0" sz="1400" spc="-5">
                <a:latin typeface="Arial"/>
                <a:cs typeface="Arial"/>
              </a:rPr>
              <a:t>No </a:t>
            </a:r>
            <a:r>
              <a:rPr dirty="0" sz="1400" spc="-20">
                <a:latin typeface="Arial"/>
                <a:cs typeface="Arial"/>
              </a:rPr>
              <a:t>reply, </a:t>
            </a:r>
            <a:r>
              <a:rPr dirty="0" sz="1400">
                <a:latin typeface="Arial"/>
                <a:cs typeface="Arial"/>
              </a:rPr>
              <a:t>can </a:t>
            </a:r>
            <a:r>
              <a:rPr dirty="0" sz="1400" spc="-5">
                <a:latin typeface="Arial"/>
                <a:cs typeface="Arial"/>
              </a:rPr>
              <a:t>look at</a:t>
            </a:r>
            <a:r>
              <a:rPr dirty="0" sz="1400" spc="65">
                <a:latin typeface="Arial"/>
                <a:cs typeface="Arial"/>
              </a:rPr>
              <a:t> </a:t>
            </a:r>
            <a:r>
              <a:rPr dirty="0" sz="1400" spc="-5"/>
              <a:t>err.request</a:t>
            </a:r>
            <a:endParaRPr sz="1400">
              <a:latin typeface="Arial"/>
              <a:cs typeface="Arial"/>
            </a:endParaRPr>
          </a:p>
          <a:p>
            <a:pPr marL="1520190">
              <a:lnSpc>
                <a:spcPct val="100000"/>
              </a:lnSpc>
              <a:spcBef>
                <a:spcPts val="270"/>
              </a:spcBef>
            </a:pPr>
            <a:r>
              <a:rPr dirty="0" sz="1400" spc="-5"/>
              <a:t>});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3725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Server-side</a:t>
            </a:r>
            <a:r>
              <a:rPr dirty="0" spc="-90"/>
              <a:t> </a:t>
            </a:r>
            <a:r>
              <a:rPr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42108"/>
            <a:ext cx="7363459" cy="35242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Regardless of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validation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in browser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needs to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check</a:t>
            </a:r>
            <a:r>
              <a:rPr dirty="0" sz="1800" spc="-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everything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Easy to directly access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API bypassing all browser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dirty="0" sz="1400" spc="-1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checks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Mongoose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allows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validator</a:t>
            </a:r>
            <a:r>
              <a:rPr dirty="0" sz="1800" spc="-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functions</a:t>
            </a:r>
            <a:endParaRPr sz="1800">
              <a:latin typeface="Arial"/>
              <a:cs typeface="Arial"/>
            </a:endParaRPr>
          </a:p>
          <a:p>
            <a:pPr marL="671830" marR="4147820" indent="-293370">
              <a:lnSpc>
                <a:spcPct val="116100"/>
              </a:lnSpc>
              <a:spcBef>
                <a:spcPts val="6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var userSchema </a:t>
            </a: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new</a:t>
            </a:r>
            <a:r>
              <a:rPr dirty="0" sz="1400" spc="-9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Schema({  phone: </a:t>
            </a: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type:</a:t>
            </a:r>
            <a:r>
              <a:rPr dirty="0" sz="1400" spc="-5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String,</a:t>
            </a:r>
            <a:endParaRPr sz="1400">
              <a:latin typeface="Consolas"/>
              <a:cs typeface="Consolas"/>
            </a:endParaRPr>
          </a:p>
          <a:p>
            <a:pPr marL="161734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validate:</a:t>
            </a:r>
            <a:r>
              <a:rPr dirty="0" sz="1400" spc="-1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20789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validator: function(v)</a:t>
            </a:r>
            <a:r>
              <a:rPr dirty="0" sz="1400" spc="-1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259842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return</a:t>
            </a:r>
            <a:r>
              <a:rPr dirty="0" sz="1400" spc="-15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/d{3}-d{3}-d{4}/.test(v);</a:t>
            </a:r>
            <a:endParaRPr sz="1400">
              <a:latin typeface="Consolas"/>
              <a:cs typeface="Consolas"/>
            </a:endParaRPr>
          </a:p>
          <a:p>
            <a:pPr marL="220789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},</a:t>
            </a:r>
            <a:endParaRPr sz="1400">
              <a:latin typeface="Consolas"/>
              <a:cs typeface="Consolas"/>
            </a:endParaRPr>
          </a:p>
          <a:p>
            <a:pPr marL="2207895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message: '{VALUE} is not </a:t>
            </a: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valid phone</a:t>
            </a:r>
            <a:r>
              <a:rPr dirty="0" sz="1400" spc="-5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number!'</a:t>
            </a:r>
            <a:endParaRPr sz="1400">
              <a:latin typeface="Consolas"/>
              <a:cs typeface="Consolas"/>
            </a:endParaRPr>
          </a:p>
          <a:p>
            <a:pPr marL="1750695">
              <a:lnSpc>
                <a:spcPct val="100000"/>
              </a:lnSpc>
              <a:spcBef>
                <a:spcPts val="270"/>
              </a:spcBef>
            </a:pP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1421765">
              <a:lnSpc>
                <a:spcPct val="100000"/>
              </a:lnSpc>
              <a:spcBef>
                <a:spcPts val="270"/>
              </a:spcBef>
            </a:pPr>
            <a:r>
              <a:rPr dirty="0" sz="140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574040">
              <a:lnSpc>
                <a:spcPct val="100000"/>
              </a:lnSpc>
              <a:spcBef>
                <a:spcPts val="270"/>
              </a:spcBef>
            </a:pPr>
            <a:r>
              <a:rPr dirty="0" sz="1400" spc="-5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CS142 Lecture Notes </a:t>
            </a:r>
            <a:r>
              <a:rPr dirty="0"/>
              <a:t>-</a:t>
            </a:r>
            <a:r>
              <a:rPr dirty="0" spc="-80"/>
              <a:t> </a:t>
            </a:r>
            <a:r>
              <a:rPr dirty="0" spc="-5"/>
              <a:t>Input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8263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Some </a:t>
            </a:r>
            <a:r>
              <a:rPr dirty="0" spc="-5"/>
              <a:t>integrity enforcement </a:t>
            </a:r>
            <a:r>
              <a:rPr dirty="0"/>
              <a:t>requires special</a:t>
            </a:r>
            <a:r>
              <a:rPr dirty="0" spc="-90"/>
              <a:t> </a:t>
            </a:r>
            <a:r>
              <a:rPr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24" y="1196156"/>
            <a:ext cx="6468110" cy="167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Maintaining relationship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dirty="0" sz="180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objects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r>
              <a:rPr dirty="0" sz="1800" spc="-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quotas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Examples </a:t>
            </a:r>
            <a:r>
              <a:rPr dirty="0" sz="1800">
                <a:solidFill>
                  <a:srgbClr val="595959"/>
                </a:solidFill>
                <a:latin typeface="Arial"/>
                <a:cs typeface="Arial"/>
              </a:rPr>
              <a:t>related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to our Photo</a:t>
            </a:r>
            <a:r>
              <a:rPr dirty="0" sz="1800" spc="-1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18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Only author and admin user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delete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photo</a:t>
            </a:r>
            <a:r>
              <a:rPr dirty="0" sz="1400" spc="-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comment.</a:t>
            </a:r>
            <a:endParaRPr sz="1400">
              <a:latin typeface="Arial"/>
              <a:cs typeface="Arial"/>
            </a:endParaRPr>
          </a:p>
          <a:p>
            <a:pPr lvl="1" marL="836294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user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only upload 50 photos unless they have </a:t>
            </a:r>
            <a:r>
              <a:rPr dirty="0" sz="140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premium</a:t>
            </a:r>
            <a:r>
              <a:rPr dirty="0" sz="1400" spc="-1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"/>
                <a:cs typeface="Arial"/>
              </a:rPr>
              <a:t>account.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AD9C47-B982-49A4-B6E3-FECDE1787BBC}"/>
</file>

<file path=customXml/itemProps2.xml><?xml version="1.0" encoding="utf-8"?>
<ds:datastoreItem xmlns:ds="http://schemas.openxmlformats.org/officeDocument/2006/customXml" ds:itemID="{0300A832-8262-480C-B2E8-D53BD77A94E9}"/>
</file>

<file path=customXml/itemProps3.xml><?xml version="1.0" encoding="utf-8"?>
<ds:datastoreItem xmlns:ds="http://schemas.openxmlformats.org/officeDocument/2006/customXml" ds:itemID="{3B4D6C54-F422-4E98-91EE-6A520115451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2019-08-20T05:19:12Z</dcterms:created>
  <dcterms:modified xsi:type="dcterms:W3CDTF">2019-08-20T05:19:12Z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