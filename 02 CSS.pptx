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9144000" cy="5143500"/>
  <p:defaultTextStyle>
    <a:defPPr>
      <a:defRPr lang="mn-M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47" d="100"/>
          <a:sy n="147" d="100"/>
        </p:scale>
        <p:origin x="573" y="5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ustomXml" Target="../customXml/item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28" Type="http://schemas.openxmlformats.org/officeDocument/2006/relationships/customXml" Target="../customXml/item3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openxmlformats.org/officeDocument/2006/relationships/customXml" Target="../customXml/item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53775" y="1091184"/>
            <a:ext cx="7036449" cy="16084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2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CSS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9/14/2021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595959"/>
                </a:solidFill>
                <a:latin typeface="Consolas"/>
                <a:cs typeface="Consola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CSS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9/14/2021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CSS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9/14/2021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CSS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9/14/2021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CSS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9/14/2021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4725" y="503825"/>
            <a:ext cx="8374549" cy="4521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4725" y="1216355"/>
            <a:ext cx="7922259" cy="16808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595959"/>
                </a:solidFill>
                <a:latin typeface="Consolas"/>
                <a:cs typeface="Consola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747457" y="4778075"/>
            <a:ext cx="1612900" cy="1676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CSS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9/14/2021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68825" y="4778067"/>
            <a:ext cx="192404" cy="1676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2619375" marR="5080" indent="-2607310">
              <a:lnSpc>
                <a:spcPts val="6220"/>
              </a:lnSpc>
              <a:spcBef>
                <a:spcPts val="325"/>
              </a:spcBef>
            </a:pPr>
            <a:r>
              <a:rPr spc="-5" dirty="0"/>
              <a:t>Cascading </a:t>
            </a:r>
            <a:r>
              <a:rPr spc="-15" dirty="0"/>
              <a:t>Style Sheets  </a:t>
            </a:r>
            <a:r>
              <a:rPr dirty="0"/>
              <a:t>(CSS)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27637" y="2892926"/>
            <a:ext cx="308864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595959"/>
                </a:solidFill>
                <a:latin typeface="Arial"/>
                <a:cs typeface="Arial"/>
              </a:rPr>
              <a:t>Mendel</a:t>
            </a:r>
            <a:r>
              <a:rPr sz="2800" spc="-9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800" spc="-5" dirty="0">
                <a:solidFill>
                  <a:srgbClr val="595959"/>
                </a:solidFill>
                <a:latin typeface="Arial"/>
                <a:cs typeface="Arial"/>
              </a:rPr>
              <a:t>Rosenblum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CSS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1</a:t>
            </a:fld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CSS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2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450913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Driving problem behind</a:t>
            </a:r>
            <a:r>
              <a:rPr spc="-85" dirty="0"/>
              <a:t> </a:t>
            </a:r>
            <a:r>
              <a:rPr spc="-5" dirty="0"/>
              <a:t>CSS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216355"/>
            <a:ext cx="7787005" cy="3385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What font type and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size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does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&lt;h1&gt;Introduction&lt;/h1&gt;</a:t>
            </a:r>
            <a:r>
              <a:rPr sz="1800" spc="7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generate?</a:t>
            </a:r>
            <a:endParaRPr sz="1800">
              <a:latin typeface="Arial"/>
              <a:cs typeface="Arial"/>
            </a:endParaRPr>
          </a:p>
          <a:p>
            <a:pPr marL="12700" marR="5080" indent="457200">
              <a:lnSpc>
                <a:spcPct val="187500"/>
              </a:lnSpc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Answer: Some default from the browser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(HTML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tells </a:t>
            </a:r>
            <a:r>
              <a:rPr sz="1800" b="1" spc="-5" dirty="0">
                <a:solidFill>
                  <a:srgbClr val="595959"/>
                </a:solidFill>
                <a:latin typeface="Arial"/>
                <a:cs typeface="Arial"/>
              </a:rPr>
              <a:t>what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browser </a:t>
            </a:r>
            <a:r>
              <a:rPr sz="1800" b="1" spc="-5" dirty="0">
                <a:solidFill>
                  <a:srgbClr val="595959"/>
                </a:solidFill>
                <a:latin typeface="Arial"/>
                <a:cs typeface="Arial"/>
              </a:rPr>
              <a:t>how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)  Early HTML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-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Override defaults with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attributes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&lt;table border="2"</a:t>
            </a:r>
            <a:r>
              <a:rPr sz="1800" spc="-1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bordercolor="black"&gt;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b="1" spc="-5" dirty="0">
                <a:solidFill>
                  <a:srgbClr val="595959"/>
                </a:solidFill>
                <a:latin typeface="Arial"/>
                <a:cs typeface="Arial"/>
              </a:rPr>
              <a:t>Style sheets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were added to address</a:t>
            </a:r>
            <a:r>
              <a:rPr sz="1800" spc="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this:</a:t>
            </a:r>
            <a:endParaRPr sz="1800">
              <a:latin typeface="Arial"/>
              <a:cs typeface="Arial"/>
            </a:endParaRPr>
          </a:p>
          <a:p>
            <a:pPr marL="469900" marR="2552065">
              <a:lnSpc>
                <a:spcPct val="187500"/>
              </a:lnSpc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Specify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style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to use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rather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than browser default  Not have to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code styling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on every</a:t>
            </a:r>
            <a:r>
              <a:rPr sz="1800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element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CSS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3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651700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Key </a:t>
            </a:r>
            <a:r>
              <a:rPr dirty="0"/>
              <a:t>concept: </a:t>
            </a:r>
            <a:r>
              <a:rPr spc="-10" dirty="0"/>
              <a:t>Separate </a:t>
            </a:r>
            <a:r>
              <a:rPr dirty="0"/>
              <a:t>style </a:t>
            </a:r>
            <a:r>
              <a:rPr spc="-5" dirty="0"/>
              <a:t>from</a:t>
            </a:r>
            <a:r>
              <a:rPr spc="-95" dirty="0"/>
              <a:t> </a:t>
            </a:r>
            <a:r>
              <a:rPr dirty="0"/>
              <a:t>content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216355"/>
            <a:ext cx="7994015" cy="3274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Content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(what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to display) is in HTML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files</a:t>
            </a:r>
            <a:endParaRPr sz="1800">
              <a:latin typeface="Arial"/>
              <a:cs typeface="Arial"/>
            </a:endParaRPr>
          </a:p>
          <a:p>
            <a:pPr marL="12700" marR="5080">
              <a:lnSpc>
                <a:spcPct val="187500"/>
              </a:lnSpc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Formatting information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(how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to display it) is in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separate style sheets (.css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files).  Use an element attribute named </a:t>
            </a:r>
            <a:r>
              <a:rPr sz="1800" b="1" spc="-5" dirty="0">
                <a:solidFill>
                  <a:srgbClr val="FF0000"/>
                </a:solidFill>
                <a:latin typeface="Arial"/>
                <a:cs typeface="Arial"/>
              </a:rPr>
              <a:t>class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to link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(e.g.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&lt;span </a:t>
            </a:r>
            <a:r>
              <a:rPr sz="1800" spc="-5" dirty="0">
                <a:solidFill>
                  <a:srgbClr val="FF0000"/>
                </a:solidFill>
                <a:latin typeface="Consolas"/>
                <a:cs typeface="Consolas"/>
              </a:rPr>
              <a:t>class="test"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&gt;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)  Result: define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style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information once, use in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many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places</a:t>
            </a:r>
            <a:endParaRPr sz="1800">
              <a:latin typeface="Arial"/>
              <a:cs typeface="Arial"/>
            </a:endParaRPr>
          </a:p>
          <a:p>
            <a:pPr marL="469900" marR="1360805">
              <a:lnSpc>
                <a:spcPct val="114599"/>
              </a:lnSpc>
              <a:spcBef>
                <a:spcPts val="1575"/>
              </a:spcBef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Consider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can you make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all the text in the app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slightly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bigger?  Or purple is our new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company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color.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b="1" spc="-5" dirty="0">
                <a:solidFill>
                  <a:srgbClr val="595959"/>
                </a:solidFill>
                <a:latin typeface="Arial"/>
                <a:cs typeface="Arial"/>
              </a:rPr>
              <a:t>DRY principle: Don't Repeat</a:t>
            </a:r>
            <a:r>
              <a:rPr sz="2400" b="1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595959"/>
                </a:solidFill>
                <a:latin typeface="Arial"/>
                <a:cs typeface="Arial"/>
              </a:rPr>
              <a:t>Yourself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69418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Style </a:t>
            </a:r>
            <a:r>
              <a:rPr dirty="0"/>
              <a:t>sheet contain </a:t>
            </a:r>
            <a:r>
              <a:rPr spc="-5" dirty="0"/>
              <a:t>one or </a:t>
            </a:r>
            <a:r>
              <a:rPr dirty="0"/>
              <a:t>more </a:t>
            </a:r>
            <a:r>
              <a:rPr b="1" spc="-5" dirty="0">
                <a:latin typeface="Arial"/>
                <a:cs typeface="Arial"/>
              </a:rPr>
              <a:t>CSS</a:t>
            </a:r>
            <a:r>
              <a:rPr b="1" spc="-5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Rules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59066" y="2519375"/>
            <a:ext cx="4927600" cy="1282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599"/>
              </a:lnSpc>
              <a:spcBef>
                <a:spcPts val="100"/>
              </a:spcBef>
            </a:pPr>
            <a:r>
              <a:rPr sz="1800" spc="-5" dirty="0">
                <a:solidFill>
                  <a:srgbClr val="FF0000"/>
                </a:solidFill>
                <a:latin typeface="Consolas"/>
                <a:cs typeface="Consolas"/>
              </a:rPr>
              <a:t>font-family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: </a:t>
            </a:r>
            <a:r>
              <a:rPr sz="1800" spc="-5" dirty="0">
                <a:solidFill>
                  <a:srgbClr val="0000CD"/>
                </a:solidFill>
                <a:latin typeface="Consolas"/>
                <a:cs typeface="Consolas"/>
              </a:rPr>
              <a:t>Tahoma, Arial, </a:t>
            </a:r>
            <a:r>
              <a:rPr sz="1800" dirty="0">
                <a:solidFill>
                  <a:srgbClr val="0000CD"/>
                </a:solidFill>
                <a:latin typeface="Consolas"/>
                <a:cs typeface="Consolas"/>
              </a:rPr>
              <a:t>sans-serif</a:t>
            </a:r>
            <a:r>
              <a:rPr sz="1800" dirty="0">
                <a:solidFill>
                  <a:srgbClr val="595959"/>
                </a:solidFill>
                <a:latin typeface="Consolas"/>
                <a:cs typeface="Consolas"/>
              </a:rPr>
              <a:t>;  </a:t>
            </a:r>
            <a:r>
              <a:rPr sz="1800" spc="-5" dirty="0">
                <a:solidFill>
                  <a:srgbClr val="FF0000"/>
                </a:solidFill>
                <a:latin typeface="Consolas"/>
                <a:cs typeface="Consolas"/>
              </a:rPr>
              <a:t>color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: </a:t>
            </a:r>
            <a:r>
              <a:rPr sz="1800" spc="-5" dirty="0">
                <a:solidFill>
                  <a:srgbClr val="0000CD"/>
                </a:solidFill>
                <a:latin typeface="Consolas"/>
                <a:cs typeface="Consolas"/>
              </a:rPr>
              <a:t>black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;</a:t>
            </a:r>
            <a:endParaRPr sz="1800">
              <a:latin typeface="Consolas"/>
              <a:cs typeface="Consolas"/>
            </a:endParaRPr>
          </a:p>
          <a:p>
            <a:pPr marL="12700" marR="2644140">
              <a:lnSpc>
                <a:spcPct val="114599"/>
              </a:lnSpc>
            </a:pPr>
            <a:r>
              <a:rPr sz="1800" spc="-5" dirty="0">
                <a:solidFill>
                  <a:srgbClr val="FF0000"/>
                </a:solidFill>
                <a:latin typeface="Consolas"/>
                <a:cs typeface="Consolas"/>
              </a:rPr>
              <a:t>background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:</a:t>
            </a:r>
            <a:r>
              <a:rPr sz="1800" spc="-6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0000CD"/>
                </a:solidFill>
                <a:latin typeface="Consolas"/>
                <a:cs typeface="Consolas"/>
              </a:rPr>
              <a:t>white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;  </a:t>
            </a:r>
            <a:r>
              <a:rPr sz="1800" spc="-5" dirty="0">
                <a:solidFill>
                  <a:srgbClr val="FF0000"/>
                </a:solidFill>
                <a:latin typeface="Consolas"/>
                <a:cs typeface="Consolas"/>
              </a:rPr>
              <a:t>margin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:</a:t>
            </a:r>
            <a:r>
              <a:rPr sz="1800" spc="-1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0000CD"/>
                </a:solidFill>
                <a:latin typeface="Consolas"/>
                <a:cs typeface="Consolas"/>
              </a:rPr>
              <a:t>8px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;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56324" y="3816680"/>
            <a:ext cx="1511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595959"/>
                </a:solidFill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56324" y="1213295"/>
            <a:ext cx="1142365" cy="1331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"/>
                <a:cs typeface="Arial"/>
              </a:rPr>
              <a:t>Selector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7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140"/>
              </a:spcBef>
            </a:pPr>
            <a:r>
              <a:rPr sz="1800" spc="-5" dirty="0">
                <a:solidFill>
                  <a:srgbClr val="A52A2A"/>
                </a:solidFill>
                <a:latin typeface="Consolas"/>
                <a:cs typeface="Consolas"/>
              </a:rPr>
              <a:t>body</a:t>
            </a:r>
            <a:r>
              <a:rPr sz="1800" spc="-25" dirty="0">
                <a:solidFill>
                  <a:srgbClr val="A52A2A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595959"/>
                </a:solidFill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935074" y="1554050"/>
            <a:ext cx="34290" cy="483870"/>
          </a:xfrm>
          <a:custGeom>
            <a:avLst/>
            <a:gdLst/>
            <a:ahLst/>
            <a:cxnLst/>
            <a:rect l="l" t="t" r="r" b="b"/>
            <a:pathLst>
              <a:path w="34289" h="483869">
                <a:moveTo>
                  <a:pt x="17025" y="-19049"/>
                </a:moveTo>
                <a:lnTo>
                  <a:pt x="17025" y="502913"/>
                </a:lnTo>
              </a:path>
            </a:pathLst>
          </a:custGeom>
          <a:ln w="7215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887301" y="2014446"/>
            <a:ext cx="163651" cy="21499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138449" y="4181657"/>
            <a:ext cx="11753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"/>
                <a:cs typeface="Arial"/>
              </a:rPr>
              <a:t>Property</a:t>
            </a:r>
            <a:endParaRPr sz="24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444643" y="3876723"/>
            <a:ext cx="163961" cy="34435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3774750" y="4135858"/>
            <a:ext cx="8039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"/>
                <a:cs typeface="Arial"/>
              </a:rPr>
              <a:t>Value</a:t>
            </a:r>
            <a:endParaRPr sz="24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840402" y="4009974"/>
            <a:ext cx="260985" cy="201295"/>
          </a:xfrm>
          <a:custGeom>
            <a:avLst/>
            <a:gdLst/>
            <a:ahLst/>
            <a:cxnLst/>
            <a:rect l="l" t="t" r="r" b="b"/>
            <a:pathLst>
              <a:path w="260985" h="201295">
                <a:moveTo>
                  <a:pt x="260371" y="201075"/>
                </a:moveTo>
                <a:lnTo>
                  <a:pt x="0" y="0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684508" y="3885243"/>
            <a:ext cx="213409" cy="19358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207400" y="2724707"/>
            <a:ext cx="1566545" cy="753110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12700" marR="5080">
              <a:lnSpc>
                <a:spcPts val="2850"/>
              </a:lnSpc>
              <a:spcBef>
                <a:spcPts val="220"/>
              </a:spcBef>
            </a:pPr>
            <a:r>
              <a:rPr sz="2400" spc="-5" dirty="0">
                <a:latin typeface="Arial"/>
                <a:cs typeface="Arial"/>
              </a:rPr>
              <a:t>Declaration  Block</a:t>
            </a:r>
            <a:endParaRPr sz="24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739475" y="2616874"/>
            <a:ext cx="441325" cy="1148715"/>
          </a:xfrm>
          <a:custGeom>
            <a:avLst/>
            <a:gdLst/>
            <a:ahLst/>
            <a:cxnLst/>
            <a:rect l="l" t="t" r="r" b="b"/>
            <a:pathLst>
              <a:path w="441325" h="1148714">
                <a:moveTo>
                  <a:pt x="441299" y="1148099"/>
                </a:moveTo>
                <a:lnTo>
                  <a:pt x="371557" y="1146225"/>
                </a:lnTo>
                <a:lnTo>
                  <a:pt x="310986" y="1141004"/>
                </a:lnTo>
                <a:lnTo>
                  <a:pt x="263222" y="1133044"/>
                </a:lnTo>
                <a:lnTo>
                  <a:pt x="220649" y="1111326"/>
                </a:lnTo>
                <a:lnTo>
                  <a:pt x="220649" y="610823"/>
                </a:lnTo>
                <a:lnTo>
                  <a:pt x="209401" y="599200"/>
                </a:lnTo>
                <a:lnTo>
                  <a:pt x="178077" y="589105"/>
                </a:lnTo>
                <a:lnTo>
                  <a:pt x="130313" y="581145"/>
                </a:lnTo>
                <a:lnTo>
                  <a:pt x="69742" y="575924"/>
                </a:lnTo>
                <a:lnTo>
                  <a:pt x="0" y="574049"/>
                </a:lnTo>
                <a:lnTo>
                  <a:pt x="69742" y="572175"/>
                </a:lnTo>
                <a:lnTo>
                  <a:pt x="130313" y="566954"/>
                </a:lnTo>
                <a:lnTo>
                  <a:pt x="178077" y="558994"/>
                </a:lnTo>
                <a:lnTo>
                  <a:pt x="220649" y="537276"/>
                </a:lnTo>
                <a:lnTo>
                  <a:pt x="220649" y="36773"/>
                </a:lnTo>
                <a:lnTo>
                  <a:pt x="231898" y="25150"/>
                </a:lnTo>
                <a:lnTo>
                  <a:pt x="263222" y="15055"/>
                </a:lnTo>
                <a:lnTo>
                  <a:pt x="310986" y="7095"/>
                </a:lnTo>
                <a:lnTo>
                  <a:pt x="371557" y="1874"/>
                </a:lnTo>
                <a:lnTo>
                  <a:pt x="441299" y="0"/>
                </a:lnTo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CSS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4</a:t>
            </a:fld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CSS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5</a:t>
            </a:fld>
            <a:endParaRPr dirty="0"/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430137" y="194997"/>
          <a:ext cx="7880349" cy="45214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93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993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89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582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38674">
                <a:tc>
                  <a:txBody>
                    <a:bodyPr/>
                    <a:lstStyle/>
                    <a:p>
                      <a:pPr algn="ctr">
                        <a:lnSpc>
                          <a:spcPts val="2865"/>
                        </a:lnSpc>
                        <a:spcBef>
                          <a:spcPts val="750"/>
                        </a:spcBef>
                      </a:pPr>
                      <a:r>
                        <a:rPr sz="2400" b="1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CSS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ts val="2865"/>
                        </a:lnSpc>
                      </a:pPr>
                      <a:r>
                        <a:rPr sz="2400" b="1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Selector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9525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75"/>
                        </a:spcBef>
                      </a:pPr>
                      <a:r>
                        <a:rPr sz="2400" spc="-5" dirty="0">
                          <a:latin typeface="Arial"/>
                          <a:cs typeface="Arial"/>
                        </a:rPr>
                        <a:t>CSS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27622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75"/>
                        </a:spcBef>
                      </a:pPr>
                      <a:r>
                        <a:rPr sz="2400" spc="-5" dirty="0">
                          <a:latin typeface="Arial"/>
                          <a:cs typeface="Arial"/>
                        </a:rPr>
                        <a:t>HTML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27622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837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23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600" spc="-5" dirty="0">
                          <a:latin typeface="Arial"/>
                          <a:cs typeface="Arial"/>
                        </a:rPr>
                        <a:t>Tag</a:t>
                      </a:r>
                      <a:r>
                        <a:rPr sz="16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5" dirty="0">
                          <a:latin typeface="Arial"/>
                          <a:cs typeface="Arial"/>
                        </a:rPr>
                        <a:t>name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381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sz="1400" b="1" spc="-5" dirty="0">
                          <a:solidFill>
                            <a:srgbClr val="A52A2A"/>
                          </a:solidFill>
                          <a:latin typeface="Consolas"/>
                          <a:cs typeface="Consolas"/>
                        </a:rPr>
                        <a:t>h1</a:t>
                      </a:r>
                      <a:r>
                        <a:rPr sz="1400" b="1" spc="-10" dirty="0">
                          <a:solidFill>
                            <a:srgbClr val="A52A2A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400" b="1" dirty="0">
                          <a:solidFill>
                            <a:srgbClr val="1F4899"/>
                          </a:solidFill>
                          <a:latin typeface="Consolas"/>
                          <a:cs typeface="Consolas"/>
                        </a:rPr>
                        <a:t>{</a:t>
                      </a:r>
                      <a:endParaRPr sz="1400">
                        <a:latin typeface="Consolas"/>
                        <a:cs typeface="Consolas"/>
                      </a:endParaRPr>
                    </a:p>
                    <a:p>
                      <a:pPr marL="28067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400" b="1" spc="-5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color</a:t>
                      </a:r>
                      <a:r>
                        <a:rPr sz="1400" b="1" spc="-5" dirty="0">
                          <a:solidFill>
                            <a:srgbClr val="1F4899"/>
                          </a:solidFill>
                          <a:latin typeface="Consolas"/>
                          <a:cs typeface="Consolas"/>
                        </a:rPr>
                        <a:t>:</a:t>
                      </a:r>
                      <a:r>
                        <a:rPr sz="1400" b="1" spc="-15" dirty="0">
                          <a:solidFill>
                            <a:srgbClr val="1F4899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400" b="1" spc="-5" dirty="0">
                          <a:solidFill>
                            <a:srgbClr val="0000CD"/>
                          </a:solidFill>
                          <a:latin typeface="Consolas"/>
                          <a:cs typeface="Consolas"/>
                        </a:rPr>
                        <a:t>red</a:t>
                      </a:r>
                      <a:r>
                        <a:rPr sz="1400" b="1" spc="-5" dirty="0">
                          <a:solidFill>
                            <a:srgbClr val="1F4899"/>
                          </a:solidFill>
                          <a:latin typeface="Consolas"/>
                          <a:cs typeface="Consolas"/>
                        </a:rPr>
                        <a:t>;</a:t>
                      </a:r>
                      <a:endParaRPr sz="1400">
                        <a:latin typeface="Consolas"/>
                        <a:cs typeface="Consolas"/>
                      </a:endParaRPr>
                    </a:p>
                    <a:p>
                      <a:pPr marL="8572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400" b="1" dirty="0">
                          <a:solidFill>
                            <a:srgbClr val="1F4899"/>
                          </a:solidFill>
                          <a:latin typeface="Consolas"/>
                          <a:cs typeface="Consolas"/>
                        </a:rPr>
                        <a:t>}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10033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650">
                        <a:latin typeface="Times New Roman"/>
                        <a:cs typeface="Times New Roman"/>
                      </a:endParaRPr>
                    </a:p>
                    <a:p>
                      <a:pPr marL="8572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400" b="1" spc="-5" dirty="0">
                          <a:solidFill>
                            <a:srgbClr val="0B590B"/>
                          </a:solidFill>
                          <a:latin typeface="Consolas"/>
                          <a:cs typeface="Consolas"/>
                        </a:rPr>
                        <a:t>&lt;h1&gt;Today’s</a:t>
                      </a:r>
                      <a:r>
                        <a:rPr sz="1400" b="1" spc="-15" dirty="0">
                          <a:solidFill>
                            <a:srgbClr val="0B590B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400" b="1" spc="-5" dirty="0">
                          <a:solidFill>
                            <a:srgbClr val="0B590B"/>
                          </a:solidFill>
                          <a:latin typeface="Consolas"/>
                          <a:cs typeface="Consolas"/>
                        </a:rPr>
                        <a:t>Specials&lt;/h1&gt;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190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5837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23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600" spc="-5" dirty="0">
                          <a:latin typeface="Arial"/>
                          <a:cs typeface="Arial"/>
                        </a:rPr>
                        <a:t>Class</a:t>
                      </a:r>
                      <a:r>
                        <a:rPr sz="16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5" dirty="0">
                          <a:latin typeface="Arial"/>
                          <a:cs typeface="Arial"/>
                        </a:rPr>
                        <a:t>attribute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381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sz="1400" b="1" spc="-5" dirty="0">
                          <a:solidFill>
                            <a:srgbClr val="A52A2A"/>
                          </a:solidFill>
                          <a:latin typeface="Consolas"/>
                          <a:cs typeface="Consolas"/>
                        </a:rPr>
                        <a:t>.large</a:t>
                      </a:r>
                      <a:r>
                        <a:rPr sz="1400" b="1" spc="-10" dirty="0">
                          <a:solidFill>
                            <a:srgbClr val="A52A2A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400" b="1" dirty="0">
                          <a:solidFill>
                            <a:srgbClr val="1F4899"/>
                          </a:solidFill>
                          <a:latin typeface="Consolas"/>
                          <a:cs typeface="Consolas"/>
                        </a:rPr>
                        <a:t>{</a:t>
                      </a:r>
                      <a:endParaRPr sz="1400">
                        <a:latin typeface="Consolas"/>
                        <a:cs typeface="Consolas"/>
                      </a:endParaRPr>
                    </a:p>
                    <a:p>
                      <a:pPr marL="28067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400" b="1" spc="-5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font-size</a:t>
                      </a:r>
                      <a:r>
                        <a:rPr sz="1400" b="1" spc="-5" dirty="0">
                          <a:solidFill>
                            <a:srgbClr val="1F4899"/>
                          </a:solidFill>
                          <a:latin typeface="Consolas"/>
                          <a:cs typeface="Consolas"/>
                        </a:rPr>
                        <a:t>:</a:t>
                      </a:r>
                      <a:r>
                        <a:rPr sz="1400" b="1" spc="-20" dirty="0">
                          <a:solidFill>
                            <a:srgbClr val="1F4899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400" b="1" spc="-5" dirty="0">
                          <a:solidFill>
                            <a:srgbClr val="0000CD"/>
                          </a:solidFill>
                          <a:latin typeface="Consolas"/>
                          <a:cs typeface="Consolas"/>
                        </a:rPr>
                        <a:t>16pt</a:t>
                      </a:r>
                      <a:r>
                        <a:rPr sz="1400" b="1" spc="-5" dirty="0">
                          <a:solidFill>
                            <a:srgbClr val="1F4899"/>
                          </a:solidFill>
                          <a:latin typeface="Consolas"/>
                          <a:cs typeface="Consolas"/>
                        </a:rPr>
                        <a:t>;</a:t>
                      </a:r>
                      <a:endParaRPr sz="1400">
                        <a:latin typeface="Consolas"/>
                        <a:cs typeface="Consolas"/>
                      </a:endParaRPr>
                    </a:p>
                    <a:p>
                      <a:pPr marL="8572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400" b="1" dirty="0">
                          <a:solidFill>
                            <a:srgbClr val="1F4899"/>
                          </a:solidFill>
                          <a:latin typeface="Consolas"/>
                          <a:cs typeface="Consolas"/>
                        </a:rPr>
                        <a:t>}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10033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650">
                        <a:latin typeface="Times New Roman"/>
                        <a:cs typeface="Times New Roman"/>
                      </a:endParaRPr>
                    </a:p>
                    <a:p>
                      <a:pPr marR="41275"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400" b="1" spc="-5" dirty="0">
                          <a:solidFill>
                            <a:srgbClr val="0B590B"/>
                          </a:solidFill>
                          <a:latin typeface="Consolas"/>
                          <a:cs typeface="Consolas"/>
                        </a:rPr>
                        <a:t>&lt;p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1905" marB="0">
                    <a:lnL w="9525">
                      <a:solidFill>
                        <a:srgbClr val="9E9E9E"/>
                      </a:solidFill>
                      <a:prstDash val="solid"/>
                    </a:lnL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650">
                        <a:latin typeface="Times New Roman"/>
                        <a:cs typeface="Times New Roman"/>
                      </a:endParaRPr>
                    </a:p>
                    <a:p>
                      <a:pPr marL="4826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400" b="1" spc="-5" dirty="0">
                          <a:solidFill>
                            <a:srgbClr val="0B590B"/>
                          </a:solidFill>
                          <a:latin typeface="Consolas"/>
                          <a:cs typeface="Consolas"/>
                        </a:rPr>
                        <a:t>class="large"&gt;...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1905" marB="0"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77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00"/>
                        </a:spcBef>
                      </a:pPr>
                      <a:r>
                        <a:rPr sz="1600" spc="-5" dirty="0">
                          <a:latin typeface="Arial"/>
                          <a:cs typeface="Arial"/>
                        </a:rPr>
                        <a:t>Tag and</a:t>
                      </a:r>
                      <a:r>
                        <a:rPr sz="16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5" dirty="0">
                          <a:latin typeface="Arial"/>
                          <a:cs typeface="Arial"/>
                        </a:rPr>
                        <a:t>Class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2700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sz="1400" b="1" spc="-5" dirty="0">
                          <a:solidFill>
                            <a:srgbClr val="A52A2A"/>
                          </a:solidFill>
                          <a:latin typeface="Consolas"/>
                          <a:cs typeface="Consolas"/>
                        </a:rPr>
                        <a:t>p.large</a:t>
                      </a:r>
                      <a:r>
                        <a:rPr sz="1400" b="1" spc="-10" dirty="0">
                          <a:solidFill>
                            <a:srgbClr val="A52A2A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400" b="1" spc="-5" dirty="0">
                          <a:solidFill>
                            <a:srgbClr val="1F4899"/>
                          </a:solidFill>
                          <a:latin typeface="Consolas"/>
                          <a:cs typeface="Consolas"/>
                        </a:rPr>
                        <a:t>{...}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12827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1275" algn="r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sz="1400" b="1" spc="-5" dirty="0">
                          <a:solidFill>
                            <a:srgbClr val="0B590B"/>
                          </a:solidFill>
                          <a:latin typeface="Consolas"/>
                          <a:cs typeface="Consolas"/>
                        </a:rPr>
                        <a:t>&lt;p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128270" marB="0">
                    <a:lnL w="9525">
                      <a:solidFill>
                        <a:srgbClr val="9E9E9E"/>
                      </a:solidFill>
                      <a:prstDash val="solid"/>
                    </a:lnL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260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sz="1400" b="1" spc="-5" dirty="0">
                          <a:solidFill>
                            <a:srgbClr val="0B590B"/>
                          </a:solidFill>
                          <a:latin typeface="Consolas"/>
                          <a:cs typeface="Consolas"/>
                        </a:rPr>
                        <a:t>class="large"&gt;...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128270" marB="0"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4722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405"/>
                        </a:spcBef>
                      </a:pPr>
                      <a:r>
                        <a:rPr sz="1600" spc="-5" dirty="0">
                          <a:latin typeface="Arial"/>
                          <a:cs typeface="Arial"/>
                        </a:rPr>
                        <a:t>Element</a:t>
                      </a:r>
                      <a:r>
                        <a:rPr sz="16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5" dirty="0">
                          <a:latin typeface="Arial"/>
                          <a:cs typeface="Arial"/>
                        </a:rPr>
                        <a:t>id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85725">
                        <a:lnSpc>
                          <a:spcPct val="100000"/>
                        </a:lnSpc>
                      </a:pPr>
                      <a:r>
                        <a:rPr sz="1400" b="1" spc="-5" dirty="0">
                          <a:solidFill>
                            <a:srgbClr val="A52A2A"/>
                          </a:solidFill>
                          <a:latin typeface="Consolas"/>
                          <a:cs typeface="Consolas"/>
                        </a:rPr>
                        <a:t>#p20</a:t>
                      </a:r>
                      <a:r>
                        <a:rPr sz="1400" b="1" spc="-10" dirty="0">
                          <a:solidFill>
                            <a:srgbClr val="A52A2A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400" b="1" dirty="0">
                          <a:solidFill>
                            <a:srgbClr val="1F4899"/>
                          </a:solidFill>
                          <a:latin typeface="Consolas"/>
                          <a:cs typeface="Consolas"/>
                        </a:rPr>
                        <a:t>{</a:t>
                      </a:r>
                      <a:endParaRPr sz="1400">
                        <a:latin typeface="Consolas"/>
                        <a:cs typeface="Consolas"/>
                      </a:endParaRPr>
                    </a:p>
                    <a:p>
                      <a:pPr marL="28067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400" b="1" spc="-5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font-weight</a:t>
                      </a:r>
                      <a:r>
                        <a:rPr sz="1400" b="1" spc="-5" dirty="0">
                          <a:solidFill>
                            <a:srgbClr val="1F4899"/>
                          </a:solidFill>
                          <a:latin typeface="Consolas"/>
                          <a:cs typeface="Consolas"/>
                        </a:rPr>
                        <a:t>:</a:t>
                      </a:r>
                      <a:r>
                        <a:rPr sz="1400" b="1" spc="-25" dirty="0">
                          <a:solidFill>
                            <a:srgbClr val="1F4899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400" b="1" spc="-5" dirty="0">
                          <a:solidFill>
                            <a:srgbClr val="0000CD"/>
                          </a:solidFill>
                          <a:latin typeface="Consolas"/>
                          <a:cs typeface="Consolas"/>
                        </a:rPr>
                        <a:t>bold</a:t>
                      </a:r>
                      <a:r>
                        <a:rPr sz="1400" b="1" spc="-5" dirty="0">
                          <a:solidFill>
                            <a:srgbClr val="1F4899"/>
                          </a:solidFill>
                          <a:latin typeface="Consolas"/>
                          <a:cs typeface="Consolas"/>
                        </a:rPr>
                        <a:t>;</a:t>
                      </a:r>
                      <a:endParaRPr sz="1400">
                        <a:latin typeface="Consolas"/>
                        <a:cs typeface="Consolas"/>
                      </a:endParaRPr>
                    </a:p>
                    <a:p>
                      <a:pPr marL="8572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400" b="1" dirty="0">
                          <a:solidFill>
                            <a:srgbClr val="1F4899"/>
                          </a:solidFill>
                          <a:latin typeface="Consolas"/>
                          <a:cs typeface="Consolas"/>
                        </a:rPr>
                        <a:t>}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508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R="41275" algn="r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sz="1400" b="1" spc="-5" dirty="0">
                          <a:solidFill>
                            <a:srgbClr val="0B590B"/>
                          </a:solidFill>
                          <a:latin typeface="Consolas"/>
                          <a:cs typeface="Consolas"/>
                        </a:rPr>
                        <a:t>&lt;p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lnL w="9525">
                      <a:solidFill>
                        <a:srgbClr val="9E9E9E"/>
                      </a:solidFill>
                      <a:prstDash val="solid"/>
                    </a:lnL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48260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sz="1400" b="1" spc="-5" dirty="0">
                          <a:solidFill>
                            <a:srgbClr val="0B590B"/>
                          </a:solidFill>
                          <a:latin typeface="Consolas"/>
                          <a:cs typeface="Consolas"/>
                        </a:rPr>
                        <a:t>id="p20"&gt;...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363474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CSS </a:t>
            </a:r>
            <a:r>
              <a:rPr spc="-10" dirty="0"/>
              <a:t>Pseudo</a:t>
            </a:r>
            <a:r>
              <a:rPr spc="-90" dirty="0"/>
              <a:t> </a:t>
            </a:r>
            <a:r>
              <a:rPr spc="-5" dirty="0"/>
              <a:t>Selectors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176350"/>
            <a:ext cx="8192134" cy="1720850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14"/>
              </a:spcBef>
            </a:pPr>
            <a:r>
              <a:rPr sz="1800" b="1" spc="-5" dirty="0">
                <a:solidFill>
                  <a:srgbClr val="595959"/>
                </a:solidFill>
                <a:latin typeface="Consolas"/>
                <a:cs typeface="Consolas"/>
              </a:rPr>
              <a:t>hover</a:t>
            </a:r>
            <a:r>
              <a:rPr sz="1800" b="1" spc="-53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b="1" dirty="0">
                <a:solidFill>
                  <a:srgbClr val="595959"/>
                </a:solidFill>
                <a:latin typeface="Arial"/>
                <a:cs typeface="Arial"/>
              </a:rPr>
              <a:t>-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Apply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rule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when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mouse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is over element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(e.g.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tooltip)</a:t>
            </a:r>
            <a:endParaRPr sz="1800">
              <a:latin typeface="Arial"/>
              <a:cs typeface="Arial"/>
            </a:endParaRPr>
          </a:p>
          <a:p>
            <a:pPr marL="720725" marR="4321810" indent="-251460">
              <a:lnSpc>
                <a:spcPct val="114599"/>
              </a:lnSpc>
            </a:pPr>
            <a:r>
              <a:rPr sz="1800" spc="-5" dirty="0">
                <a:solidFill>
                  <a:srgbClr val="A52A2A"/>
                </a:solidFill>
                <a:latin typeface="Consolas"/>
                <a:cs typeface="Consolas"/>
              </a:rPr>
              <a:t>p:hover, a:hover </a:t>
            </a:r>
            <a:r>
              <a:rPr sz="1800" dirty="0">
                <a:latin typeface="Consolas"/>
                <a:cs typeface="Consolas"/>
              </a:rPr>
              <a:t>{  </a:t>
            </a:r>
            <a:r>
              <a:rPr sz="1800" spc="-5" dirty="0">
                <a:solidFill>
                  <a:srgbClr val="FF0000"/>
                </a:solidFill>
                <a:latin typeface="Consolas"/>
                <a:cs typeface="Consolas"/>
              </a:rPr>
              <a:t>background-color:</a:t>
            </a:r>
            <a:r>
              <a:rPr sz="1800" spc="-70" dirty="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0000CD"/>
                </a:solidFill>
                <a:latin typeface="Consolas"/>
                <a:cs typeface="Consolas"/>
              </a:rPr>
              <a:t>yellow;</a:t>
            </a:r>
            <a:endParaRPr sz="1800">
              <a:latin typeface="Consolas"/>
              <a:cs typeface="Consolas"/>
            </a:endParaRPr>
          </a:p>
          <a:p>
            <a:pPr marL="469900">
              <a:lnSpc>
                <a:spcPct val="100000"/>
              </a:lnSpc>
              <a:spcBef>
                <a:spcPts val="315"/>
              </a:spcBef>
            </a:pPr>
            <a:r>
              <a:rPr sz="1800" dirty="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290"/>
              </a:spcBef>
            </a:pPr>
            <a:r>
              <a:rPr sz="1800" b="1" spc="-5" dirty="0">
                <a:solidFill>
                  <a:srgbClr val="595959"/>
                </a:solidFill>
                <a:latin typeface="Consolas"/>
                <a:cs typeface="Consolas"/>
              </a:rPr>
              <a:t>a:link, a:visited</a:t>
            </a:r>
            <a:r>
              <a:rPr sz="1800" b="1" spc="-54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-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Apply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rule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when link has been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visited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or not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visited </a:t>
            </a:r>
            <a:r>
              <a:rPr sz="1800" spc="5" dirty="0">
                <a:solidFill>
                  <a:srgbClr val="595959"/>
                </a:solidFill>
                <a:latin typeface="Arial"/>
                <a:cs typeface="Arial"/>
              </a:rPr>
              <a:t>(</a:t>
            </a:r>
            <a:r>
              <a:rPr sz="1800" spc="5" dirty="0">
                <a:solidFill>
                  <a:srgbClr val="595959"/>
                </a:solidFill>
                <a:latin typeface="Consolas"/>
                <a:cs typeface="Consolas"/>
              </a:rPr>
              <a:t>link</a:t>
            </a:r>
            <a:r>
              <a:rPr sz="1800" spc="5" dirty="0">
                <a:solidFill>
                  <a:srgbClr val="595959"/>
                </a:solidFill>
                <a:latin typeface="Arial"/>
                <a:cs typeface="Arial"/>
              </a:rPr>
              <a:t>)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41925" y="2911805"/>
            <a:ext cx="1908810" cy="852169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263525" marR="5080" indent="-251460">
              <a:lnSpc>
                <a:spcPct val="100699"/>
              </a:lnSpc>
              <a:spcBef>
                <a:spcPts val="85"/>
              </a:spcBef>
            </a:pPr>
            <a:r>
              <a:rPr sz="1800" spc="-5" dirty="0">
                <a:solidFill>
                  <a:srgbClr val="A52A2A"/>
                </a:solidFill>
                <a:latin typeface="Consolas"/>
                <a:cs typeface="Consolas"/>
              </a:rPr>
              <a:t>a:visited </a:t>
            </a:r>
            <a:r>
              <a:rPr sz="1800" dirty="0">
                <a:latin typeface="Consolas"/>
                <a:cs typeface="Consolas"/>
              </a:rPr>
              <a:t>{  </a:t>
            </a:r>
            <a:r>
              <a:rPr sz="1800" spc="-5" dirty="0">
                <a:solidFill>
                  <a:srgbClr val="FF0000"/>
                </a:solidFill>
                <a:latin typeface="Consolas"/>
                <a:cs typeface="Consolas"/>
              </a:rPr>
              <a:t>color:</a:t>
            </a:r>
            <a:r>
              <a:rPr sz="1800" spc="-90" dirty="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0000CD"/>
                </a:solidFill>
                <a:latin typeface="Consolas"/>
                <a:cs typeface="Consolas"/>
              </a:rPr>
              <a:t>green;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dirty="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42324" y="2911805"/>
            <a:ext cx="1784350" cy="852169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263525" marR="5080" indent="-251460">
              <a:lnSpc>
                <a:spcPct val="100699"/>
              </a:lnSpc>
              <a:spcBef>
                <a:spcPts val="85"/>
              </a:spcBef>
            </a:pPr>
            <a:r>
              <a:rPr sz="1800" spc="-5" dirty="0">
                <a:solidFill>
                  <a:srgbClr val="A52A2A"/>
                </a:solidFill>
                <a:latin typeface="Consolas"/>
                <a:cs typeface="Consolas"/>
              </a:rPr>
              <a:t>a:link </a:t>
            </a:r>
            <a:r>
              <a:rPr sz="1800" dirty="0">
                <a:latin typeface="Consolas"/>
                <a:cs typeface="Consolas"/>
              </a:rPr>
              <a:t>{  </a:t>
            </a:r>
            <a:r>
              <a:rPr sz="1800" spc="-5" dirty="0">
                <a:solidFill>
                  <a:srgbClr val="FF0000"/>
                </a:solidFill>
                <a:latin typeface="Consolas"/>
                <a:cs typeface="Consolas"/>
              </a:rPr>
              <a:t>color:</a:t>
            </a:r>
            <a:r>
              <a:rPr sz="1800" spc="-90" dirty="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0000CD"/>
                </a:solidFill>
                <a:latin typeface="Consolas"/>
                <a:cs typeface="Consolas"/>
              </a:rPr>
              <a:t>blue;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dirty="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196050" y="2860625"/>
            <a:ext cx="0" cy="1155700"/>
          </a:xfrm>
          <a:custGeom>
            <a:avLst/>
            <a:gdLst/>
            <a:ahLst/>
            <a:cxnLst/>
            <a:rect l="l" t="t" r="r" b="b"/>
            <a:pathLst>
              <a:path h="1155700">
                <a:moveTo>
                  <a:pt x="0" y="0"/>
                </a:moveTo>
                <a:lnTo>
                  <a:pt x="0" y="1155299"/>
                </a:lnTo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CSS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6</a:t>
            </a:fld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CSS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7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247205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CSS</a:t>
            </a:r>
            <a:r>
              <a:rPr spc="-90" dirty="0"/>
              <a:t> </a:t>
            </a:r>
            <a:r>
              <a:rPr spc="-5" dirty="0"/>
              <a:t>Properties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216355"/>
            <a:ext cx="7173595" cy="27000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Control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many style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properties of an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element: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00">
              <a:latin typeface="Times New Roman"/>
              <a:cs typeface="Times New Roman"/>
            </a:endParaRPr>
          </a:p>
          <a:p>
            <a:pPr marL="469900" indent="-367030">
              <a:lnSpc>
                <a:spcPct val="100000"/>
              </a:lnSpc>
              <a:buChar char="●"/>
              <a:tabLst>
                <a:tab pos="469265" algn="l"/>
                <a:tab pos="46990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Coloring</a:t>
            </a:r>
            <a:endParaRPr sz="1800">
              <a:latin typeface="Arial"/>
              <a:cs typeface="Arial"/>
            </a:endParaRPr>
          </a:p>
          <a:p>
            <a:pPr marL="469900" indent="-367030">
              <a:lnSpc>
                <a:spcPct val="100000"/>
              </a:lnSpc>
              <a:spcBef>
                <a:spcPts val="315"/>
              </a:spcBef>
              <a:buChar char="●"/>
              <a:tabLst>
                <a:tab pos="469265" algn="l"/>
                <a:tab pos="46990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Size</a:t>
            </a:r>
            <a:endParaRPr sz="1800">
              <a:latin typeface="Arial"/>
              <a:cs typeface="Arial"/>
            </a:endParaRPr>
          </a:p>
          <a:p>
            <a:pPr marL="469900" indent="-367030">
              <a:lnSpc>
                <a:spcPct val="100000"/>
              </a:lnSpc>
              <a:spcBef>
                <a:spcPts val="315"/>
              </a:spcBef>
              <a:buChar char="●"/>
              <a:tabLst>
                <a:tab pos="469265" algn="l"/>
                <a:tab pos="46990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Position</a:t>
            </a:r>
            <a:endParaRPr sz="1800">
              <a:latin typeface="Arial"/>
              <a:cs typeface="Arial"/>
            </a:endParaRPr>
          </a:p>
          <a:p>
            <a:pPr marL="469900" indent="-367030">
              <a:lnSpc>
                <a:spcPct val="100000"/>
              </a:lnSpc>
              <a:spcBef>
                <a:spcPts val="315"/>
              </a:spcBef>
              <a:buChar char="●"/>
              <a:tabLst>
                <a:tab pos="469265" algn="l"/>
                <a:tab pos="46990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Visibility</a:t>
            </a:r>
            <a:endParaRPr sz="1800">
              <a:latin typeface="Arial"/>
              <a:cs typeface="Arial"/>
            </a:endParaRPr>
          </a:p>
          <a:p>
            <a:pPr marL="469900" indent="-367030">
              <a:lnSpc>
                <a:spcPct val="100000"/>
              </a:lnSpc>
              <a:spcBef>
                <a:spcPts val="315"/>
              </a:spcBef>
              <a:buChar char="●"/>
              <a:tabLst>
                <a:tab pos="469265" algn="l"/>
                <a:tab pos="469900" algn="l"/>
              </a:tabLst>
            </a:pP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Many more: (e.g</a:t>
            </a:r>
            <a:r>
              <a:rPr sz="1800" dirty="0">
                <a:solidFill>
                  <a:srgbClr val="595959"/>
                </a:solidFill>
                <a:latin typeface="Consolas"/>
                <a:cs typeface="Consolas"/>
              </a:rPr>
              <a:t>. </a:t>
            </a:r>
            <a:r>
              <a:rPr sz="1800" dirty="0">
                <a:solidFill>
                  <a:srgbClr val="A52A2A"/>
                </a:solidFill>
                <a:latin typeface="Consolas"/>
                <a:cs typeface="Consolas"/>
              </a:rPr>
              <a:t>p</a:t>
            </a:r>
            <a:r>
              <a:rPr sz="1800" dirty="0">
                <a:solidFill>
                  <a:srgbClr val="595959"/>
                </a:solidFill>
                <a:latin typeface="Consolas"/>
                <a:cs typeface="Consolas"/>
              </a:rPr>
              <a:t>: { </a:t>
            </a:r>
            <a:r>
              <a:rPr sz="1800" spc="-5" dirty="0">
                <a:solidFill>
                  <a:srgbClr val="FF0000"/>
                </a:solidFill>
                <a:latin typeface="Consolas"/>
                <a:cs typeface="Consolas"/>
              </a:rPr>
              <a:t>text-decoration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: </a:t>
            </a:r>
            <a:r>
              <a:rPr sz="1800" spc="-5" dirty="0">
                <a:solidFill>
                  <a:srgbClr val="0000CD"/>
                </a:solidFill>
                <a:latin typeface="Consolas"/>
                <a:cs typeface="Consolas"/>
              </a:rPr>
              <a:t>line-through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;</a:t>
            </a:r>
            <a:r>
              <a:rPr sz="1800" spc="-6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})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Clr>
                <a:srgbClr val="595959"/>
              </a:buClr>
              <a:buFont typeface="Arial"/>
              <a:buChar char="●"/>
            </a:pPr>
            <a:endParaRPr sz="2400">
              <a:latin typeface="Times New Roman"/>
              <a:cs typeface="Times New Roman"/>
            </a:endParaRPr>
          </a:p>
          <a:p>
            <a:pPr marL="469900" indent="-367030">
              <a:lnSpc>
                <a:spcPct val="100000"/>
              </a:lnSpc>
              <a:buChar char="●"/>
              <a:tabLst>
                <a:tab pos="469265" algn="l"/>
                <a:tab pos="46990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Also used in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animation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754507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Color </a:t>
            </a:r>
            <a:r>
              <a:rPr dirty="0"/>
              <a:t>- </a:t>
            </a:r>
            <a:r>
              <a:rPr spc="-10" dirty="0">
                <a:solidFill>
                  <a:srgbClr val="595959"/>
                </a:solidFill>
              </a:rPr>
              <a:t>Properties: </a:t>
            </a:r>
            <a:r>
              <a:rPr spc="-5" dirty="0">
                <a:solidFill>
                  <a:srgbClr val="595959"/>
                </a:solidFill>
                <a:latin typeface="Consolas"/>
                <a:cs typeface="Consolas"/>
              </a:rPr>
              <a:t>color</a:t>
            </a:r>
            <a:r>
              <a:rPr spc="-77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dirty="0">
                <a:solidFill>
                  <a:srgbClr val="595959"/>
                </a:solidFill>
              </a:rPr>
              <a:t>&amp; </a:t>
            </a:r>
            <a:r>
              <a:rPr spc="-5" dirty="0">
                <a:solidFill>
                  <a:srgbClr val="595959"/>
                </a:solidFill>
                <a:latin typeface="Consolas"/>
                <a:cs typeface="Consolas"/>
              </a:rPr>
              <a:t>background_color</a:t>
            </a:r>
          </a:p>
        </p:txBody>
      </p:sp>
      <p:sp>
        <p:nvSpPr>
          <p:cNvPr id="3" name="object 3"/>
          <p:cNvSpPr/>
          <p:nvPr/>
        </p:nvSpPr>
        <p:spPr>
          <a:xfrm>
            <a:off x="5860874" y="2497199"/>
            <a:ext cx="242570" cy="149225"/>
          </a:xfrm>
          <a:custGeom>
            <a:avLst/>
            <a:gdLst/>
            <a:ahLst/>
            <a:cxnLst/>
            <a:rect l="l" t="t" r="r" b="b"/>
            <a:pathLst>
              <a:path w="242570" h="149225">
                <a:moveTo>
                  <a:pt x="242399" y="0"/>
                </a:moveTo>
                <a:lnTo>
                  <a:pt x="241423" y="29018"/>
                </a:lnTo>
                <a:lnTo>
                  <a:pt x="238760" y="52714"/>
                </a:lnTo>
                <a:lnTo>
                  <a:pt x="234811" y="68691"/>
                </a:lnTo>
                <a:lnTo>
                  <a:pt x="229975" y="74549"/>
                </a:lnTo>
                <a:lnTo>
                  <a:pt x="133624" y="74549"/>
                </a:lnTo>
                <a:lnTo>
                  <a:pt x="128788" y="80408"/>
                </a:lnTo>
                <a:lnTo>
                  <a:pt x="124838" y="96385"/>
                </a:lnTo>
                <a:lnTo>
                  <a:pt x="122176" y="120081"/>
                </a:lnTo>
                <a:lnTo>
                  <a:pt x="121199" y="149099"/>
                </a:lnTo>
                <a:lnTo>
                  <a:pt x="120223" y="120081"/>
                </a:lnTo>
                <a:lnTo>
                  <a:pt x="117560" y="96385"/>
                </a:lnTo>
                <a:lnTo>
                  <a:pt x="113611" y="80408"/>
                </a:lnTo>
                <a:lnTo>
                  <a:pt x="108775" y="74549"/>
                </a:lnTo>
                <a:lnTo>
                  <a:pt x="12424" y="74549"/>
                </a:lnTo>
                <a:lnTo>
                  <a:pt x="7588" y="68691"/>
                </a:lnTo>
                <a:lnTo>
                  <a:pt x="3638" y="52714"/>
                </a:lnTo>
                <a:lnTo>
                  <a:pt x="976" y="29018"/>
                </a:lnTo>
                <a:lnTo>
                  <a:pt x="0" y="0"/>
                </a:lnTo>
              </a:path>
            </a:pathLst>
          </a:custGeom>
          <a:ln w="952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123499" y="2497199"/>
            <a:ext cx="242570" cy="149225"/>
          </a:xfrm>
          <a:custGeom>
            <a:avLst/>
            <a:gdLst/>
            <a:ahLst/>
            <a:cxnLst/>
            <a:rect l="l" t="t" r="r" b="b"/>
            <a:pathLst>
              <a:path w="242570" h="149225">
                <a:moveTo>
                  <a:pt x="242399" y="0"/>
                </a:moveTo>
                <a:lnTo>
                  <a:pt x="241423" y="29018"/>
                </a:lnTo>
                <a:lnTo>
                  <a:pt x="238760" y="52714"/>
                </a:lnTo>
                <a:lnTo>
                  <a:pt x="234811" y="68691"/>
                </a:lnTo>
                <a:lnTo>
                  <a:pt x="229975" y="74549"/>
                </a:lnTo>
                <a:lnTo>
                  <a:pt x="133624" y="74549"/>
                </a:lnTo>
                <a:lnTo>
                  <a:pt x="128788" y="80408"/>
                </a:lnTo>
                <a:lnTo>
                  <a:pt x="124838" y="96385"/>
                </a:lnTo>
                <a:lnTo>
                  <a:pt x="122176" y="120081"/>
                </a:lnTo>
                <a:lnTo>
                  <a:pt x="121199" y="149099"/>
                </a:lnTo>
                <a:lnTo>
                  <a:pt x="120223" y="120081"/>
                </a:lnTo>
                <a:lnTo>
                  <a:pt x="117560" y="96385"/>
                </a:lnTo>
                <a:lnTo>
                  <a:pt x="113611" y="80408"/>
                </a:lnTo>
                <a:lnTo>
                  <a:pt x="108775" y="74549"/>
                </a:lnTo>
                <a:lnTo>
                  <a:pt x="12424" y="74549"/>
                </a:lnTo>
                <a:lnTo>
                  <a:pt x="7588" y="68691"/>
                </a:lnTo>
                <a:lnTo>
                  <a:pt x="3638" y="52714"/>
                </a:lnTo>
                <a:lnTo>
                  <a:pt x="976" y="29018"/>
                </a:lnTo>
                <a:lnTo>
                  <a:pt x="0" y="0"/>
                </a:lnTo>
              </a:path>
            </a:pathLst>
          </a:custGeom>
          <a:ln w="952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386124" y="2497199"/>
            <a:ext cx="242570" cy="149225"/>
          </a:xfrm>
          <a:custGeom>
            <a:avLst/>
            <a:gdLst/>
            <a:ahLst/>
            <a:cxnLst/>
            <a:rect l="l" t="t" r="r" b="b"/>
            <a:pathLst>
              <a:path w="242570" h="149225">
                <a:moveTo>
                  <a:pt x="242399" y="0"/>
                </a:moveTo>
                <a:lnTo>
                  <a:pt x="241423" y="29018"/>
                </a:lnTo>
                <a:lnTo>
                  <a:pt x="238761" y="52714"/>
                </a:lnTo>
                <a:lnTo>
                  <a:pt x="234811" y="68691"/>
                </a:lnTo>
                <a:lnTo>
                  <a:pt x="229975" y="74549"/>
                </a:lnTo>
                <a:lnTo>
                  <a:pt x="133624" y="74549"/>
                </a:lnTo>
                <a:lnTo>
                  <a:pt x="128788" y="80408"/>
                </a:lnTo>
                <a:lnTo>
                  <a:pt x="124838" y="96385"/>
                </a:lnTo>
                <a:lnTo>
                  <a:pt x="122176" y="120081"/>
                </a:lnTo>
                <a:lnTo>
                  <a:pt x="121199" y="149099"/>
                </a:lnTo>
                <a:lnTo>
                  <a:pt x="120223" y="120081"/>
                </a:lnTo>
                <a:lnTo>
                  <a:pt x="117560" y="96385"/>
                </a:lnTo>
                <a:lnTo>
                  <a:pt x="113611" y="80408"/>
                </a:lnTo>
                <a:lnTo>
                  <a:pt x="108775" y="74549"/>
                </a:lnTo>
                <a:lnTo>
                  <a:pt x="12424" y="74549"/>
                </a:lnTo>
                <a:lnTo>
                  <a:pt x="7588" y="68691"/>
                </a:lnTo>
                <a:lnTo>
                  <a:pt x="3638" y="52714"/>
                </a:lnTo>
                <a:lnTo>
                  <a:pt x="976" y="29018"/>
                </a:lnTo>
                <a:lnTo>
                  <a:pt x="0" y="0"/>
                </a:lnTo>
              </a:path>
            </a:pathLst>
          </a:custGeom>
          <a:ln w="952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264050" y="2180787"/>
            <a:ext cx="685799" cy="40957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628649" y="2385274"/>
            <a:ext cx="464184" cy="635"/>
          </a:xfrm>
          <a:custGeom>
            <a:avLst/>
            <a:gdLst/>
            <a:ahLst/>
            <a:cxnLst/>
            <a:rect l="l" t="t" r="r" b="b"/>
            <a:pathLst>
              <a:path w="464184" h="635">
                <a:moveTo>
                  <a:pt x="0" y="0"/>
                </a:moveTo>
                <a:lnTo>
                  <a:pt x="463949" y="219"/>
                </a:lnTo>
              </a:path>
            </a:pathLst>
          </a:custGeom>
          <a:ln w="2857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078290" y="2324008"/>
            <a:ext cx="158272" cy="12297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059973" y="3171400"/>
            <a:ext cx="242570" cy="183515"/>
          </a:xfrm>
          <a:custGeom>
            <a:avLst/>
            <a:gdLst/>
            <a:ahLst/>
            <a:cxnLst/>
            <a:rect l="l" t="t" r="r" b="b"/>
            <a:pathLst>
              <a:path w="242570" h="183514">
                <a:moveTo>
                  <a:pt x="242401" y="0"/>
                </a:moveTo>
                <a:lnTo>
                  <a:pt x="242401" y="35615"/>
                </a:lnTo>
                <a:lnTo>
                  <a:pt x="242401" y="64700"/>
                </a:lnTo>
                <a:lnTo>
                  <a:pt x="242400" y="84309"/>
                </a:lnTo>
                <a:lnTo>
                  <a:pt x="242399" y="91499"/>
                </a:lnTo>
                <a:lnTo>
                  <a:pt x="121201" y="91499"/>
                </a:lnTo>
                <a:lnTo>
                  <a:pt x="121200" y="98690"/>
                </a:lnTo>
                <a:lnTo>
                  <a:pt x="121200" y="118299"/>
                </a:lnTo>
                <a:lnTo>
                  <a:pt x="121200" y="147384"/>
                </a:lnTo>
                <a:lnTo>
                  <a:pt x="121199" y="182999"/>
                </a:lnTo>
                <a:lnTo>
                  <a:pt x="121199" y="132235"/>
                </a:lnTo>
                <a:lnTo>
                  <a:pt x="121198" y="93274"/>
                </a:lnTo>
                <a:lnTo>
                  <a:pt x="121198" y="91499"/>
                </a:lnTo>
                <a:lnTo>
                  <a:pt x="1" y="91499"/>
                </a:lnTo>
                <a:lnTo>
                  <a:pt x="0" y="84309"/>
                </a:lnTo>
                <a:lnTo>
                  <a:pt x="0" y="64700"/>
                </a:lnTo>
                <a:lnTo>
                  <a:pt x="0" y="35615"/>
                </a:lnTo>
                <a:lnTo>
                  <a:pt x="0" y="0"/>
                </a:lnTo>
              </a:path>
            </a:pathLst>
          </a:custGeom>
          <a:ln w="952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547823" y="3171400"/>
            <a:ext cx="242570" cy="183515"/>
          </a:xfrm>
          <a:custGeom>
            <a:avLst/>
            <a:gdLst/>
            <a:ahLst/>
            <a:cxnLst/>
            <a:rect l="l" t="t" r="r" b="b"/>
            <a:pathLst>
              <a:path w="242570" h="183514">
                <a:moveTo>
                  <a:pt x="242401" y="0"/>
                </a:moveTo>
                <a:lnTo>
                  <a:pt x="242401" y="35615"/>
                </a:lnTo>
                <a:lnTo>
                  <a:pt x="242401" y="64700"/>
                </a:lnTo>
                <a:lnTo>
                  <a:pt x="242400" y="84309"/>
                </a:lnTo>
                <a:lnTo>
                  <a:pt x="242399" y="91499"/>
                </a:lnTo>
                <a:lnTo>
                  <a:pt x="121201" y="91499"/>
                </a:lnTo>
                <a:lnTo>
                  <a:pt x="121200" y="98690"/>
                </a:lnTo>
                <a:lnTo>
                  <a:pt x="121200" y="118299"/>
                </a:lnTo>
                <a:lnTo>
                  <a:pt x="121200" y="147384"/>
                </a:lnTo>
                <a:lnTo>
                  <a:pt x="121199" y="182999"/>
                </a:lnTo>
                <a:lnTo>
                  <a:pt x="121199" y="132235"/>
                </a:lnTo>
                <a:lnTo>
                  <a:pt x="121198" y="93274"/>
                </a:lnTo>
                <a:lnTo>
                  <a:pt x="121198" y="91499"/>
                </a:lnTo>
                <a:lnTo>
                  <a:pt x="1" y="91499"/>
                </a:lnTo>
                <a:lnTo>
                  <a:pt x="0" y="84309"/>
                </a:lnTo>
                <a:lnTo>
                  <a:pt x="0" y="64700"/>
                </a:lnTo>
                <a:lnTo>
                  <a:pt x="0" y="35615"/>
                </a:lnTo>
                <a:lnTo>
                  <a:pt x="0" y="0"/>
                </a:lnTo>
              </a:path>
            </a:pathLst>
          </a:custGeom>
          <a:ln w="952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961123" y="3171400"/>
            <a:ext cx="242570" cy="183515"/>
          </a:xfrm>
          <a:custGeom>
            <a:avLst/>
            <a:gdLst/>
            <a:ahLst/>
            <a:cxnLst/>
            <a:rect l="l" t="t" r="r" b="b"/>
            <a:pathLst>
              <a:path w="242570" h="183514">
                <a:moveTo>
                  <a:pt x="242401" y="0"/>
                </a:moveTo>
                <a:lnTo>
                  <a:pt x="242401" y="35615"/>
                </a:lnTo>
                <a:lnTo>
                  <a:pt x="242401" y="64700"/>
                </a:lnTo>
                <a:lnTo>
                  <a:pt x="242400" y="84309"/>
                </a:lnTo>
                <a:lnTo>
                  <a:pt x="242399" y="91499"/>
                </a:lnTo>
                <a:lnTo>
                  <a:pt x="121201" y="91499"/>
                </a:lnTo>
                <a:lnTo>
                  <a:pt x="121200" y="98690"/>
                </a:lnTo>
                <a:lnTo>
                  <a:pt x="121200" y="118299"/>
                </a:lnTo>
                <a:lnTo>
                  <a:pt x="121200" y="147384"/>
                </a:lnTo>
                <a:lnTo>
                  <a:pt x="121199" y="182999"/>
                </a:lnTo>
                <a:lnTo>
                  <a:pt x="121199" y="132235"/>
                </a:lnTo>
                <a:lnTo>
                  <a:pt x="121198" y="93274"/>
                </a:lnTo>
                <a:lnTo>
                  <a:pt x="121198" y="91499"/>
                </a:lnTo>
                <a:lnTo>
                  <a:pt x="1" y="91499"/>
                </a:lnTo>
                <a:lnTo>
                  <a:pt x="0" y="84309"/>
                </a:lnTo>
                <a:lnTo>
                  <a:pt x="0" y="64700"/>
                </a:lnTo>
                <a:lnTo>
                  <a:pt x="0" y="35615"/>
                </a:lnTo>
                <a:lnTo>
                  <a:pt x="0" y="0"/>
                </a:lnTo>
              </a:path>
            </a:pathLst>
          </a:custGeom>
          <a:ln w="952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307100" y="2869862"/>
            <a:ext cx="685799" cy="40957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292599" y="3065650"/>
            <a:ext cx="1843405" cy="8255"/>
          </a:xfrm>
          <a:custGeom>
            <a:avLst/>
            <a:gdLst/>
            <a:ahLst/>
            <a:cxnLst/>
            <a:rect l="l" t="t" r="r" b="b"/>
            <a:pathLst>
              <a:path w="1843404" h="8255">
                <a:moveTo>
                  <a:pt x="0" y="0"/>
                </a:moveTo>
                <a:lnTo>
                  <a:pt x="1843051" y="8233"/>
                </a:lnTo>
              </a:path>
            </a:pathLst>
          </a:custGeom>
          <a:ln w="2857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121152" y="3012398"/>
            <a:ext cx="158460" cy="12297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773773" y="3783000"/>
            <a:ext cx="286385" cy="183515"/>
          </a:xfrm>
          <a:custGeom>
            <a:avLst/>
            <a:gdLst/>
            <a:ahLst/>
            <a:cxnLst/>
            <a:rect l="l" t="t" r="r" b="b"/>
            <a:pathLst>
              <a:path w="286385" h="183514">
                <a:moveTo>
                  <a:pt x="286201" y="0"/>
                </a:moveTo>
                <a:lnTo>
                  <a:pt x="286201" y="35615"/>
                </a:lnTo>
                <a:lnTo>
                  <a:pt x="286201" y="64700"/>
                </a:lnTo>
                <a:lnTo>
                  <a:pt x="286200" y="84309"/>
                </a:lnTo>
                <a:lnTo>
                  <a:pt x="286199" y="91499"/>
                </a:lnTo>
                <a:lnTo>
                  <a:pt x="143101" y="91499"/>
                </a:lnTo>
                <a:lnTo>
                  <a:pt x="143100" y="98690"/>
                </a:lnTo>
                <a:lnTo>
                  <a:pt x="143100" y="118299"/>
                </a:lnTo>
                <a:lnTo>
                  <a:pt x="143100" y="147384"/>
                </a:lnTo>
                <a:lnTo>
                  <a:pt x="143099" y="182999"/>
                </a:lnTo>
                <a:lnTo>
                  <a:pt x="143099" y="132235"/>
                </a:lnTo>
                <a:lnTo>
                  <a:pt x="143098" y="93274"/>
                </a:lnTo>
                <a:lnTo>
                  <a:pt x="143098" y="91499"/>
                </a:lnTo>
                <a:lnTo>
                  <a:pt x="1" y="91499"/>
                </a:lnTo>
                <a:lnTo>
                  <a:pt x="0" y="84309"/>
                </a:lnTo>
                <a:lnTo>
                  <a:pt x="0" y="64700"/>
                </a:lnTo>
                <a:lnTo>
                  <a:pt x="0" y="35615"/>
                </a:lnTo>
                <a:lnTo>
                  <a:pt x="0" y="0"/>
                </a:lnTo>
              </a:path>
            </a:pathLst>
          </a:custGeom>
          <a:ln w="952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261623" y="3783000"/>
            <a:ext cx="286385" cy="183515"/>
          </a:xfrm>
          <a:custGeom>
            <a:avLst/>
            <a:gdLst/>
            <a:ahLst/>
            <a:cxnLst/>
            <a:rect l="l" t="t" r="r" b="b"/>
            <a:pathLst>
              <a:path w="286385" h="183514">
                <a:moveTo>
                  <a:pt x="286201" y="0"/>
                </a:moveTo>
                <a:lnTo>
                  <a:pt x="286201" y="35615"/>
                </a:lnTo>
                <a:lnTo>
                  <a:pt x="286201" y="64700"/>
                </a:lnTo>
                <a:lnTo>
                  <a:pt x="286200" y="84309"/>
                </a:lnTo>
                <a:lnTo>
                  <a:pt x="286199" y="91499"/>
                </a:lnTo>
                <a:lnTo>
                  <a:pt x="143101" y="91499"/>
                </a:lnTo>
                <a:lnTo>
                  <a:pt x="143100" y="98690"/>
                </a:lnTo>
                <a:lnTo>
                  <a:pt x="143100" y="118299"/>
                </a:lnTo>
                <a:lnTo>
                  <a:pt x="143100" y="147384"/>
                </a:lnTo>
                <a:lnTo>
                  <a:pt x="143099" y="182999"/>
                </a:lnTo>
                <a:lnTo>
                  <a:pt x="143099" y="132235"/>
                </a:lnTo>
                <a:lnTo>
                  <a:pt x="143098" y="93274"/>
                </a:lnTo>
                <a:lnTo>
                  <a:pt x="143098" y="91499"/>
                </a:lnTo>
                <a:lnTo>
                  <a:pt x="1" y="91499"/>
                </a:lnTo>
                <a:lnTo>
                  <a:pt x="0" y="84309"/>
                </a:lnTo>
                <a:lnTo>
                  <a:pt x="0" y="64700"/>
                </a:lnTo>
                <a:lnTo>
                  <a:pt x="0" y="35615"/>
                </a:lnTo>
                <a:lnTo>
                  <a:pt x="0" y="0"/>
                </a:lnTo>
              </a:path>
            </a:pathLst>
          </a:custGeom>
          <a:ln w="952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790723" y="3783000"/>
            <a:ext cx="434975" cy="183515"/>
          </a:xfrm>
          <a:custGeom>
            <a:avLst/>
            <a:gdLst/>
            <a:ahLst/>
            <a:cxnLst/>
            <a:rect l="l" t="t" r="r" b="b"/>
            <a:pathLst>
              <a:path w="434975" h="183514">
                <a:moveTo>
                  <a:pt x="434701" y="0"/>
                </a:moveTo>
                <a:lnTo>
                  <a:pt x="434701" y="35615"/>
                </a:lnTo>
                <a:lnTo>
                  <a:pt x="434701" y="64700"/>
                </a:lnTo>
                <a:lnTo>
                  <a:pt x="434700" y="84309"/>
                </a:lnTo>
                <a:lnTo>
                  <a:pt x="434699" y="91499"/>
                </a:lnTo>
                <a:lnTo>
                  <a:pt x="217351" y="91499"/>
                </a:lnTo>
                <a:lnTo>
                  <a:pt x="217350" y="98690"/>
                </a:lnTo>
                <a:lnTo>
                  <a:pt x="217350" y="118299"/>
                </a:lnTo>
                <a:lnTo>
                  <a:pt x="217350" y="147384"/>
                </a:lnTo>
                <a:lnTo>
                  <a:pt x="217349" y="182999"/>
                </a:lnTo>
                <a:lnTo>
                  <a:pt x="217349" y="132235"/>
                </a:lnTo>
                <a:lnTo>
                  <a:pt x="217348" y="93274"/>
                </a:lnTo>
                <a:lnTo>
                  <a:pt x="217348" y="91499"/>
                </a:lnTo>
                <a:lnTo>
                  <a:pt x="1" y="91499"/>
                </a:lnTo>
                <a:lnTo>
                  <a:pt x="0" y="84309"/>
                </a:lnTo>
                <a:lnTo>
                  <a:pt x="0" y="64700"/>
                </a:lnTo>
                <a:lnTo>
                  <a:pt x="0" y="35615"/>
                </a:lnTo>
                <a:lnTo>
                  <a:pt x="0" y="0"/>
                </a:lnTo>
              </a:path>
            </a:pathLst>
          </a:custGeom>
          <a:ln w="952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384725" y="1216355"/>
            <a:ext cx="7693659" cy="3281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Must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ultimately turn into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red,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green, and blue intensities between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0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sz="1800" spc="-7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255: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00">
              <a:latin typeface="Times New Roman"/>
              <a:cs typeface="Times New Roman"/>
            </a:endParaRPr>
          </a:p>
          <a:p>
            <a:pPr marL="469900" indent="-367030">
              <a:lnSpc>
                <a:spcPct val="100000"/>
              </a:lnSpc>
              <a:buChar char="●"/>
              <a:tabLst>
                <a:tab pos="469265" algn="l"/>
                <a:tab pos="46990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Predefined names: </a:t>
            </a:r>
            <a:r>
              <a:rPr sz="1600" spc="-5" dirty="0">
                <a:solidFill>
                  <a:srgbClr val="595959"/>
                </a:solidFill>
                <a:latin typeface="Consolas"/>
                <a:cs typeface="Consolas"/>
              </a:rPr>
              <a:t>red</a:t>
            </a:r>
            <a:r>
              <a:rPr sz="1600" spc="-5" dirty="0">
                <a:solidFill>
                  <a:srgbClr val="595959"/>
                </a:solidFill>
                <a:latin typeface="Arial"/>
                <a:cs typeface="Arial"/>
              </a:rPr>
              <a:t>, </a:t>
            </a:r>
            <a:r>
              <a:rPr sz="1600" spc="-5" dirty="0">
                <a:solidFill>
                  <a:srgbClr val="595959"/>
                </a:solidFill>
                <a:latin typeface="Consolas"/>
                <a:cs typeface="Consolas"/>
              </a:rPr>
              <a:t>blue</a:t>
            </a:r>
            <a:r>
              <a:rPr sz="1600" spc="-5" dirty="0">
                <a:solidFill>
                  <a:srgbClr val="595959"/>
                </a:solidFill>
                <a:latin typeface="Arial"/>
                <a:cs typeface="Arial"/>
              </a:rPr>
              <a:t>, </a:t>
            </a:r>
            <a:r>
              <a:rPr sz="1600" spc="-5" dirty="0">
                <a:solidFill>
                  <a:srgbClr val="595959"/>
                </a:solidFill>
                <a:latin typeface="Consolas"/>
                <a:cs typeface="Consolas"/>
              </a:rPr>
              <a:t>green</a:t>
            </a:r>
            <a:r>
              <a:rPr sz="1600" spc="-5" dirty="0">
                <a:solidFill>
                  <a:srgbClr val="595959"/>
                </a:solidFill>
                <a:latin typeface="Arial"/>
                <a:cs typeface="Arial"/>
              </a:rPr>
              <a:t>, </a:t>
            </a:r>
            <a:r>
              <a:rPr sz="1600" spc="-5" dirty="0">
                <a:solidFill>
                  <a:srgbClr val="595959"/>
                </a:solidFill>
                <a:latin typeface="Consolas"/>
                <a:cs typeface="Consolas"/>
              </a:rPr>
              <a:t>white</a:t>
            </a:r>
            <a:r>
              <a:rPr sz="1600" spc="-5" dirty="0">
                <a:solidFill>
                  <a:srgbClr val="595959"/>
                </a:solidFill>
                <a:latin typeface="Arial"/>
                <a:cs typeface="Arial"/>
              </a:rPr>
              <a:t>,</a:t>
            </a:r>
            <a:r>
              <a:rPr sz="1600" spc="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595959"/>
                </a:solidFill>
                <a:latin typeface="Arial"/>
                <a:cs typeface="Arial"/>
              </a:rPr>
              <a:t>etc.</a:t>
            </a:r>
            <a:endParaRPr sz="1600">
              <a:latin typeface="Arial"/>
              <a:cs typeface="Arial"/>
            </a:endParaRPr>
          </a:p>
          <a:p>
            <a:pPr marL="469900" indent="-351790">
              <a:lnSpc>
                <a:spcPct val="100000"/>
              </a:lnSpc>
              <a:spcBef>
                <a:spcPts val="1290"/>
              </a:spcBef>
              <a:buSzPct val="88888"/>
              <a:buChar char="●"/>
              <a:tabLst>
                <a:tab pos="469265" algn="l"/>
                <a:tab pos="46990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8-bit hexadecimal numbers for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red,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green, blue:</a:t>
            </a:r>
            <a:r>
              <a:rPr sz="1800" spc="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#ff0000</a:t>
            </a:r>
            <a:endParaRPr sz="1800">
              <a:latin typeface="Consolas"/>
              <a:cs typeface="Consolas"/>
            </a:endParaRPr>
          </a:p>
          <a:p>
            <a:pPr marR="1514475" algn="r">
              <a:lnSpc>
                <a:spcPts val="1889"/>
              </a:lnSpc>
              <a:spcBef>
                <a:spcPts val="1300"/>
              </a:spcBef>
            </a:pPr>
            <a:r>
              <a:rPr sz="1600" dirty="0">
                <a:solidFill>
                  <a:srgbClr val="FF0000"/>
                </a:solidFill>
                <a:latin typeface="Arial"/>
                <a:cs typeface="Arial"/>
              </a:rPr>
              <a:t>R G</a:t>
            </a:r>
            <a:r>
              <a:rPr sz="1600" spc="3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FF0000"/>
                </a:solidFill>
                <a:latin typeface="Arial"/>
                <a:cs typeface="Arial"/>
              </a:rPr>
              <a:t>B</a:t>
            </a:r>
            <a:endParaRPr sz="1600">
              <a:latin typeface="Arial"/>
              <a:cs typeface="Arial"/>
            </a:endParaRPr>
          </a:p>
          <a:p>
            <a:pPr marL="469900" indent="-367030">
              <a:lnSpc>
                <a:spcPts val="2130"/>
              </a:lnSpc>
              <a:buChar char="●"/>
              <a:tabLst>
                <a:tab pos="469265" algn="l"/>
                <a:tab pos="46990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0-255 decimal intensities:</a:t>
            </a:r>
            <a:r>
              <a:rPr sz="1800" spc="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rgb(255,255,0)</a:t>
            </a:r>
            <a:endParaRPr sz="1800">
              <a:latin typeface="Consolas"/>
              <a:cs typeface="Consolas"/>
            </a:endParaRPr>
          </a:p>
          <a:p>
            <a:pPr marL="831215" algn="ctr">
              <a:lnSpc>
                <a:spcPts val="1689"/>
              </a:lnSpc>
              <a:spcBef>
                <a:spcPts val="1705"/>
              </a:spcBef>
              <a:tabLst>
                <a:tab pos="1259205" algn="l"/>
                <a:tab pos="1697989" algn="l"/>
              </a:tabLst>
            </a:pPr>
            <a:r>
              <a:rPr sz="1600" dirty="0">
                <a:solidFill>
                  <a:srgbClr val="FF0000"/>
                </a:solidFill>
                <a:latin typeface="Arial"/>
                <a:cs typeface="Arial"/>
              </a:rPr>
              <a:t>R	G	B</a:t>
            </a:r>
            <a:endParaRPr sz="1600">
              <a:latin typeface="Arial"/>
              <a:cs typeface="Arial"/>
            </a:endParaRPr>
          </a:p>
          <a:p>
            <a:pPr marL="469900" indent="-367030">
              <a:lnSpc>
                <a:spcPts val="1930"/>
              </a:lnSpc>
              <a:buChar char="●"/>
              <a:tabLst>
                <a:tab pos="469265" algn="l"/>
                <a:tab pos="46990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Percentage intensities:</a:t>
            </a:r>
            <a:r>
              <a:rPr sz="1800" spc="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rgb(80%,80%,100%)</a:t>
            </a:r>
            <a:endParaRPr sz="1800">
              <a:latin typeface="Consolas"/>
              <a:cs typeface="Consolas"/>
            </a:endParaRPr>
          </a:p>
          <a:p>
            <a:pPr marL="463550" algn="ctr">
              <a:lnSpc>
                <a:spcPct val="100000"/>
              </a:lnSpc>
              <a:spcBef>
                <a:spcPts val="915"/>
              </a:spcBef>
              <a:tabLst>
                <a:tab pos="948055" algn="l"/>
                <a:tab pos="1612265" algn="l"/>
              </a:tabLst>
            </a:pPr>
            <a:r>
              <a:rPr sz="1600" dirty="0">
                <a:solidFill>
                  <a:srgbClr val="FF0000"/>
                </a:solidFill>
                <a:latin typeface="Arial"/>
                <a:cs typeface="Arial"/>
              </a:rPr>
              <a:t>R	G	B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Example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: </a:t>
            </a:r>
            <a:r>
              <a:rPr sz="1800" spc="-5" dirty="0">
                <a:solidFill>
                  <a:srgbClr val="990055"/>
                </a:solidFill>
                <a:latin typeface="Consolas"/>
                <a:cs typeface="Consolas"/>
              </a:rPr>
              <a:t>h1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: </a:t>
            </a:r>
            <a:r>
              <a:rPr sz="1800" dirty="0">
                <a:solidFill>
                  <a:srgbClr val="595959"/>
                </a:solidFill>
                <a:latin typeface="Consolas"/>
                <a:cs typeface="Consolas"/>
              </a:rPr>
              <a:t>{ </a:t>
            </a:r>
            <a:r>
              <a:rPr sz="1800" spc="-5" dirty="0">
                <a:solidFill>
                  <a:srgbClr val="FF0000"/>
                </a:solidFill>
                <a:latin typeface="Consolas"/>
                <a:cs typeface="Consolas"/>
              </a:rPr>
              <a:t>color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: </a:t>
            </a:r>
            <a:r>
              <a:rPr sz="1800" spc="-5" dirty="0">
                <a:solidFill>
                  <a:srgbClr val="0000CD"/>
                </a:solidFill>
                <a:latin typeface="Consolas"/>
                <a:cs typeface="Consolas"/>
              </a:rPr>
              <a:t>red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; </a:t>
            </a:r>
            <a:r>
              <a:rPr sz="1800" dirty="0">
                <a:solidFill>
                  <a:srgbClr val="595959"/>
                </a:solidFill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333500" y="3693274"/>
            <a:ext cx="1843405" cy="8255"/>
          </a:xfrm>
          <a:custGeom>
            <a:avLst/>
            <a:gdLst/>
            <a:ahLst/>
            <a:cxnLst/>
            <a:rect l="l" t="t" r="r" b="b"/>
            <a:pathLst>
              <a:path w="1843404" h="8254">
                <a:moveTo>
                  <a:pt x="0" y="0"/>
                </a:moveTo>
                <a:lnTo>
                  <a:pt x="1843051" y="8233"/>
                </a:lnTo>
              </a:path>
            </a:pathLst>
          </a:custGeom>
          <a:ln w="2857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7162052" y="3640023"/>
            <a:ext cx="158460" cy="12297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7307100" y="3558937"/>
            <a:ext cx="685799" cy="40957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CSS</a:t>
            </a:r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8</a:t>
            </a:fld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253238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CSS </a:t>
            </a:r>
            <a:r>
              <a:rPr spc="-10" dirty="0"/>
              <a:t>Box</a:t>
            </a:r>
            <a:r>
              <a:rPr spc="-90" dirty="0"/>
              <a:t> </a:t>
            </a:r>
            <a:r>
              <a:rPr dirty="0"/>
              <a:t>Model</a:t>
            </a:r>
          </a:p>
        </p:txBody>
      </p:sp>
      <p:sp>
        <p:nvSpPr>
          <p:cNvPr id="3" name="object 3"/>
          <p:cNvSpPr/>
          <p:nvPr/>
        </p:nvSpPr>
        <p:spPr>
          <a:xfrm>
            <a:off x="195674" y="1131625"/>
            <a:ext cx="6103620" cy="3531870"/>
          </a:xfrm>
          <a:custGeom>
            <a:avLst/>
            <a:gdLst/>
            <a:ahLst/>
            <a:cxnLst/>
            <a:rect l="l" t="t" r="r" b="b"/>
            <a:pathLst>
              <a:path w="6103620" h="3531870">
                <a:moveTo>
                  <a:pt x="0" y="0"/>
                </a:moveTo>
                <a:lnTo>
                  <a:pt x="6103199" y="0"/>
                </a:lnTo>
                <a:lnTo>
                  <a:pt x="6103199" y="3531599"/>
                </a:lnTo>
                <a:lnTo>
                  <a:pt x="0" y="3531599"/>
                </a:lnTo>
                <a:lnTo>
                  <a:pt x="0" y="0"/>
                </a:lnTo>
                <a:close/>
              </a:path>
            </a:pathLst>
          </a:custGeom>
          <a:solidFill>
            <a:srgbClr val="EEEE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05749" y="1467024"/>
            <a:ext cx="5218430" cy="2879725"/>
          </a:xfrm>
          <a:custGeom>
            <a:avLst/>
            <a:gdLst/>
            <a:ahLst/>
            <a:cxnLst/>
            <a:rect l="l" t="t" r="r" b="b"/>
            <a:pathLst>
              <a:path w="5218430" h="2879725">
                <a:moveTo>
                  <a:pt x="0" y="0"/>
                </a:moveTo>
                <a:lnTo>
                  <a:pt x="5217899" y="0"/>
                </a:lnTo>
                <a:lnTo>
                  <a:pt x="5217899" y="2879399"/>
                </a:lnTo>
                <a:lnTo>
                  <a:pt x="0" y="2879399"/>
                </a:lnTo>
                <a:lnTo>
                  <a:pt x="0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96999" y="1785749"/>
            <a:ext cx="4558030" cy="2076450"/>
          </a:xfrm>
          <a:custGeom>
            <a:avLst/>
            <a:gdLst/>
            <a:ahLst/>
            <a:cxnLst/>
            <a:rect l="l" t="t" r="r" b="b"/>
            <a:pathLst>
              <a:path w="4558030" h="2076450">
                <a:moveTo>
                  <a:pt x="0" y="0"/>
                </a:moveTo>
                <a:lnTo>
                  <a:pt x="4557899" y="0"/>
                </a:lnTo>
                <a:lnTo>
                  <a:pt x="4557899" y="2075999"/>
                </a:lnTo>
                <a:lnTo>
                  <a:pt x="0" y="2075999"/>
                </a:lnTo>
                <a:lnTo>
                  <a:pt x="0" y="0"/>
                </a:lnTo>
                <a:close/>
              </a:path>
            </a:pathLst>
          </a:custGeom>
          <a:solidFill>
            <a:srgbClr val="FFF1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388374" y="2167975"/>
            <a:ext cx="3531870" cy="1416685"/>
          </a:xfrm>
          <a:custGeom>
            <a:avLst/>
            <a:gdLst/>
            <a:ahLst/>
            <a:cxnLst/>
            <a:rect l="l" t="t" r="r" b="b"/>
            <a:pathLst>
              <a:path w="3531870" h="1416685">
                <a:moveTo>
                  <a:pt x="0" y="0"/>
                </a:moveTo>
                <a:lnTo>
                  <a:pt x="3531599" y="0"/>
                </a:lnTo>
                <a:lnTo>
                  <a:pt x="3531599" y="1416299"/>
                </a:lnTo>
                <a:lnTo>
                  <a:pt x="0" y="1416299"/>
                </a:lnTo>
                <a:lnTo>
                  <a:pt x="0" y="0"/>
                </a:lnTo>
                <a:close/>
              </a:path>
            </a:pathLst>
          </a:custGeom>
          <a:solidFill>
            <a:srgbClr val="EEEE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95674" y="1131625"/>
            <a:ext cx="6103620" cy="3531870"/>
          </a:xfrm>
          <a:prstGeom prst="rect">
            <a:avLst/>
          </a:prstGeom>
          <a:ln w="19049">
            <a:solidFill>
              <a:srgbClr val="595959"/>
            </a:solidFill>
          </a:ln>
        </p:spPr>
        <p:txBody>
          <a:bodyPr vert="horz" wrap="square" lIns="0" tIns="22225" rIns="0" bIns="0" rtlCol="0">
            <a:spAutoFit/>
          </a:bodyPr>
          <a:lstStyle/>
          <a:p>
            <a:pPr marR="526415" algn="ctr">
              <a:lnSpc>
                <a:spcPct val="100000"/>
              </a:lnSpc>
              <a:spcBef>
                <a:spcPts val="175"/>
              </a:spcBef>
            </a:pP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Margin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436340" y="1173643"/>
            <a:ext cx="81969" cy="27506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05749" y="1467024"/>
            <a:ext cx="5218430" cy="2879725"/>
          </a:xfrm>
          <a:prstGeom prst="rect">
            <a:avLst/>
          </a:prstGeom>
          <a:ln w="19049">
            <a:solidFill>
              <a:srgbClr val="595959"/>
            </a:solidFill>
          </a:ln>
        </p:spPr>
        <p:txBody>
          <a:bodyPr vert="horz" wrap="square" lIns="0" tIns="31750" rIns="0" bIns="0" rtlCol="0">
            <a:spAutoFit/>
          </a:bodyPr>
          <a:lstStyle/>
          <a:p>
            <a:pPr marL="828675" algn="ctr">
              <a:lnSpc>
                <a:spcPct val="100000"/>
              </a:lnSpc>
              <a:spcBef>
                <a:spcPts val="250"/>
              </a:spcBef>
            </a:pPr>
            <a:r>
              <a:rPr sz="1800" b="1" spc="-5" dirty="0">
                <a:solidFill>
                  <a:srgbClr val="FF0000"/>
                </a:solidFill>
                <a:latin typeface="Arial"/>
                <a:cs typeface="Arial"/>
              </a:rPr>
              <a:t>Border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169765" y="1485344"/>
            <a:ext cx="81969" cy="27506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896999" y="1785749"/>
            <a:ext cx="4558030" cy="2076450"/>
          </a:xfrm>
          <a:prstGeom prst="rect">
            <a:avLst/>
          </a:prstGeom>
          <a:ln w="19049">
            <a:solidFill>
              <a:srgbClr val="595959"/>
            </a:solidFill>
          </a:ln>
        </p:spPr>
        <p:txBody>
          <a:bodyPr vert="horz" wrap="square" lIns="0" tIns="55880" rIns="0" bIns="0" rtlCol="0">
            <a:spAutoFit/>
          </a:bodyPr>
          <a:lstStyle/>
          <a:p>
            <a:pPr marL="982980">
              <a:lnSpc>
                <a:spcPct val="100000"/>
              </a:lnSpc>
              <a:spcBef>
                <a:spcPts val="440"/>
              </a:spcBef>
            </a:pPr>
            <a:r>
              <a:rPr sz="1800" b="1" spc="-5" dirty="0">
                <a:solidFill>
                  <a:srgbClr val="FF0000"/>
                </a:solidFill>
                <a:latin typeface="Arial"/>
                <a:cs typeface="Arial"/>
              </a:rPr>
              <a:t>Padding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831290" y="1851369"/>
            <a:ext cx="81969" cy="27506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453660" y="2539575"/>
            <a:ext cx="3352165" cy="0"/>
          </a:xfrm>
          <a:custGeom>
            <a:avLst/>
            <a:gdLst/>
            <a:ahLst/>
            <a:cxnLst/>
            <a:rect l="l" t="t" r="r" b="b"/>
            <a:pathLst>
              <a:path w="3352165">
                <a:moveTo>
                  <a:pt x="0" y="0"/>
                </a:moveTo>
                <a:lnTo>
                  <a:pt x="3352013" y="0"/>
                </a:lnTo>
              </a:path>
            </a:pathLst>
          </a:custGeom>
          <a:ln w="19049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416224" y="2518151"/>
            <a:ext cx="59055" cy="43180"/>
          </a:xfrm>
          <a:custGeom>
            <a:avLst/>
            <a:gdLst/>
            <a:ahLst/>
            <a:cxnLst/>
            <a:rect l="l" t="t" r="r" b="b"/>
            <a:pathLst>
              <a:path w="59055" h="43180">
                <a:moveTo>
                  <a:pt x="58859" y="42846"/>
                </a:moveTo>
                <a:lnTo>
                  <a:pt x="0" y="21423"/>
                </a:lnTo>
                <a:lnTo>
                  <a:pt x="58859" y="0"/>
                </a:lnTo>
                <a:lnTo>
                  <a:pt x="37436" y="21423"/>
                </a:lnTo>
                <a:lnTo>
                  <a:pt x="58859" y="42846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416224" y="2518151"/>
            <a:ext cx="59055" cy="43180"/>
          </a:xfrm>
          <a:custGeom>
            <a:avLst/>
            <a:gdLst/>
            <a:ahLst/>
            <a:cxnLst/>
            <a:rect l="l" t="t" r="r" b="b"/>
            <a:pathLst>
              <a:path w="59055" h="43180">
                <a:moveTo>
                  <a:pt x="37436" y="21423"/>
                </a:moveTo>
                <a:lnTo>
                  <a:pt x="58859" y="0"/>
                </a:lnTo>
                <a:lnTo>
                  <a:pt x="0" y="21423"/>
                </a:lnTo>
                <a:lnTo>
                  <a:pt x="58859" y="42846"/>
                </a:lnTo>
                <a:lnTo>
                  <a:pt x="37436" y="21423"/>
                </a:lnTo>
                <a:close/>
              </a:path>
            </a:pathLst>
          </a:custGeom>
          <a:ln w="19049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796149" y="2498584"/>
            <a:ext cx="105500" cy="8198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388375" y="2167975"/>
            <a:ext cx="3531870" cy="1416685"/>
          </a:xfrm>
          <a:prstGeom prst="rect">
            <a:avLst/>
          </a:prstGeom>
          <a:ln w="9524">
            <a:solidFill>
              <a:srgbClr val="595959"/>
            </a:solidFill>
          </a:ln>
        </p:spPr>
        <p:txBody>
          <a:bodyPr vert="horz" wrap="square" lIns="0" tIns="76200" rIns="0" bIns="0" rtlCol="0">
            <a:spAutoFit/>
          </a:bodyPr>
          <a:lstStyle/>
          <a:p>
            <a:pPr marL="2334895">
              <a:lnSpc>
                <a:spcPct val="100000"/>
              </a:lnSpc>
              <a:spcBef>
                <a:spcPts val="600"/>
              </a:spcBef>
            </a:pPr>
            <a:r>
              <a:rPr sz="1800" spc="-5" dirty="0">
                <a:solidFill>
                  <a:srgbClr val="FF0000"/>
                </a:solidFill>
                <a:latin typeface="Arial"/>
                <a:cs typeface="Arial"/>
              </a:rPr>
              <a:t>width</a:t>
            </a:r>
            <a:endParaRPr sz="1800">
              <a:latin typeface="Arial"/>
              <a:cs typeface="Arial"/>
            </a:endParaRPr>
          </a:p>
          <a:p>
            <a:pPr marL="1066800">
              <a:lnSpc>
                <a:spcPct val="100000"/>
              </a:lnSpc>
              <a:spcBef>
                <a:spcPts val="894"/>
              </a:spcBef>
            </a:pPr>
            <a:r>
              <a:rPr sz="3000" spc="-5" dirty="0">
                <a:latin typeface="Arial"/>
                <a:cs typeface="Arial"/>
              </a:rPr>
              <a:t>Element</a:t>
            </a:r>
            <a:endParaRPr sz="300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423537" y="2213579"/>
            <a:ext cx="17780" cy="1236980"/>
          </a:xfrm>
          <a:custGeom>
            <a:avLst/>
            <a:gdLst/>
            <a:ahLst/>
            <a:cxnLst/>
            <a:rect l="l" t="t" r="r" b="b"/>
            <a:pathLst>
              <a:path w="17780" h="1236979">
                <a:moveTo>
                  <a:pt x="0" y="0"/>
                </a:moveTo>
                <a:lnTo>
                  <a:pt x="17289" y="1236431"/>
                </a:lnTo>
              </a:path>
            </a:pathLst>
          </a:custGeom>
          <a:ln w="19049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2402416" y="2176146"/>
            <a:ext cx="43180" cy="59690"/>
          </a:xfrm>
          <a:custGeom>
            <a:avLst/>
            <a:gdLst/>
            <a:ahLst/>
            <a:cxnLst/>
            <a:rect l="l" t="t" r="r" b="b"/>
            <a:pathLst>
              <a:path w="43180" h="59689">
                <a:moveTo>
                  <a:pt x="0" y="59153"/>
                </a:moveTo>
                <a:lnTo>
                  <a:pt x="20598" y="0"/>
                </a:lnTo>
                <a:lnTo>
                  <a:pt x="34818" y="37433"/>
                </a:lnTo>
                <a:lnTo>
                  <a:pt x="21121" y="37433"/>
                </a:lnTo>
                <a:lnTo>
                  <a:pt x="0" y="59153"/>
                </a:lnTo>
                <a:close/>
              </a:path>
              <a:path w="43180" h="59689">
                <a:moveTo>
                  <a:pt x="42842" y="58554"/>
                </a:moveTo>
                <a:lnTo>
                  <a:pt x="21121" y="37433"/>
                </a:lnTo>
                <a:lnTo>
                  <a:pt x="34818" y="37433"/>
                </a:lnTo>
                <a:lnTo>
                  <a:pt x="42842" y="58554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402416" y="2176146"/>
            <a:ext cx="43180" cy="59690"/>
          </a:xfrm>
          <a:custGeom>
            <a:avLst/>
            <a:gdLst/>
            <a:ahLst/>
            <a:cxnLst/>
            <a:rect l="l" t="t" r="r" b="b"/>
            <a:pathLst>
              <a:path w="43180" h="59689">
                <a:moveTo>
                  <a:pt x="21121" y="37433"/>
                </a:moveTo>
                <a:lnTo>
                  <a:pt x="42842" y="58554"/>
                </a:lnTo>
                <a:lnTo>
                  <a:pt x="20598" y="0"/>
                </a:lnTo>
                <a:lnTo>
                  <a:pt x="0" y="59153"/>
                </a:lnTo>
                <a:lnTo>
                  <a:pt x="21121" y="37433"/>
                </a:lnTo>
                <a:close/>
              </a:path>
            </a:pathLst>
          </a:custGeom>
          <a:ln w="19049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399839" y="3440045"/>
            <a:ext cx="81974" cy="10593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2074660" y="2778138"/>
            <a:ext cx="281305" cy="64833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solidFill>
                  <a:srgbClr val="FF0000"/>
                </a:solidFill>
                <a:latin typeface="Arial"/>
                <a:cs typeface="Arial"/>
              </a:rPr>
              <a:t>height</a:t>
            </a:r>
            <a:endParaRPr sz="1800">
              <a:latin typeface="Arial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6625049" y="1174050"/>
            <a:ext cx="2519680" cy="2414905"/>
          </a:xfrm>
          <a:custGeom>
            <a:avLst/>
            <a:gdLst/>
            <a:ahLst/>
            <a:cxnLst/>
            <a:rect l="l" t="t" r="r" b="b"/>
            <a:pathLst>
              <a:path w="2519679" h="2414904">
                <a:moveTo>
                  <a:pt x="0" y="0"/>
                </a:moveTo>
                <a:lnTo>
                  <a:pt x="2519099" y="0"/>
                </a:lnTo>
                <a:lnTo>
                  <a:pt x="2519099" y="2414399"/>
                </a:lnTo>
                <a:lnTo>
                  <a:pt x="0" y="2414399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6698075" y="1237931"/>
            <a:ext cx="2356485" cy="223329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0699"/>
              </a:lnSpc>
              <a:spcBef>
                <a:spcPts val="85"/>
              </a:spcBef>
            </a:pPr>
            <a:r>
              <a:rPr sz="1800" b="1" spc="-5" dirty="0">
                <a:latin typeface="Arial"/>
                <a:cs typeface="Arial"/>
              </a:rPr>
              <a:t>Total element width </a:t>
            </a:r>
            <a:r>
              <a:rPr sz="1800" dirty="0">
                <a:latin typeface="Arial"/>
                <a:cs typeface="Arial"/>
              </a:rPr>
              <a:t>=  </a:t>
            </a:r>
            <a:r>
              <a:rPr sz="1800" spc="-5" dirty="0">
                <a:latin typeface="Arial"/>
                <a:cs typeface="Arial"/>
              </a:rPr>
              <a:t>width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+</a:t>
            </a:r>
            <a:endParaRPr sz="1800">
              <a:latin typeface="Arial"/>
              <a:cs typeface="Arial"/>
            </a:endParaRPr>
          </a:p>
          <a:p>
            <a:pPr marL="12700" marR="817244">
              <a:lnSpc>
                <a:spcPct val="100699"/>
              </a:lnSpc>
            </a:pPr>
            <a:r>
              <a:rPr sz="1800" spc="-5" dirty="0">
                <a:latin typeface="Arial"/>
                <a:cs typeface="Arial"/>
              </a:rPr>
              <a:t>left padding </a:t>
            </a:r>
            <a:r>
              <a:rPr sz="1800" dirty="0">
                <a:latin typeface="Arial"/>
                <a:cs typeface="Arial"/>
              </a:rPr>
              <a:t>+  right </a:t>
            </a:r>
            <a:r>
              <a:rPr sz="1800" spc="-5" dirty="0">
                <a:latin typeface="Arial"/>
                <a:cs typeface="Arial"/>
              </a:rPr>
              <a:t>padding</a:t>
            </a:r>
            <a:r>
              <a:rPr sz="1800" spc="-10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+  </a:t>
            </a:r>
            <a:r>
              <a:rPr sz="1800" spc="-5" dirty="0">
                <a:latin typeface="Arial"/>
                <a:cs typeface="Arial"/>
              </a:rPr>
              <a:t>left border </a:t>
            </a:r>
            <a:r>
              <a:rPr sz="1800" dirty="0">
                <a:latin typeface="Arial"/>
                <a:cs typeface="Arial"/>
              </a:rPr>
              <a:t>+  right </a:t>
            </a:r>
            <a:r>
              <a:rPr sz="1800" spc="-5" dirty="0">
                <a:latin typeface="Arial"/>
                <a:cs typeface="Arial"/>
              </a:rPr>
              <a:t>border </a:t>
            </a:r>
            <a:r>
              <a:rPr sz="1800" dirty="0">
                <a:latin typeface="Arial"/>
                <a:cs typeface="Arial"/>
              </a:rPr>
              <a:t>+  </a:t>
            </a:r>
            <a:r>
              <a:rPr sz="1800" spc="-5" dirty="0">
                <a:latin typeface="Arial"/>
                <a:cs typeface="Arial"/>
              </a:rPr>
              <a:t>left </a:t>
            </a:r>
            <a:r>
              <a:rPr sz="1800" dirty="0">
                <a:latin typeface="Arial"/>
                <a:cs typeface="Arial"/>
              </a:rPr>
              <a:t>margin +  right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margin</a:t>
            </a:r>
            <a:endParaRPr sz="1800">
              <a:latin typeface="Arial"/>
              <a:cs typeface="Arial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CSS</a:t>
            </a:r>
          </a:p>
        </p:txBody>
      </p:sp>
      <p:sp>
        <p:nvSpPr>
          <p:cNvPr id="27" name="object 2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9</a:t>
            </a:fld>
            <a:endParaRPr dirty="0"/>
          </a:p>
        </p:txBody>
      </p:sp>
      <p:sp>
        <p:nvSpPr>
          <p:cNvPr id="25" name="object 25"/>
          <p:cNvSpPr txBox="1"/>
          <p:nvPr/>
        </p:nvSpPr>
        <p:spPr>
          <a:xfrm>
            <a:off x="6625049" y="3755125"/>
            <a:ext cx="2396490" cy="980440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74295" rIns="0" bIns="0" rtlCol="0">
            <a:spAutoFit/>
          </a:bodyPr>
          <a:lstStyle/>
          <a:p>
            <a:pPr marL="85725" marR="489584">
              <a:lnSpc>
                <a:spcPct val="100699"/>
              </a:lnSpc>
              <a:spcBef>
                <a:spcPts val="585"/>
              </a:spcBef>
            </a:pPr>
            <a:r>
              <a:rPr sz="1800" dirty="0">
                <a:latin typeface="Arial"/>
                <a:cs typeface="Arial"/>
              </a:rPr>
              <a:t>Margin &amp;</a:t>
            </a:r>
            <a:r>
              <a:rPr sz="1800" spc="-114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Padding  Transparent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CSS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10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302768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CSS distance</a:t>
            </a:r>
            <a:r>
              <a:rPr spc="-90" dirty="0"/>
              <a:t> </a:t>
            </a:r>
            <a:r>
              <a:rPr spc="-5" dirty="0"/>
              <a:t>units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538137" y="351412"/>
          <a:ext cx="5137785" cy="393164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486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890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9074"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Absolute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7620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499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1600" spc="-5" dirty="0">
                          <a:latin typeface="Arial"/>
                          <a:cs typeface="Arial"/>
                        </a:rPr>
                        <a:t>2px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7747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1600" spc="-5" dirty="0">
                          <a:latin typeface="Arial"/>
                          <a:cs typeface="Arial"/>
                        </a:rPr>
                        <a:t>pixels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7747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0499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1600" spc="-5" dirty="0">
                          <a:latin typeface="Arial"/>
                          <a:cs typeface="Arial"/>
                        </a:rPr>
                        <a:t>1mm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7747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1600" dirty="0">
                          <a:latin typeface="Arial"/>
                          <a:cs typeface="Arial"/>
                        </a:rPr>
                        <a:t>millimeters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7747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0499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1600" spc="-5" dirty="0">
                          <a:latin typeface="Arial"/>
                          <a:cs typeface="Arial"/>
                        </a:rPr>
                        <a:t>2cm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7747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1600" dirty="0">
                          <a:latin typeface="Arial"/>
                          <a:cs typeface="Arial"/>
                        </a:rPr>
                        <a:t>centimeters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7747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0499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1600" spc="-5" dirty="0">
                          <a:latin typeface="Arial"/>
                          <a:cs typeface="Arial"/>
                        </a:rPr>
                        <a:t>0.2in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7747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1600" spc="-5" dirty="0">
                          <a:latin typeface="Arial"/>
                          <a:cs typeface="Arial"/>
                        </a:rPr>
                        <a:t>inches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7747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0499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1600" spc="-5" dirty="0">
                          <a:latin typeface="Arial"/>
                          <a:cs typeface="Arial"/>
                        </a:rPr>
                        <a:t>3pt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7747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3810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1600" spc="-5" dirty="0">
                          <a:latin typeface="Arial"/>
                          <a:cs typeface="Arial"/>
                        </a:rPr>
                        <a:t>printer point 1/72</a:t>
                      </a:r>
                      <a:r>
                        <a:rPr sz="16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5" dirty="0">
                          <a:latin typeface="Arial"/>
                          <a:cs typeface="Arial"/>
                        </a:rPr>
                        <a:t>inch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7747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38100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9074"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Relative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7620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38100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0499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1600" spc="-5" dirty="0">
                          <a:latin typeface="Arial"/>
                          <a:cs typeface="Arial"/>
                        </a:rPr>
                        <a:t>2em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7747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1600" dirty="0">
                          <a:latin typeface="Arial"/>
                          <a:cs typeface="Arial"/>
                        </a:rPr>
                        <a:t>2 </a:t>
                      </a:r>
                      <a:r>
                        <a:rPr sz="1600" spc="-5" dirty="0">
                          <a:latin typeface="Arial"/>
                          <a:cs typeface="Arial"/>
                        </a:rPr>
                        <a:t>times the element’s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current </a:t>
                      </a:r>
                      <a:r>
                        <a:rPr sz="1600" spc="-5" dirty="0">
                          <a:latin typeface="Arial"/>
                          <a:cs typeface="Arial"/>
                        </a:rPr>
                        <a:t>font</a:t>
                      </a:r>
                      <a:r>
                        <a:rPr sz="160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size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7747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0499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1600" spc="-5" dirty="0">
                          <a:latin typeface="Arial"/>
                          <a:cs typeface="Arial"/>
                        </a:rPr>
                        <a:t>3rem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7747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1600" dirty="0">
                          <a:latin typeface="Arial"/>
                          <a:cs typeface="Arial"/>
                        </a:rPr>
                        <a:t>3 </a:t>
                      </a:r>
                      <a:r>
                        <a:rPr sz="1600" spc="-5" dirty="0">
                          <a:latin typeface="Arial"/>
                          <a:cs typeface="Arial"/>
                        </a:rPr>
                        <a:t>times the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root </a:t>
                      </a:r>
                      <a:r>
                        <a:rPr sz="1600" spc="-5" dirty="0">
                          <a:latin typeface="Arial"/>
                          <a:cs typeface="Arial"/>
                        </a:rPr>
                        <a:t>element’s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current </a:t>
                      </a:r>
                      <a:r>
                        <a:rPr sz="1600" spc="-5" dirty="0">
                          <a:latin typeface="Arial"/>
                          <a:cs typeface="Arial"/>
                        </a:rPr>
                        <a:t>font</a:t>
                      </a:r>
                      <a:r>
                        <a:rPr sz="1600" spc="-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size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7747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747457" y="4766045"/>
            <a:ext cx="161290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" dirty="0">
                <a:solidFill>
                  <a:srgbClr val="595959"/>
                </a:solidFill>
                <a:latin typeface="Arial"/>
                <a:cs typeface="Arial"/>
              </a:rPr>
              <a:t>CS142 Lecture Notes </a:t>
            </a:r>
            <a:r>
              <a:rPr sz="1000" dirty="0">
                <a:solidFill>
                  <a:srgbClr val="595959"/>
                </a:solidFill>
                <a:latin typeface="Arial"/>
                <a:cs typeface="Arial"/>
              </a:rPr>
              <a:t>-</a:t>
            </a:r>
            <a:r>
              <a:rPr sz="1000" spc="-8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595959"/>
                </a:solidFill>
                <a:latin typeface="Arial"/>
                <a:cs typeface="Arial"/>
              </a:rPr>
              <a:t>CSS</a:t>
            </a:r>
            <a:endParaRPr sz="10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734060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Size Properties </a:t>
            </a:r>
            <a:r>
              <a:rPr dirty="0"/>
              <a:t>- </a:t>
            </a:r>
            <a:r>
              <a:rPr spc="-10" dirty="0"/>
              <a:t>Element, </a:t>
            </a:r>
            <a:r>
              <a:rPr spc="-5" dirty="0"/>
              <a:t>pad, </a:t>
            </a:r>
            <a:r>
              <a:rPr dirty="0"/>
              <a:t>margin,</a:t>
            </a:r>
            <a:r>
              <a:rPr spc="-75" dirty="0"/>
              <a:t> </a:t>
            </a:r>
            <a:r>
              <a:rPr spc="-5" dirty="0"/>
              <a:t>border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84725" y="1216355"/>
            <a:ext cx="3754754" cy="57594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0699"/>
              </a:lnSpc>
              <a:spcBef>
                <a:spcPts val="85"/>
              </a:spcBef>
              <a:tabLst>
                <a:tab pos="988694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width	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-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Override element</a:t>
            </a:r>
            <a:r>
              <a:rPr sz="1800" spc="-9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defaults  height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4725" y="2045030"/>
            <a:ext cx="1613535" cy="112839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0699"/>
              </a:lnSpc>
              <a:spcBef>
                <a:spcPts val="85"/>
              </a:spcBef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padding-top  padding-right  padding-bottom  padding-left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84725" y="3426155"/>
            <a:ext cx="1499235" cy="112839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0699"/>
              </a:lnSpc>
              <a:spcBef>
                <a:spcPts val="85"/>
              </a:spcBef>
            </a:pP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margin-top  margin-right  margin-bottom  margin-left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905425" y="1216355"/>
            <a:ext cx="2410460" cy="250952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0699"/>
              </a:lnSpc>
              <a:spcBef>
                <a:spcPts val="85"/>
              </a:spcBef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border-bottom-color  border-bottom-style  border-bottom-width  border-left-color  border-left-style  border-left-width  border-right-color  border-right-style  border-right-width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905425" y="3702380"/>
            <a:ext cx="3943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etc.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739000" y="3900775"/>
            <a:ext cx="3219450" cy="1035685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7620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600"/>
              </a:spcBef>
            </a:pPr>
            <a:r>
              <a:rPr sz="1800" dirty="0">
                <a:solidFill>
                  <a:srgbClr val="A52A2A"/>
                </a:solidFill>
                <a:latin typeface="Consolas"/>
                <a:cs typeface="Consolas"/>
              </a:rPr>
              <a:t>p</a:t>
            </a:r>
            <a:r>
              <a:rPr sz="1800" spc="-5" dirty="0">
                <a:solidFill>
                  <a:srgbClr val="A52A2A"/>
                </a:solidFill>
                <a:latin typeface="Consolas"/>
                <a:cs typeface="Consolas"/>
              </a:rPr>
              <a:t> </a:t>
            </a:r>
            <a:r>
              <a:rPr sz="1800" dirty="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336550">
              <a:lnSpc>
                <a:spcPct val="100000"/>
              </a:lnSpc>
              <a:spcBef>
                <a:spcPts val="15"/>
              </a:spcBef>
            </a:pPr>
            <a:r>
              <a:rPr sz="1800" spc="-5" dirty="0">
                <a:solidFill>
                  <a:srgbClr val="FF0000"/>
                </a:solidFill>
                <a:latin typeface="Consolas"/>
                <a:cs typeface="Consolas"/>
              </a:rPr>
              <a:t>border: </a:t>
            </a:r>
            <a:r>
              <a:rPr sz="1800" spc="-5" dirty="0">
                <a:solidFill>
                  <a:srgbClr val="0000CD"/>
                </a:solidFill>
                <a:latin typeface="Consolas"/>
                <a:cs typeface="Consolas"/>
              </a:rPr>
              <a:t>5px solid</a:t>
            </a:r>
            <a:r>
              <a:rPr sz="1800" spc="-60" dirty="0">
                <a:solidFill>
                  <a:srgbClr val="0000CD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0000CD"/>
                </a:solidFill>
                <a:latin typeface="Consolas"/>
                <a:cs typeface="Consolas"/>
              </a:rPr>
              <a:t>red;</a:t>
            </a:r>
            <a:endParaRPr sz="1800">
              <a:latin typeface="Consolas"/>
              <a:cs typeface="Consolas"/>
            </a:endParaRPr>
          </a:p>
          <a:p>
            <a:pPr marL="85725">
              <a:lnSpc>
                <a:spcPts val="2060"/>
              </a:lnSpc>
              <a:spcBef>
                <a:spcPts val="15"/>
              </a:spcBef>
            </a:pPr>
            <a:r>
              <a:rPr sz="1800" dirty="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  <a:p>
            <a:pPr marR="14604" algn="r">
              <a:lnSpc>
                <a:spcPts val="1100"/>
              </a:lnSpc>
            </a:pPr>
            <a:r>
              <a:rPr sz="1000" spc="-5" dirty="0">
                <a:solidFill>
                  <a:srgbClr val="595959"/>
                </a:solidFill>
                <a:latin typeface="Arial"/>
                <a:cs typeface="Arial"/>
              </a:rPr>
              <a:t>11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CSS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12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29921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>
                <a:latin typeface="Consolas"/>
                <a:cs typeface="Consolas"/>
              </a:rPr>
              <a:t>position</a:t>
            </a:r>
            <a:r>
              <a:rPr spc="-830" dirty="0">
                <a:latin typeface="Consolas"/>
                <a:cs typeface="Consolas"/>
              </a:rPr>
              <a:t> </a:t>
            </a:r>
            <a:r>
              <a:rPr spc="-5" dirty="0"/>
              <a:t>property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675457"/>
              </p:ext>
            </p:extLst>
          </p:nvPr>
        </p:nvGraphicFramePr>
        <p:xfrm>
          <a:off x="365675" y="1403110"/>
          <a:ext cx="7915274" cy="275179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22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41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18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9109">
                <a:tc>
                  <a:txBody>
                    <a:bodyPr/>
                    <a:lstStyle/>
                    <a:p>
                      <a:pPr marR="22860" algn="ctr">
                        <a:lnSpc>
                          <a:spcPts val="1989"/>
                        </a:lnSpc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position: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2230">
                        <a:lnSpc>
                          <a:spcPts val="1989"/>
                        </a:lnSpc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static;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7800">
                        <a:lnSpc>
                          <a:spcPts val="1989"/>
                        </a:lnSpc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(default) - 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Position in </a:t>
                      </a:r>
                      <a:r>
                        <a:rPr sz="1800" u="sng" spc="-5" dirty="0">
                          <a:latin typeface="Arial"/>
                          <a:cs typeface="Arial"/>
                        </a:rPr>
                        <a:t>document</a:t>
                      </a:r>
                      <a:r>
                        <a:rPr sz="1800" u="sng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u="sng" spc="-5" dirty="0">
                          <a:latin typeface="Arial"/>
                          <a:cs typeface="Arial"/>
                        </a:rPr>
                        <a:t>flow</a:t>
                      </a:r>
                      <a:endParaRPr sz="1800" u="sng" dirty="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8675">
                <a:tc>
                  <a:txBody>
                    <a:bodyPr/>
                    <a:lstStyle/>
                    <a:p>
                      <a:pPr marR="22860" algn="ctr">
                        <a:lnSpc>
                          <a:spcPct val="100000"/>
                        </a:lnSpc>
                        <a:spcBef>
                          <a:spcPts val="955"/>
                        </a:spcBef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position: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121285" marB="0"/>
                </a:tc>
                <a:tc>
                  <a:txBody>
                    <a:bodyPr/>
                    <a:lstStyle/>
                    <a:p>
                      <a:pPr marL="66040">
                        <a:lnSpc>
                          <a:spcPct val="100000"/>
                        </a:lnSpc>
                        <a:spcBef>
                          <a:spcPts val="955"/>
                        </a:spcBef>
                      </a:pPr>
                      <a:r>
                        <a:rPr sz="1800" spc="-5" dirty="0">
                          <a:solidFill>
                            <a:srgbClr val="595959"/>
                          </a:solidFill>
                          <a:latin typeface="Consolas"/>
                          <a:cs typeface="Consolas"/>
                        </a:rPr>
                        <a:t>relative;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121285" marB="0"/>
                </a:tc>
                <a:tc>
                  <a:txBody>
                    <a:bodyPr/>
                    <a:lstStyle/>
                    <a:p>
                      <a:pPr marL="177800">
                        <a:lnSpc>
                          <a:spcPct val="100000"/>
                        </a:lnSpc>
                        <a:spcBef>
                          <a:spcPts val="955"/>
                        </a:spcBef>
                        <a:tabLst>
                          <a:tab pos="3773170" algn="l"/>
                        </a:tabLst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Position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relative 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to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default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position	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via</a:t>
                      </a:r>
                      <a:endParaRPr sz="1800">
                        <a:latin typeface="Arial"/>
                        <a:cs typeface="Arial"/>
                      </a:endParaRPr>
                    </a:p>
                    <a:p>
                      <a:pPr marL="17780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top</a:t>
                      </a:r>
                      <a:r>
                        <a:rPr sz="1800" spc="-5" dirty="0">
                          <a:latin typeface="Verdana"/>
                          <a:cs typeface="Verdana"/>
                        </a:rPr>
                        <a:t>, </a:t>
                      </a:r>
                      <a:r>
                        <a:rPr sz="1800" spc="-5" dirty="0">
                          <a:latin typeface="Consolas"/>
                          <a:cs typeface="Consolas"/>
                        </a:rPr>
                        <a:t>right</a:t>
                      </a:r>
                      <a:r>
                        <a:rPr sz="1800" spc="-5" dirty="0">
                          <a:latin typeface="Verdana"/>
                          <a:cs typeface="Verdana"/>
                        </a:rPr>
                        <a:t>, </a:t>
                      </a:r>
                      <a:r>
                        <a:rPr sz="1800" spc="-5" dirty="0">
                          <a:latin typeface="Consolas"/>
                          <a:cs typeface="Consolas"/>
                        </a:rPr>
                        <a:t>bottom</a:t>
                      </a:r>
                      <a:r>
                        <a:rPr sz="1800" spc="-5" dirty="0">
                          <a:latin typeface="Verdana"/>
                          <a:cs typeface="Verdana"/>
                        </a:rPr>
                        <a:t>, and </a:t>
                      </a:r>
                      <a:r>
                        <a:rPr sz="1800" spc="-5" dirty="0">
                          <a:latin typeface="Consolas"/>
                          <a:cs typeface="Consolas"/>
                        </a:rPr>
                        <a:t>left</a:t>
                      </a:r>
                      <a:r>
                        <a:rPr sz="1800" spc="-35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properties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2128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8675">
                <a:tc>
                  <a:txBody>
                    <a:bodyPr/>
                    <a:lstStyle/>
                    <a:p>
                      <a:pPr marR="22860" algn="ctr">
                        <a:lnSpc>
                          <a:spcPct val="100000"/>
                        </a:lnSpc>
                        <a:spcBef>
                          <a:spcPts val="955"/>
                        </a:spcBef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position: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121285" marB="0"/>
                </a:tc>
                <a:tc>
                  <a:txBody>
                    <a:bodyPr/>
                    <a:lstStyle/>
                    <a:p>
                      <a:pPr marL="66040">
                        <a:lnSpc>
                          <a:spcPct val="100000"/>
                        </a:lnSpc>
                        <a:spcBef>
                          <a:spcPts val="955"/>
                        </a:spcBef>
                      </a:pPr>
                      <a:r>
                        <a:rPr sz="1800" spc="-5" dirty="0">
                          <a:solidFill>
                            <a:srgbClr val="595959"/>
                          </a:solidFill>
                          <a:latin typeface="Consolas"/>
                          <a:cs typeface="Consolas"/>
                        </a:rPr>
                        <a:t>fixed;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121285" marB="0"/>
                </a:tc>
                <a:tc>
                  <a:txBody>
                    <a:bodyPr/>
                    <a:lstStyle/>
                    <a:p>
                      <a:pPr marL="177800">
                        <a:lnSpc>
                          <a:spcPct val="100000"/>
                        </a:lnSpc>
                        <a:spcBef>
                          <a:spcPts val="955"/>
                        </a:spcBef>
                        <a:tabLst>
                          <a:tab pos="4408170" algn="l"/>
                        </a:tabLst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Position to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a 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fixed location on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the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 screen	via</a:t>
                      </a:r>
                      <a:endParaRPr sz="1800">
                        <a:latin typeface="Arial"/>
                        <a:cs typeface="Arial"/>
                      </a:endParaRPr>
                    </a:p>
                    <a:p>
                      <a:pPr marL="17780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top</a:t>
                      </a:r>
                      <a:r>
                        <a:rPr sz="1800" spc="-5" dirty="0">
                          <a:latin typeface="Verdana"/>
                          <a:cs typeface="Verdana"/>
                        </a:rPr>
                        <a:t>, </a:t>
                      </a:r>
                      <a:r>
                        <a:rPr sz="1800" spc="-5" dirty="0">
                          <a:latin typeface="Consolas"/>
                          <a:cs typeface="Consolas"/>
                        </a:rPr>
                        <a:t>right</a:t>
                      </a:r>
                      <a:r>
                        <a:rPr sz="1800" spc="-5" dirty="0">
                          <a:latin typeface="Verdana"/>
                          <a:cs typeface="Verdana"/>
                        </a:rPr>
                        <a:t>, </a:t>
                      </a:r>
                      <a:r>
                        <a:rPr sz="1800" spc="-5" dirty="0">
                          <a:latin typeface="Consolas"/>
                          <a:cs typeface="Consolas"/>
                        </a:rPr>
                        <a:t>bottom</a:t>
                      </a:r>
                      <a:r>
                        <a:rPr sz="1800" spc="-5" dirty="0">
                          <a:latin typeface="Verdana"/>
                          <a:cs typeface="Verdana"/>
                        </a:rPr>
                        <a:t>, and </a:t>
                      </a:r>
                      <a:r>
                        <a:rPr sz="1800" spc="-5" dirty="0">
                          <a:latin typeface="Consolas"/>
                          <a:cs typeface="Consolas"/>
                        </a:rPr>
                        <a:t>left</a:t>
                      </a:r>
                      <a:r>
                        <a:rPr sz="1800" spc="-35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properties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2128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334">
                <a:tc>
                  <a:txBody>
                    <a:bodyPr/>
                    <a:lstStyle/>
                    <a:p>
                      <a:pPr marR="22860" algn="ctr">
                        <a:lnSpc>
                          <a:spcPct val="100000"/>
                        </a:lnSpc>
                        <a:spcBef>
                          <a:spcPts val="955"/>
                        </a:spcBef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position: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121285" marB="0"/>
                </a:tc>
                <a:tc>
                  <a:txBody>
                    <a:bodyPr/>
                    <a:lstStyle/>
                    <a:p>
                      <a:pPr marL="66040">
                        <a:lnSpc>
                          <a:spcPct val="100000"/>
                        </a:lnSpc>
                        <a:spcBef>
                          <a:spcPts val="955"/>
                        </a:spcBef>
                      </a:pPr>
                      <a:r>
                        <a:rPr sz="1800" spc="-5" dirty="0">
                          <a:solidFill>
                            <a:srgbClr val="595959"/>
                          </a:solidFill>
                          <a:latin typeface="Consolas"/>
                          <a:cs typeface="Consolas"/>
                        </a:rPr>
                        <a:t>absolute;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121285" marB="0"/>
                </a:tc>
                <a:tc>
                  <a:txBody>
                    <a:bodyPr/>
                    <a:lstStyle/>
                    <a:p>
                      <a:pPr marL="177800">
                        <a:lnSpc>
                          <a:spcPct val="100000"/>
                        </a:lnSpc>
                        <a:spcBef>
                          <a:spcPts val="955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Position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relative 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to ancestor </a:t>
                      </a:r>
                      <a:r>
                        <a:rPr sz="1800" spc="-5" dirty="0">
                          <a:latin typeface="Consolas"/>
                          <a:cs typeface="Consolas"/>
                        </a:rPr>
                        <a:t>absolute</a:t>
                      </a:r>
                      <a:r>
                        <a:rPr sz="1800" spc="-52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element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via</a:t>
                      </a:r>
                    </a:p>
                    <a:p>
                      <a:pPr marL="17780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top</a:t>
                      </a:r>
                      <a:r>
                        <a:rPr sz="1800" spc="-5" dirty="0">
                          <a:latin typeface="Verdana"/>
                          <a:cs typeface="Verdana"/>
                        </a:rPr>
                        <a:t>, </a:t>
                      </a:r>
                      <a:r>
                        <a:rPr sz="1800" spc="-5" dirty="0">
                          <a:latin typeface="Consolas"/>
                          <a:cs typeface="Consolas"/>
                        </a:rPr>
                        <a:t>right</a:t>
                      </a:r>
                      <a:r>
                        <a:rPr sz="1800" spc="-5" dirty="0">
                          <a:latin typeface="Verdana"/>
                          <a:cs typeface="Verdana"/>
                        </a:rPr>
                        <a:t>, </a:t>
                      </a:r>
                      <a:r>
                        <a:rPr sz="1800" spc="-5" dirty="0">
                          <a:latin typeface="Consolas"/>
                          <a:cs typeface="Consolas"/>
                        </a:rPr>
                        <a:t>bottom</a:t>
                      </a:r>
                      <a:r>
                        <a:rPr sz="1800" spc="-5" dirty="0">
                          <a:latin typeface="Verdana"/>
                          <a:cs typeface="Verdana"/>
                        </a:rPr>
                        <a:t>, and </a:t>
                      </a:r>
                      <a:r>
                        <a:rPr sz="1800" spc="-5" dirty="0">
                          <a:latin typeface="Consolas"/>
                          <a:cs typeface="Consolas"/>
                        </a:rPr>
                        <a:t>left</a:t>
                      </a:r>
                      <a:r>
                        <a:rPr sz="1800" spc="-35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properties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121285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384725" y="4407230"/>
            <a:ext cx="39109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"/>
                <a:cs typeface="Arial"/>
              </a:rPr>
              <a:t>Fixed position </a:t>
            </a:r>
            <a:r>
              <a:rPr sz="1800" dirty="0">
                <a:latin typeface="Arial"/>
                <a:cs typeface="Arial"/>
              </a:rPr>
              <a:t>(0,0) </a:t>
            </a:r>
            <a:r>
              <a:rPr sz="1800" spc="-5" dirty="0">
                <a:latin typeface="Arial"/>
                <a:cs typeface="Arial"/>
              </a:rPr>
              <a:t>is </a:t>
            </a:r>
            <a:r>
              <a:rPr sz="1800" spc="-5" dirty="0">
                <a:latin typeface="Verdana"/>
                <a:cs typeface="Verdana"/>
              </a:rPr>
              <a:t>top left</a:t>
            </a:r>
            <a:r>
              <a:rPr sz="1800" spc="7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corner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CSS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13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500189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Some </a:t>
            </a:r>
            <a:r>
              <a:rPr dirty="0"/>
              <a:t>more common</a:t>
            </a:r>
            <a:r>
              <a:rPr spc="-95" dirty="0"/>
              <a:t> </a:t>
            </a:r>
            <a:r>
              <a:rPr spc="-5" dirty="0"/>
              <a:t>properties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216355"/>
            <a:ext cx="8316595" cy="28333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298065" algn="l"/>
              </a:tabLst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background-image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:	image for element's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background</a:t>
            </a:r>
            <a:endParaRPr sz="1800">
              <a:latin typeface="Arial"/>
              <a:cs typeface="Arial"/>
            </a:endParaRPr>
          </a:p>
          <a:p>
            <a:pPr marL="2298700" marR="598805" indent="-2286000">
              <a:lnSpc>
                <a:spcPct val="100699"/>
              </a:lnSpc>
              <a:spcBef>
                <a:spcPts val="1575"/>
              </a:spcBef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background-repeat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: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should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background image be displayed in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 repeating 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pattern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(versus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once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only)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font, font-family, font-size, font-weight, font-style:</a:t>
            </a:r>
            <a:r>
              <a:rPr sz="1800" spc="-39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font</a:t>
            </a:r>
            <a:endParaRPr sz="1800">
              <a:latin typeface="Arial"/>
              <a:cs typeface="Arial"/>
            </a:endParaRPr>
          </a:p>
          <a:p>
            <a:pPr marR="5080" algn="r">
              <a:lnSpc>
                <a:spcPct val="100000"/>
              </a:lnSpc>
              <a:spcBef>
                <a:spcPts val="15"/>
              </a:spcBef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information for</a:t>
            </a:r>
            <a:r>
              <a:rPr sz="1800" spc="-9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text</a:t>
            </a:r>
            <a:endParaRPr sz="1800">
              <a:latin typeface="Arial"/>
              <a:cs typeface="Arial"/>
            </a:endParaRPr>
          </a:p>
          <a:p>
            <a:pPr marL="12700" marR="1011555">
              <a:lnSpc>
                <a:spcPct val="173600"/>
              </a:lnSpc>
              <a:spcBef>
                <a:spcPts val="300"/>
              </a:spcBef>
              <a:tabLst>
                <a:tab pos="5208270" algn="l"/>
              </a:tabLst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text-align, vertical-align: Alignment: </a:t>
            </a:r>
            <a:r>
              <a:rPr sz="1800" spc="-5" dirty="0">
                <a:latin typeface="Consolas"/>
                <a:cs typeface="Consolas"/>
              </a:rPr>
              <a:t>center, left, right 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cursor </a:t>
            </a:r>
            <a:r>
              <a:rPr sz="1800" dirty="0">
                <a:solidFill>
                  <a:srgbClr val="595959"/>
                </a:solidFill>
                <a:latin typeface="Consolas"/>
                <a:cs typeface="Consolas"/>
              </a:rPr>
              <a:t>-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Set the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cursor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when over</a:t>
            </a:r>
            <a:r>
              <a:rPr sz="1800" spc="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element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(e.g.	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help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)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CSS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14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54940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Element </a:t>
            </a:r>
            <a:r>
              <a:rPr dirty="0"/>
              <a:t>visibility control</a:t>
            </a:r>
            <a:r>
              <a:rPr spc="-95" dirty="0"/>
              <a:t> </a:t>
            </a:r>
            <a:r>
              <a:rPr spc="-5" dirty="0"/>
              <a:t>properties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176350"/>
            <a:ext cx="7485380" cy="2663825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14"/>
              </a:spcBef>
              <a:tabLst>
                <a:tab pos="1838325" algn="l"/>
              </a:tabLst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display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: </a:t>
            </a:r>
            <a:r>
              <a:rPr sz="1800" spc="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none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;	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-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Element is not displayed and takes no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space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in</a:t>
            </a:r>
            <a:r>
              <a:rPr sz="1800" spc="-7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layout.</a:t>
            </a:r>
            <a:endParaRPr sz="1800">
              <a:latin typeface="Arial"/>
              <a:cs typeface="Arial"/>
            </a:endParaRPr>
          </a:p>
          <a:p>
            <a:pPr marL="12700" marR="1081405">
              <a:lnSpc>
                <a:spcPct val="114599"/>
              </a:lnSpc>
              <a:tabLst>
                <a:tab pos="2018030" algn="l"/>
              </a:tabLst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display: inline; </a:t>
            </a:r>
            <a:r>
              <a:rPr sz="1800" dirty="0">
                <a:solidFill>
                  <a:srgbClr val="595959"/>
                </a:solidFill>
                <a:latin typeface="Consolas"/>
                <a:cs typeface="Consolas"/>
              </a:rPr>
              <a:t>-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Element is treated as an inline element. 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display: block; </a:t>
            </a:r>
            <a:r>
              <a:rPr sz="1800" dirty="0">
                <a:solidFill>
                  <a:srgbClr val="595959"/>
                </a:solidFill>
                <a:latin typeface="Consolas"/>
                <a:cs typeface="Consolas"/>
              </a:rPr>
              <a:t>-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Element is treated as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block element. 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display: flex;	</a:t>
            </a:r>
            <a:r>
              <a:rPr sz="1800" dirty="0">
                <a:solidFill>
                  <a:srgbClr val="595959"/>
                </a:solidFill>
                <a:latin typeface="Consolas"/>
                <a:cs typeface="Consolas"/>
              </a:rPr>
              <a:t>-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Element is treated as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flex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container. 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display: grid;	</a:t>
            </a:r>
            <a:r>
              <a:rPr sz="1800" dirty="0">
                <a:solidFill>
                  <a:srgbClr val="595959"/>
                </a:solidFill>
                <a:latin typeface="Consolas"/>
                <a:cs typeface="Consolas"/>
              </a:rPr>
              <a:t>-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Element is treated as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grid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container.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75"/>
              </a:spcBef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visibility: hidden; </a:t>
            </a:r>
            <a:r>
              <a:rPr sz="1800" dirty="0">
                <a:solidFill>
                  <a:srgbClr val="595959"/>
                </a:solidFill>
                <a:latin typeface="Consolas"/>
                <a:cs typeface="Consolas"/>
              </a:rPr>
              <a:t>-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Element is hidden but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space still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 allocated.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visibility: visible; </a:t>
            </a:r>
            <a:r>
              <a:rPr sz="1800" dirty="0">
                <a:solidFill>
                  <a:srgbClr val="595959"/>
                </a:solidFill>
                <a:latin typeface="Consolas"/>
                <a:cs typeface="Consolas"/>
              </a:rPr>
              <a:t>-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Element is normally</a:t>
            </a:r>
            <a:r>
              <a:rPr sz="1800" spc="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displayed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CSS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15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377317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Flexbox and Grid</a:t>
            </a:r>
            <a:r>
              <a:rPr spc="-95" dirty="0"/>
              <a:t> </a:t>
            </a:r>
            <a:r>
              <a:rPr spc="-5" dirty="0"/>
              <a:t>layout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16355"/>
            <a:ext cx="8172450" cy="2979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100"/>
              </a:spcBef>
              <a:buFont typeface="Arial"/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Display:flex;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(Flexbox)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and display:grid;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(Grid)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new layout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methods</a:t>
            </a:r>
            <a:endParaRPr sz="18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1305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Items flex to fill additional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space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and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shrink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to fit into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smaller</a:t>
            </a:r>
            <a:r>
              <a:rPr sz="14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spaces.</a:t>
            </a:r>
            <a:endParaRPr sz="14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Useful for web app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layout:</a:t>
            </a:r>
            <a:endParaRPr sz="1400">
              <a:latin typeface="Arial"/>
              <a:cs typeface="Arial"/>
            </a:endParaRPr>
          </a:p>
          <a:p>
            <a:pPr marL="1293495" lvl="2" indent="-336550">
              <a:lnSpc>
                <a:spcPct val="100000"/>
              </a:lnSpc>
              <a:spcBef>
                <a:spcPts val="270"/>
              </a:spcBef>
              <a:buChar char="■"/>
              <a:tabLst>
                <a:tab pos="1293495" algn="l"/>
                <a:tab pos="12941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Divide up the available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space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equally among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bunch of</a:t>
            </a:r>
            <a:r>
              <a:rPr sz="14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elements</a:t>
            </a:r>
            <a:endParaRPr sz="1400">
              <a:latin typeface="Arial"/>
              <a:cs typeface="Arial"/>
            </a:endParaRPr>
          </a:p>
          <a:p>
            <a:pPr marL="1293495" lvl="2" indent="-336550">
              <a:lnSpc>
                <a:spcPct val="100000"/>
              </a:lnSpc>
              <a:spcBef>
                <a:spcPts val="270"/>
              </a:spcBef>
              <a:buChar char="■"/>
              <a:tabLst>
                <a:tab pos="1293495" algn="l"/>
                <a:tab pos="12941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Align of different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sizes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easily</a:t>
            </a:r>
            <a:endParaRPr sz="1400">
              <a:latin typeface="Arial"/>
              <a:cs typeface="Arial"/>
            </a:endParaRPr>
          </a:p>
          <a:p>
            <a:pPr marL="1293495" lvl="2" indent="-336550">
              <a:lnSpc>
                <a:spcPct val="100000"/>
              </a:lnSpc>
              <a:spcBef>
                <a:spcPts val="270"/>
              </a:spcBef>
              <a:buChar char="■"/>
              <a:tabLst>
                <a:tab pos="1293495" algn="l"/>
                <a:tab pos="12941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Key to handling different window and display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sizes</a:t>
            </a:r>
            <a:endParaRPr sz="1400">
              <a:latin typeface="Arial"/>
              <a:cs typeface="Arial"/>
            </a:endParaRPr>
          </a:p>
          <a:p>
            <a:pPr marL="379095" indent="-367030">
              <a:lnSpc>
                <a:spcPct val="100000"/>
              </a:lnSpc>
              <a:spcBef>
                <a:spcPts val="125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Flexbox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-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Layout one dimension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(row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or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column)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of</a:t>
            </a:r>
            <a:r>
              <a:rPr sz="1800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elements</a:t>
            </a:r>
            <a:endParaRPr sz="1800">
              <a:latin typeface="Arial"/>
              <a:cs typeface="Arial"/>
            </a:endParaRPr>
          </a:p>
          <a:p>
            <a:pPr marL="379095" indent="-367030">
              <a:lnSpc>
                <a:spcPct val="100000"/>
              </a:lnSpc>
              <a:spcBef>
                <a:spcPts val="129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Grid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-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Layout in two dimensions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(rows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and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columns)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of</a:t>
            </a:r>
            <a:r>
              <a:rPr sz="1800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elements</a:t>
            </a:r>
            <a:endParaRPr sz="1800">
              <a:latin typeface="Arial"/>
              <a:cs typeface="Arial"/>
            </a:endParaRPr>
          </a:p>
          <a:p>
            <a:pPr marL="379095" indent="-367030">
              <a:lnSpc>
                <a:spcPct val="100000"/>
              </a:lnSpc>
              <a:spcBef>
                <a:spcPts val="129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Covered in discussion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section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CSS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16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379539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Some </a:t>
            </a:r>
            <a:r>
              <a:rPr spc="-5" dirty="0"/>
              <a:t>other CSS</a:t>
            </a:r>
            <a:r>
              <a:rPr spc="-80" dirty="0"/>
              <a:t> </a:t>
            </a:r>
            <a:r>
              <a:rPr spc="-5" dirty="0"/>
              <a:t>issues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162308"/>
            <a:ext cx="6358255" cy="1752600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52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Inheritance</a:t>
            </a:r>
            <a:endParaRPr sz="18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Some properties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(e.g. 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font-size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) are inherited from parent</a:t>
            </a:r>
            <a:r>
              <a:rPr sz="1400" spc="-6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elements</a:t>
            </a:r>
            <a:endParaRPr sz="14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Others (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border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, 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background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) are not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inherited.</a:t>
            </a:r>
            <a:endParaRPr sz="1400">
              <a:latin typeface="Arial"/>
              <a:cs typeface="Arial"/>
            </a:endParaRPr>
          </a:p>
          <a:p>
            <a:pPr marL="379095" indent="-367030">
              <a:lnSpc>
                <a:spcPct val="100000"/>
              </a:lnSpc>
              <a:spcBef>
                <a:spcPts val="125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Multiple rule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matches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buClr>
                <a:srgbClr val="595959"/>
              </a:buClr>
              <a:buFont typeface="Arial"/>
              <a:buChar char="●"/>
            </a:pPr>
            <a:endParaRPr sz="1700">
              <a:latin typeface="Times New Roman"/>
              <a:cs typeface="Times New Roman"/>
            </a:endParaRPr>
          </a:p>
          <a:p>
            <a:pPr marL="836294" lvl="1" indent="-336550">
              <a:lnSpc>
                <a:spcPct val="100000"/>
              </a:lnSpc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General idea: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most specific rule</a:t>
            </a:r>
            <a:r>
              <a:rPr sz="14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wins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99125" y="3081351"/>
            <a:ext cx="3919220" cy="654050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14"/>
              </a:spcBef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&lt;span&gt;</a:t>
            </a:r>
            <a:r>
              <a:rPr sz="1800" spc="-5" dirty="0">
                <a:solidFill>
                  <a:srgbClr val="FF0000"/>
                </a:solidFill>
                <a:latin typeface="Consolas"/>
                <a:cs typeface="Consolas"/>
              </a:rPr>
              <a:t>Text1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&lt;/span&gt;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&lt;span</a:t>
            </a:r>
            <a:r>
              <a:rPr sz="1800" spc="-5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class="test"&gt;</a:t>
            </a:r>
            <a:r>
              <a:rPr sz="1800" spc="-5" dirty="0">
                <a:solidFill>
                  <a:srgbClr val="00FF00"/>
                </a:solidFill>
                <a:latin typeface="Consolas"/>
                <a:cs typeface="Consolas"/>
              </a:rPr>
              <a:t>Text2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&lt;/span&gt;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441407" y="3081351"/>
            <a:ext cx="3284854" cy="654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604" marR="5080" indent="-2540">
              <a:lnSpc>
                <a:spcPct val="114599"/>
              </a:lnSpc>
              <a:spcBef>
                <a:spcPts val="100"/>
              </a:spcBef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span.test </a:t>
            </a:r>
            <a:r>
              <a:rPr sz="1800" dirty="0">
                <a:solidFill>
                  <a:srgbClr val="595959"/>
                </a:solidFill>
                <a:latin typeface="Consolas"/>
                <a:cs typeface="Consolas"/>
              </a:rPr>
              <a:t>{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color: green</a:t>
            </a:r>
            <a:r>
              <a:rPr sz="1800" spc="-9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595959"/>
                </a:solidFill>
                <a:latin typeface="Consolas"/>
                <a:cs typeface="Consolas"/>
              </a:rPr>
              <a:t>} 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span </a:t>
            </a:r>
            <a:r>
              <a:rPr sz="1800" dirty="0">
                <a:solidFill>
                  <a:srgbClr val="595959"/>
                </a:solidFill>
                <a:latin typeface="Consolas"/>
                <a:cs typeface="Consolas"/>
              </a:rPr>
              <a:t>{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color: red</a:t>
            </a:r>
            <a:r>
              <a:rPr sz="1800" spc="-4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595959"/>
                </a:solidFill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365125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Adding Styles </a:t>
            </a:r>
            <a:r>
              <a:rPr spc="-5" dirty="0"/>
              <a:t>to</a:t>
            </a:r>
            <a:r>
              <a:rPr spc="-80" dirty="0"/>
              <a:t> </a:t>
            </a:r>
            <a:r>
              <a:rPr spc="-5" dirty="0"/>
              <a:t>HTML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>
                <a:latin typeface="Arial"/>
                <a:cs typeface="Arial"/>
              </a:rPr>
              <a:t>&lt;</a:t>
            </a:r>
            <a:r>
              <a:rPr spc="-5" dirty="0"/>
              <a:t>head&gt;</a:t>
            </a:r>
          </a:p>
          <a:p>
            <a:pPr marL="263525">
              <a:lnSpc>
                <a:spcPct val="100000"/>
              </a:lnSpc>
              <a:spcBef>
                <a:spcPts val="15"/>
              </a:spcBef>
            </a:pPr>
            <a:r>
              <a:rPr spc="-5" dirty="0">
                <a:solidFill>
                  <a:srgbClr val="FF0000"/>
                </a:solidFill>
              </a:rPr>
              <a:t>&lt;link rel="stylesheet" type="text/css" href="myStyles.css"</a:t>
            </a:r>
            <a:r>
              <a:rPr spc="-85" dirty="0">
                <a:solidFill>
                  <a:srgbClr val="FF0000"/>
                </a:solidFill>
              </a:rPr>
              <a:t> </a:t>
            </a:r>
            <a:r>
              <a:rPr spc="-5" dirty="0">
                <a:solidFill>
                  <a:srgbClr val="FF0000"/>
                </a:solidFill>
              </a:rPr>
              <a:t>/&gt;</a:t>
            </a:r>
          </a:p>
          <a:p>
            <a:pPr marL="514984" marR="4765040" indent="-252095">
              <a:lnSpc>
                <a:spcPct val="100699"/>
              </a:lnSpc>
            </a:pPr>
            <a:r>
              <a:rPr spc="-5" dirty="0"/>
              <a:t>&lt;style</a:t>
            </a:r>
            <a:r>
              <a:rPr spc="-95" dirty="0"/>
              <a:t> </a:t>
            </a:r>
            <a:r>
              <a:rPr spc="-5" dirty="0"/>
              <a:t>type="text/css"&gt;  </a:t>
            </a:r>
            <a:r>
              <a:rPr spc="-5" dirty="0">
                <a:solidFill>
                  <a:srgbClr val="A52A2A"/>
                </a:solidFill>
              </a:rPr>
              <a:t>body</a:t>
            </a:r>
            <a:r>
              <a:rPr spc="-10" dirty="0">
                <a:solidFill>
                  <a:srgbClr val="A52A2A"/>
                </a:solidFill>
              </a:rPr>
              <a:t> </a:t>
            </a:r>
            <a:r>
              <a:rPr dirty="0"/>
              <a:t>{</a:t>
            </a:r>
          </a:p>
          <a:p>
            <a:pPr marL="1017905">
              <a:lnSpc>
                <a:spcPct val="100000"/>
              </a:lnSpc>
              <a:spcBef>
                <a:spcPts val="15"/>
              </a:spcBef>
            </a:pPr>
            <a:r>
              <a:rPr spc="-5" dirty="0">
                <a:solidFill>
                  <a:srgbClr val="FF0000"/>
                </a:solidFill>
              </a:rPr>
              <a:t>font-family</a:t>
            </a:r>
            <a:r>
              <a:rPr spc="-5" dirty="0"/>
              <a:t>: </a:t>
            </a:r>
            <a:r>
              <a:rPr spc="-5" dirty="0">
                <a:solidFill>
                  <a:srgbClr val="0000FF"/>
                </a:solidFill>
              </a:rPr>
              <a:t>Tahoma, Arial,</a:t>
            </a:r>
            <a:r>
              <a:rPr spc="-15" dirty="0">
                <a:solidFill>
                  <a:srgbClr val="0000FF"/>
                </a:solidFill>
              </a:rPr>
              <a:t> </a:t>
            </a:r>
            <a:r>
              <a:rPr dirty="0">
                <a:solidFill>
                  <a:srgbClr val="0000FF"/>
                </a:solidFill>
              </a:rPr>
              <a:t>sans-serif</a:t>
            </a:r>
            <a:r>
              <a:rPr dirty="0"/>
              <a:t>;</a:t>
            </a:r>
          </a:p>
          <a:p>
            <a:pPr marL="514350">
              <a:lnSpc>
                <a:spcPct val="100000"/>
              </a:lnSpc>
              <a:spcBef>
                <a:spcPts val="15"/>
              </a:spcBef>
            </a:pPr>
            <a:r>
              <a:rPr dirty="0"/>
              <a:t>}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84725" y="2873706"/>
            <a:ext cx="1280795" cy="8521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3525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&lt;/style&gt;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&lt;/head&gt;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&lt;body&gt;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4725" y="3702380"/>
            <a:ext cx="4173220" cy="5759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3525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&lt;div </a:t>
            </a:r>
            <a:r>
              <a:rPr sz="1800" spc="-5" dirty="0">
                <a:solidFill>
                  <a:srgbClr val="FF0000"/>
                </a:solidFill>
                <a:latin typeface="Consolas"/>
                <a:cs typeface="Consolas"/>
              </a:rPr>
              <a:t>style="padding:2px; ...</a:t>
            </a:r>
            <a:r>
              <a:rPr sz="1800" spc="-70" dirty="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1800" spc="30" dirty="0">
                <a:solidFill>
                  <a:srgbClr val="FF0000"/>
                </a:solidFill>
                <a:latin typeface="Consolas"/>
                <a:cs typeface="Consolas"/>
              </a:rPr>
              <a:t>"</a:t>
            </a:r>
            <a:r>
              <a:rPr sz="1800" spc="30" dirty="0">
                <a:solidFill>
                  <a:srgbClr val="595959"/>
                </a:solidFill>
                <a:latin typeface="Consolas"/>
                <a:cs typeface="Consolas"/>
              </a:rPr>
              <a:t>&gt;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&lt;/body&gt;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863974" y="484549"/>
            <a:ext cx="3420110" cy="626110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7620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600"/>
              </a:spcBef>
            </a:pPr>
            <a:r>
              <a:rPr sz="1800" spc="-5" dirty="0">
                <a:latin typeface="Arial"/>
                <a:cs typeface="Arial"/>
              </a:rPr>
              <a:t>Separate </a:t>
            </a:r>
            <a:r>
              <a:rPr sz="1800" dirty="0">
                <a:latin typeface="Arial"/>
                <a:cs typeface="Arial"/>
              </a:rPr>
              <a:t>style sheet (best</a:t>
            </a:r>
            <a:r>
              <a:rPr sz="1800" spc="-8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way)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540312" y="1080875"/>
            <a:ext cx="323850" cy="353695"/>
          </a:xfrm>
          <a:custGeom>
            <a:avLst/>
            <a:gdLst/>
            <a:ahLst/>
            <a:cxnLst/>
            <a:rect l="l" t="t" r="r" b="b"/>
            <a:pathLst>
              <a:path w="323850" h="353694">
                <a:moveTo>
                  <a:pt x="323637" y="0"/>
                </a:moveTo>
                <a:lnTo>
                  <a:pt x="0" y="353676"/>
                </a:lnTo>
              </a:path>
            </a:pathLst>
          </a:custGeom>
          <a:ln w="19049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472425" y="1403784"/>
            <a:ext cx="100624" cy="10407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416700" y="2916525"/>
            <a:ext cx="2525395" cy="438150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7620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600"/>
              </a:spcBef>
            </a:pPr>
            <a:r>
              <a:rPr sz="1800" spc="-5" dirty="0">
                <a:latin typeface="Arial"/>
                <a:cs typeface="Arial"/>
              </a:rPr>
              <a:t>Page-specific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styles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531901" y="2705488"/>
            <a:ext cx="885190" cy="430530"/>
          </a:xfrm>
          <a:custGeom>
            <a:avLst/>
            <a:gdLst/>
            <a:ahLst/>
            <a:cxnLst/>
            <a:rect l="l" t="t" r="r" b="b"/>
            <a:pathLst>
              <a:path w="885189" h="430530">
                <a:moveTo>
                  <a:pt x="884798" y="430035"/>
                </a:moveTo>
                <a:lnTo>
                  <a:pt x="0" y="0"/>
                </a:lnTo>
              </a:path>
            </a:pathLst>
          </a:custGeom>
          <a:ln w="19049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444622" y="2658173"/>
            <a:ext cx="110558" cy="851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5283274" y="4137174"/>
            <a:ext cx="2674620" cy="480059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7620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600"/>
              </a:spcBef>
            </a:pPr>
            <a:r>
              <a:rPr sz="1800" spc="-5" dirty="0">
                <a:latin typeface="Arial"/>
                <a:cs typeface="Arial"/>
              </a:rPr>
              <a:t>Element-specific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styles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746488" y="4110235"/>
            <a:ext cx="1537335" cy="267335"/>
          </a:xfrm>
          <a:custGeom>
            <a:avLst/>
            <a:gdLst/>
            <a:ahLst/>
            <a:cxnLst/>
            <a:rect l="l" t="t" r="r" b="b"/>
            <a:pathLst>
              <a:path w="1537335" h="267335">
                <a:moveTo>
                  <a:pt x="1536786" y="266938"/>
                </a:moveTo>
                <a:lnTo>
                  <a:pt x="0" y="0"/>
                </a:lnTo>
              </a:path>
            </a:pathLst>
          </a:custGeom>
          <a:ln w="19049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651788" y="4069709"/>
            <a:ext cx="109610" cy="8105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CSS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17</a:t>
            </a:fld>
            <a:endParaRPr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747457" y="4766045"/>
            <a:ext cx="161290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" dirty="0">
                <a:solidFill>
                  <a:srgbClr val="595959"/>
                </a:solidFill>
                <a:latin typeface="Arial"/>
                <a:cs typeface="Arial"/>
              </a:rPr>
              <a:t>CS142 Lecture Notes </a:t>
            </a:r>
            <a:r>
              <a:rPr sz="1000" dirty="0">
                <a:solidFill>
                  <a:srgbClr val="595959"/>
                </a:solidFill>
                <a:latin typeface="Arial"/>
                <a:cs typeface="Arial"/>
              </a:rPr>
              <a:t>-</a:t>
            </a:r>
            <a:r>
              <a:rPr sz="1000" spc="-8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595959"/>
                </a:solidFill>
                <a:latin typeface="Arial"/>
                <a:cs typeface="Arial"/>
              </a:rPr>
              <a:t>CSS</a:t>
            </a:r>
            <a:endParaRPr sz="10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11699" y="181224"/>
            <a:ext cx="4210685" cy="4387850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7874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620"/>
              </a:spcBef>
            </a:pPr>
            <a:r>
              <a:rPr sz="1400" spc="-5" dirty="0">
                <a:solidFill>
                  <a:srgbClr val="A52A2A"/>
                </a:solidFill>
                <a:latin typeface="Consolas"/>
                <a:cs typeface="Consolas"/>
              </a:rPr>
              <a:t>body </a:t>
            </a:r>
            <a:r>
              <a:rPr sz="1400" dirty="0">
                <a:latin typeface="Consolas"/>
                <a:cs typeface="Consolas"/>
              </a:rPr>
              <a:t>{</a:t>
            </a:r>
            <a:endParaRPr sz="1400">
              <a:latin typeface="Consolas"/>
              <a:cs typeface="Consolas"/>
            </a:endParaRPr>
          </a:p>
          <a:p>
            <a:pPr marL="280670" marR="111125">
              <a:lnSpc>
                <a:spcPct val="116100"/>
              </a:lnSpc>
            </a:pPr>
            <a:r>
              <a:rPr sz="1400" spc="-5" dirty="0">
                <a:solidFill>
                  <a:srgbClr val="DC143C"/>
                </a:solidFill>
                <a:latin typeface="Consolas"/>
                <a:cs typeface="Consolas"/>
              </a:rPr>
              <a:t>font-family</a:t>
            </a:r>
            <a:r>
              <a:rPr sz="1400" spc="-5" dirty="0">
                <a:latin typeface="Consolas"/>
                <a:cs typeface="Consolas"/>
              </a:rPr>
              <a:t>: </a:t>
            </a:r>
            <a:r>
              <a:rPr sz="1400" spc="-5" dirty="0">
                <a:solidFill>
                  <a:srgbClr val="0077AA"/>
                </a:solidFill>
                <a:latin typeface="Consolas"/>
                <a:cs typeface="Consolas"/>
              </a:rPr>
              <a:t>Tahoma</a:t>
            </a:r>
            <a:r>
              <a:rPr sz="1400" spc="-5" dirty="0">
                <a:latin typeface="Consolas"/>
                <a:cs typeface="Consolas"/>
              </a:rPr>
              <a:t>, </a:t>
            </a:r>
            <a:r>
              <a:rPr sz="1400" spc="-5" dirty="0">
                <a:solidFill>
                  <a:srgbClr val="0077AA"/>
                </a:solidFill>
                <a:latin typeface="Consolas"/>
                <a:cs typeface="Consolas"/>
              </a:rPr>
              <a:t>Arial</a:t>
            </a:r>
            <a:r>
              <a:rPr sz="1400" spc="-5" dirty="0">
                <a:latin typeface="Consolas"/>
                <a:cs typeface="Consolas"/>
              </a:rPr>
              <a:t>, </a:t>
            </a:r>
            <a:r>
              <a:rPr sz="1400" spc="-5" dirty="0">
                <a:solidFill>
                  <a:srgbClr val="0077AA"/>
                </a:solidFill>
                <a:latin typeface="Consolas"/>
                <a:cs typeface="Consolas"/>
              </a:rPr>
              <a:t>sans-serif</a:t>
            </a:r>
            <a:r>
              <a:rPr sz="1400" spc="-5" dirty="0">
                <a:latin typeface="Consolas"/>
                <a:cs typeface="Consolas"/>
              </a:rPr>
              <a:t>;  </a:t>
            </a:r>
            <a:r>
              <a:rPr sz="1400" spc="-5" dirty="0">
                <a:solidFill>
                  <a:srgbClr val="DC143C"/>
                </a:solidFill>
                <a:latin typeface="Consolas"/>
                <a:cs typeface="Consolas"/>
              </a:rPr>
              <a:t>font-size</a:t>
            </a:r>
            <a:r>
              <a:rPr sz="1400" spc="-5" dirty="0">
                <a:latin typeface="Consolas"/>
                <a:cs typeface="Consolas"/>
              </a:rPr>
              <a:t>:</a:t>
            </a:r>
            <a:r>
              <a:rPr sz="1400" spc="-10" dirty="0">
                <a:latin typeface="Consolas"/>
                <a:cs typeface="Consolas"/>
              </a:rPr>
              <a:t> </a:t>
            </a:r>
            <a:r>
              <a:rPr sz="1400" spc="-5" dirty="0">
                <a:solidFill>
                  <a:srgbClr val="0077AA"/>
                </a:solidFill>
                <a:latin typeface="Consolas"/>
                <a:cs typeface="Consolas"/>
              </a:rPr>
              <a:t>13px</a:t>
            </a:r>
            <a:r>
              <a:rPr sz="1400" spc="-5" dirty="0">
                <a:latin typeface="Consolas"/>
                <a:cs typeface="Consolas"/>
              </a:rPr>
              <a:t>;</a:t>
            </a:r>
            <a:endParaRPr sz="1400">
              <a:latin typeface="Consolas"/>
              <a:cs typeface="Consolas"/>
            </a:endParaRPr>
          </a:p>
          <a:p>
            <a:pPr marL="280670" marR="2162810">
              <a:lnSpc>
                <a:spcPct val="116100"/>
              </a:lnSpc>
            </a:pPr>
            <a:r>
              <a:rPr sz="1400" spc="-5" dirty="0">
                <a:solidFill>
                  <a:srgbClr val="DC143C"/>
                </a:solidFill>
                <a:latin typeface="Consolas"/>
                <a:cs typeface="Consolas"/>
              </a:rPr>
              <a:t>color</a:t>
            </a:r>
            <a:r>
              <a:rPr sz="1400" spc="-5" dirty="0">
                <a:latin typeface="Consolas"/>
                <a:cs typeface="Consolas"/>
              </a:rPr>
              <a:t>: </a:t>
            </a:r>
            <a:r>
              <a:rPr sz="1400" spc="-5" dirty="0">
                <a:solidFill>
                  <a:srgbClr val="0077AA"/>
                </a:solidFill>
                <a:latin typeface="Consolas"/>
                <a:cs typeface="Consolas"/>
              </a:rPr>
              <a:t>black</a:t>
            </a:r>
            <a:r>
              <a:rPr sz="1400" spc="-5" dirty="0">
                <a:latin typeface="Consolas"/>
                <a:cs typeface="Consolas"/>
              </a:rPr>
              <a:t>;  </a:t>
            </a:r>
            <a:r>
              <a:rPr sz="1400" spc="-5" dirty="0">
                <a:solidFill>
                  <a:srgbClr val="DC143C"/>
                </a:solidFill>
                <a:latin typeface="Consolas"/>
                <a:cs typeface="Consolas"/>
              </a:rPr>
              <a:t>background</a:t>
            </a:r>
            <a:r>
              <a:rPr sz="1400" spc="-5" dirty="0">
                <a:latin typeface="Consolas"/>
                <a:cs typeface="Consolas"/>
              </a:rPr>
              <a:t>:</a:t>
            </a:r>
            <a:r>
              <a:rPr sz="1400" spc="-75" dirty="0">
                <a:latin typeface="Consolas"/>
                <a:cs typeface="Consolas"/>
              </a:rPr>
              <a:t> </a:t>
            </a:r>
            <a:r>
              <a:rPr sz="1400" spc="-5" dirty="0">
                <a:solidFill>
                  <a:srgbClr val="0077AA"/>
                </a:solidFill>
                <a:latin typeface="Consolas"/>
                <a:cs typeface="Consolas"/>
              </a:rPr>
              <a:t>white</a:t>
            </a:r>
            <a:r>
              <a:rPr sz="1400" spc="-5" dirty="0">
                <a:latin typeface="Consolas"/>
                <a:cs typeface="Consolas"/>
              </a:rPr>
              <a:t>;  </a:t>
            </a:r>
            <a:r>
              <a:rPr sz="1400" spc="-5" dirty="0">
                <a:solidFill>
                  <a:srgbClr val="DC143C"/>
                </a:solidFill>
                <a:latin typeface="Consolas"/>
                <a:cs typeface="Consolas"/>
              </a:rPr>
              <a:t>margin</a:t>
            </a:r>
            <a:r>
              <a:rPr sz="1400" spc="-5" dirty="0">
                <a:latin typeface="Consolas"/>
                <a:cs typeface="Consolas"/>
              </a:rPr>
              <a:t>:</a:t>
            </a:r>
            <a:r>
              <a:rPr sz="1400" spc="-20" dirty="0">
                <a:latin typeface="Consolas"/>
                <a:cs typeface="Consolas"/>
              </a:rPr>
              <a:t> </a:t>
            </a:r>
            <a:r>
              <a:rPr sz="1400" spc="-5" dirty="0">
                <a:solidFill>
                  <a:srgbClr val="0077AA"/>
                </a:solidFill>
                <a:latin typeface="Consolas"/>
                <a:cs typeface="Consolas"/>
              </a:rPr>
              <a:t>8px</a:t>
            </a:r>
            <a:r>
              <a:rPr sz="1400" spc="-5" dirty="0">
                <a:latin typeface="Consolas"/>
                <a:cs typeface="Consolas"/>
              </a:rPr>
              <a:t>;</a:t>
            </a:r>
            <a:endParaRPr sz="1400">
              <a:latin typeface="Consolas"/>
              <a:cs typeface="Consolas"/>
            </a:endParaRPr>
          </a:p>
          <a:p>
            <a:pPr marL="85725">
              <a:lnSpc>
                <a:spcPct val="100000"/>
              </a:lnSpc>
              <a:spcBef>
                <a:spcPts val="265"/>
              </a:spcBef>
            </a:pPr>
            <a:r>
              <a:rPr sz="1400" dirty="0">
                <a:latin typeface="Consolas"/>
                <a:cs typeface="Consolas"/>
              </a:rPr>
              <a:t>}</a:t>
            </a:r>
            <a:endParaRPr sz="1400">
              <a:latin typeface="Consolas"/>
              <a:cs typeface="Consolas"/>
            </a:endParaRPr>
          </a:p>
          <a:p>
            <a:pPr marL="85725">
              <a:lnSpc>
                <a:spcPct val="100000"/>
              </a:lnSpc>
              <a:spcBef>
                <a:spcPts val="270"/>
              </a:spcBef>
            </a:pPr>
            <a:r>
              <a:rPr sz="1400" spc="-5" dirty="0">
                <a:solidFill>
                  <a:srgbClr val="A52A2A"/>
                </a:solidFill>
                <a:latin typeface="Consolas"/>
                <a:cs typeface="Consolas"/>
              </a:rPr>
              <a:t>h1</a:t>
            </a:r>
            <a:r>
              <a:rPr sz="1400" spc="-10" dirty="0">
                <a:solidFill>
                  <a:srgbClr val="A52A2A"/>
                </a:solidFill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{</a:t>
            </a:r>
            <a:endParaRPr sz="1400">
              <a:latin typeface="Consolas"/>
              <a:cs typeface="Consolas"/>
            </a:endParaRPr>
          </a:p>
          <a:p>
            <a:pPr marL="280670" marR="2065020">
              <a:lnSpc>
                <a:spcPct val="116100"/>
              </a:lnSpc>
            </a:pPr>
            <a:r>
              <a:rPr sz="1400" spc="-5" dirty="0">
                <a:solidFill>
                  <a:srgbClr val="DC143C"/>
                </a:solidFill>
                <a:latin typeface="Consolas"/>
                <a:cs typeface="Consolas"/>
              </a:rPr>
              <a:t>font-size</a:t>
            </a:r>
            <a:r>
              <a:rPr sz="1400" spc="-5" dirty="0">
                <a:latin typeface="Consolas"/>
                <a:cs typeface="Consolas"/>
              </a:rPr>
              <a:t>: </a:t>
            </a:r>
            <a:r>
              <a:rPr sz="1400" spc="-5" dirty="0">
                <a:solidFill>
                  <a:srgbClr val="0077AA"/>
                </a:solidFill>
                <a:latin typeface="Consolas"/>
                <a:cs typeface="Consolas"/>
              </a:rPr>
              <a:t>19px</a:t>
            </a:r>
            <a:r>
              <a:rPr sz="1400" spc="-5" dirty="0">
                <a:latin typeface="Consolas"/>
                <a:cs typeface="Consolas"/>
              </a:rPr>
              <a:t>;  </a:t>
            </a:r>
            <a:r>
              <a:rPr sz="1400" spc="-5" dirty="0">
                <a:solidFill>
                  <a:srgbClr val="DC143C"/>
                </a:solidFill>
                <a:latin typeface="Consolas"/>
                <a:cs typeface="Consolas"/>
              </a:rPr>
              <a:t>margin-top</a:t>
            </a:r>
            <a:r>
              <a:rPr sz="1400" spc="-5" dirty="0">
                <a:latin typeface="Consolas"/>
                <a:cs typeface="Consolas"/>
              </a:rPr>
              <a:t>: </a:t>
            </a:r>
            <a:r>
              <a:rPr sz="1400" spc="-5" dirty="0">
                <a:solidFill>
                  <a:srgbClr val="0077AA"/>
                </a:solidFill>
                <a:latin typeface="Consolas"/>
                <a:cs typeface="Consolas"/>
              </a:rPr>
              <a:t>0px</a:t>
            </a:r>
            <a:r>
              <a:rPr sz="1400" spc="-5" dirty="0">
                <a:latin typeface="Consolas"/>
                <a:cs typeface="Consolas"/>
              </a:rPr>
              <a:t>;  </a:t>
            </a:r>
            <a:r>
              <a:rPr sz="1400" spc="-5" dirty="0">
                <a:solidFill>
                  <a:srgbClr val="DC143C"/>
                </a:solidFill>
                <a:latin typeface="Consolas"/>
                <a:cs typeface="Consolas"/>
              </a:rPr>
              <a:t>margin-bottom</a:t>
            </a:r>
            <a:r>
              <a:rPr sz="1400" spc="-5" dirty="0">
                <a:latin typeface="Consolas"/>
                <a:cs typeface="Consolas"/>
              </a:rPr>
              <a:t>:</a:t>
            </a:r>
            <a:r>
              <a:rPr sz="1400" spc="-75" dirty="0">
                <a:latin typeface="Consolas"/>
                <a:cs typeface="Consolas"/>
              </a:rPr>
              <a:t> </a:t>
            </a:r>
            <a:r>
              <a:rPr sz="1400" spc="-5" dirty="0">
                <a:solidFill>
                  <a:srgbClr val="0077AA"/>
                </a:solidFill>
                <a:latin typeface="Consolas"/>
                <a:cs typeface="Consolas"/>
              </a:rPr>
              <a:t>5px</a:t>
            </a:r>
            <a:r>
              <a:rPr sz="1400" spc="-5" dirty="0">
                <a:latin typeface="Consolas"/>
                <a:cs typeface="Consolas"/>
              </a:rPr>
              <a:t>;</a:t>
            </a:r>
            <a:endParaRPr sz="1400">
              <a:latin typeface="Consolas"/>
              <a:cs typeface="Consolas"/>
            </a:endParaRPr>
          </a:p>
          <a:p>
            <a:pPr marL="280670">
              <a:lnSpc>
                <a:spcPct val="100000"/>
              </a:lnSpc>
              <a:spcBef>
                <a:spcPts val="270"/>
              </a:spcBef>
            </a:pPr>
            <a:r>
              <a:rPr sz="1400" spc="-5" dirty="0">
                <a:solidFill>
                  <a:srgbClr val="DC143C"/>
                </a:solidFill>
                <a:latin typeface="Consolas"/>
                <a:cs typeface="Consolas"/>
              </a:rPr>
              <a:t>border-bottom</a:t>
            </a:r>
            <a:r>
              <a:rPr sz="1400" spc="-5" dirty="0">
                <a:latin typeface="Consolas"/>
                <a:cs typeface="Consolas"/>
              </a:rPr>
              <a:t>: </a:t>
            </a:r>
            <a:r>
              <a:rPr sz="1400" spc="-5" dirty="0">
                <a:solidFill>
                  <a:srgbClr val="0077AA"/>
                </a:solidFill>
                <a:latin typeface="Consolas"/>
                <a:cs typeface="Consolas"/>
              </a:rPr>
              <a:t>1px solid</a:t>
            </a:r>
            <a:r>
              <a:rPr sz="1400" spc="-15" dirty="0">
                <a:solidFill>
                  <a:srgbClr val="0077AA"/>
                </a:solidFill>
                <a:latin typeface="Consolas"/>
                <a:cs typeface="Consolas"/>
              </a:rPr>
              <a:t> </a:t>
            </a:r>
            <a:r>
              <a:rPr sz="1400" spc="-5" dirty="0">
                <a:solidFill>
                  <a:srgbClr val="0077AA"/>
                </a:solidFill>
                <a:latin typeface="Consolas"/>
                <a:cs typeface="Consolas"/>
              </a:rPr>
              <a:t>black</a:t>
            </a:r>
            <a:endParaRPr sz="1400">
              <a:latin typeface="Consolas"/>
              <a:cs typeface="Consolas"/>
            </a:endParaRPr>
          </a:p>
          <a:p>
            <a:pPr marL="85725">
              <a:lnSpc>
                <a:spcPct val="100000"/>
              </a:lnSpc>
              <a:spcBef>
                <a:spcPts val="270"/>
              </a:spcBef>
            </a:pPr>
            <a:r>
              <a:rPr sz="1400" dirty="0">
                <a:latin typeface="Consolas"/>
                <a:cs typeface="Consolas"/>
              </a:rPr>
              <a:t>}</a:t>
            </a:r>
            <a:endParaRPr sz="1400">
              <a:latin typeface="Consolas"/>
              <a:cs typeface="Consolas"/>
            </a:endParaRPr>
          </a:p>
          <a:p>
            <a:pPr marL="85725">
              <a:lnSpc>
                <a:spcPct val="100000"/>
              </a:lnSpc>
              <a:spcBef>
                <a:spcPts val="270"/>
              </a:spcBef>
            </a:pPr>
            <a:r>
              <a:rPr sz="1400" spc="-5" dirty="0">
                <a:solidFill>
                  <a:srgbClr val="A52A2A"/>
                </a:solidFill>
                <a:latin typeface="Consolas"/>
                <a:cs typeface="Consolas"/>
              </a:rPr>
              <a:t>.shaded </a:t>
            </a:r>
            <a:r>
              <a:rPr sz="1400" dirty="0">
                <a:latin typeface="Consolas"/>
                <a:cs typeface="Consolas"/>
              </a:rPr>
              <a:t>{</a:t>
            </a:r>
            <a:endParaRPr sz="1400">
              <a:latin typeface="Consolas"/>
              <a:cs typeface="Consolas"/>
            </a:endParaRPr>
          </a:p>
          <a:p>
            <a:pPr marL="280670">
              <a:lnSpc>
                <a:spcPct val="100000"/>
              </a:lnSpc>
              <a:spcBef>
                <a:spcPts val="270"/>
              </a:spcBef>
            </a:pPr>
            <a:r>
              <a:rPr sz="1400" spc="-5" dirty="0">
                <a:solidFill>
                  <a:srgbClr val="DC143C"/>
                </a:solidFill>
                <a:latin typeface="Consolas"/>
                <a:cs typeface="Consolas"/>
              </a:rPr>
              <a:t>background</a:t>
            </a:r>
            <a:r>
              <a:rPr sz="1400" spc="-5" dirty="0">
                <a:latin typeface="Consolas"/>
                <a:cs typeface="Consolas"/>
              </a:rPr>
              <a:t>:</a:t>
            </a:r>
            <a:r>
              <a:rPr sz="1400" spc="-10" dirty="0">
                <a:latin typeface="Consolas"/>
                <a:cs typeface="Consolas"/>
              </a:rPr>
              <a:t> </a:t>
            </a:r>
            <a:r>
              <a:rPr sz="1400" spc="-5" dirty="0">
                <a:solidFill>
                  <a:srgbClr val="0077AA"/>
                </a:solidFill>
                <a:latin typeface="Consolas"/>
                <a:cs typeface="Consolas"/>
              </a:rPr>
              <a:t>#d0d0ff</a:t>
            </a:r>
            <a:r>
              <a:rPr sz="1400" spc="-5" dirty="0">
                <a:latin typeface="Consolas"/>
                <a:cs typeface="Consolas"/>
              </a:rPr>
              <a:t>;</a:t>
            </a:r>
            <a:endParaRPr sz="1400">
              <a:latin typeface="Consolas"/>
              <a:cs typeface="Consolas"/>
            </a:endParaRPr>
          </a:p>
          <a:p>
            <a:pPr marL="85725">
              <a:lnSpc>
                <a:spcPct val="100000"/>
              </a:lnSpc>
              <a:spcBef>
                <a:spcPts val="270"/>
              </a:spcBef>
            </a:pPr>
            <a:r>
              <a:rPr sz="1400" dirty="0">
                <a:latin typeface="Consolas"/>
                <a:cs typeface="Consolas"/>
              </a:rPr>
              <a:t>}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81525" y="4766036"/>
            <a:ext cx="16700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" dirty="0">
                <a:solidFill>
                  <a:srgbClr val="595959"/>
                </a:solidFill>
                <a:latin typeface="Arial"/>
                <a:cs typeface="Arial"/>
              </a:rPr>
              <a:t>18</a:t>
            </a:r>
            <a:endParaRPr sz="1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832399" y="180975"/>
            <a:ext cx="4255135" cy="4387850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7874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620"/>
              </a:spcBef>
            </a:pPr>
            <a:r>
              <a:rPr sz="1300" spc="-5" dirty="0">
                <a:latin typeface="Consolas"/>
                <a:cs typeface="Consolas"/>
              </a:rPr>
              <a:t>&lt;body&gt;</a:t>
            </a:r>
            <a:endParaRPr sz="1300">
              <a:latin typeface="Consolas"/>
              <a:cs typeface="Consolas"/>
            </a:endParaRPr>
          </a:p>
          <a:p>
            <a:pPr marL="266700">
              <a:lnSpc>
                <a:spcPct val="100000"/>
              </a:lnSpc>
              <a:spcBef>
                <a:spcPts val="240"/>
              </a:spcBef>
            </a:pPr>
            <a:r>
              <a:rPr sz="1300" spc="-5" dirty="0">
                <a:latin typeface="Consolas"/>
                <a:cs typeface="Consolas"/>
              </a:rPr>
              <a:t>&lt;h1&gt;First Section</a:t>
            </a:r>
            <a:r>
              <a:rPr sz="1300" spc="-20" dirty="0">
                <a:latin typeface="Consolas"/>
                <a:cs typeface="Consolas"/>
              </a:rPr>
              <a:t> </a:t>
            </a:r>
            <a:r>
              <a:rPr sz="1300" spc="-5" dirty="0">
                <a:latin typeface="Consolas"/>
                <a:cs typeface="Consolas"/>
              </a:rPr>
              <a:t>Heading&lt;/h1&gt;</a:t>
            </a:r>
            <a:endParaRPr sz="1300">
              <a:latin typeface="Consolas"/>
              <a:cs typeface="Consolas"/>
            </a:endParaRPr>
          </a:p>
          <a:p>
            <a:pPr marL="266700">
              <a:lnSpc>
                <a:spcPct val="100000"/>
              </a:lnSpc>
              <a:spcBef>
                <a:spcPts val="240"/>
              </a:spcBef>
            </a:pPr>
            <a:r>
              <a:rPr sz="1300" spc="-5" dirty="0">
                <a:latin typeface="Consolas"/>
                <a:cs typeface="Consolas"/>
              </a:rPr>
              <a:t>&lt;p&gt;</a:t>
            </a:r>
            <a:endParaRPr sz="1300">
              <a:latin typeface="Consolas"/>
              <a:cs typeface="Consolas"/>
            </a:endParaRPr>
          </a:p>
          <a:p>
            <a:pPr marL="447675" marR="266700">
              <a:lnSpc>
                <a:spcPct val="115399"/>
              </a:lnSpc>
            </a:pPr>
            <a:r>
              <a:rPr sz="1300" spc="-5" dirty="0">
                <a:latin typeface="Consolas"/>
                <a:cs typeface="Consolas"/>
              </a:rPr>
              <a:t>Here is the first paragraph, containing  text that really doesn't have any use  or meaning; it just prattles on and on,  with no end whatsoever, no point to  make, really no purpose for existence  at</a:t>
            </a:r>
            <a:r>
              <a:rPr sz="1300" spc="-10" dirty="0">
                <a:latin typeface="Consolas"/>
                <a:cs typeface="Consolas"/>
              </a:rPr>
              <a:t> </a:t>
            </a:r>
            <a:r>
              <a:rPr sz="1300" spc="-5" dirty="0">
                <a:latin typeface="Consolas"/>
                <a:cs typeface="Consolas"/>
              </a:rPr>
              <a:t>all.</a:t>
            </a:r>
            <a:endParaRPr sz="1300">
              <a:latin typeface="Consolas"/>
              <a:cs typeface="Consolas"/>
            </a:endParaRPr>
          </a:p>
          <a:p>
            <a:pPr marL="266700">
              <a:lnSpc>
                <a:spcPct val="100000"/>
              </a:lnSpc>
              <a:spcBef>
                <a:spcPts val="240"/>
              </a:spcBef>
            </a:pPr>
            <a:r>
              <a:rPr sz="1300" spc="-5" dirty="0">
                <a:latin typeface="Consolas"/>
                <a:cs typeface="Consolas"/>
              </a:rPr>
              <a:t>&lt;/p&gt;</a:t>
            </a:r>
            <a:endParaRPr sz="1300">
              <a:latin typeface="Consolas"/>
              <a:cs typeface="Consolas"/>
            </a:endParaRPr>
          </a:p>
          <a:p>
            <a:pPr marL="266700">
              <a:lnSpc>
                <a:spcPct val="100000"/>
              </a:lnSpc>
              <a:spcBef>
                <a:spcPts val="240"/>
              </a:spcBef>
            </a:pPr>
            <a:r>
              <a:rPr sz="1300" spc="-5" dirty="0">
                <a:latin typeface="Consolas"/>
                <a:cs typeface="Consolas"/>
              </a:rPr>
              <a:t>&lt;div</a:t>
            </a:r>
            <a:r>
              <a:rPr sz="1300" spc="-10" dirty="0">
                <a:latin typeface="Consolas"/>
                <a:cs typeface="Consolas"/>
              </a:rPr>
              <a:t> </a:t>
            </a:r>
            <a:r>
              <a:rPr sz="1300" spc="-5" dirty="0">
                <a:latin typeface="Consolas"/>
                <a:cs typeface="Consolas"/>
              </a:rPr>
              <a:t>class="shaded"&gt;</a:t>
            </a:r>
            <a:endParaRPr sz="1300">
              <a:latin typeface="Consolas"/>
              <a:cs typeface="Consolas"/>
            </a:endParaRPr>
          </a:p>
          <a:p>
            <a:pPr marL="447675">
              <a:lnSpc>
                <a:spcPct val="100000"/>
              </a:lnSpc>
              <a:spcBef>
                <a:spcPts val="240"/>
              </a:spcBef>
            </a:pPr>
            <a:r>
              <a:rPr sz="1300" spc="-5" dirty="0">
                <a:latin typeface="Consolas"/>
                <a:cs typeface="Consolas"/>
              </a:rPr>
              <a:t>&lt;h1&gt;Another Section</a:t>
            </a:r>
            <a:r>
              <a:rPr sz="1300" spc="-20" dirty="0">
                <a:latin typeface="Consolas"/>
                <a:cs typeface="Consolas"/>
              </a:rPr>
              <a:t> </a:t>
            </a:r>
            <a:r>
              <a:rPr sz="1300" spc="-5" dirty="0">
                <a:latin typeface="Consolas"/>
                <a:cs typeface="Consolas"/>
              </a:rPr>
              <a:t>Heading&lt;/h1&gt;</a:t>
            </a:r>
            <a:endParaRPr sz="1300">
              <a:latin typeface="Consolas"/>
              <a:cs typeface="Consolas"/>
            </a:endParaRPr>
          </a:p>
          <a:p>
            <a:pPr marL="447675">
              <a:lnSpc>
                <a:spcPct val="100000"/>
              </a:lnSpc>
              <a:spcBef>
                <a:spcPts val="240"/>
              </a:spcBef>
            </a:pPr>
            <a:r>
              <a:rPr sz="1300" spc="-5" dirty="0">
                <a:latin typeface="Consolas"/>
                <a:cs typeface="Consolas"/>
              </a:rPr>
              <a:t>&lt;p&gt;</a:t>
            </a:r>
            <a:endParaRPr sz="1300">
              <a:latin typeface="Consolas"/>
              <a:cs typeface="Consolas"/>
            </a:endParaRPr>
          </a:p>
          <a:p>
            <a:pPr marL="629285">
              <a:lnSpc>
                <a:spcPct val="100000"/>
              </a:lnSpc>
              <a:spcBef>
                <a:spcPts val="240"/>
              </a:spcBef>
            </a:pPr>
            <a:r>
              <a:rPr sz="1300" spc="-5" dirty="0">
                <a:latin typeface="Consolas"/>
                <a:cs typeface="Consolas"/>
              </a:rPr>
              <a:t>Another</a:t>
            </a:r>
            <a:r>
              <a:rPr sz="1300" spc="-10" dirty="0">
                <a:latin typeface="Consolas"/>
                <a:cs typeface="Consolas"/>
              </a:rPr>
              <a:t> </a:t>
            </a:r>
            <a:r>
              <a:rPr sz="1300" spc="-5" dirty="0">
                <a:latin typeface="Consolas"/>
                <a:cs typeface="Consolas"/>
              </a:rPr>
              <a:t>paragraph.</a:t>
            </a:r>
            <a:endParaRPr sz="1300">
              <a:latin typeface="Consolas"/>
              <a:cs typeface="Consolas"/>
            </a:endParaRPr>
          </a:p>
          <a:p>
            <a:pPr marR="3435985" algn="r">
              <a:lnSpc>
                <a:spcPct val="100000"/>
              </a:lnSpc>
              <a:spcBef>
                <a:spcPts val="240"/>
              </a:spcBef>
            </a:pPr>
            <a:r>
              <a:rPr sz="1300" spc="-5" dirty="0">
                <a:latin typeface="Consolas"/>
                <a:cs typeface="Consolas"/>
              </a:rPr>
              <a:t>&lt;/p&gt;</a:t>
            </a:r>
            <a:endParaRPr sz="1300">
              <a:latin typeface="Consolas"/>
              <a:cs typeface="Consolas"/>
            </a:endParaRPr>
          </a:p>
          <a:p>
            <a:pPr marR="3435985" algn="r">
              <a:lnSpc>
                <a:spcPct val="100000"/>
              </a:lnSpc>
              <a:spcBef>
                <a:spcPts val="240"/>
              </a:spcBef>
            </a:pPr>
            <a:r>
              <a:rPr sz="1300" spc="-5" dirty="0">
                <a:latin typeface="Consolas"/>
                <a:cs typeface="Consolas"/>
              </a:rPr>
              <a:t>&lt;/div&gt;</a:t>
            </a:r>
            <a:endParaRPr sz="1300">
              <a:latin typeface="Consolas"/>
              <a:cs typeface="Consolas"/>
            </a:endParaRPr>
          </a:p>
          <a:p>
            <a:pPr marL="85725">
              <a:lnSpc>
                <a:spcPct val="100000"/>
              </a:lnSpc>
              <a:spcBef>
                <a:spcPts val="240"/>
              </a:spcBef>
            </a:pPr>
            <a:r>
              <a:rPr sz="1300" spc="-5" dirty="0">
                <a:latin typeface="Consolas"/>
                <a:cs typeface="Consolas"/>
              </a:rPr>
              <a:t>&lt;/body&gt;</a:t>
            </a:r>
            <a:endParaRPr sz="1300">
              <a:latin typeface="Consolas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76175" y="4582958"/>
            <a:ext cx="7366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FF0000"/>
                </a:solidFill>
                <a:latin typeface="Arial"/>
                <a:cs typeface="Arial"/>
              </a:rPr>
              <a:t>CSS:</a:t>
            </a:r>
            <a:endParaRPr sz="2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65825" y="4582958"/>
            <a:ext cx="939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FF0000"/>
                </a:solidFill>
                <a:latin typeface="Arial"/>
                <a:cs typeface="Arial"/>
              </a:rPr>
              <a:t>HTML: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256857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Example</a:t>
            </a:r>
            <a:r>
              <a:rPr spc="-90" dirty="0"/>
              <a:t> </a:t>
            </a:r>
            <a:r>
              <a:rPr spc="-5" dirty="0"/>
              <a:t>Output</a:t>
            </a:r>
          </a:p>
        </p:txBody>
      </p:sp>
      <p:sp>
        <p:nvSpPr>
          <p:cNvPr id="3" name="object 3"/>
          <p:cNvSpPr/>
          <p:nvPr/>
        </p:nvSpPr>
        <p:spPr>
          <a:xfrm>
            <a:off x="1276350" y="1752600"/>
            <a:ext cx="6562724" cy="13811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CSS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19</a:t>
            </a:fld>
            <a:endParaRPr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CSS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20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336232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CSS in the </a:t>
            </a:r>
            <a:r>
              <a:rPr dirty="0"/>
              <a:t>real</a:t>
            </a:r>
            <a:r>
              <a:rPr spc="-95" dirty="0"/>
              <a:t> </a:t>
            </a:r>
            <a:r>
              <a:rPr spc="-5" dirty="0"/>
              <a:t>world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162308"/>
            <a:ext cx="7579995" cy="1543050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52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CSS preprocessors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(e.g.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less) are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commonly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used</a:t>
            </a:r>
            <a:endParaRPr sz="18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Add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variable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and functions to help in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maintaining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large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collections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of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style</a:t>
            </a:r>
            <a:r>
              <a:rPr sz="1400" spc="-5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sheets</a:t>
            </a:r>
            <a:endParaRPr sz="14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Apply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scoping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using the naming</a:t>
            </a:r>
            <a:r>
              <a:rPr sz="1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conventions</a:t>
            </a:r>
            <a:endParaRPr sz="1400">
              <a:latin typeface="Arial"/>
              <a:cs typeface="Arial"/>
            </a:endParaRPr>
          </a:p>
          <a:p>
            <a:pPr marL="379095" indent="-367030">
              <a:lnSpc>
                <a:spcPct val="100000"/>
              </a:lnSpc>
              <a:spcBef>
                <a:spcPts val="125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Composition is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problem</a:t>
            </a:r>
            <a:endParaRPr sz="18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305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It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can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be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really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hard to figure out what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rule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from which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stylesheet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is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messing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things</a:t>
            </a:r>
            <a:r>
              <a:rPr sz="1400" spc="-7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up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5E511CF504F4646AB54E0ACE4A117EC" ma:contentTypeVersion="0" ma:contentTypeDescription="Create a new document." ma:contentTypeScope="" ma:versionID="d4f0da77cb7c9de5903bc21ca831b4ef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0967b7be50301903c78f9c39c6fd9af8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C174986-90AE-4365-B745-2FEA09B7456B}"/>
</file>

<file path=customXml/itemProps2.xml><?xml version="1.0" encoding="utf-8"?>
<ds:datastoreItem xmlns:ds="http://schemas.openxmlformats.org/officeDocument/2006/customXml" ds:itemID="{FB124C7B-8078-4B43-8150-81E2AED0BE39}"/>
</file>

<file path=customXml/itemProps3.xml><?xml version="1.0" encoding="utf-8"?>
<ds:datastoreItem xmlns:ds="http://schemas.openxmlformats.org/officeDocument/2006/customXml" ds:itemID="{709300D2-EAA6-426E-A279-DD0F4EFD3C22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</TotalTime>
  <Words>1411</Words>
  <Application>Microsoft Office PowerPoint</Application>
  <PresentationFormat>On-screen Show (16:9)</PresentationFormat>
  <Paragraphs>262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Calibri</vt:lpstr>
      <vt:lpstr>Consolas</vt:lpstr>
      <vt:lpstr>Times New Roman</vt:lpstr>
      <vt:lpstr>Verdana</vt:lpstr>
      <vt:lpstr>Office Theme</vt:lpstr>
      <vt:lpstr>Cascading Style Sheets  (CSS)</vt:lpstr>
      <vt:lpstr>Driving problem behind CSS</vt:lpstr>
      <vt:lpstr>Key concept: Separate style from content</vt:lpstr>
      <vt:lpstr>Style sheet contain one or more CSS Rules</vt:lpstr>
      <vt:lpstr>PowerPoint Presentation</vt:lpstr>
      <vt:lpstr>CSS Pseudo Selectors</vt:lpstr>
      <vt:lpstr>CSS Properties</vt:lpstr>
      <vt:lpstr>Color - Properties: color &amp; background_color</vt:lpstr>
      <vt:lpstr>CSS Box Model</vt:lpstr>
      <vt:lpstr>CSS distance units</vt:lpstr>
      <vt:lpstr>Size Properties - Element, pad, margin, border</vt:lpstr>
      <vt:lpstr>position property</vt:lpstr>
      <vt:lpstr>Some more common properties</vt:lpstr>
      <vt:lpstr>Element visibility control properties</vt:lpstr>
      <vt:lpstr>Flexbox and Grid layout</vt:lpstr>
      <vt:lpstr>Some other CSS issues</vt:lpstr>
      <vt:lpstr>Adding Styles to HTML</vt:lpstr>
      <vt:lpstr>PowerPoint Presentation</vt:lpstr>
      <vt:lpstr>Example Output</vt:lpstr>
      <vt:lpstr>CSS in the real world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Cascading Style Sheets  (CSS)</dc:title>
  <cp:lastModifiedBy>Amarsanaa Ganbold</cp:lastModifiedBy>
  <cp:revision>2</cp:revision>
  <dcterms:created xsi:type="dcterms:W3CDTF">2019-08-20T05:10:03Z</dcterms:created>
  <dcterms:modified xsi:type="dcterms:W3CDTF">2021-09-14T05:11:29Z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  <property fmtid="{D5CDD505-2E9C-101B-9397-08002B2CF9AE}" pid="3" name="ContentTypeId">
    <vt:lpwstr>0x01010055E511CF504F4646AB54E0ACE4A117EC</vt:lpwstr>
  </property>
</Properties>
</file>