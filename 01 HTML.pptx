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9144000" cy="5143500"/>
  <p:defaultTextStyle>
    <a:defPPr>
      <a:defRPr lang="mn-M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7" d="100"/>
          <a:sy n="147" d="100"/>
        </p:scale>
        <p:origin x="573" y="5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5CBEFA-DF85-4A41-9261-70FA799BE65C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3F339-710D-4C1A-8D8B-8B798BE95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474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spc="-5" dirty="0">
                <a:solidFill>
                  <a:srgbClr val="595959"/>
                </a:solidFill>
                <a:latin typeface="Arial"/>
                <a:cs typeface="Arial"/>
              </a:rPr>
              <a:t>Quirks mode – backward compatibility for old browsers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3F339-710D-4C1A-8D8B-8B798BE9597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032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843745" y="1091184"/>
            <a:ext cx="5456508" cy="1608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HTML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HTML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HTML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HTML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HTML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3825"/>
            <a:ext cx="8374549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162308"/>
            <a:ext cx="7771765" cy="16148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705181" y="4778075"/>
            <a:ext cx="1697354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HTML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68825" y="4778067"/>
            <a:ext cx="192404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1999/xhtml" TargetMode="External"/><Relationship Id="rId2" Type="http://schemas.openxmlformats.org/officeDocument/2006/relationships/hyperlink" Target="http://www.w3.org/TR/xhtml1/DTD/xhtml1-strict.dtd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1999/xhtml" TargetMode="External"/><Relationship Id="rId2" Type="http://schemas.openxmlformats.org/officeDocument/2006/relationships/hyperlink" Target="http://www.w3.org/TR/xhtml1/DTD/xhtml1-strict.dtd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1999/xhtml" TargetMode="External"/><Relationship Id="rId2" Type="http://schemas.openxmlformats.org/officeDocument/2006/relationships/hyperlink" Target="http://www.w3.org/TR/xhtml1/DTD/xhtml1-strict.dtd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://example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48260" marR="5080" indent="-36195">
              <a:lnSpc>
                <a:spcPts val="6220"/>
              </a:lnSpc>
              <a:spcBef>
                <a:spcPts val="325"/>
              </a:spcBef>
            </a:pPr>
            <a:r>
              <a:rPr spc="-5" dirty="0"/>
              <a:t>HyperText</a:t>
            </a:r>
            <a:r>
              <a:rPr spc="-105" dirty="0"/>
              <a:t> </a:t>
            </a:r>
            <a:r>
              <a:rPr spc="-5" dirty="0"/>
              <a:t>Markup  Language</a:t>
            </a:r>
            <a:r>
              <a:rPr spc="-90" dirty="0"/>
              <a:t> </a:t>
            </a:r>
            <a:r>
              <a:rPr dirty="0"/>
              <a:t>(HTML)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27637" y="2892926"/>
            <a:ext cx="30886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595959"/>
                </a:solidFill>
                <a:latin typeface="Arial"/>
                <a:cs typeface="Arial"/>
              </a:rPr>
              <a:t>Mendel</a:t>
            </a:r>
            <a:r>
              <a:rPr sz="2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595959"/>
                </a:solidFill>
                <a:latin typeface="Arial"/>
                <a:cs typeface="Arial"/>
              </a:rPr>
              <a:t>Rosenblum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HTML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</a:t>
            </a:fld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699" y="445025"/>
            <a:ext cx="8521065" cy="572770"/>
          </a:xfrm>
          <a:prstGeom prst="rect">
            <a:avLst/>
          </a:prstGeom>
          <a:ln w="9524">
            <a:noFill/>
          </a:ln>
        </p:spPr>
        <p:txBody>
          <a:bodyPr vert="horz" wrap="square" lIns="0" tIns="7112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60"/>
              </a:spcBef>
            </a:pPr>
            <a:r>
              <a:rPr spc="-5" dirty="0"/>
              <a:t>Web </a:t>
            </a:r>
            <a:r>
              <a:rPr spc="-10" dirty="0"/>
              <a:t>Application</a:t>
            </a:r>
            <a:r>
              <a:rPr spc="-20" dirty="0"/>
              <a:t> </a:t>
            </a:r>
            <a:r>
              <a:rPr spc="-5" dirty="0"/>
              <a:t>Architecture</a:t>
            </a:r>
          </a:p>
        </p:txBody>
      </p:sp>
      <p:sp>
        <p:nvSpPr>
          <p:cNvPr id="3" name="object 3"/>
          <p:cNvSpPr/>
          <p:nvPr/>
        </p:nvSpPr>
        <p:spPr>
          <a:xfrm>
            <a:off x="832112" y="2285875"/>
            <a:ext cx="1473973" cy="3905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21899" y="2065424"/>
            <a:ext cx="1694814" cy="2898140"/>
          </a:xfrm>
          <a:custGeom>
            <a:avLst/>
            <a:gdLst/>
            <a:ahLst/>
            <a:cxnLst/>
            <a:rect l="l" t="t" r="r" b="b"/>
            <a:pathLst>
              <a:path w="1694814" h="2898140">
                <a:moveTo>
                  <a:pt x="0" y="0"/>
                </a:moveTo>
                <a:lnTo>
                  <a:pt x="1694399" y="0"/>
                </a:lnTo>
                <a:lnTo>
                  <a:pt x="1694399" y="2897699"/>
                </a:lnTo>
                <a:lnTo>
                  <a:pt x="0" y="2897699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31124" y="1303424"/>
            <a:ext cx="2311400" cy="3769995"/>
          </a:xfrm>
          <a:prstGeom prst="rect">
            <a:avLst/>
          </a:prstGeom>
          <a:ln w="76199">
            <a:solidFill>
              <a:srgbClr val="FF0000"/>
            </a:solidFill>
          </a:ln>
        </p:spPr>
        <p:txBody>
          <a:bodyPr vert="horz" wrap="square" lIns="0" tIns="261620" rIns="0" bIns="0" rtlCol="0">
            <a:spAutoFit/>
          </a:bodyPr>
          <a:lstStyle/>
          <a:p>
            <a:pPr marL="158115">
              <a:lnSpc>
                <a:spcPct val="100000"/>
              </a:lnSpc>
              <a:spcBef>
                <a:spcPts val="2060"/>
              </a:spcBef>
            </a:pPr>
            <a:r>
              <a:rPr sz="2400" spc="-5" dirty="0">
                <a:latin typeface="Arial"/>
                <a:cs typeface="Arial"/>
              </a:rPr>
              <a:t>Web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Browser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53973" y="3540953"/>
            <a:ext cx="1397523" cy="4804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7023" y="4081774"/>
            <a:ext cx="1572411" cy="6940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7024" y="2772091"/>
            <a:ext cx="1584174" cy="60300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213075" y="2065424"/>
            <a:ext cx="1694814" cy="2898140"/>
          </a:xfrm>
          <a:custGeom>
            <a:avLst/>
            <a:gdLst/>
            <a:ahLst/>
            <a:cxnLst/>
            <a:rect l="l" t="t" r="r" b="b"/>
            <a:pathLst>
              <a:path w="1694814" h="2898140">
                <a:moveTo>
                  <a:pt x="0" y="0"/>
                </a:moveTo>
                <a:lnTo>
                  <a:pt x="1694399" y="0"/>
                </a:lnTo>
                <a:lnTo>
                  <a:pt x="1694399" y="2897699"/>
                </a:lnTo>
                <a:lnTo>
                  <a:pt x="0" y="2897699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68175" y="2355044"/>
            <a:ext cx="1584175" cy="4520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782774" y="1125108"/>
            <a:ext cx="2441575" cy="75311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20"/>
              </a:spcBef>
            </a:pPr>
            <a:r>
              <a:rPr sz="2400" spc="-5" dirty="0">
                <a:latin typeface="Arial"/>
                <a:cs typeface="Arial"/>
              </a:rPr>
              <a:t>Web Server </a:t>
            </a:r>
            <a:r>
              <a:rPr sz="2400" dirty="0">
                <a:latin typeface="Arial"/>
                <a:cs typeface="Arial"/>
              </a:rPr>
              <a:t>/  </a:t>
            </a:r>
            <a:r>
              <a:rPr sz="2400" spc="-5" dirty="0">
                <a:latin typeface="Arial"/>
                <a:cs typeface="Arial"/>
              </a:rPr>
              <a:t>Application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server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433848" y="3029672"/>
            <a:ext cx="1252878" cy="71288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602587" y="3790447"/>
            <a:ext cx="915352" cy="10891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466475" y="2987849"/>
            <a:ext cx="1746885" cy="802640"/>
          </a:xfrm>
          <a:custGeom>
            <a:avLst/>
            <a:gdLst/>
            <a:ahLst/>
            <a:cxnLst/>
            <a:rect l="l" t="t" r="r" b="b"/>
            <a:pathLst>
              <a:path w="1746885" h="802639">
                <a:moveTo>
                  <a:pt x="401249" y="802499"/>
                </a:moveTo>
                <a:lnTo>
                  <a:pt x="0" y="401249"/>
                </a:lnTo>
                <a:lnTo>
                  <a:pt x="401249" y="0"/>
                </a:lnTo>
                <a:lnTo>
                  <a:pt x="401249" y="200624"/>
                </a:lnTo>
                <a:lnTo>
                  <a:pt x="1545974" y="200624"/>
                </a:lnTo>
                <a:lnTo>
                  <a:pt x="1746599" y="401249"/>
                </a:lnTo>
                <a:lnTo>
                  <a:pt x="1545974" y="601874"/>
                </a:lnTo>
                <a:lnTo>
                  <a:pt x="401249" y="601874"/>
                </a:lnTo>
                <a:lnTo>
                  <a:pt x="401249" y="802499"/>
                </a:lnTo>
                <a:close/>
              </a:path>
              <a:path w="1746885" h="802639">
                <a:moveTo>
                  <a:pt x="1545974" y="200624"/>
                </a:moveTo>
                <a:lnTo>
                  <a:pt x="1345349" y="200624"/>
                </a:lnTo>
                <a:lnTo>
                  <a:pt x="1345349" y="0"/>
                </a:lnTo>
                <a:lnTo>
                  <a:pt x="1545974" y="200624"/>
                </a:lnTo>
                <a:close/>
              </a:path>
              <a:path w="1746885" h="802639">
                <a:moveTo>
                  <a:pt x="1345349" y="802499"/>
                </a:moveTo>
                <a:lnTo>
                  <a:pt x="1345349" y="601874"/>
                </a:lnTo>
                <a:lnTo>
                  <a:pt x="1545974" y="601874"/>
                </a:lnTo>
                <a:lnTo>
                  <a:pt x="1345349" y="8024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66475" y="2987849"/>
            <a:ext cx="1746885" cy="802640"/>
          </a:xfrm>
          <a:custGeom>
            <a:avLst/>
            <a:gdLst/>
            <a:ahLst/>
            <a:cxnLst/>
            <a:rect l="l" t="t" r="r" b="b"/>
            <a:pathLst>
              <a:path w="1746885" h="802639">
                <a:moveTo>
                  <a:pt x="0" y="401249"/>
                </a:moveTo>
                <a:lnTo>
                  <a:pt x="401249" y="0"/>
                </a:lnTo>
                <a:lnTo>
                  <a:pt x="401249" y="200624"/>
                </a:lnTo>
                <a:lnTo>
                  <a:pt x="1345349" y="200624"/>
                </a:lnTo>
                <a:lnTo>
                  <a:pt x="1345349" y="0"/>
                </a:lnTo>
                <a:lnTo>
                  <a:pt x="1746599" y="401249"/>
                </a:lnTo>
                <a:lnTo>
                  <a:pt x="1345349" y="802499"/>
                </a:lnTo>
                <a:lnTo>
                  <a:pt x="1345349" y="601874"/>
                </a:lnTo>
                <a:lnTo>
                  <a:pt x="401249" y="601874"/>
                </a:lnTo>
                <a:lnTo>
                  <a:pt x="401249" y="802499"/>
                </a:lnTo>
                <a:lnTo>
                  <a:pt x="0" y="40124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937609" y="3183233"/>
            <a:ext cx="821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HTTP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006200" y="1981874"/>
            <a:ext cx="1694814" cy="2898140"/>
          </a:xfrm>
          <a:custGeom>
            <a:avLst/>
            <a:gdLst/>
            <a:ahLst/>
            <a:cxnLst/>
            <a:rect l="l" t="t" r="r" b="b"/>
            <a:pathLst>
              <a:path w="1694815" h="2898140">
                <a:moveTo>
                  <a:pt x="0" y="0"/>
                </a:moveTo>
                <a:lnTo>
                  <a:pt x="1694399" y="0"/>
                </a:lnTo>
                <a:lnTo>
                  <a:pt x="1694399" y="2897699"/>
                </a:lnTo>
                <a:lnTo>
                  <a:pt x="0" y="2897699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720575" y="1421958"/>
            <a:ext cx="21875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Storage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System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120989" y="2145825"/>
            <a:ext cx="1464825" cy="4179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260243" y="2672350"/>
            <a:ext cx="1186317" cy="80249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931537" y="3155562"/>
            <a:ext cx="1050925" cy="441325"/>
          </a:xfrm>
          <a:custGeom>
            <a:avLst/>
            <a:gdLst/>
            <a:ahLst/>
            <a:cxnLst/>
            <a:rect l="l" t="t" r="r" b="b"/>
            <a:pathLst>
              <a:path w="1050925" h="441325">
                <a:moveTo>
                  <a:pt x="220649" y="441299"/>
                </a:moveTo>
                <a:lnTo>
                  <a:pt x="0" y="220649"/>
                </a:lnTo>
                <a:lnTo>
                  <a:pt x="220649" y="0"/>
                </a:lnTo>
                <a:lnTo>
                  <a:pt x="220649" y="110324"/>
                </a:lnTo>
                <a:lnTo>
                  <a:pt x="940274" y="110324"/>
                </a:lnTo>
                <a:lnTo>
                  <a:pt x="1050599" y="220649"/>
                </a:lnTo>
                <a:lnTo>
                  <a:pt x="940274" y="330974"/>
                </a:lnTo>
                <a:lnTo>
                  <a:pt x="220649" y="330974"/>
                </a:lnTo>
                <a:lnTo>
                  <a:pt x="220649" y="441299"/>
                </a:lnTo>
                <a:close/>
              </a:path>
              <a:path w="1050925" h="441325">
                <a:moveTo>
                  <a:pt x="940274" y="110324"/>
                </a:moveTo>
                <a:lnTo>
                  <a:pt x="829949" y="110324"/>
                </a:lnTo>
                <a:lnTo>
                  <a:pt x="829949" y="0"/>
                </a:lnTo>
                <a:lnTo>
                  <a:pt x="940274" y="110324"/>
                </a:lnTo>
                <a:close/>
              </a:path>
              <a:path w="1050925" h="441325">
                <a:moveTo>
                  <a:pt x="829949" y="441299"/>
                </a:moveTo>
                <a:lnTo>
                  <a:pt x="829949" y="330974"/>
                </a:lnTo>
                <a:lnTo>
                  <a:pt x="940274" y="330974"/>
                </a:lnTo>
                <a:lnTo>
                  <a:pt x="829949" y="4412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931537" y="3155562"/>
            <a:ext cx="1050925" cy="441325"/>
          </a:xfrm>
          <a:custGeom>
            <a:avLst/>
            <a:gdLst/>
            <a:ahLst/>
            <a:cxnLst/>
            <a:rect l="l" t="t" r="r" b="b"/>
            <a:pathLst>
              <a:path w="1050925" h="441325">
                <a:moveTo>
                  <a:pt x="0" y="220649"/>
                </a:moveTo>
                <a:lnTo>
                  <a:pt x="220649" y="0"/>
                </a:lnTo>
                <a:lnTo>
                  <a:pt x="220649" y="110324"/>
                </a:lnTo>
                <a:lnTo>
                  <a:pt x="829949" y="110324"/>
                </a:lnTo>
                <a:lnTo>
                  <a:pt x="829949" y="0"/>
                </a:lnTo>
                <a:lnTo>
                  <a:pt x="1050599" y="220649"/>
                </a:lnTo>
                <a:lnTo>
                  <a:pt x="829949" y="441299"/>
                </a:lnTo>
                <a:lnTo>
                  <a:pt x="829949" y="330974"/>
                </a:lnTo>
                <a:lnTo>
                  <a:pt x="220649" y="330974"/>
                </a:lnTo>
                <a:lnTo>
                  <a:pt x="220649" y="441299"/>
                </a:lnTo>
                <a:lnTo>
                  <a:pt x="0" y="22064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047793" y="3784367"/>
            <a:ext cx="366395" cy="10572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755"/>
              </a:lnSpc>
            </a:pPr>
            <a:r>
              <a:rPr sz="2400" spc="-5" dirty="0">
                <a:latin typeface="Arial"/>
                <a:cs typeface="Arial"/>
              </a:rPr>
              <a:t>Internet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HTML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6269830" y="3678358"/>
            <a:ext cx="366395" cy="6184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755"/>
              </a:lnSpc>
            </a:pPr>
            <a:r>
              <a:rPr sz="2400" spc="-5" dirty="0">
                <a:latin typeface="Arial"/>
                <a:cs typeface="Arial"/>
              </a:rPr>
              <a:t>LAN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HTML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1168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Browser </a:t>
            </a:r>
            <a:r>
              <a:rPr spc="-5" dirty="0"/>
              <a:t>environment is</a:t>
            </a:r>
            <a:r>
              <a:rPr spc="-80" dirty="0"/>
              <a:t> </a:t>
            </a:r>
            <a:r>
              <a:rPr spc="-5" dirty="0"/>
              <a:t>different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071575"/>
            <a:ext cx="8228330" cy="3378200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Traditional app: GUIs based on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pixels</a:t>
            </a:r>
            <a:endParaRPr sz="1800">
              <a:latin typeface="Arial"/>
              <a:cs typeface="Arial"/>
            </a:endParaRPr>
          </a:p>
          <a:p>
            <a:pPr marL="469900" marR="1405890">
              <a:lnSpc>
                <a:spcPct val="1528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Since 1970s: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software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accessed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mapped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framebuffers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(R/G/B) 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Toolkits build higher level GUI widgets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(buttons,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tables,</a:t>
            </a:r>
            <a:r>
              <a:rPr sz="18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etc.)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Web browsers display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Documents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described in</a:t>
            </a:r>
            <a:r>
              <a:rPr sz="1800" spc="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HTML</a:t>
            </a:r>
            <a:endParaRPr sz="1800">
              <a:latin typeface="Arial"/>
              <a:cs typeface="Arial"/>
            </a:endParaRPr>
          </a:p>
          <a:p>
            <a:pPr marL="469900" marR="652145">
              <a:lnSpc>
                <a:spcPct val="1528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Until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most recent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HTML5’s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canvas region, you couldn’t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write pixels 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Make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applications out of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documents</a:t>
            </a:r>
            <a:endParaRPr sz="1800">
              <a:latin typeface="Arial"/>
              <a:cs typeface="Arial"/>
            </a:endParaRPr>
          </a:p>
          <a:p>
            <a:pPr marL="927100" marR="5080">
              <a:lnSpc>
                <a:spcPct val="1528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Early web apps: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Multiple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documents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(pages)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with ‘form’ tag for input  Current: Use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dynamically generate and update</a:t>
            </a:r>
            <a:r>
              <a:rPr sz="18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documents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HTML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9696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HTML: HyperText </a:t>
            </a:r>
            <a:r>
              <a:rPr b="1" dirty="0">
                <a:latin typeface="Arial"/>
                <a:cs typeface="Arial"/>
              </a:rPr>
              <a:t>Markup</a:t>
            </a:r>
            <a:r>
              <a:rPr b="1" spc="-7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Language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071575"/>
            <a:ext cx="6208395" cy="3273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528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Concept: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Markup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Language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Include directives with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content 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Directives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dictate presentation or describe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content 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Idea from the 1960s:</a:t>
            </a:r>
            <a:r>
              <a:rPr sz="1800" spc="484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RUNOFF</a:t>
            </a:r>
            <a:endParaRPr sz="1800">
              <a:latin typeface="Arial"/>
              <a:cs typeface="Arial"/>
            </a:endParaRPr>
          </a:p>
          <a:p>
            <a:pPr marL="12700" marR="54610" indent="457200">
              <a:lnSpc>
                <a:spcPct val="152800"/>
              </a:lnSpc>
              <a:tabLst>
                <a:tab pos="3736975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Examples: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&lt;i&gt;italics word&lt;/i&gt;,	&lt;title&gt;Title</a:t>
            </a:r>
            <a:r>
              <a:rPr sz="18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words&lt;/title&gt;  Approach</a:t>
            </a:r>
            <a:endParaRPr sz="1800">
              <a:latin typeface="Arial"/>
              <a:cs typeface="Arial"/>
            </a:endParaRPr>
          </a:p>
          <a:p>
            <a:pPr marL="469900" indent="-419734">
              <a:lnSpc>
                <a:spcPct val="100000"/>
              </a:lnSpc>
              <a:spcBef>
                <a:spcPts val="114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Start with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content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be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displayed</a:t>
            </a:r>
            <a:endParaRPr sz="1800">
              <a:latin typeface="Arial"/>
              <a:cs typeface="Arial"/>
            </a:endParaRPr>
          </a:p>
          <a:p>
            <a:pPr marL="469900" indent="-419734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Annotate it with</a:t>
            </a:r>
            <a:r>
              <a:rPr sz="1800" spc="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tags</a:t>
            </a:r>
            <a:endParaRPr sz="18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114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HTML uses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&lt; &gt;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denote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tags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HTML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7627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HTML</a:t>
            </a:r>
            <a:r>
              <a:rPr spc="-90" dirty="0"/>
              <a:t> </a:t>
            </a:r>
            <a:r>
              <a:rPr spc="-5" dirty="0"/>
              <a:t>tags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071575"/>
            <a:ext cx="5257800" cy="3168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3154680" indent="-457200">
              <a:lnSpc>
                <a:spcPct val="1528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Tags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provide: 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Meaning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text:</a:t>
            </a:r>
            <a:endParaRPr sz="1800">
              <a:latin typeface="Arial"/>
              <a:cs typeface="Arial"/>
            </a:endParaRPr>
          </a:p>
          <a:p>
            <a:pPr marL="1384300" indent="-367030">
              <a:lnSpc>
                <a:spcPct val="100000"/>
              </a:lnSpc>
              <a:spcBef>
                <a:spcPts val="1140"/>
              </a:spcBef>
              <a:buFont typeface="Arial"/>
              <a:buChar char="●"/>
              <a:tabLst>
                <a:tab pos="1383665" algn="l"/>
                <a:tab pos="1384300" algn="l"/>
              </a:tabLst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&lt;h1&gt;</a:t>
            </a:r>
            <a:r>
              <a:rPr sz="1800" spc="-5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means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top-level heading</a:t>
            </a:r>
            <a:endParaRPr sz="1800">
              <a:latin typeface="Arial"/>
              <a:cs typeface="Arial"/>
            </a:endParaRPr>
          </a:p>
          <a:p>
            <a:pPr marL="1384300" indent="-367030">
              <a:lnSpc>
                <a:spcPct val="100000"/>
              </a:lnSpc>
              <a:spcBef>
                <a:spcPts val="315"/>
              </a:spcBef>
              <a:buFont typeface="Arial"/>
              <a:buChar char="●"/>
              <a:tabLst>
                <a:tab pos="1383665" algn="l"/>
                <a:tab pos="1384300" algn="l"/>
              </a:tabLst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&lt;p&gt;</a:t>
            </a:r>
            <a:r>
              <a:rPr sz="1800" spc="-50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means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paragraph</a:t>
            </a:r>
            <a:endParaRPr sz="1800">
              <a:latin typeface="Arial"/>
              <a:cs typeface="Arial"/>
            </a:endParaRPr>
          </a:p>
          <a:p>
            <a:pPr marL="1384300" indent="-367030">
              <a:lnSpc>
                <a:spcPct val="100000"/>
              </a:lnSpc>
              <a:spcBef>
                <a:spcPts val="315"/>
              </a:spcBef>
              <a:buFont typeface="Arial"/>
              <a:buChar char="●"/>
              <a:tabLst>
                <a:tab pos="1383665" algn="l"/>
                <a:tab pos="1384300" algn="l"/>
              </a:tabLst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&lt;ul&gt;&lt;li&gt;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 unordered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(bulleted)</a:t>
            </a:r>
            <a:r>
              <a:rPr sz="18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list</a:t>
            </a:r>
            <a:endParaRPr sz="1800">
              <a:latin typeface="Arial"/>
              <a:cs typeface="Arial"/>
            </a:endParaRPr>
          </a:p>
          <a:p>
            <a:pPr marL="469900" marR="95885">
              <a:lnSpc>
                <a:spcPct val="1528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Formatting information </a:t>
            </a:r>
            <a:r>
              <a:rPr sz="1800" spc="5" dirty="0">
                <a:solidFill>
                  <a:srgbClr val="595959"/>
                </a:solidFill>
                <a:latin typeface="Arial"/>
                <a:cs typeface="Arial"/>
              </a:rPr>
              <a:t>(</a:t>
            </a:r>
            <a:r>
              <a:rPr sz="1800" spc="5" dirty="0">
                <a:solidFill>
                  <a:srgbClr val="595959"/>
                </a:solidFill>
                <a:latin typeface="Consolas"/>
                <a:cs typeface="Consolas"/>
              </a:rPr>
              <a:t>&lt;i&gt;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 italic)  Additional information to display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(e.g.,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&lt;img&gt;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)  Tags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have tags inside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(nesting</a:t>
            </a:r>
            <a:r>
              <a:rPr sz="1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supported)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HTML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26503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 </a:t>
            </a:r>
            <a:r>
              <a:rPr spc="-5" dirty="0"/>
              <a:t>of HTML </a:t>
            </a:r>
            <a:r>
              <a:rPr dirty="0"/>
              <a:t>- </a:t>
            </a:r>
            <a:r>
              <a:rPr spc="-10" dirty="0"/>
              <a:t>Start </a:t>
            </a:r>
            <a:r>
              <a:rPr spc="-5" dirty="0"/>
              <a:t>with </a:t>
            </a:r>
            <a:r>
              <a:rPr dirty="0"/>
              <a:t>raw content</a:t>
            </a:r>
            <a:r>
              <a:rPr spc="-80" dirty="0"/>
              <a:t> </a:t>
            </a:r>
            <a:r>
              <a:rPr spc="-5" dirty="0"/>
              <a:t>text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7423150" cy="19113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Introduction</a:t>
            </a:r>
            <a:endParaRPr sz="1800">
              <a:latin typeface="Consolas"/>
              <a:cs typeface="Consolas"/>
            </a:endParaRPr>
          </a:p>
          <a:p>
            <a:pPr marL="12700" marR="2261870">
              <a:lnSpc>
                <a:spcPct val="114599"/>
              </a:lnSpc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There are several good reasons for taking  CS142: Web</a:t>
            </a:r>
            <a:r>
              <a:rPr sz="1800" spc="-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Applications: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You will learn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variety of interesting</a:t>
            </a:r>
            <a:r>
              <a:rPr sz="1800" spc="-4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concepts.</a:t>
            </a:r>
            <a:endParaRPr sz="1800">
              <a:latin typeface="Consolas"/>
              <a:cs typeface="Consolas"/>
            </a:endParaRPr>
          </a:p>
          <a:p>
            <a:pPr marL="12700" marR="5080">
              <a:lnSpc>
                <a:spcPct val="114599"/>
              </a:lnSpc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It may inspire you to change the way software is developed.  It will give you the tools to become fabulously</a:t>
            </a:r>
            <a:r>
              <a:rPr sz="1800" spc="-5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wealthy.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84725" y="4197840"/>
            <a:ext cx="513715" cy="412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05"/>
              </a:lnSpc>
            </a:pPr>
            <a:r>
              <a:rPr sz="1400" b="1" spc="-5" dirty="0">
                <a:solidFill>
                  <a:srgbClr val="FF0000"/>
                </a:solidFill>
                <a:latin typeface="Consolas"/>
                <a:cs typeface="Consolas"/>
              </a:rPr>
              <a:t>&lt;/li&gt;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64"/>
              </a:lnSpc>
            </a:pPr>
            <a:r>
              <a:rPr sz="1400" b="1" spc="-5" dirty="0">
                <a:solidFill>
                  <a:srgbClr val="FF0000"/>
                </a:solidFill>
                <a:latin typeface="Consolas"/>
                <a:cs typeface="Consolas"/>
              </a:rPr>
              <a:t>&lt;/ul&gt;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HTML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0985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 </a:t>
            </a:r>
            <a:r>
              <a:rPr spc="-5" dirty="0"/>
              <a:t>of HTML </a:t>
            </a:r>
            <a:r>
              <a:rPr dirty="0"/>
              <a:t>- </a:t>
            </a:r>
            <a:r>
              <a:rPr spc="-10" dirty="0"/>
              <a:t>Annotate </a:t>
            </a:r>
            <a:r>
              <a:rPr spc="-5" dirty="0"/>
              <a:t>with</a:t>
            </a:r>
            <a:r>
              <a:rPr spc="-75" dirty="0"/>
              <a:t> </a:t>
            </a:r>
            <a:r>
              <a:rPr spc="-5" dirty="0"/>
              <a:t>tags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8388"/>
            <a:ext cx="5779135" cy="2962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0000"/>
                </a:solidFill>
                <a:latin typeface="Consolas"/>
                <a:cs typeface="Consolas"/>
              </a:rPr>
              <a:t>&lt;h2&gt;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Introduction</a:t>
            </a:r>
            <a:r>
              <a:rPr sz="1400" b="1" spc="-5" dirty="0">
                <a:solidFill>
                  <a:srgbClr val="FF0000"/>
                </a:solidFill>
                <a:latin typeface="Consolas"/>
                <a:cs typeface="Consolas"/>
              </a:rPr>
              <a:t>&lt;/h2&gt;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50"/>
              </a:lnSpc>
            </a:pPr>
            <a:r>
              <a:rPr sz="1400" b="1" spc="-5" dirty="0">
                <a:solidFill>
                  <a:srgbClr val="FF0000"/>
                </a:solidFill>
                <a:latin typeface="Consolas"/>
                <a:cs typeface="Consolas"/>
              </a:rPr>
              <a:t>&lt;p&gt;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50"/>
              </a:lnSpc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There are several good reasons for</a:t>
            </a:r>
            <a:r>
              <a:rPr sz="1400" spc="-2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taking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50"/>
              </a:lnSpc>
            </a:pPr>
            <a:r>
              <a:rPr sz="1400" b="1" spc="-5" dirty="0">
                <a:solidFill>
                  <a:srgbClr val="FF0000"/>
                </a:solidFill>
                <a:latin typeface="Consolas"/>
                <a:cs typeface="Consolas"/>
              </a:rPr>
              <a:t>&lt;i&gt;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CS142: Web</a:t>
            </a:r>
            <a:r>
              <a:rPr sz="14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Applications</a:t>
            </a:r>
            <a:r>
              <a:rPr sz="1400" b="1" spc="-5" dirty="0">
                <a:solidFill>
                  <a:srgbClr val="FF0000"/>
                </a:solidFill>
                <a:latin typeface="Consolas"/>
                <a:cs typeface="Consolas"/>
              </a:rPr>
              <a:t>&lt;/i&gt;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: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50"/>
              </a:lnSpc>
            </a:pPr>
            <a:r>
              <a:rPr sz="1400" b="1" spc="-5" dirty="0">
                <a:solidFill>
                  <a:srgbClr val="FF0000"/>
                </a:solidFill>
                <a:latin typeface="Consolas"/>
                <a:cs typeface="Consolas"/>
              </a:rPr>
              <a:t>&lt;/p&gt;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50"/>
              </a:lnSpc>
            </a:pPr>
            <a:r>
              <a:rPr sz="1400" b="1" spc="-5" dirty="0">
                <a:solidFill>
                  <a:srgbClr val="FF0000"/>
                </a:solidFill>
                <a:latin typeface="Consolas"/>
                <a:cs typeface="Consolas"/>
              </a:rPr>
              <a:t>&lt;ul&gt;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50"/>
              </a:lnSpc>
            </a:pPr>
            <a:r>
              <a:rPr sz="1400" b="1" spc="-5" dirty="0">
                <a:solidFill>
                  <a:srgbClr val="FF0000"/>
                </a:solidFill>
                <a:latin typeface="Consolas"/>
                <a:cs typeface="Consolas"/>
              </a:rPr>
              <a:t>&lt;li&gt;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50"/>
              </a:lnSpc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You will learn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variety of interesting</a:t>
            </a:r>
            <a:r>
              <a:rPr sz="1400" spc="-4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concepts.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50"/>
              </a:lnSpc>
            </a:pPr>
            <a:r>
              <a:rPr sz="1400" b="1" spc="-5" dirty="0">
                <a:solidFill>
                  <a:srgbClr val="FF0000"/>
                </a:solidFill>
                <a:latin typeface="Consolas"/>
                <a:cs typeface="Consolas"/>
              </a:rPr>
              <a:t>&lt;/li&gt;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50"/>
              </a:lnSpc>
            </a:pPr>
            <a:r>
              <a:rPr sz="1400" b="1" spc="-5" dirty="0">
                <a:solidFill>
                  <a:srgbClr val="FF0000"/>
                </a:solidFill>
                <a:latin typeface="Consolas"/>
                <a:cs typeface="Consolas"/>
              </a:rPr>
              <a:t>&lt;li&gt;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50"/>
              </a:lnSpc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It may inspire you to change the way software is</a:t>
            </a:r>
            <a:r>
              <a:rPr sz="1400" spc="-5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developed.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50"/>
              </a:lnSpc>
            </a:pPr>
            <a:r>
              <a:rPr sz="1400" b="1" spc="-5" dirty="0">
                <a:solidFill>
                  <a:srgbClr val="FF0000"/>
                </a:solidFill>
                <a:latin typeface="Consolas"/>
                <a:cs typeface="Consolas"/>
              </a:rPr>
              <a:t>&lt;/li&gt;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50"/>
              </a:lnSpc>
            </a:pPr>
            <a:r>
              <a:rPr sz="1400" b="1" spc="-5" dirty="0">
                <a:solidFill>
                  <a:srgbClr val="FF0000"/>
                </a:solidFill>
                <a:latin typeface="Consolas"/>
                <a:cs typeface="Consolas"/>
              </a:rPr>
              <a:t>&lt;li&gt;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64"/>
              </a:lnSpc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It will give you the tools to become fabulously</a:t>
            </a:r>
            <a:r>
              <a:rPr sz="1400" spc="-5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wealthy.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84725" y="4197840"/>
            <a:ext cx="513715" cy="412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05"/>
              </a:lnSpc>
            </a:pPr>
            <a:r>
              <a:rPr sz="1400" b="1" spc="-5" dirty="0">
                <a:solidFill>
                  <a:srgbClr val="FF0000"/>
                </a:solidFill>
                <a:latin typeface="Consolas"/>
                <a:cs typeface="Consolas"/>
              </a:rPr>
              <a:t>&lt;/li&gt;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64"/>
              </a:lnSpc>
            </a:pPr>
            <a:r>
              <a:rPr sz="1400" b="1" spc="-5" dirty="0">
                <a:solidFill>
                  <a:srgbClr val="FF0000"/>
                </a:solidFill>
                <a:latin typeface="Consolas"/>
                <a:cs typeface="Consolas"/>
              </a:rPr>
              <a:t>&lt;/ul&gt;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HTML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6579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Browser </a:t>
            </a:r>
            <a:r>
              <a:rPr spc="-5" dirty="0"/>
              <a:t>doesn’t </a:t>
            </a:r>
            <a:r>
              <a:rPr dirty="0"/>
              <a:t>care </a:t>
            </a:r>
            <a:r>
              <a:rPr spc="-5" dirty="0"/>
              <a:t>but programmers</a:t>
            </a:r>
            <a:r>
              <a:rPr spc="-85" dirty="0"/>
              <a:t> </a:t>
            </a:r>
            <a:r>
              <a:rPr spc="-5" dirty="0"/>
              <a:t>do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8388"/>
            <a:ext cx="6236335" cy="2962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0000"/>
                </a:solidFill>
                <a:latin typeface="Consolas"/>
                <a:cs typeface="Consolas"/>
              </a:rPr>
              <a:t>&lt;h2&gt;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Introduction</a:t>
            </a:r>
            <a:r>
              <a:rPr sz="1400" b="1" spc="-5" dirty="0">
                <a:solidFill>
                  <a:srgbClr val="FF0000"/>
                </a:solidFill>
                <a:latin typeface="Consolas"/>
                <a:cs typeface="Consolas"/>
              </a:rPr>
              <a:t>&lt;/h2&gt;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50"/>
              </a:lnSpc>
            </a:pPr>
            <a:r>
              <a:rPr sz="1400" b="1" spc="-5" dirty="0">
                <a:solidFill>
                  <a:srgbClr val="FF0000"/>
                </a:solidFill>
                <a:latin typeface="Consolas"/>
                <a:cs typeface="Consolas"/>
              </a:rPr>
              <a:t>&lt;p&gt;</a:t>
            </a:r>
            <a:endParaRPr sz="1400">
              <a:latin typeface="Consolas"/>
              <a:cs typeface="Consolas"/>
            </a:endParaRPr>
          </a:p>
          <a:p>
            <a:pPr marL="207645">
              <a:lnSpc>
                <a:spcPts val="1650"/>
              </a:lnSpc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There are several good reasons for</a:t>
            </a:r>
            <a:r>
              <a:rPr sz="1400" spc="-2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taking</a:t>
            </a:r>
            <a:endParaRPr sz="1400">
              <a:latin typeface="Consolas"/>
              <a:cs typeface="Consolas"/>
            </a:endParaRPr>
          </a:p>
          <a:p>
            <a:pPr marL="207645">
              <a:lnSpc>
                <a:spcPts val="1650"/>
              </a:lnSpc>
            </a:pPr>
            <a:r>
              <a:rPr sz="1400" b="1" spc="-5" dirty="0">
                <a:solidFill>
                  <a:srgbClr val="FF0000"/>
                </a:solidFill>
                <a:latin typeface="Consolas"/>
                <a:cs typeface="Consolas"/>
              </a:rPr>
              <a:t>&lt;i&gt;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CS142: Web</a:t>
            </a:r>
            <a:r>
              <a:rPr sz="14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Applications</a:t>
            </a:r>
            <a:r>
              <a:rPr sz="1400" b="1" spc="-5" dirty="0">
                <a:solidFill>
                  <a:srgbClr val="FF0000"/>
                </a:solidFill>
                <a:latin typeface="Consolas"/>
                <a:cs typeface="Consolas"/>
              </a:rPr>
              <a:t>&lt;/i&gt;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: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50"/>
              </a:lnSpc>
            </a:pPr>
            <a:r>
              <a:rPr sz="1400" b="1" spc="-5" dirty="0">
                <a:solidFill>
                  <a:srgbClr val="FF0000"/>
                </a:solidFill>
                <a:latin typeface="Consolas"/>
                <a:cs typeface="Consolas"/>
              </a:rPr>
              <a:t>&lt;/p&gt;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50"/>
              </a:lnSpc>
            </a:pPr>
            <a:r>
              <a:rPr sz="1400" b="1" spc="-5" dirty="0">
                <a:solidFill>
                  <a:srgbClr val="FF0000"/>
                </a:solidFill>
                <a:latin typeface="Consolas"/>
                <a:cs typeface="Consolas"/>
              </a:rPr>
              <a:t>&lt;ul&gt;</a:t>
            </a:r>
            <a:endParaRPr sz="1400">
              <a:latin typeface="Consolas"/>
              <a:cs typeface="Consolas"/>
            </a:endParaRPr>
          </a:p>
          <a:p>
            <a:pPr marL="207645">
              <a:lnSpc>
                <a:spcPts val="1650"/>
              </a:lnSpc>
            </a:pPr>
            <a:r>
              <a:rPr sz="1400" b="1" spc="-5" dirty="0">
                <a:solidFill>
                  <a:srgbClr val="FF0000"/>
                </a:solidFill>
                <a:latin typeface="Consolas"/>
                <a:cs typeface="Consolas"/>
              </a:rPr>
              <a:t>&lt;li&gt;</a:t>
            </a:r>
            <a:endParaRPr sz="1400">
              <a:latin typeface="Consolas"/>
              <a:cs typeface="Consolas"/>
            </a:endParaRPr>
          </a:p>
          <a:p>
            <a:pPr marL="469900">
              <a:lnSpc>
                <a:spcPts val="1650"/>
              </a:lnSpc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You will learn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variety of interesting</a:t>
            </a:r>
            <a:r>
              <a:rPr sz="1400" spc="-4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concepts.</a:t>
            </a:r>
            <a:endParaRPr sz="1400">
              <a:latin typeface="Consolas"/>
              <a:cs typeface="Consolas"/>
            </a:endParaRPr>
          </a:p>
          <a:p>
            <a:pPr marL="207645">
              <a:lnSpc>
                <a:spcPts val="1650"/>
              </a:lnSpc>
            </a:pPr>
            <a:r>
              <a:rPr sz="1400" b="1" spc="-5" dirty="0">
                <a:solidFill>
                  <a:srgbClr val="FF0000"/>
                </a:solidFill>
                <a:latin typeface="Consolas"/>
                <a:cs typeface="Consolas"/>
              </a:rPr>
              <a:t>&lt;/li&gt;</a:t>
            </a:r>
            <a:endParaRPr sz="1400">
              <a:latin typeface="Consolas"/>
              <a:cs typeface="Consolas"/>
            </a:endParaRPr>
          </a:p>
          <a:p>
            <a:pPr marL="207645">
              <a:lnSpc>
                <a:spcPts val="1650"/>
              </a:lnSpc>
            </a:pPr>
            <a:r>
              <a:rPr sz="1400" b="1" spc="-5" dirty="0">
                <a:solidFill>
                  <a:srgbClr val="FF0000"/>
                </a:solidFill>
                <a:latin typeface="Consolas"/>
                <a:cs typeface="Consolas"/>
              </a:rPr>
              <a:t>&lt;li&gt;</a:t>
            </a:r>
            <a:endParaRPr sz="1400">
              <a:latin typeface="Consolas"/>
              <a:cs typeface="Consolas"/>
            </a:endParaRPr>
          </a:p>
          <a:p>
            <a:pPr marL="469900">
              <a:lnSpc>
                <a:spcPts val="1650"/>
              </a:lnSpc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It may inspire you to change the way software is</a:t>
            </a:r>
            <a:r>
              <a:rPr sz="1400" spc="-5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developed.</a:t>
            </a:r>
            <a:endParaRPr sz="1400">
              <a:latin typeface="Consolas"/>
              <a:cs typeface="Consolas"/>
            </a:endParaRPr>
          </a:p>
          <a:p>
            <a:pPr marL="207645">
              <a:lnSpc>
                <a:spcPts val="1650"/>
              </a:lnSpc>
            </a:pPr>
            <a:r>
              <a:rPr sz="1400" b="1" spc="-5" dirty="0">
                <a:solidFill>
                  <a:srgbClr val="FF0000"/>
                </a:solidFill>
                <a:latin typeface="Consolas"/>
                <a:cs typeface="Consolas"/>
              </a:rPr>
              <a:t>&lt;/li&gt;</a:t>
            </a:r>
            <a:endParaRPr sz="1400">
              <a:latin typeface="Consolas"/>
              <a:cs typeface="Consolas"/>
            </a:endParaRPr>
          </a:p>
          <a:p>
            <a:pPr marL="207645">
              <a:lnSpc>
                <a:spcPts val="1650"/>
              </a:lnSpc>
            </a:pPr>
            <a:r>
              <a:rPr sz="1400" b="1" spc="-5" dirty="0">
                <a:solidFill>
                  <a:srgbClr val="FF0000"/>
                </a:solidFill>
                <a:latin typeface="Consolas"/>
                <a:cs typeface="Consolas"/>
              </a:rPr>
              <a:t>&lt;li&gt;</a:t>
            </a:r>
            <a:endParaRPr sz="1400">
              <a:latin typeface="Consolas"/>
              <a:cs typeface="Consolas"/>
            </a:endParaRPr>
          </a:p>
          <a:p>
            <a:pPr marL="469900">
              <a:lnSpc>
                <a:spcPts val="1664"/>
              </a:lnSpc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It will give you the tools to become fabulously</a:t>
            </a:r>
            <a:r>
              <a:rPr sz="1400" spc="-5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wealthy.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HTML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1720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 </a:t>
            </a:r>
            <a:r>
              <a:rPr spc="-5" dirty="0"/>
              <a:t>HTML </a:t>
            </a:r>
            <a:r>
              <a:rPr dirty="0"/>
              <a:t>- </a:t>
            </a:r>
            <a:r>
              <a:rPr spc="-10" dirty="0"/>
              <a:t>Browser</a:t>
            </a:r>
            <a:r>
              <a:rPr spc="-90" dirty="0"/>
              <a:t> </a:t>
            </a:r>
            <a:r>
              <a:rPr spc="-5" dirty="0"/>
              <a:t>output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423111"/>
            <a:ext cx="6290945" cy="2150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latin typeface="Times New Roman"/>
                <a:cs typeface="Times New Roman"/>
              </a:rPr>
              <a:t>Introduction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25"/>
              </a:spcBef>
            </a:pPr>
            <a:r>
              <a:rPr sz="1800" spc="-5" dirty="0">
                <a:latin typeface="Times New Roman"/>
                <a:cs typeface="Times New Roman"/>
              </a:rPr>
              <a:t>There are several </a:t>
            </a:r>
            <a:r>
              <a:rPr sz="1800" dirty="0">
                <a:latin typeface="Times New Roman"/>
                <a:cs typeface="Times New Roman"/>
              </a:rPr>
              <a:t>good reasons for </a:t>
            </a:r>
            <a:r>
              <a:rPr sz="1800" spc="-5" dirty="0">
                <a:latin typeface="Times New Roman"/>
                <a:cs typeface="Times New Roman"/>
              </a:rPr>
              <a:t>taking </a:t>
            </a:r>
            <a:r>
              <a:rPr sz="1800" i="1" spc="-5" dirty="0">
                <a:latin typeface="Times New Roman"/>
                <a:cs typeface="Times New Roman"/>
              </a:rPr>
              <a:t>CS142: </a:t>
            </a:r>
            <a:r>
              <a:rPr sz="1800" i="1" dirty="0">
                <a:latin typeface="Times New Roman"/>
                <a:cs typeface="Times New Roman"/>
              </a:rPr>
              <a:t>Web</a:t>
            </a:r>
            <a:r>
              <a:rPr sz="1800" i="1" spc="15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Applications</a:t>
            </a:r>
            <a:r>
              <a:rPr sz="1800" spc="-5" dirty="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 marL="671195" indent="-201930">
              <a:lnSpc>
                <a:spcPct val="100000"/>
              </a:lnSpc>
              <a:spcBef>
                <a:spcPts val="1215"/>
              </a:spcBef>
              <a:buFont typeface="Arial"/>
              <a:buChar char="●"/>
              <a:tabLst>
                <a:tab pos="671830" algn="l"/>
              </a:tabLst>
            </a:pPr>
            <a:r>
              <a:rPr sz="1800" spc="-5" dirty="0">
                <a:latin typeface="Times New Roman"/>
                <a:cs typeface="Times New Roman"/>
              </a:rPr>
              <a:t>You will learn </a:t>
            </a:r>
            <a:r>
              <a:rPr sz="1800" dirty="0">
                <a:latin typeface="Times New Roman"/>
                <a:cs typeface="Times New Roman"/>
              </a:rPr>
              <a:t>a variety of </a:t>
            </a:r>
            <a:r>
              <a:rPr sz="1800" spc="-5" dirty="0">
                <a:latin typeface="Times New Roman"/>
                <a:cs typeface="Times New Roman"/>
              </a:rPr>
              <a:t>interesting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concepts.</a:t>
            </a:r>
            <a:endParaRPr sz="1800">
              <a:latin typeface="Times New Roman"/>
              <a:cs typeface="Times New Roman"/>
            </a:endParaRPr>
          </a:p>
          <a:p>
            <a:pPr marL="671195" indent="-201930">
              <a:lnSpc>
                <a:spcPct val="100000"/>
              </a:lnSpc>
              <a:spcBef>
                <a:spcPts val="315"/>
              </a:spcBef>
              <a:buFont typeface="Arial"/>
              <a:buChar char="●"/>
              <a:tabLst>
                <a:tab pos="671830" algn="l"/>
              </a:tabLst>
            </a:pPr>
            <a:r>
              <a:rPr sz="1800" dirty="0">
                <a:latin typeface="Times New Roman"/>
                <a:cs typeface="Times New Roman"/>
              </a:rPr>
              <a:t>It </a:t>
            </a:r>
            <a:r>
              <a:rPr sz="1800" spc="-5" dirty="0">
                <a:latin typeface="Times New Roman"/>
                <a:cs typeface="Times New Roman"/>
              </a:rPr>
              <a:t>may inspire </a:t>
            </a:r>
            <a:r>
              <a:rPr sz="1800" dirty="0">
                <a:latin typeface="Times New Roman"/>
                <a:cs typeface="Times New Roman"/>
              </a:rPr>
              <a:t>you </a:t>
            </a:r>
            <a:r>
              <a:rPr sz="1800" spc="-5" dirty="0">
                <a:latin typeface="Times New Roman"/>
                <a:cs typeface="Times New Roman"/>
              </a:rPr>
              <a:t>to change the way software is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developed.</a:t>
            </a:r>
            <a:endParaRPr sz="1800">
              <a:latin typeface="Times New Roman"/>
              <a:cs typeface="Times New Roman"/>
            </a:endParaRPr>
          </a:p>
          <a:p>
            <a:pPr marL="671195" indent="-201930">
              <a:lnSpc>
                <a:spcPct val="100000"/>
              </a:lnSpc>
              <a:spcBef>
                <a:spcPts val="315"/>
              </a:spcBef>
              <a:buFont typeface="Arial"/>
              <a:buChar char="●"/>
              <a:tabLst>
                <a:tab pos="671830" algn="l"/>
              </a:tabLst>
            </a:pPr>
            <a:r>
              <a:rPr sz="1800" dirty="0">
                <a:latin typeface="Times New Roman"/>
                <a:cs typeface="Times New Roman"/>
              </a:rPr>
              <a:t>It </a:t>
            </a:r>
            <a:r>
              <a:rPr sz="1800" spc="-5" dirty="0">
                <a:latin typeface="Times New Roman"/>
                <a:cs typeface="Times New Roman"/>
              </a:rPr>
              <a:t>will </a:t>
            </a:r>
            <a:r>
              <a:rPr sz="1800" dirty="0">
                <a:latin typeface="Times New Roman"/>
                <a:cs typeface="Times New Roman"/>
              </a:rPr>
              <a:t>give you </a:t>
            </a:r>
            <a:r>
              <a:rPr sz="1800" spc="-5" dirty="0">
                <a:latin typeface="Times New Roman"/>
                <a:cs typeface="Times New Roman"/>
              </a:rPr>
              <a:t>the tools to </a:t>
            </a:r>
            <a:r>
              <a:rPr sz="1800" dirty="0">
                <a:latin typeface="Times New Roman"/>
                <a:cs typeface="Times New Roman"/>
              </a:rPr>
              <a:t>become fabulously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wealthy.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HTML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5482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HTML</a:t>
            </a:r>
            <a:r>
              <a:rPr spc="-85" dirty="0"/>
              <a:t> </a:t>
            </a:r>
            <a:r>
              <a:rPr spc="-10" dirty="0"/>
              <a:t>Evolution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071575"/>
            <a:ext cx="7971790" cy="3273425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Influenced by browser implementation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quirks</a:t>
            </a:r>
            <a:endParaRPr sz="1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14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What to do if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you see </a:t>
            </a:r>
            <a:r>
              <a:rPr sz="1800" b="1" spc="-5" dirty="0">
                <a:latin typeface="Arial"/>
                <a:cs typeface="Arial"/>
              </a:rPr>
              <a:t>“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&lt;p&gt;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Some text”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(missing closing</a:t>
            </a:r>
            <a:r>
              <a:rPr sz="180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latin typeface="Consolas"/>
                <a:cs typeface="Consolas"/>
              </a:rPr>
              <a:t>&lt;/p&gt;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)?</a:t>
            </a:r>
            <a:endParaRPr sz="1800">
              <a:latin typeface="Arial"/>
              <a:cs typeface="Arial"/>
            </a:endParaRPr>
          </a:p>
          <a:p>
            <a:pPr marL="927100" indent="-419734">
              <a:lnSpc>
                <a:spcPct val="100000"/>
              </a:lnSpc>
              <a:spcBef>
                <a:spcPts val="1140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Complain bitterly about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malformed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HTML.</a:t>
            </a:r>
            <a:endParaRPr sz="1800">
              <a:latin typeface="Arial"/>
              <a:cs typeface="Arial"/>
            </a:endParaRPr>
          </a:p>
          <a:p>
            <a:pPr marL="927100" indent="-419734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Figure out there was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missing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&lt;/p&gt;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, add it, and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continue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processing.</a:t>
            </a:r>
            <a:endParaRPr sz="1800">
              <a:latin typeface="Arial"/>
              <a:cs typeface="Arial"/>
            </a:endParaRPr>
          </a:p>
          <a:p>
            <a:pPr marL="469900" marR="2074545" indent="-457200">
              <a:lnSpc>
                <a:spcPct val="1528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Forked into HTML and XHTML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(XML-based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HTML)  XHTML is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more strict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about adhering to proper</a:t>
            </a:r>
            <a:r>
              <a:rPr sz="1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syntax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 the HTML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class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projects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(1,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2, and 3) we will use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XHTML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Users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came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depend on browser quirks,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browsers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couldn't</a:t>
            </a:r>
            <a:r>
              <a:rPr sz="18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change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HTML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3643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 XHTML</a:t>
            </a:r>
            <a:r>
              <a:rPr spc="-85" dirty="0"/>
              <a:t> </a:t>
            </a:r>
            <a:r>
              <a:rPr spc="-5" dirty="0"/>
              <a:t>document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84987"/>
            <a:ext cx="7491095" cy="306387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&lt;?xml version="1.0"</a:t>
            </a:r>
            <a:r>
              <a:rPr sz="1600" spc="-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encoding="utf-8"?&gt;</a:t>
            </a:r>
            <a:endParaRPr sz="1600">
              <a:latin typeface="Consolas"/>
              <a:cs typeface="Consolas"/>
            </a:endParaRPr>
          </a:p>
          <a:p>
            <a:pPr marL="458470" marR="1223010" indent="-446405">
              <a:lnSpc>
                <a:spcPct val="113300"/>
              </a:lnSpc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&lt;!DOCTYPE html PUBLIC "-//W3C//DTD XHTML 1.0 Strict//EN" 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  <a:hlinkClick r:id="rId2"/>
              </a:rPr>
              <a:t>"http://www.w3.org/TR/xhtml1/DTD/xhtml1-strict.dtd"&gt;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&lt;html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  <a:hlinkClick r:id="rId3"/>
              </a:rPr>
              <a:t> xmlns="http://www.w3.org/1999/xhtml"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xml:lang="en"</a:t>
            </a:r>
            <a:r>
              <a:rPr sz="1600" spc="-8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lang="en"&gt;</a:t>
            </a:r>
            <a:endParaRPr sz="1600">
              <a:latin typeface="Consolas"/>
              <a:cs typeface="Consolas"/>
            </a:endParaRPr>
          </a:p>
          <a:p>
            <a:pPr marL="235585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&lt;head&gt;</a:t>
            </a:r>
            <a:endParaRPr sz="1600">
              <a:latin typeface="Consolas"/>
              <a:cs typeface="Consolas"/>
            </a:endParaRPr>
          </a:p>
          <a:p>
            <a:pPr marL="458470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&lt;title&gt;Hello</a:t>
            </a:r>
            <a:r>
              <a:rPr sz="16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World&lt;/title&gt;</a:t>
            </a:r>
            <a:endParaRPr sz="1600">
              <a:latin typeface="Consolas"/>
              <a:cs typeface="Consolas"/>
            </a:endParaRPr>
          </a:p>
          <a:p>
            <a:pPr marL="235585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&lt;/head&gt;</a:t>
            </a:r>
            <a:endParaRPr sz="1600">
              <a:latin typeface="Consolas"/>
              <a:cs typeface="Consolas"/>
            </a:endParaRPr>
          </a:p>
          <a:p>
            <a:pPr marL="235585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&lt;body&gt;</a:t>
            </a:r>
            <a:endParaRPr sz="1600">
              <a:latin typeface="Consolas"/>
              <a:cs typeface="Consolas"/>
            </a:endParaRPr>
          </a:p>
          <a:p>
            <a:pPr marL="458470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&lt;p&gt;Hello</a:t>
            </a:r>
            <a:r>
              <a:rPr sz="16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world!&lt;/p&gt;</a:t>
            </a:r>
            <a:endParaRPr sz="1600">
              <a:latin typeface="Consolas"/>
              <a:cs typeface="Consolas"/>
            </a:endParaRPr>
          </a:p>
          <a:p>
            <a:pPr marL="235585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&lt;/body&gt;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&lt;/html&gt;</a:t>
            </a:r>
            <a:endParaRPr sz="16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HTML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7542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Basic Syntax </a:t>
            </a:r>
            <a:r>
              <a:rPr dirty="0"/>
              <a:t>rules </a:t>
            </a:r>
            <a:r>
              <a:rPr spc="-5" dirty="0"/>
              <a:t>for</a:t>
            </a:r>
            <a:r>
              <a:rPr spc="-90" dirty="0"/>
              <a:t> </a:t>
            </a:r>
            <a:r>
              <a:rPr spc="-10" dirty="0"/>
              <a:t>XHTML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071575"/>
            <a:ext cx="6927850" cy="3702050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Document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: hierarchical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collection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elements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,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starting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18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&lt;html&gt;</a:t>
            </a:r>
            <a:endParaRPr sz="1800">
              <a:latin typeface="Consolas"/>
              <a:cs typeface="Consolas"/>
            </a:endParaRPr>
          </a:p>
          <a:p>
            <a:pPr marL="469900" marR="2784475">
              <a:lnSpc>
                <a:spcPct val="1528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Element: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start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tag,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contents,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end</a:t>
            </a:r>
            <a:r>
              <a:rPr sz="1800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tag  Elements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may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be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nested</a:t>
            </a:r>
            <a:endParaRPr sz="1800">
              <a:latin typeface="Arial"/>
              <a:cs typeface="Arial"/>
            </a:endParaRPr>
          </a:p>
          <a:p>
            <a:pPr marL="927100" marR="1361440" indent="-457200">
              <a:lnSpc>
                <a:spcPct val="1528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Every element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must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have an explicit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start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 end  Can use &lt;foo /&gt; as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shorthand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8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&lt;foo&gt;&lt;/foo&gt;</a:t>
            </a:r>
            <a:endParaRPr sz="1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14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Start tags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 contain</a:t>
            </a:r>
            <a:r>
              <a:rPr sz="1800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attributes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114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&lt;img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src="face.jpg"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spcBef>
                <a:spcPts val="76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&lt;input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type="text" value="94301"</a:t>
            </a:r>
            <a:r>
              <a:rPr sz="1800" spc="-1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name="zip"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spcBef>
                <a:spcPts val="76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&lt;div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class="header"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HTML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1177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Need to handle </a:t>
            </a:r>
            <a:r>
              <a:rPr dirty="0"/>
              <a:t>markup characters </a:t>
            </a:r>
            <a:r>
              <a:rPr spc="-5" dirty="0"/>
              <a:t>in</a:t>
            </a:r>
            <a:r>
              <a:rPr spc="-100" dirty="0"/>
              <a:t> </a:t>
            </a:r>
            <a:r>
              <a:rPr dirty="0"/>
              <a:t>content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5368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display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literal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&lt;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&gt;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document, use</a:t>
            </a:r>
            <a:r>
              <a:rPr sz="1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entities: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1925" y="1490675"/>
            <a:ext cx="778510" cy="2120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28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&amp;lt;  &amp;gt;  &amp;amp;  &amp;quot;  &amp;nbsp;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75970" y="1490675"/>
            <a:ext cx="6017895" cy="2120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939665" indent="1905" algn="just">
              <a:lnSpc>
                <a:spcPct val="1528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Displays</a:t>
            </a:r>
            <a:r>
              <a:rPr sz="18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&lt; 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Displays</a:t>
            </a:r>
            <a:r>
              <a:rPr sz="18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&gt; 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Displays</a:t>
            </a:r>
            <a:r>
              <a:rPr sz="18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&amp; 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Displays</a:t>
            </a:r>
            <a:r>
              <a:rPr sz="18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"</a:t>
            </a:r>
            <a:endParaRPr sz="1800">
              <a:latin typeface="Consolas"/>
              <a:cs typeface="Consolas"/>
            </a:endParaRPr>
          </a:p>
          <a:p>
            <a:pPr marL="12700" algn="just">
              <a:lnSpc>
                <a:spcPct val="100000"/>
              </a:lnSpc>
              <a:spcBef>
                <a:spcPts val="114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Nonbreaking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space (won’t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insert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line break at this</a:t>
            </a:r>
            <a:r>
              <a:rPr sz="1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space)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725" y="3586175"/>
            <a:ext cx="7823834" cy="863600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Many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other entities are defined for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special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characters.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Whitespace is not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significant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except in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few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cases (e.g.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textarea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,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pre</a:t>
            </a:r>
            <a:r>
              <a:rPr sz="1800" spc="-484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tags)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HTML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8458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 XHTML </a:t>
            </a:r>
            <a:r>
              <a:rPr spc="-5" dirty="0"/>
              <a:t>document</a:t>
            </a:r>
            <a:r>
              <a:rPr spc="-75" dirty="0"/>
              <a:t> </a:t>
            </a:r>
            <a:r>
              <a:rPr dirty="0"/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84987"/>
            <a:ext cx="7493000" cy="306387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&lt;?xml version="1.0"</a:t>
            </a:r>
            <a:r>
              <a:rPr sz="1600" spc="-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encoding="utf-8"?&gt;</a:t>
            </a:r>
            <a:endParaRPr sz="1600">
              <a:latin typeface="Consolas"/>
              <a:cs typeface="Consolas"/>
            </a:endParaRPr>
          </a:p>
          <a:p>
            <a:pPr marL="458470" marR="1224280" indent="-446405">
              <a:lnSpc>
                <a:spcPct val="113300"/>
              </a:lnSpc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&lt;!</a:t>
            </a:r>
            <a:r>
              <a:rPr sz="1600" spc="-5" dirty="0">
                <a:solidFill>
                  <a:srgbClr val="FF0000"/>
                </a:solidFill>
                <a:latin typeface="Consolas"/>
                <a:cs typeface="Consolas"/>
              </a:rPr>
              <a:t>DOCTYPE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html PUBLIC "-//W3C//DTD XHTML 1.0 Strict//EN" 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  <a:hlinkClick r:id="rId2"/>
              </a:rPr>
              <a:t>"http://www.w3.org/TR/xhtml1/DTD/xhtml1-strict.dtd"&gt;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&lt;</a:t>
            </a:r>
            <a:r>
              <a:rPr sz="1600" spc="-5" dirty="0">
                <a:solidFill>
                  <a:srgbClr val="FF0000"/>
                </a:solidFill>
                <a:latin typeface="Consolas"/>
                <a:cs typeface="Consolas"/>
              </a:rPr>
              <a:t>html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  <a:hlinkClick r:id="rId3"/>
              </a:rPr>
              <a:t>xmlns="http://www.w3.org/1999/xhtml"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xml:lang="en"</a:t>
            </a:r>
            <a:r>
              <a:rPr sz="1600" spc="-8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lang="en"&gt;</a:t>
            </a:r>
            <a:endParaRPr sz="1600">
              <a:latin typeface="Consolas"/>
              <a:cs typeface="Consolas"/>
            </a:endParaRPr>
          </a:p>
          <a:p>
            <a:pPr marL="235585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&lt;</a:t>
            </a:r>
            <a:r>
              <a:rPr sz="1600" spc="-5" dirty="0">
                <a:solidFill>
                  <a:srgbClr val="FF0000"/>
                </a:solidFill>
                <a:latin typeface="Consolas"/>
                <a:cs typeface="Consolas"/>
              </a:rPr>
              <a:t>head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  <a:p>
            <a:pPr marL="458470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&lt;title&gt;Hello</a:t>
            </a:r>
            <a:r>
              <a:rPr sz="16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World&lt;/title&gt;</a:t>
            </a:r>
            <a:endParaRPr sz="1600">
              <a:latin typeface="Consolas"/>
              <a:cs typeface="Consolas"/>
            </a:endParaRPr>
          </a:p>
          <a:p>
            <a:pPr marL="235585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&lt;/</a:t>
            </a:r>
            <a:r>
              <a:rPr sz="1600" spc="-5" dirty="0">
                <a:solidFill>
                  <a:srgbClr val="FF0000"/>
                </a:solidFill>
                <a:latin typeface="Consolas"/>
                <a:cs typeface="Consolas"/>
              </a:rPr>
              <a:t>head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  <a:p>
            <a:pPr marL="235585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&lt;</a:t>
            </a:r>
            <a:r>
              <a:rPr sz="1600" spc="-5" dirty="0">
                <a:solidFill>
                  <a:srgbClr val="FF0000"/>
                </a:solidFill>
                <a:latin typeface="Consolas"/>
                <a:cs typeface="Consolas"/>
              </a:rPr>
              <a:t>body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  <a:p>
            <a:pPr marL="458470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&lt;p&gt;Hello</a:t>
            </a:r>
            <a:r>
              <a:rPr sz="16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world!&lt;/p&gt;</a:t>
            </a:r>
            <a:endParaRPr sz="1600">
              <a:latin typeface="Consolas"/>
              <a:cs typeface="Consolas"/>
            </a:endParaRPr>
          </a:p>
          <a:p>
            <a:pPr marL="235585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&lt;/</a:t>
            </a:r>
            <a:r>
              <a:rPr sz="1600" spc="-5" dirty="0">
                <a:solidFill>
                  <a:srgbClr val="FF0000"/>
                </a:solidFill>
                <a:latin typeface="Consolas"/>
                <a:cs typeface="Consolas"/>
              </a:rPr>
              <a:t>body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&lt;/</a:t>
            </a:r>
            <a:r>
              <a:rPr sz="1600" spc="-5" dirty="0">
                <a:solidFill>
                  <a:srgbClr val="FF0000"/>
                </a:solidFill>
                <a:latin typeface="Consolas"/>
                <a:cs typeface="Consolas"/>
              </a:rPr>
              <a:t>html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HTML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3688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XHTML </a:t>
            </a:r>
            <a:r>
              <a:rPr spc="-5" dirty="0"/>
              <a:t>document</a:t>
            </a:r>
            <a:r>
              <a:rPr spc="-85" dirty="0"/>
              <a:t> </a:t>
            </a:r>
            <a:r>
              <a:rPr dirty="0"/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84987"/>
            <a:ext cx="8192134" cy="342709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&lt;?xml version="1.0"</a:t>
            </a:r>
            <a:r>
              <a:rPr sz="16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encoding="utf-8"?&gt;</a:t>
            </a:r>
            <a:endParaRPr sz="1600">
              <a:latin typeface="Consolas"/>
              <a:cs typeface="Consolas"/>
            </a:endParaRPr>
          </a:p>
          <a:p>
            <a:pPr marL="458470" marR="1916430" indent="-446405">
              <a:lnSpc>
                <a:spcPct val="113300"/>
              </a:lnSpc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&lt;!</a:t>
            </a:r>
            <a:r>
              <a:rPr sz="1600" b="1" spc="-5" dirty="0">
                <a:solidFill>
                  <a:srgbClr val="FF0000"/>
                </a:solidFill>
                <a:latin typeface="Consolas"/>
                <a:cs typeface="Consolas"/>
              </a:rPr>
              <a:t>DOCTYPE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html PUBLIC "-//W3C//DTD XHTML 1.0 Strict//EN"  "</a:t>
            </a:r>
            <a:r>
              <a:rPr sz="16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Consolas"/>
                <a:cs typeface="Consolas"/>
                <a:hlinkClick r:id="rId2"/>
              </a:rPr>
              <a:t>http://www.w3.org/TR/xhtml1/DTD/xhtml1-strict.dtd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"&gt;</a:t>
            </a:r>
            <a:endParaRPr sz="1600">
              <a:latin typeface="Consolas"/>
              <a:cs typeface="Consolas"/>
            </a:endParaRPr>
          </a:p>
          <a:p>
            <a:pPr marL="469900" marR="276860" algn="just">
              <a:lnSpc>
                <a:spcPct val="114599"/>
              </a:lnSpc>
              <a:spcBef>
                <a:spcPts val="75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Indicate that this is an XHTML document,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conforming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version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1.0 of the 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standard;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 these lines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verbatim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 all the web pages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you create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 this 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class.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&lt;</a:t>
            </a:r>
            <a:r>
              <a:rPr sz="1600" b="1" spc="-5" dirty="0">
                <a:solidFill>
                  <a:srgbClr val="FF0000"/>
                </a:solidFill>
                <a:latin typeface="Consolas"/>
                <a:cs typeface="Consolas"/>
              </a:rPr>
              <a:t>html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  <a:hlinkClick r:id="rId3"/>
              </a:rPr>
              <a:t>xmlns="http://www.w3.org/1999/xhtml"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xml:lang="en"</a:t>
            </a:r>
            <a:r>
              <a:rPr sz="1600" spc="-3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lang="en"&gt;</a:t>
            </a:r>
            <a:endParaRPr sz="1600">
              <a:latin typeface="Consolas"/>
              <a:cs typeface="Consolas"/>
            </a:endParaRPr>
          </a:p>
          <a:p>
            <a:pPr marL="469900" algn="just">
              <a:lnSpc>
                <a:spcPct val="100000"/>
              </a:lnSpc>
              <a:spcBef>
                <a:spcPts val="24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Outermost element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containing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document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&lt;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head</a:t>
            </a: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&gt;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: Contains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miscellaneous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things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such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as page title, CSS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stylesheets,</a:t>
            </a:r>
            <a:r>
              <a:rPr sz="18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etc.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&lt;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body</a:t>
            </a: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&gt;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: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main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body of the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document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HTML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6037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Common usage </a:t>
            </a:r>
            <a:r>
              <a:rPr spc="-10" dirty="0"/>
              <a:t>XHTML</a:t>
            </a:r>
            <a:r>
              <a:rPr spc="-85" dirty="0"/>
              <a:t> </a:t>
            </a:r>
            <a:r>
              <a:rPr spc="-5" dirty="0"/>
              <a:t>tags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1906270" cy="159702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&lt;p&gt;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&lt;br&gt;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&lt;h1&gt;, &lt;h2&gt;,</a:t>
            </a:r>
            <a:r>
              <a:rPr sz="18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...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&lt;b&gt;,</a:t>
            </a:r>
            <a:r>
              <a:rPr sz="1800" spc="-2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&lt;i&gt;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&lt;pre&gt;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3062301"/>
            <a:ext cx="1782445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&lt;img&gt;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&lt;a</a:t>
            </a:r>
            <a:r>
              <a:rPr sz="18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href="..."&gt;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70725" y="1176350"/>
            <a:ext cx="5680710" cy="254000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New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paragraph</a:t>
            </a:r>
            <a:endParaRPr sz="1800">
              <a:latin typeface="Arial"/>
              <a:cs typeface="Arial"/>
            </a:endParaRPr>
          </a:p>
          <a:p>
            <a:pPr marL="12700" marR="1078230">
              <a:lnSpc>
                <a:spcPct val="114599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Force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line break within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same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paragraph  Headings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Boldface and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italic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14599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Typically used for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code: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indented with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fixed-width font, 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spaces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are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significant (e.g.,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newlines are preserved)  Images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Hyperlink to another Web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725" y="3835730"/>
            <a:ext cx="3796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&lt;!-- comments --&gt;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Comment</a:t>
            </a:r>
            <a:r>
              <a:rPr sz="1800" spc="1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tags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HTML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2630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Common used </a:t>
            </a:r>
            <a:r>
              <a:rPr spc="-10" dirty="0"/>
              <a:t>XHTML </a:t>
            </a:r>
            <a:r>
              <a:rPr spc="-5" dirty="0"/>
              <a:t>tags </a:t>
            </a:r>
            <a:r>
              <a:rPr dirty="0"/>
              <a:t>-</a:t>
            </a:r>
            <a:r>
              <a:rPr spc="-85" dirty="0"/>
              <a:t> </a:t>
            </a:r>
            <a:r>
              <a:rPr dirty="0"/>
              <a:t>continued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071575"/>
            <a:ext cx="1899920" cy="1701800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&lt;table&gt;, &lt;tr&gt;,</a:t>
            </a:r>
            <a:r>
              <a:rPr sz="18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&lt;td&gt;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&lt;ul&gt;,</a:t>
            </a:r>
            <a:r>
              <a:rPr sz="1800" spc="-10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&lt;li&gt;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&lt;ol&gt;,</a:t>
            </a:r>
            <a:r>
              <a:rPr sz="1800" spc="-10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&lt;li&gt;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&lt;div&gt;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3226130"/>
            <a:ext cx="778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&lt;span&gt;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70725" y="1071575"/>
            <a:ext cx="5853430" cy="2768600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Tables</a:t>
            </a:r>
            <a:endParaRPr sz="1800">
              <a:latin typeface="Arial"/>
              <a:cs typeface="Arial"/>
            </a:endParaRPr>
          </a:p>
          <a:p>
            <a:pPr marL="12700" marR="3064510">
              <a:lnSpc>
                <a:spcPct val="1528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Unordered list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(with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bullets)  Ordered list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(numbered)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14599"/>
              </a:lnSpc>
              <a:spcBef>
                <a:spcPts val="82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Used for grouping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related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elements, where the group  occupies entire lines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(forces 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line break before and</a:t>
            </a:r>
            <a:r>
              <a:rPr sz="18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after)</a:t>
            </a:r>
            <a:endParaRPr sz="1800">
              <a:latin typeface="Arial"/>
              <a:cs typeface="Arial"/>
            </a:endParaRPr>
          </a:p>
          <a:p>
            <a:pPr marL="12700" marR="259715">
              <a:lnSpc>
                <a:spcPct val="114599"/>
              </a:lnSpc>
              <a:spcBef>
                <a:spcPts val="969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Used for grouping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related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elements, where the group is  within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single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line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(no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forced line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breaks)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725" y="3938601"/>
            <a:ext cx="8315959" cy="65405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  <a:tabLst>
                <a:tab pos="5498465" algn="l"/>
              </a:tabLst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&lt;form&gt;, &lt;input&gt;, &lt;textarea&gt;,</a:t>
            </a:r>
            <a:r>
              <a:rPr sz="1800" spc="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&lt;select&gt;,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...	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Used 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create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forms</a:t>
            </a:r>
            <a:r>
              <a:rPr sz="18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where</a:t>
            </a:r>
            <a:endParaRPr sz="1800">
              <a:latin typeface="Arial"/>
              <a:cs typeface="Arial"/>
            </a:endParaRPr>
          </a:p>
          <a:p>
            <a:pPr marL="54991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users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input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HTML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9613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Commonly used tags: </a:t>
            </a:r>
            <a:r>
              <a:rPr spc="-5" dirty="0">
                <a:latin typeface="Consolas"/>
                <a:cs typeface="Consolas"/>
              </a:rPr>
              <a:t>&lt;head&gt;</a:t>
            </a:r>
            <a:r>
              <a:rPr spc="-800" dirty="0">
                <a:latin typeface="Consolas"/>
                <a:cs typeface="Consolas"/>
              </a:rPr>
              <a:t> </a:t>
            </a:r>
            <a:r>
              <a:rPr dirty="0"/>
              <a:t>section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904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&lt;title&gt;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1700226"/>
            <a:ext cx="836930" cy="863600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&lt;link&gt;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&lt;script&gt;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56324" y="1176350"/>
            <a:ext cx="6386195" cy="138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" marR="433070" indent="-21590">
              <a:lnSpc>
                <a:spcPct val="114599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Specify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title for the page, which will appear in the title bar  for the browser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window.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Include CSS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stylesheets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Used to add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page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(can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be used in body as</a:t>
            </a:r>
            <a:r>
              <a:rPr sz="18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well)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HTML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9390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HTML differences from</a:t>
            </a:r>
            <a:r>
              <a:rPr spc="-90" dirty="0"/>
              <a:t> </a:t>
            </a:r>
            <a:r>
              <a:rPr spc="-5" dirty="0"/>
              <a:t>XHTML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071575"/>
            <a:ext cx="8340725" cy="3502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948055" indent="-457200">
              <a:lnSpc>
                <a:spcPct val="1528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HTML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supports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same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tags,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same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features, but allows quirkier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syntax: 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skip some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end tags,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such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as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&lt;/br&gt;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,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&lt;/p&gt;</a:t>
            </a:r>
            <a:endParaRPr sz="1800" dirty="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Not all attributes have to have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values: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&lt;select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multiple&gt;</a:t>
            </a:r>
            <a:endParaRPr sz="1800" dirty="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Elements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overlap: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&lt;p&gt;&lt;b&gt;first&lt;/p&gt;&lt;p&gt;second&lt;/b&gt;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third&lt;/p&gt;</a:t>
            </a:r>
            <a:endParaRPr sz="1800" dirty="0">
              <a:latin typeface="Consolas"/>
              <a:cs typeface="Consolas"/>
            </a:endParaRPr>
          </a:p>
          <a:p>
            <a:pPr marL="469900" marR="513080" indent="-457200">
              <a:lnSpc>
                <a:spcPct val="114599"/>
              </a:lnSpc>
              <a:spcBef>
                <a:spcPts val="97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Early browsers tried to "do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right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thing" even in the face of incorrect HTML:  Ignore unknown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tags</a:t>
            </a:r>
            <a:endParaRPr sz="18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Carry on even with obvious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syntax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errors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such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missing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&lt;body&gt;</a:t>
            </a:r>
            <a:r>
              <a:rPr sz="1800" spc="-5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or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&lt;/html&gt;</a:t>
            </a:r>
            <a:endParaRPr sz="1800" dirty="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Infer the position of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missing close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tags</a:t>
            </a:r>
            <a:endParaRPr sz="18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Guess that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some &lt; characters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are literal, as in "What if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x &lt;</a:t>
            </a:r>
            <a:r>
              <a:rPr sz="18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0?"</a:t>
            </a:r>
            <a:endParaRPr sz="18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Not obvious how to interpret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some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documents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(and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browsers</a:t>
            </a:r>
            <a:r>
              <a:rPr sz="18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differed)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HTML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5998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Newer HTML </a:t>
            </a:r>
            <a:r>
              <a:rPr dirty="0"/>
              <a:t>-</a:t>
            </a:r>
            <a:r>
              <a:rPr spc="-90" dirty="0"/>
              <a:t> </a:t>
            </a:r>
            <a:r>
              <a:rPr spc="-5" dirty="0"/>
              <a:t>HTML5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pc="-5" dirty="0"/>
              <a:t>Additions tags to allow </a:t>
            </a:r>
            <a:r>
              <a:rPr dirty="0"/>
              <a:t>content</a:t>
            </a:r>
            <a:r>
              <a:rPr spc="-20" dirty="0"/>
              <a:t> </a:t>
            </a:r>
            <a:r>
              <a:rPr spc="-5" dirty="0"/>
              <a:t>definition</a:t>
            </a: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Arial"/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&lt;article&gt;, &lt;section&gt;, &lt;header&gt;, &lt;footer&gt;, &lt;summary&gt;, &lt;aside&gt;,</a:t>
            </a:r>
            <a:r>
              <a:rPr sz="1400" spc="-7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&lt;details&gt;</a:t>
            </a:r>
            <a:endParaRPr sz="1400">
              <a:latin typeface="Consolas"/>
              <a:cs typeface="Consolas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Font typeface="Arial"/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&lt;mark&gt;, &lt;figcaption&gt;,</a:t>
            </a:r>
            <a:r>
              <a:rPr sz="14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&lt;figure&gt;</a:t>
            </a:r>
            <a:endParaRPr sz="1400">
              <a:latin typeface="Consolas"/>
              <a:cs typeface="Consolas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Font typeface="Arial"/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&lt;nav&gt;,</a:t>
            </a:r>
            <a:r>
              <a:rPr sz="14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&lt;menuitem&gt;</a:t>
            </a:r>
            <a:endParaRPr sz="1400">
              <a:latin typeface="Consolas"/>
              <a:cs typeface="Consolas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595959"/>
              </a:buClr>
              <a:buFont typeface="Arial"/>
              <a:buChar char="○"/>
            </a:pPr>
            <a:endParaRPr sz="16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pc="-5" dirty="0"/>
              <a:t>Drawing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63193" y="2679522"/>
            <a:ext cx="4406265" cy="673100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348615" indent="-336550">
              <a:lnSpc>
                <a:spcPct val="100000"/>
              </a:lnSpc>
              <a:spcBef>
                <a:spcPts val="969"/>
              </a:spcBef>
              <a:buFont typeface="Arial"/>
              <a:buChar char="○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&lt;svg&gt; </a:t>
            </a:r>
            <a:r>
              <a:rPr sz="1400" dirty="0">
                <a:solidFill>
                  <a:srgbClr val="595959"/>
                </a:solidFill>
                <a:latin typeface="Courier New"/>
                <a:cs typeface="Courier New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Scalable Vector Graphics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Draw</a:t>
            </a:r>
            <a:r>
              <a:rPr sz="1400" spc="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shapes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869"/>
              </a:spcBef>
              <a:buChar char="○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&lt;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canvas&gt;</a:t>
            </a:r>
            <a:r>
              <a:rPr sz="1400" spc="-47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Draw from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JavaScript 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3D with WebGL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5249" y="3559505"/>
            <a:ext cx="5135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Timed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media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playback: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&lt;video&gt;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&lt;audio&gt;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9486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Another </a:t>
            </a:r>
            <a:r>
              <a:rPr dirty="0"/>
              <a:t>markup </a:t>
            </a:r>
            <a:r>
              <a:rPr spc="-5" dirty="0"/>
              <a:t>language:</a:t>
            </a:r>
            <a:r>
              <a:rPr spc="-90" dirty="0"/>
              <a:t> </a:t>
            </a:r>
            <a:r>
              <a:rPr dirty="0"/>
              <a:t>Markdown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99203"/>
            <a:ext cx="7200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595959"/>
                </a:solidFill>
                <a:latin typeface="Arial"/>
                <a:cs typeface="Arial"/>
              </a:rPr>
              <a:t>#</a:t>
            </a:r>
            <a:r>
              <a:rPr sz="12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Heading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1618303"/>
            <a:ext cx="10998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##</a:t>
            </a:r>
            <a:r>
              <a:rPr sz="12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Sub-heading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2037404"/>
            <a:ext cx="19545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### Another deeper</a:t>
            </a:r>
            <a:r>
              <a:rPr sz="12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heading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725" y="2429834"/>
            <a:ext cx="1793239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Paragraphs are</a:t>
            </a:r>
            <a:r>
              <a:rPr sz="12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595959"/>
                </a:solidFill>
                <a:latin typeface="Arial"/>
                <a:cs typeface="Arial"/>
              </a:rPr>
              <a:t>separated  </a:t>
            </a: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by </a:t>
            </a:r>
            <a:r>
              <a:rPr sz="12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blank</a:t>
            </a:r>
            <a:r>
              <a:rPr sz="12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line.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4725" y="3058484"/>
            <a:ext cx="2665730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Two </a:t>
            </a:r>
            <a:r>
              <a:rPr sz="1200" dirty="0">
                <a:solidFill>
                  <a:srgbClr val="595959"/>
                </a:solidFill>
                <a:latin typeface="Arial"/>
                <a:cs typeface="Arial"/>
              </a:rPr>
              <a:t>spaces </a:t>
            </a: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at the end of </a:t>
            </a:r>
            <a:r>
              <a:rPr sz="12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line leave </a:t>
            </a:r>
            <a:r>
              <a:rPr sz="1200" dirty="0">
                <a:solidFill>
                  <a:srgbClr val="595959"/>
                </a:solidFill>
                <a:latin typeface="Arial"/>
                <a:cs typeface="Arial"/>
              </a:rPr>
              <a:t>a  </a:t>
            </a: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line</a:t>
            </a:r>
            <a:r>
              <a:rPr sz="12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break.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4725" y="3687134"/>
            <a:ext cx="3376295" cy="44450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  <a:tabLst>
                <a:tab pos="2254250" algn="l"/>
                <a:tab pos="2711450" algn="l"/>
              </a:tabLst>
            </a:pP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Text attributes</a:t>
            </a:r>
            <a:r>
              <a:rPr sz="12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_italic_,</a:t>
            </a:r>
            <a:r>
              <a:rPr sz="12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*italic*,</a:t>
            </a:r>
            <a:r>
              <a:rPr sz="1200" u="sng" spc="-5" dirty="0">
                <a:solidFill>
                  <a:srgbClr val="595959"/>
                </a:solidFill>
                <a:uFill>
                  <a:solidFill>
                    <a:srgbClr val="585858"/>
                  </a:solidFill>
                </a:uFill>
                <a:latin typeface="Arial"/>
                <a:cs typeface="Arial"/>
              </a:rPr>
              <a:t> 	</a:t>
            </a: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bold</a:t>
            </a:r>
            <a:r>
              <a:rPr sz="1200" u="sng" spc="-5" dirty="0">
                <a:solidFill>
                  <a:srgbClr val="595959"/>
                </a:solidFill>
                <a:uFill>
                  <a:solidFill>
                    <a:srgbClr val="585858"/>
                  </a:solidFill>
                </a:uFill>
                <a:latin typeface="Arial"/>
                <a:cs typeface="Arial"/>
              </a:rPr>
              <a:t> 	</a:t>
            </a:r>
            <a:r>
              <a:rPr sz="1200" dirty="0">
                <a:solidFill>
                  <a:srgbClr val="595959"/>
                </a:solidFill>
                <a:latin typeface="Arial"/>
                <a:cs typeface="Arial"/>
              </a:rPr>
              <a:t>,</a:t>
            </a:r>
            <a:r>
              <a:rPr sz="12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**bold**,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sz="1200" dirty="0">
                <a:solidFill>
                  <a:srgbClr val="595959"/>
                </a:solidFill>
                <a:latin typeface="Arial"/>
                <a:cs typeface="Arial"/>
              </a:rPr>
              <a:t>`monospace`.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4725" y="4342453"/>
            <a:ext cx="1049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Horizontal</a:t>
            </a:r>
            <a:r>
              <a:rPr sz="12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595959"/>
                </a:solidFill>
                <a:latin typeface="Arial"/>
                <a:cs typeface="Arial"/>
              </a:rPr>
              <a:t>rule: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4725" y="4752029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595959"/>
                </a:solidFill>
                <a:latin typeface="Arial"/>
                <a:cs typeface="Arial"/>
              </a:rPr>
              <a:t>---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81525" y="4766036"/>
            <a:ext cx="1670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21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05181" y="4766045"/>
            <a:ext cx="16973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HTML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05425" y="1219403"/>
            <a:ext cx="6756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Bullet</a:t>
            </a:r>
            <a:r>
              <a:rPr sz="12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list: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89855" y="1611833"/>
            <a:ext cx="677545" cy="65405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13664" indent="-101600">
              <a:lnSpc>
                <a:spcPct val="100000"/>
              </a:lnSpc>
              <a:spcBef>
                <a:spcPts val="310"/>
              </a:spcBef>
              <a:buChar char="*"/>
              <a:tabLst>
                <a:tab pos="114300" algn="l"/>
              </a:tabLst>
            </a:pP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apples</a:t>
            </a:r>
            <a:endParaRPr sz="1200">
              <a:latin typeface="Arial"/>
              <a:cs typeface="Arial"/>
            </a:endParaRPr>
          </a:p>
          <a:p>
            <a:pPr marL="113664" indent="-101600">
              <a:lnSpc>
                <a:spcPct val="100000"/>
              </a:lnSpc>
              <a:spcBef>
                <a:spcPts val="210"/>
              </a:spcBef>
              <a:buChar char="*"/>
              <a:tabLst>
                <a:tab pos="114300" algn="l"/>
              </a:tabLst>
            </a:pP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oranges</a:t>
            </a:r>
            <a:endParaRPr sz="1200">
              <a:latin typeface="Arial"/>
              <a:cs typeface="Arial"/>
            </a:endParaRPr>
          </a:p>
          <a:p>
            <a:pPr marL="113664" indent="-101600">
              <a:lnSpc>
                <a:spcPct val="100000"/>
              </a:lnSpc>
              <a:spcBef>
                <a:spcPts val="210"/>
              </a:spcBef>
              <a:buChar char="*"/>
              <a:tabLst>
                <a:tab pos="114300" algn="l"/>
              </a:tabLst>
            </a:pP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pears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05425" y="2476704"/>
            <a:ext cx="100774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Numbered</a:t>
            </a:r>
            <a:r>
              <a:rPr sz="12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list: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89855" y="2869133"/>
            <a:ext cx="745490" cy="65405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81610" indent="-169545">
              <a:lnSpc>
                <a:spcPct val="100000"/>
              </a:lnSpc>
              <a:spcBef>
                <a:spcPts val="309"/>
              </a:spcBef>
              <a:buAutoNum type="arabicPeriod"/>
              <a:tabLst>
                <a:tab pos="182245" algn="l"/>
              </a:tabLst>
            </a:pP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apples</a:t>
            </a:r>
            <a:endParaRPr sz="1200">
              <a:latin typeface="Arial"/>
              <a:cs typeface="Arial"/>
            </a:endParaRPr>
          </a:p>
          <a:p>
            <a:pPr marL="181610" indent="-169545">
              <a:lnSpc>
                <a:spcPct val="100000"/>
              </a:lnSpc>
              <a:spcBef>
                <a:spcPts val="209"/>
              </a:spcBef>
              <a:buAutoNum type="arabicPeriod"/>
              <a:tabLst>
                <a:tab pos="182245" algn="l"/>
              </a:tabLst>
            </a:pP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oranges</a:t>
            </a:r>
            <a:endParaRPr sz="1200">
              <a:latin typeface="Arial"/>
              <a:cs typeface="Arial"/>
            </a:endParaRPr>
          </a:p>
          <a:p>
            <a:pPr marL="181610" indent="-169545">
              <a:lnSpc>
                <a:spcPct val="100000"/>
              </a:lnSpc>
              <a:spcBef>
                <a:spcPts val="209"/>
              </a:spcBef>
              <a:buAutoNum type="arabicPeriod"/>
              <a:tabLst>
                <a:tab pos="182245" algn="l"/>
              </a:tabLst>
            </a:pP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pears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05425" y="3734004"/>
            <a:ext cx="191071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2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[link](http://example.com).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248975" y="1147325"/>
            <a:ext cx="19685" cy="3462020"/>
          </a:xfrm>
          <a:custGeom>
            <a:avLst/>
            <a:gdLst/>
            <a:ahLst/>
            <a:cxnLst/>
            <a:rect l="l" t="t" r="r" b="b"/>
            <a:pathLst>
              <a:path w="19685" h="3462020">
                <a:moveTo>
                  <a:pt x="0" y="0"/>
                </a:moveTo>
                <a:lnTo>
                  <a:pt x="19499" y="3461399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950499" y="4767624"/>
            <a:ext cx="2625725" cy="28956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8128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40"/>
              </a:spcBef>
            </a:pPr>
            <a:r>
              <a:rPr sz="800" spc="-5" dirty="0">
                <a:latin typeface="Arial"/>
                <a:cs typeface="Arial"/>
              </a:rPr>
              <a:t>Example from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spc="-5" dirty="0">
                <a:latin typeface="Arial"/>
                <a:cs typeface="Arial"/>
              </a:rPr>
              <a:t>https://en.wikipedia.org/wiki/Markdown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7556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Markdown </a:t>
            </a:r>
            <a:r>
              <a:rPr spc="-5" dirty="0"/>
              <a:t>language example</a:t>
            </a:r>
            <a:r>
              <a:rPr spc="-95" dirty="0"/>
              <a:t> </a:t>
            </a:r>
            <a:r>
              <a:rPr spc="-5" dirty="0"/>
              <a:t>output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432509"/>
            <a:ext cx="1100455" cy="634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Georgia"/>
                <a:cs typeface="Georgia"/>
              </a:rPr>
              <a:t>Heading</a:t>
            </a:r>
            <a:endParaRPr sz="17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400" b="1" spc="-5" dirty="0">
                <a:latin typeface="Arial"/>
                <a:cs typeface="Arial"/>
              </a:rPr>
              <a:t>Sub-heading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210258"/>
            <a:ext cx="170243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-5" dirty="0">
                <a:latin typeface="Arial"/>
                <a:cs typeface="Arial"/>
              </a:rPr>
              <a:t>Another deeper</a:t>
            </a:r>
            <a:r>
              <a:rPr sz="1150" b="1" spc="-80" dirty="0">
                <a:latin typeface="Arial"/>
                <a:cs typeface="Arial"/>
              </a:rPr>
              <a:t> </a:t>
            </a:r>
            <a:r>
              <a:rPr sz="1150" b="1" spc="-5" dirty="0">
                <a:latin typeface="Arial"/>
                <a:cs typeface="Arial"/>
              </a:rPr>
              <a:t>heading</a:t>
            </a:r>
            <a:endParaRPr sz="11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7425" y="2581225"/>
            <a:ext cx="2711450" cy="175260"/>
          </a:xfrm>
          <a:prstGeom prst="rect">
            <a:avLst/>
          </a:prstGeom>
          <a:solidFill>
            <a:srgbClr val="F7F9FA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5"/>
              </a:lnSpc>
            </a:pPr>
            <a:r>
              <a:rPr sz="1150" spc="-5" dirty="0">
                <a:solidFill>
                  <a:srgbClr val="222222"/>
                </a:solidFill>
                <a:latin typeface="Arial"/>
                <a:cs typeface="Arial"/>
              </a:rPr>
              <a:t>Paragraphs are </a:t>
            </a:r>
            <a:r>
              <a:rPr sz="1150" dirty="0">
                <a:solidFill>
                  <a:srgbClr val="222222"/>
                </a:solidFill>
                <a:latin typeface="Arial"/>
                <a:cs typeface="Arial"/>
              </a:rPr>
              <a:t>separated </a:t>
            </a:r>
            <a:r>
              <a:rPr sz="1150" spc="-5" dirty="0">
                <a:solidFill>
                  <a:srgbClr val="222222"/>
                </a:solidFill>
                <a:latin typeface="Arial"/>
                <a:cs typeface="Arial"/>
              </a:rPr>
              <a:t>by </a:t>
            </a:r>
            <a:r>
              <a:rPr sz="1150" dirty="0">
                <a:solidFill>
                  <a:srgbClr val="222222"/>
                </a:solidFill>
                <a:latin typeface="Arial"/>
                <a:cs typeface="Arial"/>
              </a:rPr>
              <a:t>a </a:t>
            </a:r>
            <a:r>
              <a:rPr sz="1150" spc="-5" dirty="0">
                <a:solidFill>
                  <a:srgbClr val="222222"/>
                </a:solidFill>
                <a:latin typeface="Arial"/>
                <a:cs typeface="Arial"/>
              </a:rPr>
              <a:t>blank</a:t>
            </a:r>
            <a:r>
              <a:rPr sz="1150" spc="-9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50" spc="-5" dirty="0">
                <a:solidFill>
                  <a:srgbClr val="222222"/>
                </a:solidFill>
                <a:latin typeface="Arial"/>
                <a:cs typeface="Arial"/>
              </a:rPr>
              <a:t>line.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7425" y="2857450"/>
            <a:ext cx="2532380" cy="175260"/>
          </a:xfrm>
          <a:prstGeom prst="rect">
            <a:avLst/>
          </a:prstGeom>
          <a:solidFill>
            <a:srgbClr val="F7F9FA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5"/>
              </a:lnSpc>
            </a:pPr>
            <a:r>
              <a:rPr sz="1150" spc="-5" dirty="0">
                <a:solidFill>
                  <a:srgbClr val="222222"/>
                </a:solidFill>
                <a:latin typeface="Arial"/>
                <a:cs typeface="Arial"/>
              </a:rPr>
              <a:t>Two </a:t>
            </a:r>
            <a:r>
              <a:rPr sz="1150" dirty="0">
                <a:solidFill>
                  <a:srgbClr val="222222"/>
                </a:solidFill>
                <a:latin typeface="Arial"/>
                <a:cs typeface="Arial"/>
              </a:rPr>
              <a:t>spaces </a:t>
            </a:r>
            <a:r>
              <a:rPr sz="1150" spc="-5" dirty="0">
                <a:solidFill>
                  <a:srgbClr val="222222"/>
                </a:solidFill>
                <a:latin typeface="Arial"/>
                <a:cs typeface="Arial"/>
              </a:rPr>
              <a:t>at the end of </a:t>
            </a:r>
            <a:r>
              <a:rPr sz="1150" dirty="0">
                <a:solidFill>
                  <a:srgbClr val="222222"/>
                </a:solidFill>
                <a:latin typeface="Arial"/>
                <a:cs typeface="Arial"/>
              </a:rPr>
              <a:t>a </a:t>
            </a:r>
            <a:r>
              <a:rPr sz="1150" spc="-5" dirty="0">
                <a:solidFill>
                  <a:srgbClr val="222222"/>
                </a:solidFill>
                <a:latin typeface="Arial"/>
                <a:cs typeface="Arial"/>
              </a:rPr>
              <a:t>line leave</a:t>
            </a:r>
            <a:r>
              <a:rPr sz="1150" spc="-8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222222"/>
                </a:solidFill>
                <a:latin typeface="Arial"/>
                <a:cs typeface="Arial"/>
              </a:rPr>
              <a:t>a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7425" y="3133675"/>
            <a:ext cx="673735" cy="175260"/>
          </a:xfrm>
          <a:prstGeom prst="rect">
            <a:avLst/>
          </a:prstGeom>
          <a:solidFill>
            <a:srgbClr val="F7F9FA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5"/>
              </a:lnSpc>
            </a:pPr>
            <a:r>
              <a:rPr sz="1150" spc="-5" dirty="0">
                <a:solidFill>
                  <a:srgbClr val="222222"/>
                </a:solidFill>
                <a:latin typeface="Arial"/>
                <a:cs typeface="Arial"/>
              </a:rPr>
              <a:t>line</a:t>
            </a:r>
            <a:r>
              <a:rPr sz="1150" spc="-9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50" spc="-5" dirty="0">
                <a:solidFill>
                  <a:srgbClr val="222222"/>
                </a:solidFill>
                <a:latin typeface="Arial"/>
                <a:cs typeface="Arial"/>
              </a:rPr>
              <a:t>break.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7425" y="3409900"/>
            <a:ext cx="3373754" cy="175260"/>
          </a:xfrm>
          <a:prstGeom prst="rect">
            <a:avLst/>
          </a:prstGeom>
          <a:solidFill>
            <a:srgbClr val="F7F9FA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5"/>
              </a:lnSpc>
            </a:pPr>
            <a:r>
              <a:rPr sz="1150" spc="-5" dirty="0">
                <a:solidFill>
                  <a:srgbClr val="222222"/>
                </a:solidFill>
                <a:latin typeface="Arial"/>
                <a:cs typeface="Arial"/>
              </a:rPr>
              <a:t>Text attributes </a:t>
            </a:r>
            <a:r>
              <a:rPr sz="1150" i="1" spc="-5" dirty="0">
                <a:solidFill>
                  <a:srgbClr val="222222"/>
                </a:solidFill>
                <a:latin typeface="Arial"/>
                <a:cs typeface="Arial"/>
              </a:rPr>
              <a:t>italic</a:t>
            </a:r>
            <a:r>
              <a:rPr sz="1150" spc="-5" dirty="0">
                <a:solidFill>
                  <a:srgbClr val="222222"/>
                </a:solidFill>
                <a:latin typeface="Arial"/>
                <a:cs typeface="Arial"/>
              </a:rPr>
              <a:t>, </a:t>
            </a:r>
            <a:r>
              <a:rPr sz="1150" i="1" spc="-5" dirty="0">
                <a:solidFill>
                  <a:srgbClr val="222222"/>
                </a:solidFill>
                <a:latin typeface="Arial"/>
                <a:cs typeface="Arial"/>
              </a:rPr>
              <a:t>italic</a:t>
            </a:r>
            <a:r>
              <a:rPr sz="1150" spc="-5" dirty="0">
                <a:solidFill>
                  <a:srgbClr val="222222"/>
                </a:solidFill>
                <a:latin typeface="Arial"/>
                <a:cs typeface="Arial"/>
              </a:rPr>
              <a:t>, </a:t>
            </a:r>
            <a:r>
              <a:rPr sz="1150" b="1" spc="-5" dirty="0">
                <a:solidFill>
                  <a:srgbClr val="222222"/>
                </a:solidFill>
                <a:latin typeface="Arial"/>
                <a:cs typeface="Arial"/>
              </a:rPr>
              <a:t>bold</a:t>
            </a:r>
            <a:r>
              <a:rPr sz="1150" spc="-5" dirty="0">
                <a:solidFill>
                  <a:srgbClr val="222222"/>
                </a:solidFill>
                <a:latin typeface="Arial"/>
                <a:cs typeface="Arial"/>
              </a:rPr>
              <a:t>, </a:t>
            </a:r>
            <a:r>
              <a:rPr sz="1150" b="1" spc="-5" dirty="0">
                <a:solidFill>
                  <a:srgbClr val="222222"/>
                </a:solidFill>
                <a:latin typeface="Arial"/>
                <a:cs typeface="Arial"/>
              </a:rPr>
              <a:t>bold</a:t>
            </a:r>
            <a:r>
              <a:rPr sz="1150" spc="-5" dirty="0">
                <a:solidFill>
                  <a:srgbClr val="222222"/>
                </a:solidFill>
                <a:latin typeface="Arial"/>
                <a:cs typeface="Arial"/>
              </a:rPr>
              <a:t>,</a:t>
            </a:r>
            <a:r>
              <a:rPr sz="1150" spc="-3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50" spc="-5" dirty="0">
                <a:latin typeface="Verdana"/>
                <a:cs typeface="Verdana"/>
              </a:rPr>
              <a:t>monospace</a:t>
            </a:r>
            <a:r>
              <a:rPr sz="1150" spc="-5" dirty="0">
                <a:solidFill>
                  <a:srgbClr val="222222"/>
                </a:solidFill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7425" y="3686125"/>
            <a:ext cx="982344" cy="175260"/>
          </a:xfrm>
          <a:prstGeom prst="rect">
            <a:avLst/>
          </a:prstGeom>
          <a:solidFill>
            <a:srgbClr val="F7F9FA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5"/>
              </a:lnSpc>
            </a:pPr>
            <a:r>
              <a:rPr sz="1150" spc="-5" dirty="0">
                <a:solidFill>
                  <a:srgbClr val="222222"/>
                </a:solidFill>
                <a:latin typeface="Arial"/>
                <a:cs typeface="Arial"/>
              </a:rPr>
              <a:t>Horizontal</a:t>
            </a:r>
            <a:r>
              <a:rPr sz="1150" spc="-9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222222"/>
                </a:solidFill>
                <a:latin typeface="Arial"/>
                <a:cs typeface="Arial"/>
              </a:rPr>
              <a:t>rule: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81525" y="4766036"/>
            <a:ext cx="1670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22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05181" y="4766045"/>
            <a:ext cx="16973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HTML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18125" y="1314400"/>
            <a:ext cx="624840" cy="175260"/>
          </a:xfrm>
          <a:prstGeom prst="rect">
            <a:avLst/>
          </a:prstGeom>
          <a:solidFill>
            <a:srgbClr val="F7F9FA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5"/>
              </a:lnSpc>
            </a:pPr>
            <a:r>
              <a:rPr sz="1150" spc="-5" dirty="0">
                <a:solidFill>
                  <a:srgbClr val="222222"/>
                </a:solidFill>
                <a:latin typeface="Arial"/>
                <a:cs typeface="Arial"/>
              </a:rPr>
              <a:t>Bullet</a:t>
            </a:r>
            <a:r>
              <a:rPr sz="1150" spc="-9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50" spc="-5" dirty="0">
                <a:solidFill>
                  <a:srgbClr val="222222"/>
                </a:solidFill>
                <a:latin typeface="Arial"/>
                <a:cs typeface="Arial"/>
              </a:rPr>
              <a:t>list:</a:t>
            </a:r>
            <a:endParaRPr sz="11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87140" y="1590625"/>
            <a:ext cx="760095" cy="175260"/>
          </a:xfrm>
          <a:prstGeom prst="rect">
            <a:avLst/>
          </a:prstGeom>
          <a:solidFill>
            <a:srgbClr val="F7F9FA"/>
          </a:solidFill>
        </p:spPr>
        <p:txBody>
          <a:bodyPr vert="horz" wrap="square" lIns="0" tIns="0" rIns="0" bIns="0" rtlCol="0">
            <a:spAutoFit/>
          </a:bodyPr>
          <a:lstStyle/>
          <a:p>
            <a:pPr marL="316230" indent="-316865">
              <a:lnSpc>
                <a:spcPts val="1335"/>
              </a:lnSpc>
              <a:buChar char="●"/>
              <a:tabLst>
                <a:tab pos="316230" algn="l"/>
                <a:tab pos="316865" algn="l"/>
              </a:tabLst>
            </a:pPr>
            <a:r>
              <a:rPr sz="1150" spc="-5" dirty="0">
                <a:solidFill>
                  <a:srgbClr val="222222"/>
                </a:solidFill>
                <a:latin typeface="Arial"/>
                <a:cs typeface="Arial"/>
              </a:rPr>
              <a:t>apples</a:t>
            </a:r>
            <a:endParaRPr sz="11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87140" y="1790650"/>
            <a:ext cx="857250" cy="175260"/>
          </a:xfrm>
          <a:prstGeom prst="rect">
            <a:avLst/>
          </a:prstGeom>
          <a:solidFill>
            <a:srgbClr val="F7F9FA"/>
          </a:solidFill>
        </p:spPr>
        <p:txBody>
          <a:bodyPr vert="horz" wrap="square" lIns="0" tIns="0" rIns="0" bIns="0" rtlCol="0">
            <a:spAutoFit/>
          </a:bodyPr>
          <a:lstStyle/>
          <a:p>
            <a:pPr marL="316230" indent="-316865">
              <a:lnSpc>
                <a:spcPts val="1335"/>
              </a:lnSpc>
              <a:buChar char="●"/>
              <a:tabLst>
                <a:tab pos="316230" algn="l"/>
                <a:tab pos="316865" algn="l"/>
              </a:tabLst>
            </a:pPr>
            <a:r>
              <a:rPr sz="1150" spc="-5" dirty="0">
                <a:solidFill>
                  <a:srgbClr val="222222"/>
                </a:solidFill>
                <a:latin typeface="Arial"/>
                <a:cs typeface="Arial"/>
              </a:rPr>
              <a:t>oranges</a:t>
            </a:r>
            <a:endParaRPr sz="11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87140" y="1990675"/>
            <a:ext cx="695325" cy="175260"/>
          </a:xfrm>
          <a:prstGeom prst="rect">
            <a:avLst/>
          </a:prstGeom>
          <a:solidFill>
            <a:srgbClr val="F7F9FA"/>
          </a:solidFill>
        </p:spPr>
        <p:txBody>
          <a:bodyPr vert="horz" wrap="square" lIns="0" tIns="0" rIns="0" bIns="0" rtlCol="0">
            <a:spAutoFit/>
          </a:bodyPr>
          <a:lstStyle/>
          <a:p>
            <a:pPr marL="316230" indent="-316865">
              <a:lnSpc>
                <a:spcPts val="1335"/>
              </a:lnSpc>
              <a:buChar char="●"/>
              <a:tabLst>
                <a:tab pos="316230" algn="l"/>
                <a:tab pos="316865" algn="l"/>
              </a:tabLst>
            </a:pPr>
            <a:r>
              <a:rPr sz="1150" spc="-5" dirty="0">
                <a:solidFill>
                  <a:srgbClr val="222222"/>
                </a:solidFill>
                <a:latin typeface="Arial"/>
                <a:cs typeface="Arial"/>
              </a:rPr>
              <a:t>pears</a:t>
            </a:r>
            <a:endParaRPr sz="11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18125" y="2263725"/>
            <a:ext cx="941705" cy="175260"/>
          </a:xfrm>
          <a:prstGeom prst="rect">
            <a:avLst/>
          </a:prstGeom>
          <a:solidFill>
            <a:srgbClr val="F7F9FA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5"/>
              </a:lnSpc>
            </a:pPr>
            <a:r>
              <a:rPr sz="1150" spc="-5" dirty="0">
                <a:solidFill>
                  <a:srgbClr val="222222"/>
                </a:solidFill>
                <a:latin typeface="Arial"/>
                <a:cs typeface="Arial"/>
              </a:rPr>
              <a:t>Numbered</a:t>
            </a:r>
            <a:r>
              <a:rPr sz="1150" spc="-8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50" spc="-5" dirty="0">
                <a:solidFill>
                  <a:srgbClr val="222222"/>
                </a:solidFill>
                <a:latin typeface="Arial"/>
                <a:cs typeface="Arial"/>
              </a:rPr>
              <a:t>list:</a:t>
            </a:r>
            <a:endParaRPr sz="11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69463" y="2543125"/>
            <a:ext cx="793750" cy="175260"/>
          </a:xfrm>
          <a:prstGeom prst="rect">
            <a:avLst/>
          </a:prstGeom>
          <a:solidFill>
            <a:srgbClr val="F7F9FA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5"/>
              </a:lnSpc>
              <a:tabLst>
                <a:tab pos="349885" algn="l"/>
              </a:tabLst>
            </a:pPr>
            <a:r>
              <a:rPr sz="1150" spc="-5" dirty="0">
                <a:solidFill>
                  <a:srgbClr val="222222"/>
                </a:solidFill>
                <a:latin typeface="Arial"/>
                <a:cs typeface="Arial"/>
              </a:rPr>
              <a:t>1</a:t>
            </a:r>
            <a:r>
              <a:rPr sz="1150" dirty="0">
                <a:solidFill>
                  <a:srgbClr val="222222"/>
                </a:solidFill>
                <a:latin typeface="Arial"/>
                <a:cs typeface="Arial"/>
              </a:rPr>
              <a:t>.	</a:t>
            </a:r>
            <a:r>
              <a:rPr sz="1150" spc="-5" dirty="0">
                <a:solidFill>
                  <a:srgbClr val="222222"/>
                </a:solidFill>
                <a:latin typeface="Arial"/>
                <a:cs typeface="Arial"/>
              </a:rPr>
              <a:t>apples</a:t>
            </a:r>
            <a:endParaRPr sz="11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69463" y="2743150"/>
            <a:ext cx="890905" cy="175260"/>
          </a:xfrm>
          <a:prstGeom prst="rect">
            <a:avLst/>
          </a:prstGeom>
          <a:solidFill>
            <a:srgbClr val="F7F9FA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5"/>
              </a:lnSpc>
              <a:tabLst>
                <a:tab pos="349885" algn="l"/>
              </a:tabLst>
            </a:pPr>
            <a:r>
              <a:rPr sz="1150" spc="-5" dirty="0">
                <a:solidFill>
                  <a:srgbClr val="222222"/>
                </a:solidFill>
                <a:latin typeface="Arial"/>
                <a:cs typeface="Arial"/>
              </a:rPr>
              <a:t>2</a:t>
            </a:r>
            <a:r>
              <a:rPr sz="1150" dirty="0">
                <a:solidFill>
                  <a:srgbClr val="222222"/>
                </a:solidFill>
                <a:latin typeface="Arial"/>
                <a:cs typeface="Arial"/>
              </a:rPr>
              <a:t>.	</a:t>
            </a:r>
            <a:r>
              <a:rPr sz="1150" spc="-5" dirty="0">
                <a:solidFill>
                  <a:srgbClr val="222222"/>
                </a:solidFill>
                <a:latin typeface="Arial"/>
                <a:cs typeface="Arial"/>
              </a:rPr>
              <a:t>oranges</a:t>
            </a:r>
            <a:endParaRPr sz="11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469463" y="2943175"/>
            <a:ext cx="728345" cy="175260"/>
          </a:xfrm>
          <a:prstGeom prst="rect">
            <a:avLst/>
          </a:prstGeom>
          <a:solidFill>
            <a:srgbClr val="F7F9FA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5"/>
              </a:lnSpc>
              <a:tabLst>
                <a:tab pos="349885" algn="l"/>
              </a:tabLst>
            </a:pPr>
            <a:r>
              <a:rPr sz="1150" spc="-5" dirty="0">
                <a:solidFill>
                  <a:srgbClr val="222222"/>
                </a:solidFill>
                <a:latin typeface="Arial"/>
                <a:cs typeface="Arial"/>
              </a:rPr>
              <a:t>3</a:t>
            </a:r>
            <a:r>
              <a:rPr sz="1150" dirty="0">
                <a:solidFill>
                  <a:srgbClr val="222222"/>
                </a:solidFill>
                <a:latin typeface="Arial"/>
                <a:cs typeface="Arial"/>
              </a:rPr>
              <a:t>.	</a:t>
            </a:r>
            <a:r>
              <a:rPr sz="1150" spc="-5" dirty="0">
                <a:solidFill>
                  <a:srgbClr val="222222"/>
                </a:solidFill>
                <a:latin typeface="Arial"/>
                <a:cs typeface="Arial"/>
              </a:rPr>
              <a:t>pears</a:t>
            </a:r>
            <a:endParaRPr sz="11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18125" y="3216225"/>
            <a:ext cx="410845" cy="175260"/>
          </a:xfrm>
          <a:prstGeom prst="rect">
            <a:avLst/>
          </a:prstGeom>
          <a:solidFill>
            <a:srgbClr val="F7F9FA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5"/>
              </a:lnSpc>
            </a:pPr>
            <a:r>
              <a:rPr sz="1150" dirty="0">
                <a:solidFill>
                  <a:srgbClr val="222222"/>
                </a:solidFill>
                <a:latin typeface="Arial"/>
                <a:cs typeface="Arial"/>
              </a:rPr>
              <a:t>A</a:t>
            </a:r>
            <a:r>
              <a:rPr sz="1150" spc="-7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50" u="heavy" spc="-5" dirty="0">
                <a:solidFill>
                  <a:srgbClr val="663366"/>
                </a:solidFill>
                <a:uFill>
                  <a:solidFill>
                    <a:srgbClr val="663366"/>
                  </a:solidFill>
                </a:uFill>
                <a:latin typeface="Arial"/>
                <a:cs typeface="Arial"/>
                <a:hlinkClick r:id="rId2"/>
              </a:rPr>
              <a:t>link</a:t>
            </a:r>
            <a:r>
              <a:rPr sz="1150" spc="-5" dirty="0">
                <a:solidFill>
                  <a:srgbClr val="222222"/>
                </a:solidFill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248975" y="1147325"/>
            <a:ext cx="19685" cy="3462020"/>
          </a:xfrm>
          <a:custGeom>
            <a:avLst/>
            <a:gdLst/>
            <a:ahLst/>
            <a:cxnLst/>
            <a:rect l="l" t="t" r="r" b="b"/>
            <a:pathLst>
              <a:path w="19685" h="3462020">
                <a:moveTo>
                  <a:pt x="0" y="0"/>
                </a:moveTo>
                <a:lnTo>
                  <a:pt x="19499" y="3461399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99200" y="3986524"/>
            <a:ext cx="3743960" cy="29209"/>
          </a:xfrm>
          <a:custGeom>
            <a:avLst/>
            <a:gdLst/>
            <a:ahLst/>
            <a:cxnLst/>
            <a:rect l="l" t="t" r="r" b="b"/>
            <a:pathLst>
              <a:path w="3743960" h="29210">
                <a:moveTo>
                  <a:pt x="0" y="29099"/>
                </a:moveTo>
                <a:lnTo>
                  <a:pt x="3743399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E511CF504F4646AB54E0ACE4A117EC" ma:contentTypeVersion="0" ma:contentTypeDescription="Create a new document." ma:contentTypeScope="" ma:versionID="d4f0da77cb7c9de5903bc21ca831b4e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9C792F3-BA26-4F81-9C27-F312F0BF645A}"/>
</file>

<file path=customXml/itemProps2.xml><?xml version="1.0" encoding="utf-8"?>
<ds:datastoreItem xmlns:ds="http://schemas.openxmlformats.org/officeDocument/2006/customXml" ds:itemID="{51FB8335-A730-40E8-B2C8-3366292FFA2A}"/>
</file>

<file path=customXml/itemProps3.xml><?xml version="1.0" encoding="utf-8"?>
<ds:datastoreItem xmlns:ds="http://schemas.openxmlformats.org/officeDocument/2006/customXml" ds:itemID="{00940455-C5A4-4A11-8A4F-A539F0FD6A6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Words>1895</Words>
  <Application>Microsoft Office PowerPoint</Application>
  <PresentationFormat>On-screen Show (16:9)</PresentationFormat>
  <Paragraphs>261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Consolas</vt:lpstr>
      <vt:lpstr>Courier New</vt:lpstr>
      <vt:lpstr>Georgia</vt:lpstr>
      <vt:lpstr>Times New Roman</vt:lpstr>
      <vt:lpstr>Verdana</vt:lpstr>
      <vt:lpstr>Office Theme</vt:lpstr>
      <vt:lpstr>HyperText Markup  Language (HTML)</vt:lpstr>
      <vt:lpstr>Web Application Architecture</vt:lpstr>
      <vt:lpstr>Browser environment is different</vt:lpstr>
      <vt:lpstr>HTML: HyperText Markup Language</vt:lpstr>
      <vt:lpstr>HTML tags</vt:lpstr>
      <vt:lpstr>Example of HTML - Start with raw content text</vt:lpstr>
      <vt:lpstr>Example of HTML - Annotate with tags</vt:lpstr>
      <vt:lpstr>Browser doesn’t care but programmers do</vt:lpstr>
      <vt:lpstr>Example HTML - Browser output</vt:lpstr>
      <vt:lpstr>HTML Evolution</vt:lpstr>
      <vt:lpstr>Example XHTML document</vt:lpstr>
      <vt:lpstr>Basic Syntax rules for XHTML</vt:lpstr>
      <vt:lpstr>Need to handle markup characters in content</vt:lpstr>
      <vt:lpstr>Example XHTML document structure</vt:lpstr>
      <vt:lpstr>XHTML document structure</vt:lpstr>
      <vt:lpstr>Common usage XHTML tags</vt:lpstr>
      <vt:lpstr>Common used XHTML tags - continued</vt:lpstr>
      <vt:lpstr>Commonly used tags: &lt;head&gt; section</vt:lpstr>
      <vt:lpstr>HTML differences from XHTML</vt:lpstr>
      <vt:lpstr>Newer HTML - HTML5</vt:lpstr>
      <vt:lpstr>Another markup language: Markdown</vt:lpstr>
      <vt:lpstr>Markdown language example output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HyperText Markup  Language (HTML)</dc:title>
  <cp:lastModifiedBy>Amarsanaa Ganbold</cp:lastModifiedBy>
  <cp:revision>2</cp:revision>
  <dcterms:created xsi:type="dcterms:W3CDTF">2019-08-20T05:17:20Z</dcterms:created>
  <dcterms:modified xsi:type="dcterms:W3CDTF">2021-09-14T04:44:42Z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ContentTypeId">
    <vt:lpwstr>0x01010055E511CF504F4646AB54E0ACE4A117EC</vt:lpwstr>
  </property>
</Properties>
</file>