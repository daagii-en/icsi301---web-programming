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ustomXml" Target="../customXml/item1.xml"/><Relationship Id="rId3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tableStyles" Target="tableStyles.xml"/><Relationship Id="rId15" Type="http://schemas.openxmlformats.org/officeDocument/2006/relationships/customXml" Target="../customXml/item3.xml"/><Relationship Id="rId10" Type="http://schemas.openxmlformats.org/officeDocument/2006/relationships/slide" Target="slides/slide5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57093" y="1881758"/>
            <a:ext cx="3829813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8193500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12276" y="4778075"/>
            <a:ext cx="208216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2276" y="4766045"/>
            <a:ext cx="20821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000" spc="-1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7093" y="1881758"/>
            <a:ext cx="3824604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5">
                <a:latin typeface="Arial"/>
                <a:cs typeface="Arial"/>
              </a:rPr>
              <a:t>Web</a:t>
            </a:r>
            <a:r>
              <a:rPr dirty="0" sz="5200" spc="-105">
                <a:latin typeface="Arial"/>
                <a:cs typeface="Arial"/>
              </a:rPr>
              <a:t> </a:t>
            </a:r>
            <a:r>
              <a:rPr dirty="0" sz="5200" spc="-10">
                <a:latin typeface="Arial"/>
                <a:cs typeface="Arial"/>
              </a:rPr>
              <a:t>Servers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dirty="0" sz="2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2276" y="4766045"/>
            <a:ext cx="20821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000" spc="-1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326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Web </a:t>
            </a:r>
            <a:r>
              <a:rPr dirty="0" spc="-10"/>
              <a:t>Application</a:t>
            </a:r>
            <a:r>
              <a:rPr dirty="0" spc="-385"/>
              <a:t> </a:t>
            </a:r>
            <a:r>
              <a:rPr dirty="0" spc="-5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832112" y="2285875"/>
            <a:ext cx="1473973" cy="39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1899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6762" y="1552507"/>
            <a:ext cx="1846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Web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973" y="3540953"/>
            <a:ext cx="1397523" cy="480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7023" y="4081774"/>
            <a:ext cx="1572411" cy="694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7024" y="2772091"/>
            <a:ext cx="1584174" cy="603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13075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68175" y="2355044"/>
            <a:ext cx="1584175" cy="4520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45776" y="1421958"/>
            <a:ext cx="1624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Web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33848" y="3029672"/>
            <a:ext cx="1252878" cy="7128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02587" y="3790447"/>
            <a:ext cx="915352" cy="108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401249" y="802499"/>
                </a:moveTo>
                <a:lnTo>
                  <a:pt x="0" y="401249"/>
                </a:lnTo>
                <a:lnTo>
                  <a:pt x="401249" y="0"/>
                </a:lnTo>
                <a:lnTo>
                  <a:pt x="401249" y="200624"/>
                </a:lnTo>
                <a:lnTo>
                  <a:pt x="1545974" y="200624"/>
                </a:lnTo>
                <a:lnTo>
                  <a:pt x="1746599" y="401249"/>
                </a:lnTo>
                <a:lnTo>
                  <a:pt x="1545974" y="601874"/>
                </a:lnTo>
                <a:lnTo>
                  <a:pt x="401249" y="601874"/>
                </a:lnTo>
                <a:lnTo>
                  <a:pt x="401249" y="802499"/>
                </a:lnTo>
                <a:close/>
              </a:path>
              <a:path w="1746885" h="802639">
                <a:moveTo>
                  <a:pt x="1545974" y="200624"/>
                </a:moveTo>
                <a:lnTo>
                  <a:pt x="1345349" y="200624"/>
                </a:lnTo>
                <a:lnTo>
                  <a:pt x="1345349" y="0"/>
                </a:lnTo>
                <a:lnTo>
                  <a:pt x="1545974" y="200624"/>
                </a:lnTo>
                <a:close/>
              </a:path>
              <a:path w="1746885" h="802639">
                <a:moveTo>
                  <a:pt x="1345349" y="802499"/>
                </a:moveTo>
                <a:lnTo>
                  <a:pt x="1345349" y="601874"/>
                </a:lnTo>
                <a:lnTo>
                  <a:pt x="1545974" y="601874"/>
                </a:lnTo>
                <a:lnTo>
                  <a:pt x="1345349" y="802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0" y="401249"/>
                </a:moveTo>
                <a:lnTo>
                  <a:pt x="401249" y="0"/>
                </a:lnTo>
                <a:lnTo>
                  <a:pt x="401249" y="200624"/>
                </a:lnTo>
                <a:lnTo>
                  <a:pt x="1345349" y="200624"/>
                </a:lnTo>
                <a:lnTo>
                  <a:pt x="1345349" y="0"/>
                </a:lnTo>
                <a:lnTo>
                  <a:pt x="1746599" y="401249"/>
                </a:lnTo>
                <a:lnTo>
                  <a:pt x="1345349" y="802499"/>
                </a:lnTo>
                <a:lnTo>
                  <a:pt x="1345349" y="601874"/>
                </a:lnTo>
                <a:lnTo>
                  <a:pt x="401249" y="601874"/>
                </a:lnTo>
                <a:lnTo>
                  <a:pt x="401249" y="802499"/>
                </a:lnTo>
                <a:lnTo>
                  <a:pt x="0" y="4012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37609" y="3183233"/>
            <a:ext cx="821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HTTP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06200" y="198187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5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720575" y="1421958"/>
            <a:ext cx="2187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Storage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20989" y="2145825"/>
            <a:ext cx="1464825" cy="417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0243" y="2672350"/>
            <a:ext cx="1186317" cy="802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220649" y="441299"/>
                </a:moveTo>
                <a:lnTo>
                  <a:pt x="0" y="220649"/>
                </a:lnTo>
                <a:lnTo>
                  <a:pt x="220649" y="0"/>
                </a:lnTo>
                <a:lnTo>
                  <a:pt x="220649" y="110324"/>
                </a:lnTo>
                <a:lnTo>
                  <a:pt x="940274" y="110324"/>
                </a:lnTo>
                <a:lnTo>
                  <a:pt x="1050599" y="220649"/>
                </a:lnTo>
                <a:lnTo>
                  <a:pt x="940274" y="330974"/>
                </a:lnTo>
                <a:lnTo>
                  <a:pt x="220649" y="330974"/>
                </a:lnTo>
                <a:lnTo>
                  <a:pt x="220649" y="441299"/>
                </a:lnTo>
                <a:close/>
              </a:path>
              <a:path w="1050925" h="441325">
                <a:moveTo>
                  <a:pt x="940274" y="110324"/>
                </a:moveTo>
                <a:lnTo>
                  <a:pt x="829949" y="110324"/>
                </a:lnTo>
                <a:lnTo>
                  <a:pt x="829949" y="0"/>
                </a:lnTo>
                <a:lnTo>
                  <a:pt x="940274" y="110324"/>
                </a:lnTo>
                <a:close/>
              </a:path>
              <a:path w="1050925" h="441325">
                <a:moveTo>
                  <a:pt x="829949" y="441299"/>
                </a:moveTo>
                <a:lnTo>
                  <a:pt x="829949" y="330974"/>
                </a:lnTo>
                <a:lnTo>
                  <a:pt x="940274" y="330974"/>
                </a:lnTo>
                <a:lnTo>
                  <a:pt x="829949" y="441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0" y="220649"/>
                </a:moveTo>
                <a:lnTo>
                  <a:pt x="220649" y="0"/>
                </a:lnTo>
                <a:lnTo>
                  <a:pt x="220649" y="110324"/>
                </a:lnTo>
                <a:lnTo>
                  <a:pt x="829949" y="110324"/>
                </a:lnTo>
                <a:lnTo>
                  <a:pt x="829949" y="0"/>
                </a:lnTo>
                <a:lnTo>
                  <a:pt x="1050599" y="220649"/>
                </a:lnTo>
                <a:lnTo>
                  <a:pt x="829949" y="441299"/>
                </a:lnTo>
                <a:lnTo>
                  <a:pt x="829949" y="330974"/>
                </a:lnTo>
                <a:lnTo>
                  <a:pt x="220649" y="330974"/>
                </a:lnTo>
                <a:lnTo>
                  <a:pt x="220649" y="441299"/>
                </a:lnTo>
                <a:lnTo>
                  <a:pt x="0" y="2206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047793" y="3784367"/>
            <a:ext cx="366395" cy="10572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>
                <a:latin typeface="Arial"/>
                <a:cs typeface="Arial"/>
              </a:rPr>
              <a:t>Internet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69830" y="3678358"/>
            <a:ext cx="366395" cy="6184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>
                <a:latin typeface="Arial"/>
                <a:cs typeface="Arial"/>
              </a:rPr>
              <a:t>LAN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59125" y="1277250"/>
            <a:ext cx="2733675" cy="3780154"/>
          </a:xfrm>
          <a:custGeom>
            <a:avLst/>
            <a:gdLst/>
            <a:ahLst/>
            <a:cxnLst/>
            <a:rect l="l" t="t" r="r" b="b"/>
            <a:pathLst>
              <a:path w="2733675" h="3780154">
                <a:moveTo>
                  <a:pt x="0" y="0"/>
                </a:moveTo>
                <a:lnTo>
                  <a:pt x="2733299" y="0"/>
                </a:lnTo>
                <a:lnTo>
                  <a:pt x="2733299" y="3779699"/>
                </a:lnTo>
                <a:lnTo>
                  <a:pt x="0" y="3779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4A86E7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07137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Web</a:t>
            </a:r>
            <a:r>
              <a:rPr dirty="0" spc="-95"/>
              <a:t> </a:t>
            </a:r>
            <a:r>
              <a:rPr dirty="0" spc="-5"/>
              <a:t>Servers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649209" cy="338772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Browsers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speak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 and 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Servers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speak</a:t>
            </a:r>
            <a:r>
              <a:rPr dirty="0" sz="18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Browsers: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and get HTTP</a:t>
            </a:r>
            <a:r>
              <a:rPr dirty="0" sz="1800" spc="-10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Server: get HTTP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requests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r>
              <a:rPr dirty="0" sz="1800" spc="-10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 is layered on TCP/IP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so 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dirty="0" sz="1800" spc="-1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loop forever</a:t>
            </a:r>
            <a:r>
              <a:rPr dirty="0" sz="1800" spc="-1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doing:</a:t>
            </a:r>
            <a:endParaRPr sz="1800">
              <a:latin typeface="Consolas"/>
              <a:cs typeface="Consolas"/>
            </a:endParaRPr>
          </a:p>
          <a:p>
            <a:pPr marL="836294" marR="2164715">
              <a:lnSpc>
                <a:spcPct val="114599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accept TCP connection from browser  read HTTP request from TCP connection  process HTTP</a:t>
            </a:r>
            <a:r>
              <a:rPr dirty="0" sz="18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request</a:t>
            </a:r>
            <a:endParaRPr sz="180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write HTTP response to TCP</a:t>
            </a:r>
            <a:r>
              <a:rPr dirty="0" sz="1800" spc="-2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connection</a:t>
            </a:r>
            <a:endParaRPr sz="180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shutdown TCP connection (except if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Connection:</a:t>
            </a:r>
            <a:r>
              <a:rPr dirty="0" sz="1800" spc="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keep-alive)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3410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Processing </a:t>
            </a:r>
            <a:r>
              <a:rPr dirty="0" spc="-5"/>
              <a:t>HTTP </a:t>
            </a:r>
            <a:r>
              <a:rPr dirty="0"/>
              <a:t>requests - </a:t>
            </a:r>
            <a:r>
              <a:rPr dirty="0" spc="-5"/>
              <a:t>File</a:t>
            </a:r>
            <a:r>
              <a:rPr dirty="0" spc="-150"/>
              <a:t> </a:t>
            </a:r>
            <a:r>
              <a:rPr dirty="0"/>
              <a:t>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890509" cy="2651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Process HTTP GET</a:t>
            </a:r>
            <a:r>
              <a:rPr dirty="0" sz="1800" spc="-1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index.html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int fd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dirty="0" sz="18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open("index.html");</a:t>
            </a:r>
            <a:endParaRPr sz="1800">
              <a:latin typeface="Consolas"/>
              <a:cs typeface="Consolas"/>
            </a:endParaRPr>
          </a:p>
          <a:p>
            <a:pPr marL="379095" marR="858519">
              <a:lnSpc>
                <a:spcPct val="128499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int len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read(fd, fileContents, sizeOfFile(fd));  write(tcpConnection, httpResponseHeader, headerSize);  write(tcpConnection, fileContents,</a:t>
            </a:r>
            <a:r>
              <a:rPr dirty="0" sz="1800" spc="-2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len);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Note open and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read may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have to talk 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slow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disk</a:t>
            </a:r>
            <a:r>
              <a:rPr dirty="0" sz="18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device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6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Can process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requests concurrently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starting 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new thread or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new process per</a:t>
            </a:r>
            <a:r>
              <a:rPr dirty="0" sz="14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2356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Processing </a:t>
            </a:r>
            <a:r>
              <a:rPr dirty="0" spc="-5"/>
              <a:t>HTTP </a:t>
            </a:r>
            <a:r>
              <a:rPr dirty="0"/>
              <a:t>requests -</a:t>
            </a:r>
            <a:r>
              <a:rPr dirty="0" spc="-145"/>
              <a:t> </a:t>
            </a:r>
            <a:r>
              <a:rPr dirty="0"/>
              <a:t>cgi-bin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309484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Process HTTP GET of</a:t>
            </a:r>
            <a:r>
              <a:rPr dirty="0" sz="18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index.php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runProgramInNewProcess(tcpConnection);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132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Template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processing program fetches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from database</a:t>
            </a:r>
            <a:r>
              <a:rPr dirty="0" sz="18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025" y="503825"/>
            <a:ext cx="59455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2</a:t>
            </a:r>
            <a:r>
              <a:rPr dirty="0" baseline="31531" sz="2775"/>
              <a:t>nd </a:t>
            </a:r>
            <a:r>
              <a:rPr dirty="0" sz="2800" spc="-5"/>
              <a:t>Generation </a:t>
            </a:r>
            <a:r>
              <a:rPr dirty="0" sz="2800" spc="-20"/>
              <a:t>Web </a:t>
            </a:r>
            <a:r>
              <a:rPr dirty="0" sz="2800" spc="-10"/>
              <a:t>App</a:t>
            </a:r>
            <a:r>
              <a:rPr dirty="0" sz="2800" spc="-484"/>
              <a:t> </a:t>
            </a:r>
            <a:r>
              <a:rPr dirty="0" sz="2800" spc="-5"/>
              <a:t>Frameworks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00059" cy="3509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 runs 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program per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request 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controller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469900" indent="-398145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Parse URL and/or HTTP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body to get parameters to</a:t>
            </a:r>
            <a:r>
              <a:rPr dirty="0" sz="1600" spc="-114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endParaRPr sz="1600">
              <a:latin typeface="Arial"/>
              <a:cs typeface="Arial"/>
            </a:endParaRPr>
          </a:p>
          <a:p>
            <a:pPr marL="469900" indent="-398145">
              <a:lnSpc>
                <a:spcPct val="100000"/>
              </a:lnSpc>
              <a:spcBef>
                <a:spcPts val="9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Use parameters to fetch </a:t>
            </a:r>
            <a:r>
              <a:rPr dirty="0" sz="1600" spc="-5" b="1">
                <a:solidFill>
                  <a:srgbClr val="FF0000"/>
                </a:solidFill>
                <a:latin typeface="Arial"/>
                <a:cs typeface="Arial"/>
              </a:rPr>
              <a:t>model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data from DBMS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(typically a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SQL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dirty="0" sz="1600" spc="-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DBMS)</a:t>
            </a:r>
            <a:endParaRPr sz="1600">
              <a:latin typeface="Arial"/>
              <a:cs typeface="Arial"/>
            </a:endParaRPr>
          </a:p>
          <a:p>
            <a:pPr marL="469900" indent="-398145">
              <a:lnSpc>
                <a:spcPct val="100000"/>
              </a:lnSpc>
              <a:spcBef>
                <a:spcPts val="9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Run HTML </a:t>
            </a:r>
            <a:r>
              <a:rPr dirty="0" sz="1600" spc="-5" b="1">
                <a:solidFill>
                  <a:srgbClr val="FF0000"/>
                </a:solidFill>
                <a:latin typeface="Arial"/>
                <a:cs typeface="Arial"/>
              </a:rPr>
              <a:t>view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template with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data to generate the</a:t>
            </a:r>
            <a:r>
              <a:rPr dirty="0" sz="16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endParaRPr sz="1600">
              <a:latin typeface="Arial"/>
              <a:cs typeface="Arial"/>
            </a:endParaRPr>
          </a:p>
          <a:p>
            <a:pPr marL="469900" indent="-398145">
              <a:lnSpc>
                <a:spcPct val="100000"/>
              </a:lnSpc>
              <a:spcBef>
                <a:spcPts val="9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Send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dirty="0" sz="160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with the HTML back to the</a:t>
            </a:r>
            <a:r>
              <a:rPr dirty="0" sz="1600" spc="-1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600">
              <a:latin typeface="Arial"/>
              <a:cs typeface="Arial"/>
            </a:endParaRPr>
          </a:p>
          <a:p>
            <a:pPr marL="469900" marR="5080" indent="-457200">
              <a:lnSpc>
                <a:spcPct val="149300"/>
              </a:lnSpc>
              <a:spcBef>
                <a:spcPts val="830"/>
              </a:spcBef>
              <a:tabLst>
                <a:tab pos="3324225" algn="l"/>
                <a:tab pos="500507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Rails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runs a controller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program per URL. Example: URL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/rails_intro/hello 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Runs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controller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hello.rb	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Ruby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program fetches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models - 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ORM</a:t>
            </a:r>
            <a:r>
              <a:rPr dirty="0" sz="1800" spc="5">
                <a:solidFill>
                  <a:srgbClr val="595959"/>
                </a:solidFill>
                <a:latin typeface="Consolas"/>
                <a:cs typeface="Consolas"/>
              </a:rPr>
              <a:t>) 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Applies 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 template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ello.html.erb	</a:t>
            </a:r>
            <a:r>
              <a:rPr dirty="0" sz="1800" spc="5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HTML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embedded with</a:t>
            </a:r>
            <a:r>
              <a:rPr dirty="0" sz="1800" spc="-1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Ruby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715"/>
              </a:spcBef>
            </a:pP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JavaScript?: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An asset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(like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an image or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css) you can</a:t>
            </a:r>
            <a:r>
              <a:rPr dirty="0" sz="1400" spc="-114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include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 </a:t>
            </a:r>
            <a:r>
              <a:rPr dirty="0" spc="-10"/>
              <a:t>Web</a:t>
            </a:r>
            <a:r>
              <a:rPr dirty="0" spc="-80"/>
              <a:t> </a:t>
            </a:r>
            <a:r>
              <a:rPr dirty="0" spc="-5"/>
              <a:t>Servers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2179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Web </a:t>
            </a:r>
            <a:r>
              <a:rPr dirty="0"/>
              <a:t>servers </a:t>
            </a:r>
            <a:r>
              <a:rPr dirty="0" spc="-5"/>
              <a:t>for </a:t>
            </a:r>
            <a:r>
              <a:rPr dirty="0"/>
              <a:t>JavaScript</a:t>
            </a:r>
            <a:r>
              <a:rPr dirty="0" spc="-95"/>
              <a:t> </a:t>
            </a:r>
            <a:r>
              <a:rPr dirty="0" spc="-5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856220" cy="27241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Most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of the web app is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simple static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files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any web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 speaking</a:t>
            </a:r>
            <a:r>
              <a:rPr dirty="0" sz="1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HTTP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templates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(HTML,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 CSS)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Remaining browser</a:t>
            </a:r>
            <a:r>
              <a:rPr dirty="0" sz="1800" spc="-5">
                <a:solidFill>
                  <a:srgbClr val="595959"/>
                </a:solidFill>
                <a:latin typeface="MS PGothic"/>
                <a:cs typeface="MS PGothic"/>
              </a:rPr>
              <a:t>⇔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 communication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around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18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CRUD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(Create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Read Update Delete) of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14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Session info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login, etc.)</a:t>
            </a:r>
            <a:r>
              <a:rPr dirty="0" sz="14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(Later…)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Low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requirements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on web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HTTP GET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static</a:t>
            </a:r>
            <a:r>
              <a:rPr dirty="0" sz="14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data operation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- mostly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doing DBMS</a:t>
            </a:r>
            <a:r>
              <a:rPr dirty="0" sz="14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operations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EB7891-A358-45F3-835F-6F5D08FD97C1}"/>
</file>

<file path=customXml/itemProps2.xml><?xml version="1.0" encoding="utf-8"?>
<ds:datastoreItem xmlns:ds="http://schemas.openxmlformats.org/officeDocument/2006/customXml" ds:itemID="{20FBFCCB-8BD5-4418-98D5-52E90576BF78}"/>
</file>

<file path=customXml/itemProps3.xml><?xml version="1.0" encoding="utf-8"?>
<ds:datastoreItem xmlns:ds="http://schemas.openxmlformats.org/officeDocument/2006/customXml" ds:itemID="{C5C72A20-99E8-4E0B-8401-8AAAF547F46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2019-08-20T05:22:58Z</dcterms:created>
  <dcterms:modified xsi:type="dcterms:W3CDTF">2019-08-20T05:22:58Z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