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573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81302" y="1881758"/>
            <a:ext cx="3181394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84098"/>
            <a:ext cx="6174105" cy="151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85204" y="4778075"/>
            <a:ext cx="193611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xpressjs.com/en/guide/using-middleware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1302" y="1881758"/>
            <a:ext cx="317627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>
                <a:latin typeface="Arial"/>
                <a:cs typeface="Arial"/>
              </a:rPr>
              <a:t>ExpressJS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490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Express.js </a:t>
            </a:r>
            <a:r>
              <a:rPr dirty="0"/>
              <a:t>- A </a:t>
            </a:r>
            <a:r>
              <a:rPr spc="-5" dirty="0"/>
              <a:t>web framework for</a:t>
            </a:r>
            <a:r>
              <a:rPr spc="-409" dirty="0"/>
              <a:t> </a:t>
            </a:r>
            <a:r>
              <a:rPr spc="-5" dirty="0"/>
              <a:t>Node.js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31809" cy="338709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Fast, unopinionated,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minimalist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framework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Relatively thin layer on top of the base Node.js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functionality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does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implementor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need?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469900" indent="-35179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b="1" spc="-5" dirty="0">
                <a:solidFill>
                  <a:srgbClr val="595959"/>
                </a:solidFill>
                <a:latin typeface="Arial"/>
                <a:cs typeface="Arial"/>
              </a:rPr>
              <a:t>Speak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Accept TCP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connections,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process HTTP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request, send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r>
              <a:rPr sz="1600" spc="-2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replies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35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Node's HTTP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does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endParaRPr sz="140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spcBef>
                <a:spcPts val="86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b="1" spc="-5" dirty="0">
                <a:solidFill>
                  <a:srgbClr val="595959"/>
                </a:solidFill>
                <a:latin typeface="Arial"/>
                <a:cs typeface="Arial"/>
              </a:rPr>
              <a:t>Routing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Map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URLs to the web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function for that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35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Need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support a routing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(like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ngRoute in AngularJS or React</a:t>
            </a:r>
            <a:r>
              <a:rPr sz="1400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Router)</a:t>
            </a:r>
            <a:endParaRPr sz="140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spcBef>
                <a:spcPts val="86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Middleware </a:t>
            </a:r>
            <a:r>
              <a:rPr sz="1600" b="1" spc="-5" dirty="0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: Allow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processing layers to be added</a:t>
            </a:r>
            <a:r>
              <a:rPr sz="1600"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30"/>
              </a:spcBef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Make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it easy to add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custom support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sessions, cookies,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security,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compression,</a:t>
            </a:r>
            <a:r>
              <a:rPr sz="16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4649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var express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-11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require('express');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305675" cy="332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var expressApp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express();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expressApp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has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for:</a:t>
            </a:r>
            <a:endParaRPr sz="1800">
              <a:latin typeface="Arial"/>
              <a:cs typeface="Arial"/>
            </a:endParaRPr>
          </a:p>
          <a:p>
            <a:pPr marL="927100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Routing HTTP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requests</a:t>
            </a:r>
            <a:endParaRPr sz="1400">
              <a:latin typeface="Arial"/>
              <a:cs typeface="Arial"/>
            </a:endParaRPr>
          </a:p>
          <a:p>
            <a:pPr marL="927100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Rendering HTML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 run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preprocessor like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templating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engine)</a:t>
            </a:r>
            <a:endParaRPr sz="1400">
              <a:latin typeface="Arial"/>
              <a:cs typeface="Arial"/>
            </a:endParaRPr>
          </a:p>
          <a:p>
            <a:pPr marL="927100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Configuring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middleware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preprocessors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263525" marR="5080" indent="-251460">
              <a:lnSpc>
                <a:spcPct val="114599"/>
              </a:lnSpc>
              <a:spcBef>
                <a:spcPts val="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expressApp.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get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('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/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', 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function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(httpRequest, httpResponse)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httpResponse.</a:t>
            </a:r>
            <a:r>
              <a:rPr sz="1800" spc="-5" dirty="0">
                <a:solidFill>
                  <a:srgbClr val="CC0000"/>
                </a:solidFill>
                <a:latin typeface="Consolas"/>
                <a:cs typeface="Consolas"/>
              </a:rPr>
              <a:t>send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('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hello</a:t>
            </a:r>
            <a:r>
              <a:rPr sz="1800" spc="-10" dirty="0">
                <a:solidFill>
                  <a:srgbClr val="37761C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37761C"/>
                </a:solidFill>
                <a:latin typeface="Consolas"/>
                <a:cs typeface="Consolas"/>
              </a:rPr>
              <a:t>world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expressApp.</a:t>
            </a:r>
            <a:r>
              <a:rPr sz="1800" spc="-5" dirty="0">
                <a:solidFill>
                  <a:srgbClr val="CC0000"/>
                </a:solidFill>
                <a:latin typeface="Consolas"/>
                <a:cs typeface="Consolas"/>
              </a:rPr>
              <a:t>listen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(3000);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4911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Express</a:t>
            </a:r>
            <a:r>
              <a:rPr spc="-90" dirty="0"/>
              <a:t> </a:t>
            </a:r>
            <a:r>
              <a:rPr dirty="0"/>
              <a:t>routing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793990" cy="302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 HTTP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method:</a:t>
            </a:r>
            <a:endParaRPr sz="1800">
              <a:latin typeface="Arial"/>
              <a:cs typeface="Arial"/>
            </a:endParaRPr>
          </a:p>
          <a:p>
            <a:pPr marL="379095" marR="1004569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expressApp.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get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(urlPath, requestProcessFunction);  expressApp.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post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(urlPath, requestProcessFunction);  expressApp.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put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(urlPath, requestProcessFunction);  expressApp.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delete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(urlPath, requestProcessFunction);  expressApp.</a:t>
            </a:r>
            <a:r>
              <a:rPr sz="1800" spc="-5" dirty="0">
                <a:solidFill>
                  <a:srgbClr val="3C78D8"/>
                </a:solidFill>
                <a:latin typeface="Consolas"/>
                <a:cs typeface="Consolas"/>
              </a:rPr>
              <a:t>all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(urlPath,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requestProcessFunction);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others less frequently used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urlPath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contain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parameters like ngRoute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'/user/:user_id'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889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httpRequest</a:t>
            </a:r>
            <a:r>
              <a:rPr spc="-85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7372"/>
            <a:ext cx="8047355" cy="181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expressApp.</a:t>
            </a:r>
            <a:r>
              <a:rPr sz="1600" spc="-5" dirty="0">
                <a:solidFill>
                  <a:srgbClr val="3C78D8"/>
                </a:solidFill>
                <a:latin typeface="Consolas"/>
                <a:cs typeface="Consolas"/>
              </a:rPr>
              <a:t>get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('</a:t>
            </a:r>
            <a:r>
              <a:rPr sz="1600" spc="-5" dirty="0">
                <a:solidFill>
                  <a:srgbClr val="37761C"/>
                </a:solidFill>
                <a:latin typeface="Consolas"/>
                <a:cs typeface="Consolas"/>
              </a:rPr>
              <a:t>/user/:user_id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', </a:t>
            </a:r>
            <a:r>
              <a:rPr sz="1600" spc="-5" dirty="0">
                <a:solidFill>
                  <a:srgbClr val="3C78D8"/>
                </a:solidFill>
                <a:latin typeface="Consolas"/>
                <a:cs typeface="Consolas"/>
              </a:rPr>
              <a:t>function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600" b="1" spc="-5" dirty="0">
                <a:solidFill>
                  <a:srgbClr val="FF0000"/>
                </a:solidFill>
                <a:latin typeface="Consolas"/>
                <a:cs typeface="Consolas"/>
              </a:rPr>
              <a:t>httpRequest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, httpResponse)</a:t>
            </a:r>
            <a:r>
              <a:rPr sz="1600" spc="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with large number 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Middleware (like JSON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body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parser,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manager,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etc.)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add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289675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request.params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route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params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(e.g.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user_id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005151"/>
            <a:ext cx="165481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request.query  request.body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4286" y="3005151"/>
            <a:ext cx="601218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414"/>
              </a:spcBef>
              <a:buChar char="-"/>
              <a:tabLst>
                <a:tab pos="215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query params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&amp;foo=9 </a:t>
            </a:r>
            <a:r>
              <a:rPr sz="1800" dirty="0">
                <a:solidFill>
                  <a:srgbClr val="595959"/>
                </a:solidFill>
                <a:latin typeface="MS PGothic"/>
                <a:cs typeface="MS PGothic"/>
              </a:rPr>
              <a:t>⇒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{foo: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'9'})</a:t>
            </a:r>
            <a:endParaRPr sz="1800">
              <a:latin typeface="Arial"/>
              <a:cs typeface="Arial"/>
            </a:endParaRPr>
          </a:p>
          <a:p>
            <a:pPr marL="217170" indent="-203200">
              <a:lnSpc>
                <a:spcPct val="100000"/>
              </a:lnSpc>
              <a:spcBef>
                <a:spcPts val="315"/>
              </a:spcBef>
              <a:buChar char="-"/>
              <a:tabLst>
                <a:tab pos="217804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parsed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body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673805"/>
            <a:ext cx="77889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request.get(field)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-</a:t>
            </a:r>
            <a:r>
              <a:rPr sz="1800" spc="-5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header field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2658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httpResponse</a:t>
            </a:r>
            <a:r>
              <a:rPr spc="-85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201025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expressApp.</a:t>
            </a:r>
            <a:r>
              <a:rPr sz="1600" spc="-5" dirty="0">
                <a:solidFill>
                  <a:srgbClr val="3C78D8"/>
                </a:solidFill>
                <a:latin typeface="Consolas"/>
                <a:cs typeface="Consolas"/>
              </a:rPr>
              <a:t>get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('</a:t>
            </a:r>
            <a:r>
              <a:rPr sz="1600" spc="-5" dirty="0">
                <a:solidFill>
                  <a:srgbClr val="37761C"/>
                </a:solidFill>
                <a:latin typeface="Consolas"/>
                <a:cs typeface="Consolas"/>
              </a:rPr>
              <a:t>/user/:user_id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', </a:t>
            </a:r>
            <a:r>
              <a:rPr sz="1600" spc="-5" dirty="0">
                <a:solidFill>
                  <a:srgbClr val="3C78D8"/>
                </a:solidFill>
                <a:latin typeface="Consolas"/>
                <a:cs typeface="Consolas"/>
              </a:rPr>
              <a:t>function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httpRequest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httpResponse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sz="1600" spc="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number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setting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response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fields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005026"/>
            <a:ext cx="290830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response.write(content)  response.status(code)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5124" y="2005026"/>
            <a:ext cx="445960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263525" indent="-251460">
              <a:lnSpc>
                <a:spcPct val="100000"/>
              </a:lnSpc>
              <a:spcBef>
                <a:spcPts val="414"/>
              </a:spcBef>
              <a:buFont typeface="Consolas"/>
              <a:buChar char="-"/>
              <a:tabLst>
                <a:tab pos="26416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Build up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body with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content</a:t>
            </a:r>
            <a:endParaRPr sz="1800">
              <a:latin typeface="Consolas"/>
              <a:cs typeface="Consolas"/>
            </a:endParaRPr>
          </a:p>
          <a:p>
            <a:pPr marL="263525" indent="-251460">
              <a:lnSpc>
                <a:spcPct val="100000"/>
              </a:lnSpc>
              <a:spcBef>
                <a:spcPts val="315"/>
              </a:spcBef>
              <a:buFont typeface="Consolas"/>
              <a:buChar char="-"/>
              <a:tabLst>
                <a:tab pos="26416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Set the 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status code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the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reply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2673681"/>
            <a:ext cx="775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response.set(prop, value)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Set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header property to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2948001"/>
            <a:ext cx="2557145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response.end()  response.end(msg)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response.send(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content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8927" y="2948001"/>
            <a:ext cx="447802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35609" indent="-379095">
              <a:lnSpc>
                <a:spcPct val="100000"/>
              </a:lnSpc>
              <a:spcBef>
                <a:spcPts val="414"/>
              </a:spcBef>
              <a:buFont typeface="Consolas"/>
              <a:buChar char="-"/>
              <a:tabLst>
                <a:tab pos="434975" algn="l"/>
                <a:tab pos="43624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responding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  <a:p>
            <a:pPr marL="389890" indent="-377825">
              <a:lnSpc>
                <a:spcPct val="100000"/>
              </a:lnSpc>
              <a:spcBef>
                <a:spcPts val="315"/>
              </a:spcBef>
              <a:buFont typeface="Consolas"/>
              <a:buChar char="-"/>
              <a:tabLst>
                <a:tab pos="389890" algn="l"/>
                <a:tab pos="39052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responding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msg</a:t>
            </a:r>
            <a:endParaRPr sz="1800">
              <a:latin typeface="Arial"/>
              <a:cs typeface="Arial"/>
            </a:endParaRPr>
          </a:p>
          <a:p>
            <a:pPr marL="120014">
              <a:lnSpc>
                <a:spcPct val="100000"/>
              </a:lnSpc>
              <a:spcBef>
                <a:spcPts val="315"/>
              </a:spcBef>
              <a:tabLst>
                <a:tab pos="38608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	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write() 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end()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725" y="3986226"/>
            <a:ext cx="7706995" cy="6540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4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 return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stack (i.e. </a:t>
            </a:r>
            <a:r>
              <a:rPr sz="1800" spc="-5" dirty="0">
                <a:solidFill>
                  <a:srgbClr val="595959"/>
                </a:solidFill>
                <a:latin typeface="Courier New"/>
                <a:cs typeface="Courier New"/>
              </a:rPr>
              <a:t>return</a:t>
            </a:r>
            <a:r>
              <a:rPr sz="1800" spc="-6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urier New"/>
                <a:cs typeface="Courier New"/>
              </a:rPr>
              <a:t>this;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response.status(code).write(content1).write(content2).end();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8440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hlinkClick r:id="rId2"/>
              </a:rPr>
              <a:t>Middleware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914640" cy="3481704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Give other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software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ability to interpose on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requests</a:t>
            </a:r>
            <a:endParaRPr sz="1800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expressApp.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all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(urlPath, function (request, response,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next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sz="1800" spc="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630555" marR="5080" indent="-635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Do whatever processing on request (or setting response) 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next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(); // pass control to the next</a:t>
            </a:r>
            <a:r>
              <a:rPr sz="18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handler</a:t>
            </a:r>
            <a:endParaRPr sz="1800">
              <a:latin typeface="Consolas"/>
              <a:cs typeface="Consolas"/>
            </a:endParaRPr>
          </a:p>
          <a:p>
            <a:pPr marL="17272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Interposing on all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using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route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mechanism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expressApp.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use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(function (request, response, next)</a:t>
            </a:r>
            <a:r>
              <a:rPr sz="18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{...});</a:t>
            </a:r>
            <a:endParaRPr sz="18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Examples: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Check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user is logged in, otherwise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send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error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don't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next()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Parse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body 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JSON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attached the object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request.body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next()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Session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 management, compression,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encryption,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927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ExpressJS Example: </a:t>
            </a:r>
            <a:r>
              <a:rPr spc="-20" dirty="0"/>
              <a:t>webServer.js </a:t>
            </a:r>
            <a:r>
              <a:rPr spc="-5" dirty="0"/>
              <a:t>from </a:t>
            </a:r>
            <a:r>
              <a:rPr spc="-10" dirty="0"/>
              <a:t>Project</a:t>
            </a:r>
            <a:r>
              <a:rPr spc="-35" dirty="0"/>
              <a:t> </a:t>
            </a:r>
            <a:r>
              <a:rPr spc="-5" dirty="0"/>
              <a:t>#4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098"/>
            <a:ext cx="324929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CC4125"/>
                </a:solidFill>
                <a:latin typeface="Consolas"/>
                <a:cs typeface="Consolas"/>
              </a:rPr>
              <a:t>var </a:t>
            </a:r>
            <a:r>
              <a:rPr sz="1400" spc="-5" dirty="0">
                <a:latin typeface="Consolas"/>
                <a:cs typeface="Consolas"/>
              </a:rPr>
              <a:t>express </a:t>
            </a:r>
            <a:r>
              <a:rPr sz="1400" dirty="0">
                <a:latin typeface="Consolas"/>
                <a:cs typeface="Consolas"/>
              </a:rPr>
              <a:t>= </a:t>
            </a:r>
            <a:r>
              <a:rPr sz="1400" spc="-5" dirty="0">
                <a:latin typeface="Consolas"/>
                <a:cs typeface="Consolas"/>
              </a:rPr>
              <a:t>require('</a:t>
            </a:r>
            <a:r>
              <a:rPr sz="1400" spc="-5" dirty="0">
                <a:solidFill>
                  <a:srgbClr val="37761C"/>
                </a:solidFill>
                <a:latin typeface="Consolas"/>
                <a:cs typeface="Consolas"/>
              </a:rPr>
              <a:t>express</a:t>
            </a:r>
            <a:r>
              <a:rPr sz="1400" spc="-5" dirty="0">
                <a:latin typeface="Consolas"/>
                <a:cs typeface="Consolas"/>
              </a:rPr>
              <a:t>');  </a:t>
            </a:r>
            <a:r>
              <a:rPr sz="1400" spc="-5" dirty="0">
                <a:solidFill>
                  <a:srgbClr val="990000"/>
                </a:solidFill>
                <a:latin typeface="Consolas"/>
                <a:cs typeface="Consolas"/>
              </a:rPr>
              <a:t>var </a:t>
            </a:r>
            <a:r>
              <a:rPr sz="1400" spc="-5" dirty="0">
                <a:latin typeface="Consolas"/>
                <a:cs typeface="Consolas"/>
              </a:rPr>
              <a:t>app 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express();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5087" y="1466038"/>
            <a:ext cx="24225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// </a:t>
            </a:r>
            <a:r>
              <a:rPr sz="1400" spc="-5" dirty="0">
                <a:latin typeface="Arial"/>
                <a:cs typeface="Arial"/>
              </a:rPr>
              <a:t>Creating an Express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"App"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961338"/>
            <a:ext cx="7548245" cy="2467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49195" algn="l"/>
                <a:tab pos="4009390" algn="l"/>
              </a:tabLst>
            </a:pPr>
            <a:r>
              <a:rPr sz="1400" spc="-5" dirty="0">
                <a:latin typeface="Consolas"/>
                <a:cs typeface="Consolas"/>
              </a:rPr>
              <a:t>app.use(express.static(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	</a:t>
            </a:r>
            <a:r>
              <a:rPr sz="1400" spc="-5" dirty="0">
                <a:latin typeface="Consolas"/>
                <a:cs typeface="Consolas"/>
              </a:rPr>
              <a:t>dirname));	// </a:t>
            </a:r>
            <a:r>
              <a:rPr sz="1400" spc="-5" dirty="0">
                <a:latin typeface="Arial"/>
                <a:cs typeface="Arial"/>
              </a:rPr>
              <a:t>Adding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middleware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03115" algn="l"/>
              </a:tabLst>
            </a:pPr>
            <a:r>
              <a:rPr sz="1400" spc="-5" dirty="0">
                <a:latin typeface="Consolas"/>
                <a:cs typeface="Consolas"/>
              </a:rPr>
              <a:t>app.get('</a:t>
            </a:r>
            <a:r>
              <a:rPr sz="1400" spc="-5" dirty="0">
                <a:solidFill>
                  <a:srgbClr val="37761C"/>
                </a:solidFill>
                <a:latin typeface="Consolas"/>
                <a:cs typeface="Consolas"/>
              </a:rPr>
              <a:t>/</a:t>
            </a:r>
            <a:r>
              <a:rPr sz="1400" spc="-5" dirty="0">
                <a:latin typeface="Consolas"/>
                <a:cs typeface="Consolas"/>
              </a:rPr>
              <a:t>', </a:t>
            </a:r>
            <a:r>
              <a:rPr sz="1400" spc="-5" dirty="0">
                <a:solidFill>
                  <a:srgbClr val="990000"/>
                </a:solidFill>
                <a:latin typeface="Consolas"/>
                <a:cs typeface="Consolas"/>
              </a:rPr>
              <a:t>function </a:t>
            </a:r>
            <a:r>
              <a:rPr sz="1400" spc="-5" dirty="0">
                <a:latin typeface="Consolas"/>
                <a:cs typeface="Consolas"/>
              </a:rPr>
              <a:t>(</a:t>
            </a:r>
            <a:r>
              <a:rPr sz="1400" spc="-5" dirty="0">
                <a:solidFill>
                  <a:srgbClr val="3C78D8"/>
                </a:solidFill>
                <a:latin typeface="Consolas"/>
                <a:cs typeface="Consolas"/>
              </a:rPr>
              <a:t>request</a:t>
            </a:r>
            <a:r>
              <a:rPr sz="1400" spc="-5" dirty="0">
                <a:latin typeface="Consolas"/>
                <a:cs typeface="Consolas"/>
              </a:rPr>
              <a:t>,</a:t>
            </a:r>
            <a:r>
              <a:rPr sz="1400" spc="30" dirty="0"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45818E"/>
                </a:solidFill>
                <a:latin typeface="Consolas"/>
                <a:cs typeface="Consolas"/>
              </a:rPr>
              <a:t>response</a:t>
            </a:r>
            <a:r>
              <a:rPr sz="1400" spc="-5" dirty="0">
                <a:latin typeface="Consolas"/>
                <a:cs typeface="Consolas"/>
              </a:rPr>
              <a:t>)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{	</a:t>
            </a:r>
            <a:r>
              <a:rPr sz="1400" spc="-5" dirty="0">
                <a:latin typeface="Consolas"/>
                <a:cs typeface="Consolas"/>
              </a:rPr>
              <a:t>// </a:t>
            </a:r>
            <a:r>
              <a:rPr sz="1400" dirty="0">
                <a:latin typeface="Consolas"/>
                <a:cs typeface="Consolas"/>
              </a:rPr>
              <a:t>A </a:t>
            </a:r>
            <a:r>
              <a:rPr sz="1400" dirty="0">
                <a:latin typeface="Arial"/>
                <a:cs typeface="Arial"/>
              </a:rPr>
              <a:t>simple request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handler</a:t>
            </a:r>
            <a:endParaRPr sz="1400">
              <a:latin typeface="Arial"/>
              <a:cs typeface="Arial"/>
            </a:endParaRPr>
          </a:p>
          <a:p>
            <a:pPr marL="305435">
              <a:lnSpc>
                <a:spcPct val="100000"/>
              </a:lnSpc>
              <a:spcBef>
                <a:spcPts val="270"/>
              </a:spcBef>
              <a:tabLst>
                <a:tab pos="5482590" algn="l"/>
              </a:tabLst>
            </a:pPr>
            <a:r>
              <a:rPr sz="1400" spc="-5" dirty="0">
                <a:latin typeface="Consolas"/>
                <a:cs typeface="Consolas"/>
              </a:rPr>
              <a:t>response.send('</a:t>
            </a:r>
            <a:r>
              <a:rPr sz="1400" spc="-5" dirty="0">
                <a:solidFill>
                  <a:srgbClr val="37761C"/>
                </a:solidFill>
                <a:latin typeface="Consolas"/>
                <a:cs typeface="Consolas"/>
              </a:rPr>
              <a:t>Simple web server of files from</a:t>
            </a:r>
            <a:r>
              <a:rPr sz="1400" spc="75" dirty="0">
                <a:solidFill>
                  <a:srgbClr val="37761C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' +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	</a:t>
            </a:r>
            <a:r>
              <a:rPr sz="1400" spc="-5" dirty="0">
                <a:latin typeface="Consolas"/>
                <a:cs typeface="Consolas"/>
              </a:rPr>
              <a:t>dirname);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235325" algn="l"/>
              </a:tabLst>
            </a:pPr>
            <a:r>
              <a:rPr sz="1400" spc="-5" dirty="0">
                <a:latin typeface="Consolas"/>
                <a:cs typeface="Consolas"/>
              </a:rPr>
              <a:t>app.listen(3000, </a:t>
            </a:r>
            <a:r>
              <a:rPr sz="1400" spc="-5" dirty="0">
                <a:solidFill>
                  <a:srgbClr val="990000"/>
                </a:solidFill>
                <a:latin typeface="Consolas"/>
                <a:cs typeface="Consolas"/>
              </a:rPr>
              <a:t>function</a:t>
            </a:r>
            <a:r>
              <a:rPr sz="1400" spc="35" dirty="0">
                <a:solidFill>
                  <a:srgbClr val="99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()</a:t>
            </a:r>
            <a:r>
              <a:rPr sz="1400" dirty="0">
                <a:latin typeface="Consolas"/>
                <a:cs typeface="Consolas"/>
              </a:rPr>
              <a:t> {	</a:t>
            </a:r>
            <a:r>
              <a:rPr sz="1400" spc="-5" dirty="0">
                <a:latin typeface="Consolas"/>
                <a:cs typeface="Consolas"/>
              </a:rPr>
              <a:t>//</a:t>
            </a:r>
            <a:r>
              <a:rPr sz="1400" spc="-385" dirty="0">
                <a:latin typeface="Consolas"/>
                <a:cs typeface="Consolas"/>
              </a:rPr>
              <a:t> </a:t>
            </a:r>
            <a:r>
              <a:rPr sz="1400" spc="-5" dirty="0">
                <a:latin typeface="Arial"/>
                <a:cs typeface="Arial"/>
              </a:rPr>
              <a:t>Start Express on the </a:t>
            </a:r>
            <a:r>
              <a:rPr sz="1400" dirty="0">
                <a:latin typeface="Arial"/>
                <a:cs typeface="Arial"/>
              </a:rPr>
              <a:t>requests</a:t>
            </a:r>
            <a:endParaRPr sz="1400">
              <a:latin typeface="Arial"/>
              <a:cs typeface="Arial"/>
            </a:endParaRPr>
          </a:p>
          <a:p>
            <a:pPr marL="20764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latin typeface="Consolas"/>
                <a:cs typeface="Consolas"/>
              </a:rPr>
              <a:t>console.log('</a:t>
            </a:r>
            <a:r>
              <a:rPr sz="1400" spc="-5" dirty="0">
                <a:solidFill>
                  <a:srgbClr val="37761C"/>
                </a:solidFill>
                <a:latin typeface="Consolas"/>
                <a:cs typeface="Consolas"/>
              </a:rPr>
              <a:t>Listening at http://localhost:3000 exporting the directory </a:t>
            </a:r>
            <a:r>
              <a:rPr sz="1400" dirty="0">
                <a:latin typeface="Consolas"/>
                <a:cs typeface="Consolas"/>
              </a:rPr>
              <a:t>'</a:t>
            </a:r>
            <a:r>
              <a:rPr sz="1400" spc="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+</a:t>
            </a:r>
            <a:endParaRPr sz="1400">
              <a:latin typeface="Consolas"/>
              <a:cs typeface="Consolas"/>
            </a:endParaRPr>
          </a:p>
          <a:p>
            <a:pPr marL="1481455">
              <a:lnSpc>
                <a:spcPct val="100000"/>
              </a:lnSpc>
              <a:spcBef>
                <a:spcPts val="270"/>
              </a:spcBef>
              <a:tabLst>
                <a:tab pos="1677035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400" spc="-5" dirty="0">
                <a:latin typeface="Consolas"/>
                <a:cs typeface="Consolas"/>
              </a:rPr>
              <a:t>dirname);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927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ExpressJS Example: </a:t>
            </a:r>
            <a:r>
              <a:rPr spc="-20" dirty="0"/>
              <a:t>webServer.js </a:t>
            </a:r>
            <a:r>
              <a:rPr spc="-5" dirty="0"/>
              <a:t>from </a:t>
            </a:r>
            <a:r>
              <a:rPr spc="-10" dirty="0"/>
              <a:t>Project</a:t>
            </a:r>
            <a:r>
              <a:rPr spc="-35" dirty="0"/>
              <a:t> </a:t>
            </a:r>
            <a:r>
              <a:rPr spc="-5" dirty="0"/>
              <a:t>#5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88"/>
            <a:ext cx="6110605" cy="33820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7965" marR="5080" indent="-21590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Courier New"/>
                <a:cs typeface="Courier New"/>
              </a:rPr>
              <a:t>app.get( </a:t>
            </a:r>
            <a:r>
              <a:rPr sz="1400" b="1" spc="-5" dirty="0">
                <a:latin typeface="Courier New"/>
                <a:cs typeface="Courier New"/>
              </a:rPr>
              <a:t>'/user/list'</a:t>
            </a:r>
            <a:r>
              <a:rPr sz="1400" spc="-5" dirty="0">
                <a:latin typeface="Courier New"/>
                <a:cs typeface="Courier New"/>
              </a:rPr>
              <a:t>, function (request, response) </a:t>
            </a:r>
            <a:r>
              <a:rPr sz="1400" dirty="0">
                <a:latin typeface="Courier New"/>
                <a:cs typeface="Courier New"/>
              </a:rPr>
              <a:t>{  </a:t>
            </a: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response.status(200).send(cs142models.userListModel());  </a:t>
            </a:r>
            <a:r>
              <a:rPr sz="1400" spc="-5" dirty="0">
                <a:latin typeface="Courier New"/>
                <a:cs typeface="Courier New"/>
              </a:rPr>
              <a:t>return;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00"/>
              </a:lnSpc>
            </a:pPr>
            <a:r>
              <a:rPr sz="1400" spc="-5" dirty="0">
                <a:latin typeface="Courier New"/>
                <a:cs typeface="Courier New"/>
              </a:rPr>
              <a:t>});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Times New Roman"/>
              <a:cs typeface="Times New Roman"/>
            </a:endParaRPr>
          </a:p>
          <a:p>
            <a:pPr marL="229870" marR="634365" indent="-217804">
              <a:lnSpc>
                <a:spcPts val="1650"/>
              </a:lnSpc>
            </a:pPr>
            <a:r>
              <a:rPr sz="1400" spc="-5" dirty="0">
                <a:latin typeface="Courier New"/>
                <a:cs typeface="Courier New"/>
              </a:rPr>
              <a:t>app.get(</a:t>
            </a:r>
            <a:r>
              <a:rPr sz="1400" spc="-79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'/user/:id'</a:t>
            </a:r>
            <a:r>
              <a:rPr sz="1400" spc="-5" dirty="0">
                <a:latin typeface="Courier New"/>
                <a:cs typeface="Courier New"/>
              </a:rPr>
              <a:t>, function (request, response) </a:t>
            </a:r>
            <a:r>
              <a:rPr sz="1400" dirty="0">
                <a:latin typeface="Courier New"/>
                <a:cs typeface="Courier New"/>
              </a:rPr>
              <a:t>{  </a:t>
            </a: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var id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4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request.params.id;</a:t>
            </a:r>
            <a:endParaRPr sz="1400">
              <a:latin typeface="Courier New"/>
              <a:cs typeface="Courier New"/>
            </a:endParaRPr>
          </a:p>
          <a:p>
            <a:pPr marL="229870" marR="1929130" indent="-4445">
              <a:lnSpc>
                <a:spcPts val="1650"/>
              </a:lnSpc>
            </a:pP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var user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cs142models.userModel(id);  </a:t>
            </a:r>
            <a:r>
              <a:rPr sz="1400" spc="-5" dirty="0">
                <a:latin typeface="Courier New"/>
                <a:cs typeface="Courier New"/>
              </a:rPr>
              <a:t>if (user === null)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45134" marR="222250" indent="-6350">
              <a:lnSpc>
                <a:spcPts val="1650"/>
              </a:lnSpc>
            </a:pPr>
            <a:r>
              <a:rPr sz="1400" spc="-5" dirty="0">
                <a:latin typeface="Courier New"/>
                <a:cs typeface="Courier New"/>
              </a:rPr>
              <a:t>console.log('User with _id:' </a:t>
            </a:r>
            <a:r>
              <a:rPr sz="1400" dirty="0">
                <a:latin typeface="Courier New"/>
                <a:cs typeface="Courier New"/>
              </a:rPr>
              <a:t>+ </a:t>
            </a:r>
            <a:r>
              <a:rPr sz="1400" spc="-5" dirty="0">
                <a:latin typeface="Courier New"/>
                <a:cs typeface="Courier New"/>
              </a:rPr>
              <a:t>id </a:t>
            </a:r>
            <a:r>
              <a:rPr sz="1400" dirty="0">
                <a:latin typeface="Courier New"/>
                <a:cs typeface="Courier New"/>
              </a:rPr>
              <a:t>+ ' </a:t>
            </a:r>
            <a:r>
              <a:rPr sz="1400" spc="-5" dirty="0">
                <a:latin typeface="Courier New"/>
                <a:cs typeface="Courier New"/>
              </a:rPr>
              <a:t>not found.');  </a:t>
            </a: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response.status(400).send('Not</a:t>
            </a:r>
            <a:r>
              <a:rPr sz="14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found');</a:t>
            </a:r>
            <a:endParaRPr sz="1400">
              <a:latin typeface="Courier New"/>
              <a:cs typeface="Courier New"/>
            </a:endParaRPr>
          </a:p>
          <a:p>
            <a:pPr marL="445134">
              <a:lnSpc>
                <a:spcPts val="1585"/>
              </a:lnSpc>
            </a:pPr>
            <a:r>
              <a:rPr sz="1400" spc="-5" dirty="0">
                <a:latin typeface="Courier New"/>
                <a:cs typeface="Courier New"/>
              </a:rPr>
              <a:t>return;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229870" marR="2460625" indent="-2540">
              <a:lnSpc>
                <a:spcPts val="1650"/>
              </a:lnSpc>
              <a:spcBef>
                <a:spcPts val="65"/>
              </a:spcBef>
            </a:pPr>
            <a:r>
              <a:rPr sz="1400" spc="-5" dirty="0">
                <a:solidFill>
                  <a:srgbClr val="FF0000"/>
                </a:solidFill>
                <a:latin typeface="Courier New"/>
                <a:cs typeface="Courier New"/>
              </a:rPr>
              <a:t>response.status(200).send(user);  </a:t>
            </a:r>
            <a:r>
              <a:rPr sz="1400" spc="-5" dirty="0">
                <a:latin typeface="Courier New"/>
                <a:cs typeface="Courier New"/>
              </a:rPr>
              <a:t>return;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00"/>
              </a:lnSpc>
            </a:pPr>
            <a:r>
              <a:rPr sz="1400" spc="-5" dirty="0">
                <a:latin typeface="Courier New"/>
                <a:cs typeface="Courier New"/>
              </a:rPr>
              <a:t>});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6949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 </a:t>
            </a:r>
            <a:r>
              <a:rPr spc="-10" dirty="0"/>
              <a:t>Simple </a:t>
            </a:r>
            <a:r>
              <a:rPr dirty="0"/>
              <a:t>Model </a:t>
            </a:r>
            <a:r>
              <a:rPr spc="-5" dirty="0"/>
              <a:t>Fetcher </a:t>
            </a:r>
            <a:r>
              <a:rPr dirty="0"/>
              <a:t>- </a:t>
            </a:r>
            <a:r>
              <a:rPr spc="-5" dirty="0"/>
              <a:t>Fetch from </a:t>
            </a:r>
            <a:r>
              <a:rPr dirty="0"/>
              <a:t>a JSON</a:t>
            </a:r>
            <a:r>
              <a:rPr spc="-270" dirty="0"/>
              <a:t> </a:t>
            </a:r>
            <a:r>
              <a:rPr spc="-5" dirty="0"/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4098"/>
            <a:ext cx="8159115" cy="258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marR="1990725" indent="-1955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expressApp.get(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"/object/:objid"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, function (request, response)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 dbFile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"DB"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+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request.params.objid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;  fs.readFile(dbFile, function (error, contents)</a:t>
            </a:r>
            <a:r>
              <a:rPr sz="14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98170" marR="3550285" indent="-19558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if (error)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response.status(500).send(error.message);</a:t>
            </a:r>
            <a:endParaRPr sz="1400">
              <a:latin typeface="Consolas"/>
              <a:cs typeface="Consolas"/>
            </a:endParaRPr>
          </a:p>
          <a:p>
            <a:pPr marL="40259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else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270"/>
              </a:spcBef>
              <a:tabLst>
                <a:tab pos="3815079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 obj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 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JSON.parse(contents);	//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JSON.parse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accepts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Buffer</a:t>
            </a:r>
            <a:r>
              <a:rPr sz="140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types</a:t>
            </a:r>
            <a:endParaRPr sz="1400">
              <a:latin typeface="Arial"/>
              <a:cs typeface="Arial"/>
            </a:endParaRPr>
          </a:p>
          <a:p>
            <a:pPr marL="598170">
              <a:lnSpc>
                <a:spcPct val="100000"/>
              </a:lnSpc>
              <a:spcBef>
                <a:spcPts val="495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obj.date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new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Date();</a:t>
            </a:r>
            <a:endParaRPr sz="1400">
              <a:latin typeface="Consolas"/>
              <a:cs typeface="Consolas"/>
            </a:endParaRPr>
          </a:p>
          <a:p>
            <a:pPr marL="598170" marR="5080">
              <a:lnSpc>
                <a:spcPct val="1295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response.set('Content-Type', 'application/json'); //</a:t>
            </a:r>
            <a:r>
              <a:rPr sz="1400" spc="-3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Same: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response.json(obj);  response.status(200).send(JSON.stringify(obj));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949" y="3726129"/>
            <a:ext cx="318770" cy="61849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55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spcBef>
                <a:spcPts val="65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0725" y="4054805"/>
            <a:ext cx="4876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Note: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Make sure 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always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end() or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send()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4371163"/>
            <a:ext cx="1231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Express.js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6949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 </a:t>
            </a:r>
            <a:r>
              <a:rPr spc="-10" dirty="0"/>
              <a:t>Simple </a:t>
            </a:r>
            <a:r>
              <a:rPr dirty="0"/>
              <a:t>Model </a:t>
            </a:r>
            <a:r>
              <a:rPr spc="-5" dirty="0"/>
              <a:t>Fetcher </a:t>
            </a:r>
            <a:r>
              <a:rPr dirty="0"/>
              <a:t>- </a:t>
            </a:r>
            <a:r>
              <a:rPr spc="-5" dirty="0"/>
              <a:t>Fetch from </a:t>
            </a:r>
            <a:r>
              <a:rPr dirty="0"/>
              <a:t>a JSON</a:t>
            </a:r>
            <a:r>
              <a:rPr spc="-270" dirty="0"/>
              <a:t> </a:t>
            </a:r>
            <a:r>
              <a:rPr spc="-5" dirty="0"/>
              <a:t>file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marR="5080" indent="-195580">
              <a:lnSpc>
                <a:spcPct val="116100"/>
              </a:lnSpc>
              <a:spcBef>
                <a:spcPts val="100"/>
              </a:spcBef>
            </a:pPr>
            <a:r>
              <a:rPr spc="-5" dirty="0"/>
              <a:t>expressApp.get(</a:t>
            </a:r>
            <a:r>
              <a:rPr spc="-5" dirty="0">
                <a:solidFill>
                  <a:srgbClr val="FF0000"/>
                </a:solidFill>
              </a:rPr>
              <a:t>"/object/:objid"</a:t>
            </a:r>
            <a:r>
              <a:rPr spc="-5" dirty="0"/>
              <a:t>, function (request, response) </a:t>
            </a:r>
            <a:r>
              <a:rPr dirty="0"/>
              <a:t>{  </a:t>
            </a:r>
            <a:r>
              <a:rPr spc="-5" dirty="0"/>
              <a:t>var dbFile </a:t>
            </a:r>
            <a:r>
              <a:rPr dirty="0"/>
              <a:t>= </a:t>
            </a:r>
            <a:r>
              <a:rPr spc="-5" dirty="0"/>
              <a:t>"DB" </a:t>
            </a:r>
            <a:r>
              <a:rPr dirty="0"/>
              <a:t>+ </a:t>
            </a:r>
            <a:r>
              <a:rPr spc="-5" dirty="0">
                <a:solidFill>
                  <a:srgbClr val="FF0000"/>
                </a:solidFill>
              </a:rPr>
              <a:t>request.params.objid</a:t>
            </a:r>
            <a:r>
              <a:rPr spc="-5" dirty="0"/>
              <a:t>;  fs.readFile(dbFile, function (error, contents)</a:t>
            </a:r>
            <a:r>
              <a:rPr spc="-25" dirty="0"/>
              <a:t> </a:t>
            </a:r>
            <a:r>
              <a:rPr dirty="0"/>
              <a:t>{</a:t>
            </a:r>
          </a:p>
          <a:p>
            <a:pPr marL="598170" marR="1565275" indent="-195580">
              <a:lnSpc>
                <a:spcPct val="116100"/>
              </a:lnSpc>
            </a:pPr>
            <a:r>
              <a:rPr spc="-5" dirty="0"/>
              <a:t>if (error) </a:t>
            </a:r>
            <a:r>
              <a:rPr dirty="0"/>
              <a:t>{  </a:t>
            </a:r>
            <a:r>
              <a:rPr spc="-5" dirty="0"/>
              <a:t>response.status(500).send(error.message);</a:t>
            </a:r>
          </a:p>
          <a:p>
            <a:pPr marL="402590">
              <a:lnSpc>
                <a:spcPct val="100000"/>
              </a:lnSpc>
              <a:spcBef>
                <a:spcPts val="270"/>
              </a:spcBef>
            </a:pPr>
            <a:r>
              <a:rPr dirty="0"/>
              <a:t>} </a:t>
            </a:r>
            <a:r>
              <a:rPr spc="-5" dirty="0"/>
              <a:t>else</a:t>
            </a:r>
            <a:r>
              <a:rPr spc="-15" dirty="0"/>
              <a:t> </a:t>
            </a:r>
            <a:r>
              <a:rPr dirty="0"/>
              <a:t>{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87594" y="2704288"/>
            <a:ext cx="2948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JSON.parse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accepts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Buffer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types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0398" y="2641423"/>
            <a:ext cx="304800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 obj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4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JSON.parse(contents);  obj.date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new Date(); 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response.json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(obj);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498672"/>
            <a:ext cx="513715" cy="768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5204" y="4766045"/>
            <a:ext cx="193611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Express.js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6066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Fetching </a:t>
            </a:r>
            <a:r>
              <a:rPr dirty="0"/>
              <a:t>multiple models - </a:t>
            </a:r>
            <a:r>
              <a:rPr spc="-5" dirty="0"/>
              <a:t>Comments of</a:t>
            </a:r>
            <a:r>
              <a:rPr spc="-110" dirty="0"/>
              <a:t> </a:t>
            </a:r>
            <a:r>
              <a:rPr spc="-5" dirty="0"/>
              <a:t>objects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188416"/>
            <a:ext cx="8270875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2818765" indent="-272415">
              <a:lnSpc>
                <a:spcPct val="115399"/>
              </a:lnSpc>
              <a:spcBef>
                <a:spcPts val="100"/>
              </a:spcBef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app.get("/commentsOf/:objid", function (request, response) </a:t>
            </a: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var comments </a:t>
            </a: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3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[];</a:t>
            </a:r>
            <a:endParaRPr sz="1300">
              <a:latin typeface="Consolas"/>
              <a:cs typeface="Consolas"/>
            </a:endParaRPr>
          </a:p>
          <a:p>
            <a:pPr marL="741680" marR="1731645" indent="-457200">
              <a:lnSpc>
                <a:spcPct val="115399"/>
              </a:lnSpc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fs.readFile("DB" </a:t>
            </a: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+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request.params.objid, function (error, contents) </a:t>
            </a: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var obj </a:t>
            </a: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3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JSON.parse(contents);</a:t>
            </a:r>
            <a:endParaRPr sz="1300">
              <a:latin typeface="Consolas"/>
              <a:cs typeface="Consolas"/>
            </a:endParaRPr>
          </a:p>
          <a:p>
            <a:pPr marL="741680">
              <a:lnSpc>
                <a:spcPct val="100000"/>
              </a:lnSpc>
              <a:spcBef>
                <a:spcPts val="240"/>
              </a:spcBef>
            </a:pPr>
            <a:r>
              <a:rPr sz="1300" b="1" spc="-5" dirty="0">
                <a:solidFill>
                  <a:srgbClr val="FF0000"/>
                </a:solidFill>
                <a:latin typeface="Consolas"/>
                <a:cs typeface="Consolas"/>
              </a:rPr>
              <a:t>async.each</a:t>
            </a:r>
            <a:r>
              <a:rPr sz="1300" b="1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obj.comments</a:t>
            </a:r>
            <a:r>
              <a:rPr sz="1300" b="1" spc="-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fetchComments</a:t>
            </a:r>
            <a:r>
              <a:rPr sz="1300" b="1" spc="-5" dirty="0">
                <a:solidFill>
                  <a:srgbClr val="595959"/>
                </a:solidFill>
                <a:latin typeface="Consolas"/>
                <a:cs typeface="Consolas"/>
              </a:rPr>
              <a:t>,</a:t>
            </a:r>
            <a:r>
              <a:rPr sz="1300" b="1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allDone</a:t>
            </a:r>
            <a:r>
              <a:rPr sz="1300" b="1" spc="-5" dirty="0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300">
              <a:latin typeface="Consolas"/>
              <a:cs typeface="Consolas"/>
            </a:endParaRPr>
          </a:p>
          <a:p>
            <a:pPr marL="374650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300">
              <a:latin typeface="Consolas"/>
              <a:cs typeface="Consolas"/>
            </a:endParaRPr>
          </a:p>
          <a:p>
            <a:pPr marL="650875" marR="2270125" indent="-276225">
              <a:lnSpc>
                <a:spcPct val="115399"/>
              </a:lnSpc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function fetchComments(commentFile, callback) </a:t>
            </a: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fs.readFile("DB"+ commentFile, function (error, contents)</a:t>
            </a:r>
            <a:r>
              <a:rPr sz="13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1104265" marR="2808605">
              <a:lnSpc>
                <a:spcPct val="115399"/>
              </a:lnSpc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if (!error) comments.push(JSON.parse(contents));  callback(error);</a:t>
            </a:r>
            <a:endParaRPr sz="1300">
              <a:latin typeface="Consolas"/>
              <a:cs typeface="Consolas"/>
            </a:endParaRPr>
          </a:p>
          <a:p>
            <a:pPr marL="650875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3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function allDone(error)</a:t>
            </a:r>
            <a:r>
              <a:rPr sz="13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741680">
              <a:lnSpc>
                <a:spcPct val="100000"/>
              </a:lnSpc>
              <a:spcBef>
                <a:spcPts val="240"/>
              </a:spcBef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if (error) responses.status(500).send(error.message); else</a:t>
            </a:r>
            <a:r>
              <a:rPr sz="13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response.json(comments);</a:t>
            </a:r>
            <a:endParaRPr sz="13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4647896"/>
            <a:ext cx="2978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3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824FA0-404F-4F68-BB24-FAED500B649A}"/>
</file>

<file path=customXml/itemProps2.xml><?xml version="1.0" encoding="utf-8"?>
<ds:datastoreItem xmlns:ds="http://schemas.openxmlformats.org/officeDocument/2006/customXml" ds:itemID="{64BC459C-5E34-461C-8C76-33F9227806CD}"/>
</file>

<file path=customXml/itemProps3.xml><?xml version="1.0" encoding="utf-8"?>
<ds:datastoreItem xmlns:ds="http://schemas.openxmlformats.org/officeDocument/2006/customXml" ds:itemID="{47BD3E4C-35EF-4899-B7DB-27BE882B10D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1328</Words>
  <Application>Microsoft Office PowerPoint</Application>
  <PresentationFormat>On-screen Show (16:9)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PGothic</vt:lpstr>
      <vt:lpstr>Arial</vt:lpstr>
      <vt:lpstr>Calibri</vt:lpstr>
      <vt:lpstr>Consolas</vt:lpstr>
      <vt:lpstr>Courier New</vt:lpstr>
      <vt:lpstr>Times New Roman</vt:lpstr>
      <vt:lpstr>Office Theme</vt:lpstr>
      <vt:lpstr>PowerPoint Presentation</vt:lpstr>
      <vt:lpstr>Express.js - A web framework for Node.js</vt:lpstr>
      <vt:lpstr>var express = require('express');</vt:lpstr>
      <vt:lpstr>Express routing</vt:lpstr>
      <vt:lpstr>httpRequest object</vt:lpstr>
      <vt:lpstr>httpResponse object</vt:lpstr>
      <vt:lpstr>Middleware</vt:lpstr>
      <vt:lpstr>ExpressJS Example: webServer.js from Project #4</vt:lpstr>
      <vt:lpstr>ExpressJS Example: webServer.js from Project #5</vt:lpstr>
      <vt:lpstr>A Simple Model Fetcher - Fetch from a JSON file</vt:lpstr>
      <vt:lpstr>A Simple Model Fetcher - Fetch from a JSON file</vt:lpstr>
      <vt:lpstr>Fetching multiple models - Comments of objects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1</cp:revision>
  <dcterms:created xsi:type="dcterms:W3CDTF">2019-08-20T05:13:38Z</dcterms:created>
  <dcterms:modified xsi:type="dcterms:W3CDTF">2021-12-07T02:44:00Z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