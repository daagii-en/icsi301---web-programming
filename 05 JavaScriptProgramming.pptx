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9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4" r:id="rId32"/>
    <p:sldId id="285" r:id="rId33"/>
    <p:sldId id="286" r:id="rId34"/>
    <p:sldId id="287" r:id="rId35"/>
    <p:sldId id="295" r:id="rId36"/>
    <p:sldId id="296" r:id="rId37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92" autoAdjust="0"/>
  </p:normalViewPr>
  <p:slideViewPr>
    <p:cSldViewPr>
      <p:cViewPr varScale="1">
        <p:scale>
          <a:sx n="129" d="100"/>
          <a:sy n="129" d="100"/>
        </p:scale>
        <p:origin x="109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502D6-AB95-4D7D-84A7-EC9615BB1E9A}" type="datetimeFigureOut">
              <a:rPr lang="mn-MN" smtClean="0"/>
              <a:t>2021.10.12</a:t>
            </a:fld>
            <a:endParaRPr lang="m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m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C8B78-3205-4C15-8C0F-0EB6901C0ACC}" type="slidenum">
              <a:rPr lang="mn-MN" smtClean="0"/>
              <a:t>‹#›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30450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5282"/>
                </a:solidFill>
                <a:effectLst/>
              </a:rPr>
              <a:t>function</a:t>
            </a:r>
            <a:r>
              <a:rPr lang="en-US" dirty="0"/>
              <a:t> </a:t>
            </a:r>
            <a:r>
              <a:rPr lang="en-US" dirty="0">
                <a:solidFill>
                  <a:srgbClr val="DB000E"/>
                </a:solidFill>
                <a:effectLst/>
              </a:rPr>
              <a:t>f2</a:t>
            </a:r>
            <a:r>
              <a:rPr lang="en-US" dirty="0">
                <a:solidFill>
                  <a:srgbClr val="6D6D6D"/>
                </a:solidFill>
                <a:effectLst/>
              </a:rPr>
              <a:t>()</a:t>
            </a:r>
            <a:r>
              <a:rPr lang="en-US" dirty="0"/>
              <a:t> </a:t>
            </a:r>
            <a:r>
              <a:rPr lang="en-US" dirty="0">
                <a:solidFill>
                  <a:srgbClr val="6D6D6D"/>
                </a:solidFill>
                <a:effectLst/>
              </a:rPr>
              <a:t>{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005A38"/>
                </a:solidFill>
                <a:effectLst/>
              </a:rPr>
              <a:t>'use strict'</a:t>
            </a:r>
            <a:r>
              <a:rPr lang="en-US" dirty="0">
                <a:solidFill>
                  <a:srgbClr val="6D6D6D"/>
                </a:solidFill>
                <a:effectLst/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rgbClr val="6D6D6D"/>
                </a:solidFill>
                <a:effectLst/>
              </a:rPr>
              <a:t>// see strict mode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005282"/>
                </a:solidFill>
                <a:effectLst/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005282"/>
                </a:solidFill>
                <a:effectLst/>
              </a:rPr>
              <a:t>this</a:t>
            </a:r>
            <a:r>
              <a:rPr lang="en-US" dirty="0">
                <a:solidFill>
                  <a:srgbClr val="6D6D6D"/>
                </a:solidFill>
                <a:effectLst/>
              </a:rPr>
              <a:t>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rgbClr val="6D6D6D"/>
                </a:solidFill>
                <a:effectLst/>
              </a:rPr>
              <a:t>}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DB000E"/>
                </a:solidFill>
                <a:effectLst/>
              </a:rPr>
              <a:t>f2</a:t>
            </a:r>
            <a:r>
              <a:rPr lang="en-US" dirty="0">
                <a:solidFill>
                  <a:srgbClr val="6D6D6D"/>
                </a:solidFill>
                <a:effectLst/>
              </a:rPr>
              <a:t>()</a:t>
            </a:r>
            <a:r>
              <a:rPr lang="en-US" dirty="0"/>
              <a:t> </a:t>
            </a:r>
            <a:r>
              <a:rPr lang="en-US" dirty="0">
                <a:solidFill>
                  <a:srgbClr val="1B1B1B"/>
                </a:solidFill>
                <a:effectLst/>
              </a:rPr>
              <a:t>===</a:t>
            </a:r>
            <a:r>
              <a:rPr lang="en-US" dirty="0"/>
              <a:t> </a:t>
            </a:r>
            <a:r>
              <a:rPr lang="en-US" dirty="0">
                <a:solidFill>
                  <a:srgbClr val="005282"/>
                </a:solidFill>
                <a:effectLst/>
              </a:rPr>
              <a:t>undefined</a:t>
            </a:r>
            <a:r>
              <a:rPr lang="en-US" dirty="0">
                <a:solidFill>
                  <a:srgbClr val="6D6D6D"/>
                </a:solidFill>
                <a:effectLst/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rgbClr val="6D6D6D"/>
                </a:solidFill>
                <a:effectLst/>
              </a:rPr>
              <a:t>//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4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801219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correct way! Why?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1) because </a:t>
            </a:r>
            <a:r>
              <a:rPr lang="en-US" dirty="0" err="1">
                <a:sym typeface="Wingdings" panose="05000000000000000000" pitchFamily="2" charset="2"/>
              </a:rPr>
              <a:t>Object.keys</a:t>
            </a:r>
            <a:r>
              <a:rPr lang="en-US" dirty="0">
                <a:sym typeface="Wingdings" panose="05000000000000000000" pitchFamily="2" charset="2"/>
              </a:rPr>
              <a:t>(r):</a:t>
            </a:r>
            <a:r>
              <a:rPr lang="en-US" baseline="0" dirty="0">
                <a:sym typeface="Wingdings" panose="05000000000000000000" pitchFamily="2" charset="2"/>
              </a:rPr>
              <a:t>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 '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   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area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not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property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object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       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should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be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method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object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r>
              <a:rPr lang="en-US" dirty="0"/>
              <a:t>2) function.name property is empty!</a:t>
            </a:r>
            <a:r>
              <a:rPr lang="en-US" baseline="0" dirty="0"/>
              <a:t> Unnamed function! 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 name property is not standard, depends on implementations! Undefined or empty string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 used -- recursive call || indicator for debugger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6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7086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r.newMethod</a:t>
            </a:r>
            <a:r>
              <a:rPr lang="en-US" dirty="0"/>
              <a:t> </a:t>
            </a:r>
            <a:r>
              <a:rPr lang="mn-MN" dirty="0"/>
              <a:t>– зөвхөн </a:t>
            </a:r>
            <a:r>
              <a:rPr lang="en-US" dirty="0"/>
              <a:t>r instance</a:t>
            </a:r>
            <a:r>
              <a:rPr lang="mn-MN" dirty="0"/>
              <a:t>-ийнх</a:t>
            </a:r>
          </a:p>
          <a:p>
            <a:r>
              <a:rPr lang="mn-MN" dirty="0"/>
              <a:t>харин </a:t>
            </a:r>
            <a:r>
              <a:rPr lang="en-US" dirty="0"/>
              <a:t>var s = new Rectangle(10,10);</a:t>
            </a:r>
          </a:p>
          <a:p>
            <a:r>
              <a:rPr lang="en-US" dirty="0" err="1"/>
              <a:t>s.newMethod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New Method called 1 </a:t>
            </a:r>
            <a:r>
              <a:rPr lang="mn-MN" dirty="0">
                <a:sym typeface="Wingdings" panose="05000000000000000000" pitchFamily="2" charset="2"/>
              </a:rPr>
              <a:t>гэж дуудагдана.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9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444850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myFunc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 //12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myFunc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 //13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embedFunc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is a 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17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787124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Immediate function:</a:t>
            </a:r>
          </a:p>
          <a:p>
            <a:pPr marL="171450" indent="-171450">
              <a:buFontTx/>
              <a:buChar char="-"/>
            </a:pPr>
            <a:r>
              <a:rPr lang="en-US" dirty="0"/>
              <a:t>wrap all code in local scope and not leak any variables in global scope</a:t>
            </a:r>
          </a:p>
          <a:p>
            <a:pPr marL="171450" indent="-171450">
              <a:buFontTx/>
              <a:buChar char="-"/>
            </a:pPr>
            <a:r>
              <a:rPr lang="en-US" dirty="0"/>
              <a:t>not pollute global scope</a:t>
            </a:r>
          </a:p>
          <a:p>
            <a:pPr marL="171450" indent="-171450">
              <a:buFontTx/>
              <a:buChar char="-"/>
            </a:pPr>
            <a:r>
              <a:rPr lang="en-US" dirty="0"/>
              <a:t>featuring self-contained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18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884794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19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338380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ES6, arrow functions use lexical scoping — ‘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refers to it’s current surrounding scope and no further.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Lexical scope - every inner level can access its outer levels.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21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624963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 – ‘for’ executed two times then the </a:t>
            </a:r>
            <a:r>
              <a:rPr lang="en-US" b="1" dirty="0"/>
              <a:t>callback function </a:t>
            </a:r>
            <a:r>
              <a:rPr lang="en-US" dirty="0"/>
              <a:t>called with last value of </a:t>
            </a:r>
            <a:r>
              <a:rPr lang="en-US" dirty="0" err="1"/>
              <a:t>fileNo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22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4168195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1 has length XX</a:t>
            </a:r>
          </a:p>
          <a:p>
            <a:r>
              <a:rPr lang="en-US" dirty="0"/>
              <a:t>file 1 has length XX</a:t>
            </a:r>
          </a:p>
          <a:p>
            <a:endParaRPr lang="en-US" dirty="0"/>
          </a:p>
          <a:p>
            <a:r>
              <a:rPr lang="en-US" dirty="0"/>
              <a:t>Why? 1 is the last value of last for execution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29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887379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 – maybe file1 read finished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30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401127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statement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extends the scope chain for a statement.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C8B78-3205-4C15-8C0F-0EB6901C0ACC}" type="slidenum">
              <a:rPr lang="mn-MN" smtClean="0"/>
              <a:t>33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3858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4470" y="1881758"/>
            <a:ext cx="7255059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490675"/>
            <a:ext cx="8212455" cy="191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83029" y="4778075"/>
            <a:ext cx="274066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8825" y="4778067"/>
            <a:ext cx="192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javascript.crockford.com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470" y="1881758"/>
            <a:ext cx="72478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>
                <a:latin typeface="Arial"/>
                <a:cs typeface="Arial"/>
              </a:rPr>
              <a:t>JavaScript</a:t>
            </a:r>
            <a:r>
              <a:rPr sz="5200" spc="-100" dirty="0">
                <a:latin typeface="Arial"/>
                <a:cs typeface="Arial"/>
              </a:rPr>
              <a:t> </a:t>
            </a:r>
            <a:r>
              <a:rPr sz="5200" spc="-10" dirty="0">
                <a:latin typeface="Arial"/>
                <a:cs typeface="Arial"/>
              </a:rPr>
              <a:t>Programming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559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do </a:t>
            </a:r>
            <a:r>
              <a:rPr dirty="0"/>
              <a:t>you </a:t>
            </a:r>
            <a:r>
              <a:rPr spc="-5" dirty="0"/>
              <a:t>program in</a:t>
            </a:r>
            <a:r>
              <a:rPr spc="-90" dirty="0"/>
              <a:t> </a:t>
            </a:r>
            <a:r>
              <a:rPr dirty="0"/>
              <a:t>JavaScript?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988300" cy="292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Wikipedia: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supporting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object-oriented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imperative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and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functional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469900" marR="288925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Originally programming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conventions (i.e.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patterns)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rather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language  features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ECMAScript adding language features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class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=&gt;</a:t>
            </a:r>
            <a:r>
              <a:rPr sz="1400" spc="-36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20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Object-oriented programming:</a:t>
            </a:r>
            <a:r>
              <a:rPr spc="-95" dirty="0"/>
              <a:t> </a:t>
            </a:r>
            <a:r>
              <a:rPr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6230351" cy="26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 of an 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800" dirty="0">
              <a:latin typeface="Arial"/>
              <a:cs typeface="Arial"/>
            </a:endParaRPr>
          </a:p>
          <a:p>
            <a:pPr marL="398463"/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</a:p>
          <a:p>
            <a:pPr marL="398463"/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398463"/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398463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98463"/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79095" indent="-3670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invocation:</a:t>
            </a:r>
            <a:endParaRPr lang="en-US" sz="18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98463"/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98463"/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4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06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this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8135351" cy="3136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be bound to the object</a:t>
            </a:r>
            <a:endParaRPr sz="1800" dirty="0">
              <a:latin typeface="Arial"/>
              <a:cs typeface="Arial"/>
            </a:endParaRPr>
          </a:p>
          <a:p>
            <a:pPr marL="398463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oldProp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'this is an old property'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</a:t>
            </a:r>
          </a:p>
          <a:p>
            <a:pPr marL="398463"/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aMethod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398463"/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newProp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a new property"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98463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will contain 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newProp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98463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98463"/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aMethod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will return ['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oldProp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aMethod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newProp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non-method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functions: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400" spc="-3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be the global object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 if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"use strict"; this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be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25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functions </a:t>
            </a:r>
            <a:r>
              <a:rPr dirty="0"/>
              <a:t>can </a:t>
            </a:r>
            <a:r>
              <a:rPr spc="-5" dirty="0"/>
              <a:t>have properties</a:t>
            </a:r>
            <a:r>
              <a:rPr spc="-100" dirty="0"/>
              <a:t> </a:t>
            </a:r>
            <a:r>
              <a:rPr spc="-5" dirty="0"/>
              <a:t>too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864984" cy="303608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44488"/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344488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plus1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invocations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344488"/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plus1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invocations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4488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344488"/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plus1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invocations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 </a:t>
            </a:r>
          </a:p>
          <a:p>
            <a:pPr marL="3444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4488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plus1.invocations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be the number times function 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8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Acts 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static/class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in object-oriented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languages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22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Object-oriented programming:</a:t>
            </a:r>
            <a:r>
              <a:rPr spc="-95" dirty="0"/>
              <a:t> </a:t>
            </a:r>
            <a:r>
              <a:rPr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065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Name the function after the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1490675"/>
            <a:ext cx="775788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s-E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s-E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{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26,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14}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105150"/>
            <a:ext cx="8181340" cy="16844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 used in this way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1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constructors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  <a:p>
            <a:pPr marL="457200"/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sz="1800" dirty="0">
              <a:latin typeface="Consolas"/>
              <a:cs typeface="Consolas"/>
            </a:endParaRPr>
          </a:p>
          <a:p>
            <a:pPr marL="457200"/>
            <a:r>
              <a:rPr lang="es-E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Rectangle { width: 26, height: 14, area: </a:t>
            </a:r>
          </a:p>
          <a:p>
            <a:pPr marL="457200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[Function]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/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4480" y="1679113"/>
            <a:ext cx="3010535" cy="363855"/>
          </a:xfrm>
          <a:prstGeom prst="rect">
            <a:avLst/>
          </a:prstGeom>
          <a:ln w="19049">
            <a:solidFill>
              <a:srgbClr val="FF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correct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way of adding</a:t>
            </a:r>
            <a:r>
              <a:rPr sz="1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86200" y="1923811"/>
            <a:ext cx="1493635" cy="419339"/>
          </a:xfrm>
          <a:custGeom>
            <a:avLst/>
            <a:gdLst/>
            <a:ahLst/>
            <a:cxnLst/>
            <a:rect l="l" t="t" r="r" b="b"/>
            <a:pathLst>
              <a:path w="1014729" h="278764">
                <a:moveTo>
                  <a:pt x="1014476" y="0"/>
                </a:moveTo>
                <a:lnTo>
                  <a:pt x="0" y="278446"/>
                </a:lnTo>
              </a:path>
            </a:pathLst>
          </a:custGeom>
          <a:ln w="19049">
            <a:solidFill>
              <a:srgbClr val="FF0000"/>
            </a:solidFill>
            <a:tailEnd type="triangle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576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Object-oriented programming:</a:t>
            </a:r>
            <a:r>
              <a:rPr spc="-90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237220" cy="22879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the notion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prototype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for each object instance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Prototype objects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prototype objects forming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prototype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chain</a:t>
            </a:r>
            <a:endParaRPr sz="14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spcBef>
                <a:spcPts val="9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an object property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search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up the prototype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until the property 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found</a:t>
            </a:r>
            <a:endParaRPr sz="1800">
              <a:latin typeface="Arial"/>
              <a:cs typeface="Arial"/>
            </a:endParaRPr>
          </a:p>
          <a:p>
            <a:pPr marL="836294" marR="177800" indent="-336550">
              <a:lnSpc>
                <a:spcPct val="116100"/>
              </a:lnSpc>
              <a:spcBef>
                <a:spcPts val="60"/>
              </a:spcBef>
              <a:buChar char="●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Effectively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properties of an object are its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own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property in addition to all the properties up  the prototype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chain.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prototype-based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inheritance.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 updates are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always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 in object if not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found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92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Using</a:t>
            </a:r>
            <a:r>
              <a:rPr spc="-85" dirty="0"/>
              <a:t> </a:t>
            </a:r>
            <a:r>
              <a:rPr spc="-5" dirty="0"/>
              <a:t>prototypes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882890" cy="3200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r>
              <a:rPr lang="es-E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{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26,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14} 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== 26*14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//== [ '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] //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own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properties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Note: Dynamic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changing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prototype will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instances to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34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Prototype </a:t>
            </a:r>
            <a:r>
              <a:rPr dirty="0"/>
              <a:t>versus </a:t>
            </a:r>
            <a:r>
              <a:rPr spc="-5" dirty="0"/>
              <a:t>object</a:t>
            </a:r>
            <a:r>
              <a:rPr spc="-90" dirty="0"/>
              <a:t> </a:t>
            </a:r>
            <a:r>
              <a:rPr spc="-5" dirty="0"/>
              <a:t>instances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254365" cy="29443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Understand the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between:</a:t>
            </a:r>
            <a:endParaRPr sz="1800" dirty="0">
              <a:latin typeface="Arial"/>
              <a:cs typeface="Arial"/>
            </a:endParaRPr>
          </a:p>
          <a:p>
            <a:pPr marL="457200">
              <a:spcBef>
                <a:spcPts val="600"/>
              </a:spcBef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newMethod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'New Method called'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And:</a:t>
            </a:r>
            <a:endParaRPr sz="1800" dirty="0">
              <a:latin typeface="Arial"/>
              <a:cs typeface="Arial"/>
            </a:endParaRPr>
          </a:p>
          <a:p>
            <a:pPr marL="457200">
              <a:spcBef>
                <a:spcPts val="600"/>
              </a:spcBef>
            </a:pPr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newMethod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pPr marL="1828800"/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s-E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'New 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called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1'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 marL="457200">
              <a:lnSpc>
                <a:spcPct val="100000"/>
              </a:lnSpc>
              <a:spcBef>
                <a:spcPts val="315"/>
              </a:spcBef>
            </a:pPr>
            <a:endParaRPr lang="en-US" sz="1800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457200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newMethod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New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called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81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40700" cy="2346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desired property not in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Rectangle.prototype</a:t>
            </a:r>
            <a:r>
              <a:rPr sz="1800" spc="-5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look in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Shape.prototype</a:t>
            </a:r>
            <a:r>
              <a:rPr sz="1800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on.</a:t>
            </a:r>
            <a:endParaRPr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prototype objects as forming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chain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 Lookups go up the prototype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chain.</a:t>
            </a:r>
            <a:endParaRPr sz="1400" dirty="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Prototype-based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inheritance</a:t>
            </a:r>
            <a:endParaRPr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Single inheritance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endParaRPr sz="14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be dynamically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created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modified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293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ECMAScript </a:t>
            </a:r>
            <a:r>
              <a:rPr dirty="0"/>
              <a:t>version 6</a:t>
            </a:r>
            <a:r>
              <a:rPr spc="-95" dirty="0"/>
              <a:t> </a:t>
            </a:r>
            <a:r>
              <a:rPr spc="-5" dirty="0"/>
              <a:t>extensions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725" y="1047750"/>
            <a:ext cx="83841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Definition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Inheritance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constructor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s-E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  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definition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countRects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...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595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React.js example</a:t>
            </a:r>
            <a:r>
              <a:rPr spc="-90" dirty="0"/>
              <a:t> </a:t>
            </a:r>
            <a:r>
              <a:rPr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00150"/>
            <a:ext cx="5304790" cy="329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" marR="5080" indent="-220345">
              <a:lnSpc>
                <a:spcPct val="142400"/>
              </a:lnSpc>
              <a:spcBef>
                <a:spcPts val="100"/>
              </a:spcBef>
            </a:pPr>
            <a:r>
              <a:rPr sz="1800" spc="-5" dirty="0">
                <a:solidFill>
                  <a:srgbClr val="C5A5C5"/>
                </a:solidFill>
                <a:latin typeface="Consolas"/>
                <a:cs typeface="Consolas"/>
              </a:rPr>
              <a:t>class </a:t>
            </a:r>
            <a:r>
              <a:rPr sz="1800" spc="-5" dirty="0">
                <a:solidFill>
                  <a:srgbClr val="FAC863"/>
                </a:solidFill>
                <a:latin typeface="Consolas"/>
                <a:cs typeface="Consolas"/>
              </a:rPr>
              <a:t>HelloWorld </a:t>
            </a:r>
            <a:r>
              <a:rPr sz="1800" spc="-5" dirty="0">
                <a:solidFill>
                  <a:srgbClr val="C5A5C5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FAC863"/>
                </a:solidFill>
                <a:latin typeface="Consolas"/>
                <a:cs typeface="Consolas"/>
              </a:rPr>
              <a:t>React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FAC863"/>
                </a:solidFill>
                <a:latin typeface="Consolas"/>
                <a:cs typeface="Consolas"/>
              </a:rPr>
              <a:t>Component </a:t>
            </a: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78B6F1"/>
                </a:solidFill>
                <a:latin typeface="Consolas"/>
                <a:cs typeface="Consolas"/>
              </a:rPr>
              <a:t>constructor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latin typeface="Consolas"/>
                <a:cs typeface="Consolas"/>
              </a:rPr>
              <a:t>props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) </a:t>
            </a: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C5A5C5"/>
                </a:solidFill>
                <a:latin typeface="Consolas"/>
                <a:cs typeface="Consolas"/>
              </a:rPr>
              <a:t>super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latin typeface="Consolas"/>
                <a:cs typeface="Consolas"/>
              </a:rPr>
              <a:t>props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C5A5C5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14984" marR="3775075" indent="-251460">
              <a:lnSpc>
                <a:spcPct val="100699"/>
              </a:lnSpc>
            </a:pPr>
            <a:r>
              <a:rPr sz="1800" spc="-5" dirty="0">
                <a:solidFill>
                  <a:srgbClr val="78B6F1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()</a:t>
            </a:r>
            <a:r>
              <a:rPr sz="1800" spc="-85" dirty="0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C5A5C5"/>
                </a:solidFill>
                <a:latin typeface="Consolas"/>
                <a:cs typeface="Consolas"/>
              </a:rPr>
              <a:t>return</a:t>
            </a:r>
            <a:r>
              <a:rPr sz="1800" spc="-90" dirty="0">
                <a:solidFill>
                  <a:srgbClr val="C5A5C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endParaRPr sz="1800">
              <a:latin typeface="Consolas"/>
              <a:cs typeface="Consolas"/>
            </a:endParaRPr>
          </a:p>
          <a:p>
            <a:pPr marL="76644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C929E"/>
                </a:solidFill>
                <a:latin typeface="Consolas"/>
                <a:cs typeface="Consolas"/>
              </a:rPr>
              <a:t>div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&gt;Hello</a:t>
            </a:r>
            <a:r>
              <a:rPr sz="1800" spc="-10" dirty="0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World&lt;/</a:t>
            </a:r>
            <a:r>
              <a:rPr sz="1800" spc="-5" dirty="0">
                <a:solidFill>
                  <a:srgbClr val="FC929E"/>
                </a:solidFill>
                <a:latin typeface="Consolas"/>
                <a:cs typeface="Consolas"/>
              </a:rPr>
              <a:t>div</a:t>
            </a: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88C6BE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85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Functional</a:t>
            </a:r>
            <a:r>
              <a:rPr spc="-9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38733"/>
            <a:ext cx="7906751" cy="336181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Imperative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401638"/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 </a:t>
            </a:r>
          </a:p>
          <a:p>
            <a:pPr marL="401638"/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newArr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]*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01638"/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Functional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lang="en-US" sz="1800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401638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 marL="401638"/>
            <a:r>
              <a:rPr lang="es-E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01638"/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write entire program as functions with no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side-effects</a:t>
            </a:r>
            <a:endParaRPr sz="1800" dirty="0">
              <a:latin typeface="Arial"/>
              <a:cs typeface="Arial"/>
            </a:endParaRPr>
          </a:p>
          <a:p>
            <a:pPr marL="401638">
              <a:spcBef>
                <a:spcPts val="600"/>
              </a:spcBef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mapFunc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reduceFunc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352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5" dirty="0" err="1"/>
              <a:t>Functional</a:t>
            </a:r>
            <a:r>
              <a:rPr lang="es-ES" spc="-5" dirty="0"/>
              <a:t> </a:t>
            </a:r>
            <a:r>
              <a:rPr lang="es-ES" spc="-10" dirty="0" err="1"/>
              <a:t>Programming</a:t>
            </a:r>
            <a:r>
              <a:rPr lang="es-ES" spc="-10" dirty="0"/>
              <a:t> </a:t>
            </a:r>
            <a:r>
              <a:rPr lang="es-ES" dirty="0"/>
              <a:t>- </a:t>
            </a:r>
            <a:r>
              <a:rPr lang="es-ES" spc="-10" dirty="0" err="1"/>
              <a:t>ECMAScript</a:t>
            </a:r>
            <a:r>
              <a:rPr lang="es-ES" spc="-95" dirty="0"/>
              <a:t> </a:t>
            </a:r>
            <a:r>
              <a:rPr lang="es-ES" dirty="0"/>
              <a:t>6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038733"/>
            <a:ext cx="8211551" cy="351570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Imperative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401638"/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 </a:t>
            </a:r>
          </a:p>
          <a:p>
            <a:pPr marL="401638"/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newArr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]*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01638"/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Functional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lang="en-US" sz="1800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401638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01638"/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write entire program as functions with no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side-effects</a:t>
            </a:r>
            <a:endParaRPr sz="1800" dirty="0">
              <a:latin typeface="Arial"/>
              <a:cs typeface="Arial"/>
            </a:endParaRPr>
          </a:p>
          <a:p>
            <a:pPr marL="401638">
              <a:spcBef>
                <a:spcPts val="600"/>
              </a:spcBef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filter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mapFunc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reduce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reduceFunc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200"/>
              </a:spcBef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Arrow functions don't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redefine </a:t>
            </a:r>
            <a:r>
              <a:rPr lang="en-US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endParaRPr lang="en-US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07511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30887"/>
          </a:xfrm>
        </p:spPr>
        <p:txBody>
          <a:bodyPr/>
          <a:lstStyle/>
          <a:p>
            <a:r>
              <a:rPr lang="en-US" dirty="0"/>
              <a:t>Some methods of </a:t>
            </a:r>
            <a:r>
              <a:rPr lang="es-ES" b="1" dirty="0" err="1">
                <a:latin typeface="Consolas" panose="020B0609020204030204" pitchFamily="49" charset="0"/>
              </a:rPr>
              <a:t>Array.prototype</a:t>
            </a:r>
            <a:endParaRPr lang="mn-MN" dirty="0">
              <a:latin typeface="Consolas" panose="020B0609020204030204" pitchFamily="49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490675"/>
            <a:ext cx="8212455" cy="3293209"/>
          </a:xfrm>
        </p:spPr>
        <p:txBody>
          <a:bodyPr/>
          <a:lstStyle/>
          <a:p>
            <a:pPr marL="341313" indent="-341313"/>
            <a:r>
              <a:rPr lang="es-ES" sz="1600" b="1" dirty="0" err="1"/>
              <a:t>Array.prototype.filter</a:t>
            </a:r>
            <a:r>
              <a:rPr lang="es-ES" sz="1600" b="1" dirty="0"/>
              <a:t>()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creates a new array with all elements that pass the test implemented by the provided function.</a:t>
            </a:r>
          </a:p>
          <a:p>
            <a:pPr marL="341313" indent="-341313"/>
            <a:endParaRPr lang="en-US" sz="1600" b="1" dirty="0"/>
          </a:p>
          <a:p>
            <a:pPr marL="341313" indent="-341313"/>
            <a:r>
              <a:rPr lang="es-ES" sz="1600" b="1" dirty="0" err="1"/>
              <a:t>Array.prototype.map</a:t>
            </a:r>
            <a:r>
              <a:rPr lang="es-ES" sz="1600" b="1" dirty="0"/>
              <a:t>()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creates a new array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with the results of calling a provided function on every element in the calling array.</a:t>
            </a:r>
          </a:p>
          <a:p>
            <a:pPr marL="341313" indent="-341313"/>
            <a:endParaRPr lang="en-US" sz="1600" b="1" dirty="0"/>
          </a:p>
          <a:p>
            <a:pPr marL="341313" indent="-341313"/>
            <a:r>
              <a:rPr lang="es-ES" sz="1600" b="1" dirty="0" err="1"/>
              <a:t>Array.prototype.reduce</a:t>
            </a:r>
            <a:r>
              <a:rPr lang="es-ES" sz="1600" b="1" dirty="0"/>
              <a:t>()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executes a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reducer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function (that you provide) on each element of the array, resulting in a single output value.</a:t>
            </a:r>
            <a:endParaRPr lang="es-ES" sz="1600" b="1" dirty="0">
              <a:cs typeface="Arial" panose="020B0604020202020204" pitchFamily="34" charset="0"/>
            </a:endParaRPr>
          </a:p>
          <a:p>
            <a:pPr marL="341313" indent="-341313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es-E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words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'spray'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limit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'elite'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exuberant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destruction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present</a:t>
            </a:r>
            <a:r>
              <a:rPr lang="es-E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25000"/>
              </a:lnSpc>
            </a:pPr>
            <a:r>
              <a:rPr lang="es-E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words</a:t>
            </a:r>
            <a:r>
              <a:rPr lang="es-E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filter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word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400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word</a:t>
            </a:r>
            <a:r>
              <a:rPr lang="es-E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s-ES" sz="1400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s-ES" sz="1400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400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expected</a:t>
            </a: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 output: </a:t>
            </a:r>
            <a:r>
              <a:rPr lang="es-E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</a:t>
            </a: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 ["</a:t>
            </a:r>
            <a:r>
              <a:rPr lang="es-E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exuberant</a:t>
            </a: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", "</a:t>
            </a:r>
            <a:r>
              <a:rPr lang="es-E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destruction</a:t>
            </a: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", "</a:t>
            </a:r>
            <a:r>
              <a:rPr lang="es-E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present</a:t>
            </a:r>
            <a:r>
              <a:rPr lang="es-ES" sz="1400" dirty="0">
                <a:solidFill>
                  <a:srgbClr val="008000"/>
                </a:solidFill>
                <a:latin typeface="Consolas" panose="020B0609020204030204" pitchFamily="49" charset="0"/>
              </a:rPr>
              <a:t>"]</a:t>
            </a:r>
            <a:endParaRPr lang="es-E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32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404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Can </a:t>
            </a:r>
            <a:r>
              <a:rPr dirty="0"/>
              <a:t>mostly </a:t>
            </a:r>
            <a:r>
              <a:rPr spc="-5" dirty="0"/>
              <a:t>but not totally avoid functional</a:t>
            </a:r>
            <a:r>
              <a:rPr spc="-90" dirty="0"/>
              <a:t> </a:t>
            </a:r>
            <a:r>
              <a:rPr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307070" cy="332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Asynchronous events done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858838"/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callbackFunc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s-E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 marL="858838"/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callbackFunc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79095">
              <a:lnSpc>
                <a:spcPct val="100000"/>
              </a:lnSpc>
              <a:spcBef>
                <a:spcPts val="1290"/>
              </a:spcBef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858838"/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callbackFunc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s-E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}</a:t>
            </a:r>
          </a:p>
          <a:p>
            <a:pPr marL="858838"/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passwd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callbackFunc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Node.js programming: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Write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for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prefers functional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style: map(),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filter(),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?: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428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Closures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971550"/>
            <a:ext cx="8302075" cy="37625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advanced programing 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concept 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know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1963">
              <a:lnSpc>
                <a:spcPct val="125000"/>
              </a:lnSpc>
            </a:pP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localFunc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embedFunc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pPr marL="461963">
              <a:lnSpc>
                <a:spcPct val="125000"/>
              </a:lnSpc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++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461963">
              <a:lnSpc>
                <a:spcPct val="125000"/>
              </a:lnSpc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embedFunc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61963">
              <a:lnSpc>
                <a:spcPct val="125000"/>
              </a:lnSpc>
            </a:pP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localFunc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happens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()?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Again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69900" indent="-367030">
              <a:lnSpc>
                <a:spcPct val="100000"/>
              </a:lnSpc>
              <a:spcBef>
                <a:spcPts val="129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5" dirty="0" err="1">
                <a:solidFill>
                  <a:srgbClr val="595959"/>
                </a:solidFill>
                <a:latin typeface="Consolas"/>
                <a:cs typeface="Consolas"/>
              </a:rPr>
              <a:t>myFunc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closure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contains </a:t>
            </a:r>
            <a:r>
              <a:rPr sz="1700" spc="-5" dirty="0">
                <a:solidFill>
                  <a:srgbClr val="595959"/>
                </a:solidFill>
                <a:latin typeface="Consolas"/>
                <a:cs typeface="Consolas"/>
              </a:rPr>
              <a:t>argVar,</a:t>
            </a:r>
            <a:r>
              <a:rPr sz="17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localVar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globalVar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406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Using </a:t>
            </a:r>
            <a:r>
              <a:rPr spc="-10" dirty="0"/>
              <a:t>Scopes </a:t>
            </a:r>
            <a:r>
              <a:rPr spc="-5" dirty="0"/>
              <a:t>and</a:t>
            </a:r>
            <a:r>
              <a:rPr spc="-80" dirty="0"/>
              <a:t> </a:t>
            </a:r>
            <a:r>
              <a:rPr spc="-5" dirty="0"/>
              <a:t>Closures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4999" y="1746324"/>
            <a:ext cx="2070100" cy="12573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350" dirty="0">
              <a:latin typeface="Times New Roman"/>
              <a:cs typeface="Times New Roman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2399" y="1746299"/>
            <a:ext cx="4000500" cy="14972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})();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9620" y="2349281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Versus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1155943"/>
            <a:ext cx="3725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Consider </a:t>
            </a:r>
            <a:r>
              <a:rPr sz="1800" spc="-10" dirty="0">
                <a:latin typeface="Arial"/>
                <a:cs typeface="Arial"/>
              </a:rPr>
              <a:t>effect </a:t>
            </a:r>
            <a:r>
              <a:rPr sz="1800" spc="-5" dirty="0">
                <a:latin typeface="Arial"/>
                <a:cs typeface="Arial"/>
              </a:rPr>
              <a:t>on the </a:t>
            </a:r>
            <a:r>
              <a:rPr sz="1800" dirty="0">
                <a:latin typeface="Arial"/>
                <a:cs typeface="Arial"/>
              </a:rPr>
              <a:t>scopes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91625" y="3344206"/>
            <a:ext cx="4170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immediate function: a scope </a:t>
            </a:r>
            <a:r>
              <a:rPr lang="en-US" i="1" dirty="0"/>
              <a:t>sandbox</a:t>
            </a:r>
            <a:r>
              <a:rPr lang="en-US" dirty="0"/>
              <a:t> for </a:t>
            </a:r>
            <a:br>
              <a:rPr lang="en-US" dirty="0"/>
            </a:br>
            <a:r>
              <a:rPr lang="en-US" dirty="0"/>
              <a:t>some code (mostly initialization e.g., </a:t>
            </a:r>
          </a:p>
          <a:p>
            <a:r>
              <a:rPr lang="en-US" dirty="0"/>
              <a:t>attaching event handlers, creating objects)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759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Using </a:t>
            </a:r>
            <a:r>
              <a:rPr dirty="0"/>
              <a:t>closures </a:t>
            </a:r>
            <a:r>
              <a:rPr spc="-5" dirty="0"/>
              <a:t>for private object</a:t>
            </a:r>
            <a:r>
              <a:rPr spc="-95" dirty="0"/>
              <a:t> </a:t>
            </a:r>
            <a:r>
              <a:rPr spc="-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47775"/>
            <a:ext cx="8454475" cy="2741776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myObj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privateProp1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privateProp2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"test"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setPrivate1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val1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privateProp1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val1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compute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 {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privateProp1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privateProp2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compute: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compute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setPrivate1: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setPrivate1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})();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myObj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'object'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Object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keys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myObj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  [ 'compute', 'setPrivate1' ]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does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myObj.compute()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return?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83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Beware </a:t>
            </a:r>
            <a:r>
              <a:rPr spc="-5" dirty="0"/>
              <a:t>of </a:t>
            </a:r>
            <a:r>
              <a:rPr spc="-5" dirty="0">
                <a:latin typeface="Consolas"/>
                <a:cs typeface="Consolas"/>
              </a:rPr>
              <a:t>this</a:t>
            </a:r>
            <a:r>
              <a:rPr spc="-795" dirty="0">
                <a:latin typeface="Consolas"/>
                <a:cs typeface="Consolas"/>
              </a:rPr>
              <a:t> </a:t>
            </a:r>
            <a:r>
              <a:rPr spc="-5" dirty="0"/>
              <a:t>and nested 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93075" cy="345722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'use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strict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readFileMethod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aFile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readFileMethod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12700" marR="1050290">
              <a:lnSpc>
                <a:spcPct val="114599"/>
              </a:lnSpc>
            </a:pPr>
            <a:endParaRPr sz="1800" dirty="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Generates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the</a:t>
            </a:r>
            <a:r>
              <a:rPr sz="180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console.log</a:t>
            </a:r>
            <a:r>
              <a:rPr sz="18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since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undefined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75249" y="4381260"/>
            <a:ext cx="16383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●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5" y="4381260"/>
            <a:ext cx="5179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since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arrow function doesn't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smash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endParaRPr sz="1800">
              <a:latin typeface="Consolas"/>
              <a:cs typeface="Consolas"/>
            </a:endParaRPr>
          </a:p>
          <a:p>
            <a:pPr marL="2353310">
              <a:lnSpc>
                <a:spcPct val="100000"/>
              </a:lnSpc>
              <a:spcBef>
                <a:spcPts val="104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JavaScript</a:t>
            </a:r>
            <a:r>
              <a:rPr sz="1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521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Beware </a:t>
            </a:r>
            <a:r>
              <a:rPr spc="-5" dirty="0"/>
              <a:t>of </a:t>
            </a:r>
            <a:r>
              <a:rPr spc="-5" dirty="0">
                <a:latin typeface="Consolas"/>
                <a:cs typeface="Consolas"/>
              </a:rPr>
              <a:t>this</a:t>
            </a:r>
            <a:r>
              <a:rPr spc="-795" dirty="0">
                <a:latin typeface="Consolas"/>
                <a:cs typeface="Consolas"/>
              </a:rPr>
              <a:t> </a:t>
            </a:r>
            <a:r>
              <a:rPr spc="-5" dirty="0"/>
              <a:t>and nested functions </a:t>
            </a:r>
            <a:r>
              <a:rPr dirty="0"/>
              <a:t>- </a:t>
            </a:r>
            <a:r>
              <a:rPr spc="-5" dirty="0"/>
              <a:t>work around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93075" cy="2823208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'use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strict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readFileMethod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s-ES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aFile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readFileMethod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};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25103" y="4381260"/>
            <a:ext cx="6089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Why?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5545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Closures </a:t>
            </a:r>
            <a:r>
              <a:rPr dirty="0"/>
              <a:t>can </a:t>
            </a:r>
            <a:r>
              <a:rPr spc="-5" dirty="0"/>
              <a:t>be tricky with imperative</a:t>
            </a:r>
            <a:r>
              <a:rPr spc="-90" dirty="0"/>
              <a:t> </a:t>
            </a:r>
            <a:r>
              <a:rPr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12455" cy="3215623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Read files './file0' and './file1' and return their length</a:t>
            </a:r>
            <a:endParaRPr lang="es-E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endParaRPr sz="1800" dirty="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Ends up printing two files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console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starting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with: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lang="en-US" sz="1800" spc="-5" dirty="0">
                <a:solidFill>
                  <a:srgbClr val="595959"/>
                </a:solidFill>
                <a:latin typeface="Consolas"/>
                <a:cs typeface="Consolas"/>
              </a:rPr>
              <a:t>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file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2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has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length</a:t>
            </a:r>
            <a:r>
              <a:rPr lang="en-US" sz="1800" spc="-5" dirty="0">
                <a:solidFill>
                  <a:srgbClr val="595959"/>
                </a:solidFill>
                <a:latin typeface="Consolas"/>
                <a:cs typeface="Consolas"/>
              </a:rPr>
              <a:t> XX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358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Stepping </a:t>
            </a:r>
            <a:r>
              <a:rPr spc="-5" dirty="0"/>
              <a:t>through the</a:t>
            </a:r>
            <a:r>
              <a:rPr spc="-90" dirty="0"/>
              <a:t> </a:t>
            </a:r>
            <a:r>
              <a:rPr spc="-5" dirty="0"/>
              <a:t>execution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35899" y="1045899"/>
            <a:ext cx="2696845" cy="414655"/>
            <a:chOff x="6135899" y="1114148"/>
            <a:chExt cx="2696845" cy="414655"/>
          </a:xfrm>
        </p:grpSpPr>
        <p:sp>
          <p:nvSpPr>
            <p:cNvPr id="5" name="object 5"/>
            <p:cNvSpPr/>
            <p:nvPr/>
          </p:nvSpPr>
          <p:spPr>
            <a:xfrm>
              <a:off x="6135899" y="1114148"/>
              <a:ext cx="2696845" cy="414655"/>
            </a:xfrm>
            <a:custGeom>
              <a:avLst/>
              <a:gdLst/>
              <a:ahLst/>
              <a:cxnLst/>
              <a:rect l="l" t="t" r="r" b="b"/>
              <a:pathLst>
                <a:path w="2696845" h="414655">
                  <a:moveTo>
                    <a:pt x="2696399" y="0"/>
                  </a:moveTo>
                  <a:lnTo>
                    <a:pt x="207149" y="0"/>
                  </a:lnTo>
                  <a:lnTo>
                    <a:pt x="0" y="207149"/>
                  </a:lnTo>
                  <a:lnTo>
                    <a:pt x="207149" y="414299"/>
                  </a:lnTo>
                  <a:lnTo>
                    <a:pt x="2696399" y="414299"/>
                  </a:lnTo>
                  <a:lnTo>
                    <a:pt x="2696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407475" y="1219403"/>
              <a:ext cx="2260600" cy="2082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5" dirty="0">
                  <a:solidFill>
                    <a:srgbClr val="FF0000"/>
                  </a:solidFill>
                  <a:latin typeface="Arial"/>
                  <a:cs typeface="Arial"/>
                </a:rPr>
                <a:t>Execution </a:t>
              </a:r>
              <a:r>
                <a:rPr sz="1200" dirty="0">
                  <a:solidFill>
                    <a:srgbClr val="FF0000"/>
                  </a:solidFill>
                  <a:latin typeface="Arial"/>
                  <a:cs typeface="Arial"/>
                </a:rPr>
                <a:t>starts </a:t>
              </a:r>
              <a:r>
                <a:rPr sz="1200" spc="-5" dirty="0">
                  <a:solidFill>
                    <a:srgbClr val="FF0000"/>
                  </a:solidFill>
                  <a:latin typeface="Arial"/>
                  <a:cs typeface="Arial"/>
                </a:rPr>
                <a:t>here: </a:t>
              </a:r>
              <a:r>
                <a:rPr sz="1200" spc="-5" dirty="0">
                  <a:latin typeface="Consolas"/>
                  <a:cs typeface="Consolas"/>
                </a:rPr>
                <a:t>fileNo</a:t>
              </a:r>
              <a:r>
                <a:rPr sz="1200" spc="-5" dirty="0">
                  <a:solidFill>
                    <a:srgbClr val="FF0000"/>
                  </a:solidFill>
                  <a:latin typeface="Arial"/>
                  <a:cs typeface="Arial"/>
                </a:rPr>
                <a:t>=</a:t>
              </a:r>
              <a:r>
                <a:rPr sz="1200" spc="-6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00" dirty="0">
                  <a:solidFill>
                    <a:srgbClr val="FF0000"/>
                  </a:solidFill>
                  <a:latin typeface="Arial"/>
                  <a:cs typeface="Arial"/>
                </a:rPr>
                <a:t>0</a:t>
              </a:r>
              <a:endParaRPr sz="1200" dirty="0">
                <a:latin typeface="Arial"/>
                <a:cs typeface="Arial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358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Stepping </a:t>
            </a:r>
            <a:r>
              <a:rPr spc="-5" dirty="0"/>
              <a:t>through the</a:t>
            </a:r>
            <a:r>
              <a:rPr spc="-90" dirty="0"/>
              <a:t> </a:t>
            </a:r>
            <a:r>
              <a:rPr spc="-5" dirty="0"/>
              <a:t>execution</a:t>
            </a:r>
          </a:p>
        </p:txBody>
      </p:sp>
      <p:sp>
        <p:nvSpPr>
          <p:cNvPr id="6" name="object 6"/>
          <p:cNvSpPr/>
          <p:nvPr/>
        </p:nvSpPr>
        <p:spPr>
          <a:xfrm>
            <a:off x="3948300" y="1800624"/>
            <a:ext cx="4718050" cy="2907665"/>
          </a:xfrm>
          <a:custGeom>
            <a:avLst/>
            <a:gdLst/>
            <a:ahLst/>
            <a:cxnLst/>
            <a:rect l="l" t="t" r="r" b="b"/>
            <a:pathLst>
              <a:path w="4718050" h="2907665">
                <a:moveTo>
                  <a:pt x="0" y="1018223"/>
                </a:moveTo>
                <a:lnTo>
                  <a:pt x="1995487" y="1018223"/>
                </a:lnTo>
                <a:lnTo>
                  <a:pt x="1995487" y="726824"/>
                </a:lnTo>
                <a:lnTo>
                  <a:pt x="1632074" y="726824"/>
                </a:lnTo>
                <a:lnTo>
                  <a:pt x="2358899" y="0"/>
                </a:lnTo>
                <a:lnTo>
                  <a:pt x="3085724" y="726824"/>
                </a:lnTo>
                <a:lnTo>
                  <a:pt x="2722312" y="726824"/>
                </a:lnTo>
                <a:lnTo>
                  <a:pt x="2722312" y="1018223"/>
                </a:lnTo>
                <a:lnTo>
                  <a:pt x="4717799" y="1018223"/>
                </a:lnTo>
                <a:lnTo>
                  <a:pt x="4717799" y="2907299"/>
                </a:lnTo>
                <a:lnTo>
                  <a:pt x="0" y="2907299"/>
                </a:lnTo>
                <a:lnTo>
                  <a:pt x="0" y="1018223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0577" y="2899599"/>
            <a:ext cx="4423823" cy="17671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Call the function </a:t>
            </a:r>
            <a:r>
              <a:rPr sz="1400" spc="-5" dirty="0">
                <a:latin typeface="Consolas"/>
                <a:cs typeface="Consolas"/>
              </a:rPr>
              <a:t>fs.readFile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,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before we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we 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must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evaluate the arguments: the first argument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results 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from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string concatenation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operation forming  </a:t>
            </a:r>
            <a:r>
              <a:rPr sz="1400" spc="-5" dirty="0">
                <a:latin typeface="Arial"/>
                <a:cs typeface="Arial"/>
              </a:rPr>
              <a:t>"</a:t>
            </a:r>
            <a:r>
              <a:rPr sz="1400" spc="-5" dirty="0">
                <a:latin typeface="Consolas"/>
                <a:cs typeface="Consolas"/>
              </a:rPr>
              <a:t>./file0"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,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second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argument is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function which is  passed as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function and its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closure containing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the 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variables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accessed by the function. In this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case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only  </a:t>
            </a:r>
            <a:r>
              <a:rPr sz="1400" spc="-5" dirty="0">
                <a:latin typeface="Consolas"/>
                <a:cs typeface="Consolas"/>
              </a:rPr>
              <a:t>fileNo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is accessed by the function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so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closure  contains </a:t>
            </a:r>
            <a:r>
              <a:rPr sz="1400" spc="-5" dirty="0">
                <a:latin typeface="Consolas"/>
                <a:cs typeface="Consolas"/>
              </a:rPr>
              <a:t>fileNo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(which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currently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0).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9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358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Stepping </a:t>
            </a:r>
            <a:r>
              <a:rPr spc="-5" dirty="0"/>
              <a:t>through the</a:t>
            </a:r>
            <a:r>
              <a:rPr spc="-90" dirty="0"/>
              <a:t> </a:t>
            </a:r>
            <a:r>
              <a:rPr spc="-5" dirty="0"/>
              <a:t>execution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" y="1809750"/>
            <a:ext cx="4718050" cy="3057126"/>
          </a:xfrm>
          <a:custGeom>
            <a:avLst/>
            <a:gdLst/>
            <a:ahLst/>
            <a:cxnLst/>
            <a:rect l="l" t="t" r="r" b="b"/>
            <a:pathLst>
              <a:path w="4718050" h="2907665">
                <a:moveTo>
                  <a:pt x="0" y="1018223"/>
                </a:moveTo>
                <a:lnTo>
                  <a:pt x="1995487" y="1018223"/>
                </a:lnTo>
                <a:lnTo>
                  <a:pt x="1995487" y="726824"/>
                </a:lnTo>
                <a:lnTo>
                  <a:pt x="1632074" y="726824"/>
                </a:lnTo>
                <a:lnTo>
                  <a:pt x="2358899" y="0"/>
                </a:lnTo>
                <a:lnTo>
                  <a:pt x="3085724" y="726824"/>
                </a:lnTo>
                <a:lnTo>
                  <a:pt x="2722312" y="726824"/>
                </a:lnTo>
                <a:lnTo>
                  <a:pt x="2722312" y="1018223"/>
                </a:lnTo>
                <a:lnTo>
                  <a:pt x="4717799" y="1018223"/>
                </a:lnTo>
                <a:lnTo>
                  <a:pt x="4717799" y="2907299"/>
                </a:lnTo>
                <a:lnTo>
                  <a:pt x="0" y="2907299"/>
                </a:lnTo>
                <a:lnTo>
                  <a:pt x="0" y="1018223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8295" y="3323664"/>
            <a:ext cx="4579626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390"/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Note that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fs.readFile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returns after it has started  reading the file but before it has called the callback  function. The execution does the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and calls  back to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fs.readFile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with an argument of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"./file1</a:t>
            </a:r>
            <a:r>
              <a:rPr lang="en-US" sz="1400" dirty="0">
                <a:solidFill>
                  <a:srgbClr val="434343"/>
                </a:solidFill>
                <a:latin typeface="Arial" panose="020B0604020202020204" pitchFamily="34" charset="0"/>
              </a:rPr>
              <a:t>" 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and a new closure and function. The closure has only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(which is currently 1).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026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Stepping </a:t>
            </a:r>
            <a:r>
              <a:rPr spc="-5" dirty="0"/>
              <a:t>through the </a:t>
            </a:r>
            <a:r>
              <a:rPr dirty="0"/>
              <a:t>closure</a:t>
            </a:r>
            <a:r>
              <a:rPr spc="-9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560574" y="3496424"/>
            <a:ext cx="6994525" cy="739140"/>
          </a:xfrm>
          <a:custGeom>
            <a:avLst/>
            <a:gdLst/>
            <a:ahLst/>
            <a:cxnLst/>
            <a:rect l="l" t="t" r="r" b="b"/>
            <a:pathLst>
              <a:path w="6994525" h="739139">
                <a:moveTo>
                  <a:pt x="6994199" y="0"/>
                </a:moveTo>
                <a:lnTo>
                  <a:pt x="369299" y="0"/>
                </a:lnTo>
                <a:lnTo>
                  <a:pt x="0" y="369299"/>
                </a:lnTo>
                <a:lnTo>
                  <a:pt x="369299" y="738599"/>
                </a:lnTo>
                <a:lnTo>
                  <a:pt x="6994199" y="738599"/>
                </a:lnTo>
                <a:lnTo>
                  <a:pt x="69941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131" y="3590277"/>
            <a:ext cx="8212455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065" marR="1353185">
              <a:lnSpc>
                <a:spcPts val="1430"/>
              </a:lnSpc>
              <a:spcBef>
                <a:spcPts val="1050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After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creating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two function with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closures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calling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fs.readFile twice the </a:t>
            </a:r>
            <a:r>
              <a:rPr sz="1200" spc="-5" dirty="0">
                <a:latin typeface="Consolas"/>
                <a:cs typeface="Consolas"/>
              </a:rPr>
              <a:t>for</a:t>
            </a:r>
            <a:r>
              <a:rPr sz="1200" spc="-310" dirty="0"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loop finishes.  Some time later in the execution the file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reads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will finish and </a:t>
            </a:r>
            <a:r>
              <a:rPr sz="1200" spc="-5" dirty="0">
                <a:latin typeface="Consolas"/>
                <a:cs typeface="Consolas"/>
              </a:rPr>
              <a:t>fs.readFile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will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call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the  functions we passed. Recall that </a:t>
            </a:r>
            <a:r>
              <a:rPr sz="1200" spc="-5" dirty="0">
                <a:latin typeface="Consolas"/>
                <a:cs typeface="Consolas"/>
              </a:rPr>
              <a:t>fileNo</a:t>
            </a:r>
            <a:r>
              <a:rPr sz="1200" spc="-300" dirty="0"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is now 2.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99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Sometime </a:t>
            </a:r>
            <a:r>
              <a:rPr spc="-5" dirty="0"/>
              <a:t>later: </a:t>
            </a:r>
            <a:r>
              <a:rPr spc="-5" dirty="0">
                <a:latin typeface="Consolas"/>
                <a:cs typeface="Consolas"/>
              </a:rPr>
              <a:t>file0</a:t>
            </a:r>
            <a:r>
              <a:rPr spc="-790" dirty="0">
                <a:latin typeface="Consolas"/>
                <a:cs typeface="Consolas"/>
              </a:rPr>
              <a:t> </a:t>
            </a:r>
            <a:r>
              <a:rPr dirty="0"/>
              <a:t>read </a:t>
            </a:r>
            <a:r>
              <a:rPr spc="-5" dirty="0"/>
              <a:t>finishes...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362200" y="1809750"/>
            <a:ext cx="4486910" cy="405964"/>
            <a:chOff x="2806575" y="1817701"/>
            <a:chExt cx="4486910" cy="405964"/>
          </a:xfrm>
        </p:grpSpPr>
        <p:sp>
          <p:nvSpPr>
            <p:cNvPr id="5" name="object 5"/>
            <p:cNvSpPr/>
            <p:nvPr/>
          </p:nvSpPr>
          <p:spPr>
            <a:xfrm>
              <a:off x="2806575" y="1817900"/>
              <a:ext cx="4486910" cy="405765"/>
            </a:xfrm>
            <a:custGeom>
              <a:avLst/>
              <a:gdLst/>
              <a:ahLst/>
              <a:cxnLst/>
              <a:rect l="l" t="t" r="r" b="b"/>
              <a:pathLst>
                <a:path w="4486909" h="405764">
                  <a:moveTo>
                    <a:pt x="4486499" y="0"/>
                  </a:moveTo>
                  <a:lnTo>
                    <a:pt x="202649" y="0"/>
                  </a:lnTo>
                  <a:lnTo>
                    <a:pt x="0" y="202649"/>
                  </a:lnTo>
                  <a:lnTo>
                    <a:pt x="202649" y="405299"/>
                  </a:lnTo>
                  <a:lnTo>
                    <a:pt x="4486499" y="405299"/>
                  </a:lnTo>
                  <a:lnTo>
                    <a:pt x="44864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124200" y="1817701"/>
              <a:ext cx="3758876" cy="39498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spc="-5" dirty="0">
                  <a:latin typeface="Consolas"/>
                  <a:cs typeface="Consolas"/>
                </a:rPr>
                <a:t>'./file0'</a:t>
              </a:r>
              <a:r>
                <a:rPr lang="en-US" sz="1200" spc="-355" dirty="0">
                  <a:latin typeface="Consolas"/>
                  <a:cs typeface="Consolas"/>
                </a:rPr>
                <a:t> </a:t>
              </a:r>
              <a:r>
                <a:rPr lang="en-US" sz="1200" spc="-5" dirty="0">
                  <a:solidFill>
                    <a:srgbClr val="FF0000"/>
                  </a:solidFill>
                  <a:latin typeface="Arial"/>
                  <a:cs typeface="Arial"/>
                </a:rPr>
                <a:t>is </a:t>
              </a:r>
              <a:r>
                <a:rPr lang="en-US" sz="1200" dirty="0">
                  <a:solidFill>
                    <a:srgbClr val="FF0000"/>
                  </a:solidFill>
                  <a:latin typeface="Arial"/>
                  <a:cs typeface="Arial"/>
                </a:rPr>
                <a:t>read so </a:t>
              </a:r>
              <a:r>
                <a:rPr lang="en-US" sz="1200" spc="-5" dirty="0">
                  <a:solidFill>
                    <a:srgbClr val="FF0000"/>
                  </a:solidFill>
                  <a:latin typeface="Arial"/>
                  <a:cs typeface="Arial"/>
                </a:rPr>
                <a:t>our </a:t>
              </a:r>
              <a:r>
                <a:rPr lang="en-US" sz="1200" dirty="0">
                  <a:solidFill>
                    <a:srgbClr val="FF0000"/>
                  </a:solidFill>
                  <a:latin typeface="Arial"/>
                  <a:cs typeface="Arial"/>
                </a:rPr>
                <a:t>callback starts </a:t>
              </a:r>
              <a:r>
                <a:rPr lang="en-US" sz="1200" spc="-5" dirty="0">
                  <a:solidFill>
                    <a:srgbClr val="FF0000"/>
                  </a:solidFill>
                  <a:latin typeface="Arial"/>
                  <a:cs typeface="Arial"/>
                </a:rPr>
                <a:t>executing </a:t>
              </a:r>
              <a:r>
                <a:rPr lang="en-US" sz="1200" spc="-5" dirty="0">
                  <a:latin typeface="Consolas"/>
                  <a:cs typeface="Consolas"/>
                </a:rPr>
                <a:t>err</a:t>
              </a:r>
              <a:endParaRPr lang="en-US" sz="1200" spc="-5" dirty="0">
                <a:solidFill>
                  <a:srgbClr val="FF0000"/>
                </a:solidFill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5" dirty="0">
                  <a:solidFill>
                    <a:srgbClr val="FF0000"/>
                  </a:solidFill>
                  <a:latin typeface="Arial"/>
                  <a:cs typeface="Arial"/>
                </a:rPr>
                <a:t>is falsy </a:t>
              </a:r>
              <a:r>
                <a:rPr sz="1200" dirty="0">
                  <a:solidFill>
                    <a:srgbClr val="FF0000"/>
                  </a:solidFill>
                  <a:latin typeface="Arial"/>
                  <a:cs typeface="Arial"/>
                </a:rPr>
                <a:t>so </a:t>
              </a:r>
              <a:r>
                <a:rPr sz="1200" spc="-5" dirty="0">
                  <a:solidFill>
                    <a:srgbClr val="FF0000"/>
                  </a:solidFill>
                  <a:latin typeface="Arial"/>
                  <a:cs typeface="Arial"/>
                </a:rPr>
                <a:t>we go to the </a:t>
              </a:r>
              <a:r>
                <a:rPr sz="1200" spc="-5" dirty="0">
                  <a:latin typeface="Consolas"/>
                  <a:cs typeface="Consolas"/>
                </a:rPr>
                <a:t>console.log</a:t>
              </a:r>
              <a:r>
                <a:rPr sz="1200" spc="-360" dirty="0">
                  <a:latin typeface="Consolas"/>
                  <a:cs typeface="Consolas"/>
                </a:rPr>
                <a:t> </a:t>
              </a:r>
              <a:r>
                <a:rPr sz="1200" dirty="0">
                  <a:solidFill>
                    <a:srgbClr val="FF0000"/>
                  </a:solidFill>
                  <a:latin typeface="Arial"/>
                  <a:cs typeface="Arial"/>
                </a:rPr>
                <a:t>statement.</a:t>
              </a:r>
              <a:endParaRPr sz="1200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05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Running</a:t>
            </a:r>
            <a:r>
              <a:rPr spc="-90" dirty="0"/>
              <a:t> </a:t>
            </a:r>
            <a:r>
              <a:rPr dirty="0"/>
              <a:t>callbacks....</a:t>
            </a:r>
          </a:p>
        </p:txBody>
      </p:sp>
      <p:sp>
        <p:nvSpPr>
          <p:cNvPr id="5" name="object 5"/>
          <p:cNvSpPr/>
          <p:nvPr/>
        </p:nvSpPr>
        <p:spPr>
          <a:xfrm>
            <a:off x="1752600" y="2394124"/>
            <a:ext cx="4718050" cy="2122805"/>
          </a:xfrm>
          <a:custGeom>
            <a:avLst/>
            <a:gdLst/>
            <a:ahLst/>
            <a:cxnLst/>
            <a:rect l="l" t="t" r="r" b="b"/>
            <a:pathLst>
              <a:path w="4718050" h="2122804">
                <a:moveTo>
                  <a:pt x="0" y="743362"/>
                </a:moveTo>
                <a:lnTo>
                  <a:pt x="2093587" y="743362"/>
                </a:lnTo>
                <a:lnTo>
                  <a:pt x="2093587" y="530624"/>
                </a:lnTo>
                <a:lnTo>
                  <a:pt x="1828274" y="530624"/>
                </a:lnTo>
                <a:lnTo>
                  <a:pt x="2358899" y="0"/>
                </a:lnTo>
                <a:lnTo>
                  <a:pt x="2889524" y="530624"/>
                </a:lnTo>
                <a:lnTo>
                  <a:pt x="2624212" y="530624"/>
                </a:lnTo>
                <a:lnTo>
                  <a:pt x="2624212" y="743362"/>
                </a:lnTo>
                <a:lnTo>
                  <a:pt x="4717799" y="743362"/>
                </a:lnTo>
                <a:lnTo>
                  <a:pt x="4717799" y="2122499"/>
                </a:lnTo>
                <a:lnTo>
                  <a:pt x="0" y="2122499"/>
                </a:lnTo>
                <a:lnTo>
                  <a:pt x="0" y="74336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5625" y="3234638"/>
            <a:ext cx="4510405" cy="11037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8699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When evaluating the arguments to </a:t>
            </a:r>
            <a:r>
              <a:rPr sz="1400" spc="-5" dirty="0">
                <a:latin typeface="Consolas"/>
                <a:cs typeface="Consolas"/>
              </a:rPr>
              <a:t>console.log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we go  to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closure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and look at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current value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latin typeface="Consolas"/>
                <a:cs typeface="Consolas"/>
              </a:rPr>
              <a:t>fileNo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find it as 2.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result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is we print 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correct  </a:t>
            </a:r>
            <a:r>
              <a:rPr sz="1400" spc="-5" dirty="0">
                <a:latin typeface="Consolas"/>
                <a:cs typeface="Consolas"/>
              </a:rPr>
              <a:t>data.length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but the wrong file 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number.</a:t>
            </a:r>
            <a:r>
              <a:rPr sz="14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same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thing  happens for the '</a:t>
            </a:r>
            <a:r>
              <a:rPr sz="1400" spc="-5" dirty="0">
                <a:latin typeface="Consolas"/>
                <a:cs typeface="Consolas"/>
              </a:rPr>
              <a:t>./file1'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callback.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8" name="object 4"/>
          <p:cNvSpPr txBox="1">
            <a:spLocks noGrp="1"/>
          </p:cNvSpPr>
          <p:nvPr>
            <p:ph type="body" idx="1"/>
          </p:nvPr>
        </p:nvSpPr>
        <p:spPr>
          <a:xfrm>
            <a:off x="384725" y="1187558"/>
            <a:ext cx="821245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90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Broken </a:t>
            </a:r>
            <a:r>
              <a:rPr spc="-5" dirty="0"/>
              <a:t>fix #1 </a:t>
            </a:r>
            <a:r>
              <a:rPr dirty="0"/>
              <a:t>- </a:t>
            </a:r>
            <a:r>
              <a:rPr spc="-10" dirty="0"/>
              <a:t>Add </a:t>
            </a:r>
            <a:r>
              <a:rPr dirty="0"/>
              <a:t>a </a:t>
            </a:r>
            <a:r>
              <a:rPr spc="-5" dirty="0"/>
              <a:t>local</a:t>
            </a:r>
            <a:r>
              <a:rPr spc="-240" dirty="0"/>
              <a:t> </a:t>
            </a:r>
            <a:r>
              <a:rPr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441055" cy="36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2903855" indent="-37719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for (var fileNo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0; fileNo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&lt;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2; fileNo++)</a:t>
            </a:r>
            <a:r>
              <a:rPr sz="18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var localFileNo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fileNo;</a:t>
            </a:r>
            <a:endParaRPr sz="1800" dirty="0">
              <a:latin typeface="Consolas"/>
              <a:cs typeface="Consolas"/>
            </a:endParaRPr>
          </a:p>
          <a:p>
            <a:pPr marL="765175" marR="760730" indent="-37655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fs.readFile('./file'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+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localFileNo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function (err, data)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if (!err)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114173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console.log('file',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localFileNo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,'has length',data.length);</a:t>
            </a:r>
            <a:endParaRPr sz="1800" dirty="0">
              <a:latin typeface="Consolas"/>
              <a:cs typeface="Consolas"/>
            </a:endParaRPr>
          </a:p>
          <a:p>
            <a:pPr marL="7651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 marR="204470">
              <a:lnSpc>
                <a:spcPct val="114599"/>
              </a:lnSpc>
              <a:spcBef>
                <a:spcPts val="969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Closure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contains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localFileNo</a:t>
            </a:r>
            <a:r>
              <a:rPr sz="1800" spc="-5" dirty="0">
                <a:latin typeface="Arial"/>
                <a:cs typeface="Arial"/>
              </a:rPr>
              <a:t>. Unfortunately when the </a:t>
            </a:r>
            <a:r>
              <a:rPr sz="1800" dirty="0">
                <a:latin typeface="Arial"/>
                <a:cs typeface="Arial"/>
              </a:rPr>
              <a:t>callback  </a:t>
            </a:r>
            <a:r>
              <a:rPr sz="1800" spc="-5" dirty="0">
                <a:latin typeface="Arial"/>
                <a:cs typeface="Arial"/>
              </a:rPr>
              <a:t>functions </a:t>
            </a:r>
            <a:r>
              <a:rPr sz="1800" dirty="0">
                <a:latin typeface="Arial"/>
                <a:cs typeface="Arial"/>
              </a:rPr>
              <a:t>run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localFileNo </a:t>
            </a:r>
            <a:r>
              <a:rPr sz="1800" spc="-5" dirty="0">
                <a:latin typeface="Arial"/>
                <a:cs typeface="Arial"/>
              </a:rPr>
              <a:t>will be </a:t>
            </a:r>
            <a:r>
              <a:rPr sz="1800" b="1" dirty="0">
                <a:latin typeface="Consolas"/>
                <a:cs typeface="Consolas"/>
              </a:rPr>
              <a:t>1</a:t>
            </a:r>
            <a:r>
              <a:rPr sz="1800" dirty="0">
                <a:latin typeface="Arial"/>
                <a:cs typeface="Arial"/>
              </a:rPr>
              <a:t>. </a:t>
            </a:r>
            <a:r>
              <a:rPr sz="1800" spc="-5" dirty="0">
                <a:latin typeface="Arial"/>
                <a:cs typeface="Arial"/>
              </a:rPr>
              <a:t>Better than before </a:t>
            </a:r>
            <a:r>
              <a:rPr sz="1800" dirty="0">
                <a:latin typeface="Arial"/>
                <a:cs typeface="Arial"/>
              </a:rPr>
              <a:t>since </a:t>
            </a:r>
            <a:r>
              <a:rPr sz="1800" spc="-5" dirty="0">
                <a:latin typeface="Arial"/>
                <a:cs typeface="Arial"/>
              </a:rPr>
              <a:t>one of the printed  lines has the </a:t>
            </a:r>
            <a:r>
              <a:rPr sz="1800" dirty="0">
                <a:latin typeface="Arial"/>
                <a:cs typeface="Arial"/>
              </a:rPr>
              <a:t>correct </a:t>
            </a:r>
            <a:r>
              <a:rPr sz="1800" spc="-5" dirty="0">
                <a:latin typeface="Arial"/>
                <a:cs typeface="Arial"/>
              </a:rPr>
              <a:t>fileNo.</a:t>
            </a:r>
            <a:r>
              <a:rPr sz="1800" spc="25" dirty="0">
                <a:latin typeface="Arial"/>
                <a:cs typeface="Arial"/>
              </a:rPr>
              <a:t> </a:t>
            </a:r>
            <a:endParaRPr sz="18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400" y="4481566"/>
            <a:ext cx="284633" cy="2678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777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5" dirty="0"/>
              <a:t>fix </a:t>
            </a:r>
            <a:r>
              <a:rPr dirty="0"/>
              <a:t>- Make </a:t>
            </a:r>
            <a:r>
              <a:rPr spc="-5" dirty="0"/>
              <a:t>fileNo an</a:t>
            </a:r>
            <a:r>
              <a:rPr spc="-270" dirty="0"/>
              <a:t> </a:t>
            </a:r>
            <a:r>
              <a:rPr spc="-5" dirty="0"/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7813675" cy="307712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printFileLength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sz="1600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'./file'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sz="1600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sz="1600" dirty="0">
                <a:solidFill>
                  <a:srgbClr val="267F99"/>
                </a:solidFill>
                <a:latin typeface="Consolas" panose="020B0609020204030204" pitchFamily="49" charset="0"/>
              </a:rPr>
              <a:t>      console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600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'file'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'has </a:t>
            </a:r>
            <a:r>
              <a:rPr lang="es-E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length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s-ES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s-ES" sz="16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s-ES" sz="1600" dirty="0">
                <a:solidFill>
                  <a:srgbClr val="795E26"/>
                </a:solidFill>
                <a:latin typeface="Consolas" panose="020B0609020204030204" pitchFamily="49" charset="0"/>
              </a:rPr>
              <a:t>  </a:t>
            </a:r>
            <a:r>
              <a:rPr lang="es-E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printFileLength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Note: This works but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sometimes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it prints the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file0</a:t>
            </a:r>
            <a:r>
              <a:rPr sz="16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line first and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sometimes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it prints the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file1</a:t>
            </a:r>
            <a:r>
              <a:rPr sz="1600" spc="-4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line first.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23950"/>
            <a:ext cx="8212455" cy="3370153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lightweight data-interchange format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for humans to read and write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for machines to parse and generate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subset of the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JavaScript Programming Language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built on two structures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of name/value pairs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In various languages, this is realized as an object, record,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dictionary, hash table, keyed list, or associative array.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 list of 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In most languages, this is realized as an array, vector, list, or sequence.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84725" y="503825"/>
            <a:ext cx="551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ES" kern="0"/>
              <a:t>JavaScript </a:t>
            </a:r>
            <a:r>
              <a:rPr lang="es-ES" kern="0" spc="-5"/>
              <a:t>Object Notation</a:t>
            </a:r>
            <a:r>
              <a:rPr lang="es-ES" kern="0" spc="-100"/>
              <a:t> </a:t>
            </a:r>
            <a:r>
              <a:rPr lang="es-ES" kern="0"/>
              <a:t>(JSON)</a:t>
            </a:r>
            <a:endParaRPr lang="es-ES" kern="0" dirty="0"/>
          </a:p>
        </p:txBody>
      </p:sp>
    </p:spTree>
    <p:extLst>
      <p:ext uri="{BB962C8B-B14F-4D97-AF65-F5344CB8AC3E}">
        <p14:creationId xmlns:p14="http://schemas.microsoft.com/office/powerpoint/2010/main" val="1590389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51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JavaScript </a:t>
            </a:r>
            <a:r>
              <a:rPr spc="-5" dirty="0"/>
              <a:t>Object Notation</a:t>
            </a:r>
            <a:r>
              <a:rPr spc="-100" dirty="0"/>
              <a:t> </a:t>
            </a:r>
            <a:r>
              <a:rPr dirty="0"/>
              <a:t>(JSON)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635366"/>
            <a:ext cx="8049259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ps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str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pn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pa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'two'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sop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}};</a:t>
            </a:r>
          </a:p>
          <a:p>
            <a:pPr defTabSz="628650">
              <a:spcAft>
                <a:spcPts val="600"/>
              </a:spcAft>
            </a:pPr>
            <a:endParaRPr lang="es-E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defTabSz="628650">
              <a:spcAft>
                <a:spcPts val="600"/>
              </a:spcAft>
            </a:pPr>
            <a:endParaRPr lang="es-E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defTabSz="628650">
              <a:spcAft>
                <a:spcPts val="600"/>
              </a:spcAft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JSON</a:t>
            </a:r>
            <a:r>
              <a:rPr lang="es-E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stringify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to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convert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to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b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'{"ps":"str","pn":1,"pa":[1,"two",3,4],"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po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":{"sop":1}}'</a:t>
            </a:r>
            <a:endParaRPr sz="1800" dirty="0">
              <a:latin typeface="Consolas"/>
              <a:cs typeface="Consolas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'string'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JSON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returns object with same properties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standard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format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sending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to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Left Brace 6"/>
          <p:cNvSpPr/>
          <p:nvPr/>
        </p:nvSpPr>
        <p:spPr>
          <a:xfrm rot="5400000">
            <a:off x="5338129" y="693149"/>
            <a:ext cx="228600" cy="1608458"/>
          </a:xfrm>
          <a:prstGeom prst="leftBrace">
            <a:avLst>
              <a:gd name="adj1" fmla="val 33333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mn-MN"/>
          </a:p>
        </p:txBody>
      </p:sp>
      <p:sp>
        <p:nvSpPr>
          <p:cNvPr id="8" name="TextBox 7"/>
          <p:cNvSpPr txBox="1"/>
          <p:nvPr/>
        </p:nvSpPr>
        <p:spPr>
          <a:xfrm>
            <a:off x="4295702" y="1047750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 list of values</a:t>
            </a:r>
            <a:endParaRPr lang="mn-M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eft Brace 8"/>
          <p:cNvSpPr/>
          <p:nvPr/>
        </p:nvSpPr>
        <p:spPr>
          <a:xfrm rot="16200000" flipV="1">
            <a:off x="4838700" y="-1163656"/>
            <a:ext cx="228600" cy="6553200"/>
          </a:xfrm>
          <a:prstGeom prst="leftBrace">
            <a:avLst>
              <a:gd name="adj1" fmla="val 33333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mn-MN"/>
          </a:p>
        </p:txBody>
      </p:sp>
      <p:sp>
        <p:nvSpPr>
          <p:cNvPr id="10" name="TextBox 9"/>
          <p:cNvSpPr txBox="1"/>
          <p:nvPr/>
        </p:nvSpPr>
        <p:spPr>
          <a:xfrm>
            <a:off x="3341020" y="2227244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of name/value pairs</a:t>
            </a:r>
            <a:endParaRPr lang="mn-M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eft Brace 10"/>
          <p:cNvSpPr/>
          <p:nvPr/>
        </p:nvSpPr>
        <p:spPr>
          <a:xfrm rot="5400000">
            <a:off x="2324100" y="986297"/>
            <a:ext cx="228600" cy="1066800"/>
          </a:xfrm>
          <a:prstGeom prst="leftBrace">
            <a:avLst>
              <a:gd name="adj1" fmla="val 33333"/>
              <a:gd name="adj2" fmla="val 5000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mn-MN"/>
          </a:p>
        </p:txBody>
      </p:sp>
      <p:sp>
        <p:nvSpPr>
          <p:cNvPr id="12" name="TextBox 11"/>
          <p:cNvSpPr txBox="1"/>
          <p:nvPr/>
        </p:nvSpPr>
        <p:spPr>
          <a:xfrm>
            <a:off x="1754187" y="1101678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name/value pair</a:t>
            </a:r>
            <a:endParaRPr lang="mn-MN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433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JavaScript: </a:t>
            </a:r>
            <a:r>
              <a:rPr spc="-5" dirty="0"/>
              <a:t>The </a:t>
            </a:r>
            <a:r>
              <a:rPr spc="-10" dirty="0"/>
              <a:t>Bad</a:t>
            </a:r>
            <a:r>
              <a:rPr spc="-155" dirty="0"/>
              <a:t> </a:t>
            </a:r>
            <a:r>
              <a:rPr spc="-5" dirty="0"/>
              <a:t>Parts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65770" cy="331206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Declaring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Workaround: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Force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declarations</a:t>
            </a:r>
            <a:endParaRPr sz="1800" dirty="0">
              <a:latin typeface="Arial"/>
              <a:cs typeface="Arial"/>
            </a:endParaRPr>
          </a:p>
          <a:p>
            <a:pPr marL="457200">
              <a:spcBef>
                <a:spcPts val="600"/>
              </a:spcBef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myVar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typeoVar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Automatic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semicolon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insertion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Workaround: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Enforce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semicolons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checkers</a:t>
            </a:r>
            <a:endParaRPr sz="1800" dirty="0">
              <a:latin typeface="Arial"/>
              <a:cs typeface="Arial"/>
            </a:endParaRPr>
          </a:p>
          <a:p>
            <a:pPr marL="457200">
              <a:spcBef>
                <a:spcPts val="600"/>
              </a:spcBef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/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	"This is a long string so I put it on its own line"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marR="859155" indent="-445134" algn="just">
              <a:lnSpc>
                <a:spcPct val="114599"/>
              </a:lnSpc>
              <a:spcBef>
                <a:spcPts val="825"/>
              </a:spcBef>
            </a:pP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Type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coercing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equals: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==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Workaround: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Always use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===,!==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instead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("" == "0")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false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(0 == "")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true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(0 ==</a:t>
            </a:r>
            <a:r>
              <a:rPr sz="1800" spc="-4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'0')  (false == '0') </a:t>
            </a:r>
            <a:r>
              <a:rPr sz="1800" spc="15" dirty="0">
                <a:solidFill>
                  <a:srgbClr val="595959"/>
                </a:solidFill>
                <a:latin typeface="Consolas"/>
                <a:cs typeface="Consolas"/>
              </a:rPr>
              <a:t>i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true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is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(null ==</a:t>
            </a:r>
            <a:r>
              <a:rPr sz="1800" spc="-5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undefined)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with, eval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Workaround: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Don't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6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dirty="0"/>
              <a:t>JavaScript</a:t>
            </a:r>
            <a:r>
              <a:rPr spc="-90" dirty="0"/>
              <a:t> </a:t>
            </a:r>
            <a:r>
              <a:rPr spc="-5" dirty="0"/>
              <a:t>idioms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28725"/>
            <a:ext cx="8293576" cy="3158557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7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localhost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63182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80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possibly undefined object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marL="631825"/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Wrong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31825"/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6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dirty="0"/>
              <a:t>JavaScript</a:t>
            </a:r>
            <a:r>
              <a:rPr spc="-90" dirty="0"/>
              <a:t> </a:t>
            </a:r>
            <a:r>
              <a:rPr spc="-5" dirty="0"/>
              <a:t>idioms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28725"/>
            <a:ext cx="8293576" cy="3435556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7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localhost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63182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80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possibly undefined object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Consolas"/>
                <a:cs typeface="Consolas"/>
              </a:rPr>
              <a:t>self</a:t>
            </a:r>
            <a:endParaRPr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631825"/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s-ES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marL="631825"/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631825"/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780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6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dirty="0"/>
              <a:t>JavaScript</a:t>
            </a:r>
            <a:r>
              <a:rPr spc="-90" dirty="0"/>
              <a:t> </a:t>
            </a:r>
            <a:r>
              <a:rPr spc="-5" dirty="0"/>
              <a:t>idioms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28725"/>
            <a:ext cx="8293576" cy="3081613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7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hostname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localhost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63182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port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80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possibly undefined object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</a:t>
            </a:r>
            <a:endParaRPr sz="1800" dirty="0">
              <a:latin typeface="Arial"/>
              <a:cs typeface="Arial"/>
            </a:endParaRPr>
          </a:p>
          <a:p>
            <a:pPr marL="631825">
              <a:spcBef>
                <a:spcPts val="600"/>
              </a:spcBef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propname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  <a:p>
            <a:pPr marL="63182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readFile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=&gt;</a:t>
            </a:r>
          </a:p>
          <a:p>
            <a:pPr marL="631825"/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fileNo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631825"/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95676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E45FB5-50D9-43D2-80A8-8602B12F5226}"/>
</file>

<file path=customXml/itemProps2.xml><?xml version="1.0" encoding="utf-8"?>
<ds:datastoreItem xmlns:ds="http://schemas.openxmlformats.org/officeDocument/2006/customXml" ds:itemID="{0B0AEDD6-04E6-4CD9-8E52-ADD961AEB954}"/>
</file>

<file path=customXml/itemProps3.xml><?xml version="1.0" encoding="utf-8"?>
<ds:datastoreItem xmlns:ds="http://schemas.openxmlformats.org/officeDocument/2006/customXml" ds:itemID="{625EDEF9-D146-4947-8835-8132A4DC275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8142</TotalTime>
  <Words>3580</Words>
  <Application>Microsoft Office PowerPoint</Application>
  <PresentationFormat>On-screen Show (16:9)</PresentationFormat>
  <Paragraphs>475</Paragraphs>
  <Slides>36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Consolas</vt:lpstr>
      <vt:lpstr>Gill Sans MT</vt:lpstr>
      <vt:lpstr>Times New Roman</vt:lpstr>
      <vt:lpstr>Office Theme</vt:lpstr>
      <vt:lpstr>PowerPoint Presentation</vt:lpstr>
      <vt:lpstr>How do you program in JavaScript?</vt:lpstr>
      <vt:lpstr>Object-oriented programming: methods</vt:lpstr>
      <vt:lpstr>this</vt:lpstr>
      <vt:lpstr>functions can have properties too</vt:lpstr>
      <vt:lpstr>Object-oriented programming: classes</vt:lpstr>
      <vt:lpstr>Object-oriented programming: inheritance</vt:lpstr>
      <vt:lpstr>Using prototypes</vt:lpstr>
      <vt:lpstr>Prototype versus object instances</vt:lpstr>
      <vt:lpstr>Inheritance</vt:lpstr>
      <vt:lpstr>ECMAScript version 6 extensions</vt:lpstr>
      <vt:lpstr>React.js example class</vt:lpstr>
      <vt:lpstr>Functional Programming</vt:lpstr>
      <vt:lpstr>Functional Programming - ECMAScript 6</vt:lpstr>
      <vt:lpstr>Some methods of Array.prototype</vt:lpstr>
      <vt:lpstr>Can mostly but not totally avoid functional style</vt:lpstr>
      <vt:lpstr>Closures</vt:lpstr>
      <vt:lpstr>Using Scopes and Closures</vt:lpstr>
      <vt:lpstr>Using closures for private object properties</vt:lpstr>
      <vt:lpstr>Beware of this and nested functions</vt:lpstr>
      <vt:lpstr>Beware of this and nested functions - work around</vt:lpstr>
      <vt:lpstr>Closures can be tricky with imperative code</vt:lpstr>
      <vt:lpstr>Stepping through the execution</vt:lpstr>
      <vt:lpstr>Stepping through the execution</vt:lpstr>
      <vt:lpstr>Stepping through the execution</vt:lpstr>
      <vt:lpstr>Stepping through the closure example</vt:lpstr>
      <vt:lpstr>Sometime later: file0 read finishes...</vt:lpstr>
      <vt:lpstr>Running callbacks....</vt:lpstr>
      <vt:lpstr>Broken fix #1 - Add a local variable</vt:lpstr>
      <vt:lpstr>A fix - Make fileNo an argument</vt:lpstr>
      <vt:lpstr>PowerPoint Presentation</vt:lpstr>
      <vt:lpstr>JavaScript Object Notation (JSON)</vt:lpstr>
      <vt:lpstr>JavaScript: The Bad Parts</vt:lpstr>
      <vt:lpstr>Some JavaScript idioms</vt:lpstr>
      <vt:lpstr>Some JavaScript idioms</vt:lpstr>
      <vt:lpstr>Some JavaScript idioms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84</cp:revision>
  <dcterms:created xsi:type="dcterms:W3CDTF">2019-08-20T05:20:06Z</dcterms:created>
  <dcterms:modified xsi:type="dcterms:W3CDTF">2021-10-12T04:45:29Z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