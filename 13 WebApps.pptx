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7" d="100"/>
          <a:sy n="147" d="100"/>
        </p:scale>
        <p:origin x="573" y="5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66002" y="1881758"/>
            <a:ext cx="7611994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10" dirty="0"/>
              <a:t>Web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10" dirty="0"/>
              <a:t>Web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10" dirty="0"/>
              <a:t>Web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10" dirty="0"/>
              <a:t>Web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10" dirty="0"/>
              <a:t>Web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3825"/>
            <a:ext cx="837454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4380" y="1216355"/>
            <a:ext cx="8395239" cy="3176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589793" y="4778075"/>
            <a:ext cx="1927225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10" dirty="0"/>
              <a:t>Web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mui.com/components/use-media-query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48720" y="4766045"/>
            <a:ext cx="28067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Building </a:t>
            </a:r>
            <a:r>
              <a:rPr sz="1000" spc="-10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1000" spc="-1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Applications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6002" y="1881758"/>
            <a:ext cx="759269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15" dirty="0">
                <a:latin typeface="Arial"/>
                <a:cs typeface="Arial"/>
              </a:rPr>
              <a:t>Building </a:t>
            </a:r>
            <a:r>
              <a:rPr sz="5200" spc="-35" dirty="0">
                <a:latin typeface="Arial"/>
                <a:cs typeface="Arial"/>
              </a:rPr>
              <a:t>Web</a:t>
            </a:r>
            <a:r>
              <a:rPr sz="5200" spc="-375" dirty="0">
                <a:latin typeface="Arial"/>
                <a:cs typeface="Arial"/>
              </a:rPr>
              <a:t> </a:t>
            </a:r>
            <a:r>
              <a:rPr sz="5200" spc="-10" dirty="0">
                <a:latin typeface="Arial"/>
                <a:cs typeface="Arial"/>
              </a:rPr>
              <a:t>Applications</a:t>
            </a:r>
            <a:endParaRPr sz="5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27637" y="2892926"/>
            <a:ext cx="3088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595959"/>
                </a:solidFill>
                <a:latin typeface="Arial"/>
                <a:cs typeface="Arial"/>
              </a:rPr>
              <a:t>Mendel</a:t>
            </a:r>
            <a:r>
              <a:rPr sz="2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595959"/>
                </a:solidFill>
                <a:latin typeface="Arial"/>
                <a:cs typeface="Arial"/>
              </a:rPr>
              <a:t>Rosenblum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10" dirty="0"/>
              <a:t>Web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7533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Good web applications: Design </a:t>
            </a:r>
            <a:r>
              <a:rPr dirty="0"/>
              <a:t>+</a:t>
            </a:r>
            <a:r>
              <a:rPr spc="-95" dirty="0"/>
              <a:t> </a:t>
            </a:r>
            <a:r>
              <a:rPr spc="-5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38124"/>
            <a:ext cx="7499984" cy="351218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400" spc="-5" dirty="0">
                <a:solidFill>
                  <a:srgbClr val="595959"/>
                </a:solidFill>
                <a:latin typeface="Arial"/>
                <a:cs typeface="Arial"/>
              </a:rPr>
              <a:t>Some Design</a:t>
            </a:r>
            <a:r>
              <a:rPr sz="2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595959"/>
                </a:solidFill>
                <a:latin typeface="Arial"/>
                <a:cs typeface="Arial"/>
              </a:rPr>
              <a:t>Goals:</a:t>
            </a:r>
            <a:endParaRPr sz="24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44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Intuitive to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Don't need to take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course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read 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user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manual</a:t>
            </a:r>
            <a:endParaRPr sz="14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Accomplish task accurately and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rapidly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Provide needed information and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functionality</a:t>
            </a:r>
            <a:endParaRPr sz="14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Users like the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experience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Joy rather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than pain when using the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app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hardest part of good web applications is the</a:t>
            </a:r>
            <a:r>
              <a:rPr sz="1800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design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Outside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scope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this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course (and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instructor)!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Good user interface principles are encoded in the toolkits and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style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guides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10" dirty="0"/>
              <a:t>Web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1640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Some </a:t>
            </a:r>
            <a:r>
              <a:rPr spc="-5" dirty="0"/>
              <a:t>guiding design principles for </a:t>
            </a:r>
            <a:r>
              <a:rPr spc="-20" dirty="0"/>
              <a:t>Web</a:t>
            </a:r>
            <a:r>
              <a:rPr spc="-235" dirty="0"/>
              <a:t> </a:t>
            </a:r>
            <a:r>
              <a:rPr spc="-5" dirty="0"/>
              <a:t>Apps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9224" y="1213308"/>
            <a:ext cx="3757295" cy="3188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4815" indent="-412750">
              <a:lnSpc>
                <a:spcPct val="100000"/>
              </a:lnSpc>
              <a:spcBef>
                <a:spcPts val="100"/>
              </a:spcBef>
              <a:buChar char="●"/>
              <a:tabLst>
                <a:tab pos="424815" algn="l"/>
                <a:tab pos="425450" algn="l"/>
              </a:tabLst>
            </a:pPr>
            <a:r>
              <a:rPr sz="2400" spc="-5" dirty="0">
                <a:latin typeface="Arial"/>
                <a:cs typeface="Arial"/>
              </a:rPr>
              <a:t>Be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consistent</a:t>
            </a:r>
            <a:endParaRPr sz="2400">
              <a:latin typeface="Arial"/>
              <a:cs typeface="Arial"/>
            </a:endParaRPr>
          </a:p>
          <a:p>
            <a:pPr marL="424815">
              <a:lnSpc>
                <a:spcPct val="100000"/>
              </a:lnSpc>
              <a:spcBef>
                <a:spcPts val="2014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Cognitive </a:t>
            </a:r>
            <a:r>
              <a:rPr sz="1800" spc="-5" dirty="0">
                <a:latin typeface="Arial"/>
                <a:cs typeface="Arial"/>
              </a:rPr>
              <a:t>load less for the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user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Times New Roman"/>
              <a:cs typeface="Times New Roman"/>
            </a:endParaRPr>
          </a:p>
          <a:p>
            <a:pPr marL="424815" indent="-412750">
              <a:lnSpc>
                <a:spcPct val="100000"/>
              </a:lnSpc>
              <a:buChar char="●"/>
              <a:tabLst>
                <a:tab pos="424815" algn="l"/>
                <a:tab pos="425450" algn="l"/>
              </a:tabLst>
            </a:pPr>
            <a:r>
              <a:rPr sz="2400" spc="-5" dirty="0">
                <a:latin typeface="Arial"/>
                <a:cs typeface="Arial"/>
              </a:rPr>
              <a:t>Provide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context</a:t>
            </a:r>
            <a:endParaRPr sz="2400">
              <a:latin typeface="Arial"/>
              <a:cs typeface="Arial"/>
            </a:endParaRPr>
          </a:p>
          <a:p>
            <a:pPr marL="424815">
              <a:lnSpc>
                <a:spcPct val="100000"/>
              </a:lnSpc>
              <a:spcBef>
                <a:spcPts val="2020"/>
              </a:spcBef>
            </a:pPr>
            <a:r>
              <a:rPr sz="1800" spc="-5" dirty="0">
                <a:latin typeface="Arial"/>
                <a:cs typeface="Arial"/>
              </a:rPr>
              <a:t>User </a:t>
            </a:r>
            <a:r>
              <a:rPr sz="1800" dirty="0">
                <a:latin typeface="Arial"/>
                <a:cs typeface="Arial"/>
              </a:rPr>
              <a:t>shouldn't </a:t>
            </a:r>
            <a:r>
              <a:rPr sz="1800" spc="-5" dirty="0">
                <a:latin typeface="Arial"/>
                <a:cs typeface="Arial"/>
              </a:rPr>
              <a:t>get lost in the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app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00">
              <a:latin typeface="Times New Roman"/>
              <a:cs typeface="Times New Roman"/>
            </a:endParaRPr>
          </a:p>
          <a:p>
            <a:pPr marL="424815" indent="-412750">
              <a:lnSpc>
                <a:spcPct val="100000"/>
              </a:lnSpc>
              <a:buChar char="●"/>
              <a:tabLst>
                <a:tab pos="424815" algn="l"/>
                <a:tab pos="425450" algn="l"/>
              </a:tabLst>
            </a:pPr>
            <a:r>
              <a:rPr sz="2400" spc="-5" dirty="0">
                <a:latin typeface="Arial"/>
                <a:cs typeface="Arial"/>
              </a:rPr>
              <a:t>Be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fast</a:t>
            </a:r>
            <a:endParaRPr sz="2400">
              <a:latin typeface="Arial"/>
              <a:cs typeface="Arial"/>
            </a:endParaRPr>
          </a:p>
          <a:p>
            <a:pPr marL="424815">
              <a:lnSpc>
                <a:spcPct val="100000"/>
              </a:lnSpc>
              <a:spcBef>
                <a:spcPts val="2020"/>
              </a:spcBef>
            </a:pPr>
            <a:r>
              <a:rPr sz="1800" spc="-5" dirty="0">
                <a:latin typeface="Arial"/>
                <a:cs typeface="Arial"/>
              </a:rPr>
              <a:t>Don't </a:t>
            </a:r>
            <a:r>
              <a:rPr sz="1800" dirty="0">
                <a:latin typeface="Arial"/>
                <a:cs typeface="Arial"/>
              </a:rPr>
              <a:t>make </a:t>
            </a:r>
            <a:r>
              <a:rPr sz="1800" spc="-5" dirty="0">
                <a:latin typeface="Arial"/>
                <a:cs typeface="Arial"/>
              </a:rPr>
              <a:t>the user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wait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10" dirty="0"/>
              <a:t>Web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2091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Consistency: </a:t>
            </a:r>
            <a:r>
              <a:rPr spc="-10" dirty="0"/>
              <a:t>Style </a:t>
            </a:r>
            <a:r>
              <a:rPr spc="-5" dirty="0"/>
              <a:t>guides </a:t>
            </a:r>
            <a:r>
              <a:rPr dirty="0"/>
              <a:t>&amp; </a:t>
            </a:r>
            <a:r>
              <a:rPr spc="-5" dirty="0"/>
              <a:t>design</a:t>
            </a:r>
            <a:r>
              <a:rPr spc="-90" dirty="0"/>
              <a:t> </a:t>
            </a:r>
            <a:r>
              <a:rPr spc="-5" dirty="0"/>
              <a:t>templates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7904480" cy="27241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Web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apps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should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have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style guide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Covers the look and feel of the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app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Style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Color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schemes,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animation, icons, images, 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typography,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writing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User interactions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Menu,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buttons, pickers, dialog boxes, tables, lists,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...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Layout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Structure, toolbars,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content,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responsiveness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Patterns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you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something multiple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places do it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same</a:t>
            </a:r>
            <a:r>
              <a:rPr sz="18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way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Aided by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reusable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implementation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components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Error handling, navigation, notifications,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Design templates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Follow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familiar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structure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Example: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Master-detail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template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10" dirty="0"/>
              <a:t>Web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8051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Style </a:t>
            </a:r>
            <a:r>
              <a:rPr spc="-5" dirty="0"/>
              <a:t>Guide </a:t>
            </a:r>
            <a:r>
              <a:rPr spc="-10" dirty="0"/>
              <a:t>Example: </a:t>
            </a:r>
            <a:r>
              <a:rPr dirty="0"/>
              <a:t>Material </a:t>
            </a:r>
            <a:r>
              <a:rPr spc="-5" dirty="0"/>
              <a:t>Design from</a:t>
            </a:r>
            <a:r>
              <a:rPr spc="-85" dirty="0"/>
              <a:t> </a:t>
            </a:r>
            <a:r>
              <a:rPr spc="-5" dirty="0"/>
              <a:t>Google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972425" cy="3194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Used in Google apps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(e.g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Android, web</a:t>
            </a:r>
            <a:r>
              <a:rPr sz="1800" spc="-1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apps)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1295"/>
              </a:spcBef>
              <a:buSzPct val="87500"/>
              <a:buChar char="○"/>
              <a:tabLst>
                <a:tab pos="836294" algn="l"/>
                <a:tab pos="836930" algn="l"/>
              </a:tabLst>
            </a:pP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Influence by publishing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(paper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and ink) enhance with technology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(3D</a:t>
            </a:r>
            <a:r>
              <a:rPr sz="16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look)</a:t>
            </a:r>
            <a:endParaRPr sz="1600">
              <a:latin typeface="Arial"/>
              <a:cs typeface="Arial"/>
            </a:endParaRPr>
          </a:p>
          <a:p>
            <a:pPr marL="836294" lvl="1" indent="-351790">
              <a:lnSpc>
                <a:spcPct val="100000"/>
              </a:lnSpc>
              <a:spcBef>
                <a:spcPts val="1305"/>
              </a:spcBef>
              <a:buChar char="○"/>
              <a:tabLst>
                <a:tab pos="836294" algn="l"/>
                <a:tab pos="836930" algn="l"/>
              </a:tabLst>
            </a:pP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Focus on traditional print issues: grids,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space, 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typography,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scale, 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color,</a:t>
            </a:r>
            <a:r>
              <a:rPr sz="16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imagery</a:t>
            </a:r>
            <a:endParaRPr sz="1600">
              <a:latin typeface="Arial"/>
              <a:cs typeface="Arial"/>
            </a:endParaRPr>
          </a:p>
          <a:p>
            <a:pPr marL="836294" lvl="1" indent="-351790">
              <a:lnSpc>
                <a:spcPct val="100000"/>
              </a:lnSpc>
              <a:spcBef>
                <a:spcPts val="1305"/>
              </a:spcBef>
              <a:buChar char="○"/>
              <a:tabLst>
                <a:tab pos="836294" algn="l"/>
                <a:tab pos="836930" algn="l"/>
              </a:tabLst>
            </a:pP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Heavy use of animation to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convey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action</a:t>
            </a:r>
            <a:endParaRPr sz="16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3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Dictates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many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aspect of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design</a:t>
            </a:r>
            <a:endParaRPr sz="1800">
              <a:latin typeface="Arial"/>
              <a:cs typeface="Arial"/>
            </a:endParaRPr>
          </a:p>
          <a:p>
            <a:pPr marL="836294" lvl="1" indent="-351790">
              <a:lnSpc>
                <a:spcPct val="100000"/>
              </a:lnSpc>
              <a:spcBef>
                <a:spcPts val="1295"/>
              </a:spcBef>
              <a:buChar char="○"/>
              <a:tabLst>
                <a:tab pos="836294" algn="l"/>
                <a:tab pos="836930" algn="l"/>
              </a:tabLst>
            </a:pP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Structure and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layouts</a:t>
            </a:r>
            <a:endParaRPr sz="1600">
              <a:latin typeface="Arial"/>
              <a:cs typeface="Arial"/>
            </a:endParaRPr>
          </a:p>
          <a:p>
            <a:pPr marL="836294" lvl="1" indent="-351790">
              <a:lnSpc>
                <a:spcPct val="100000"/>
              </a:lnSpc>
              <a:spcBef>
                <a:spcPts val="1305"/>
              </a:spcBef>
              <a:buChar char="○"/>
              <a:tabLst>
                <a:tab pos="836294" algn="l"/>
                <a:tab pos="836930" algn="l"/>
              </a:tabLst>
            </a:pP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User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interface</a:t>
            </a:r>
            <a:endParaRPr sz="1600">
              <a:latin typeface="Arial"/>
              <a:cs typeface="Arial"/>
            </a:endParaRPr>
          </a:p>
          <a:p>
            <a:pPr marL="836294" lvl="1" indent="-351790">
              <a:lnSpc>
                <a:spcPct val="100000"/>
              </a:lnSpc>
              <a:spcBef>
                <a:spcPts val="1305"/>
              </a:spcBef>
              <a:buChar char="○"/>
              <a:tabLst>
                <a:tab pos="836294" algn="l"/>
                <a:tab pos="836930" algn="l"/>
              </a:tabLst>
            </a:pP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Common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patterns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10" dirty="0"/>
              <a:t>Web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5472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Material </a:t>
            </a:r>
            <a:r>
              <a:rPr spc="-5" dirty="0"/>
              <a:t>Design</a:t>
            </a:r>
            <a:r>
              <a:rPr spc="-100" dirty="0"/>
              <a:t> </a:t>
            </a:r>
            <a:r>
              <a:rPr spc="-5" dirty="0"/>
              <a:t>Foundations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28725"/>
            <a:ext cx="7103745" cy="3644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09625">
              <a:lnSpc>
                <a:spcPct val="1319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Environment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surfaces (e.g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paper), depth, and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shadows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Layout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responsive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layout grid, breakpoints, white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space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Navigation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changing views: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Lateral, Forward, Backward  Color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recommendations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colors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that work well together  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Typography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recommendations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point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size,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weight,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spacing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Iconography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visual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expressions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(language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independent)</a:t>
            </a:r>
            <a:endParaRPr sz="1800" dirty="0">
              <a:latin typeface="Arial"/>
              <a:cs typeface="Arial"/>
            </a:endParaRPr>
          </a:p>
          <a:p>
            <a:pPr marL="12700" marR="34925">
              <a:lnSpc>
                <a:spcPct val="1319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Shape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different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shapes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direct attention, 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identify,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communicate  Motion - show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information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(e.g. relationships),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focus attention, fun  Interaction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map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touch to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actions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Communication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writing, formats,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imagery,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launch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screen,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onboarding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10" dirty="0"/>
              <a:t>Web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2456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Front-end web</a:t>
            </a:r>
            <a:r>
              <a:rPr spc="-95" dirty="0"/>
              <a:t> </a:t>
            </a:r>
            <a:r>
              <a:rPr spc="-5" dirty="0"/>
              <a:t>frameworks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6607809" cy="32766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Popular example: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Bootstrap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CSS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style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sheets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Design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templates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Grid layout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system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with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responsive support (breakpoints,</a:t>
            </a:r>
            <a:r>
              <a:rPr sz="1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etc.)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Element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styling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HTML</a:t>
            </a:r>
            <a:r>
              <a:rPr sz="1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components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Buttons,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menus,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toolbars, lists, table, forms,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JavaScript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Modals,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transitions, dropdowns,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Originally jquery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based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ReactJS no-opinion. Popular: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Material-UI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CSS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style sheets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components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implementing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Material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design</a:t>
            </a:r>
            <a:r>
              <a:rPr sz="1400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spec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10" dirty="0"/>
              <a:t>Web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3437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Example: </a:t>
            </a:r>
            <a:r>
              <a:rPr spc="-5" dirty="0"/>
              <a:t>Use </a:t>
            </a:r>
            <a:r>
              <a:rPr dirty="0"/>
              <a:t>Material </a:t>
            </a:r>
            <a:r>
              <a:rPr spc="-5" dirty="0"/>
              <a:t>Design for </a:t>
            </a:r>
            <a:r>
              <a:rPr dirty="0"/>
              <a:t>a </a:t>
            </a:r>
            <a:r>
              <a:rPr spc="-10" dirty="0"/>
              <a:t>Photo</a:t>
            </a:r>
            <a:r>
              <a:rPr spc="-245" dirty="0"/>
              <a:t> </a:t>
            </a:r>
            <a:r>
              <a:rPr spc="-5" dirty="0"/>
              <a:t>App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4149090" cy="99250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 an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Master-Detail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template</a:t>
            </a:r>
            <a:r>
              <a:rPr sz="1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layout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Users with Photos with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Comments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85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Classic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layout: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48437" y="2318012"/>
          <a:ext cx="5983604" cy="22460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4199"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App Header (app</a:t>
                      </a:r>
                      <a:r>
                        <a:rPr sz="1800" spc="-1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context)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762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1899">
                <a:tc>
                  <a:txBody>
                    <a:bodyPr/>
                    <a:lstStyle/>
                    <a:p>
                      <a:pPr marL="85725" marR="287655">
                        <a:lnSpc>
                          <a:spcPct val="114599"/>
                        </a:lnSpc>
                        <a:spcBef>
                          <a:spcPts val="155"/>
                        </a:spcBef>
                      </a:pPr>
                      <a:r>
                        <a:rPr sz="2400" spc="-5" dirty="0">
                          <a:latin typeface="Consolas"/>
                          <a:cs typeface="Consolas"/>
                        </a:rPr>
                        <a:t>Side Nav</a:t>
                      </a:r>
                      <a:r>
                        <a:rPr sz="2400" spc="-10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2400" spc="-5" dirty="0">
                          <a:latin typeface="Consolas"/>
                          <a:cs typeface="Consolas"/>
                        </a:rPr>
                        <a:t>bar  </a:t>
                      </a:r>
                      <a:r>
                        <a:rPr sz="24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User</a:t>
                      </a:r>
                      <a:r>
                        <a:rPr sz="2400" spc="-3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4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list</a:t>
                      </a:r>
                      <a:endParaRPr sz="2400">
                        <a:latin typeface="Consolas"/>
                        <a:cs typeface="Consolas"/>
                      </a:endParaRPr>
                    </a:p>
                  </a:txBody>
                  <a:tcPr marL="0" marR="0" marT="196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662430">
                        <a:lnSpc>
                          <a:spcPct val="114599"/>
                        </a:lnSpc>
                        <a:spcBef>
                          <a:spcPts val="155"/>
                        </a:spcBef>
                      </a:pPr>
                      <a:r>
                        <a:rPr sz="2400" spc="-5" dirty="0">
                          <a:latin typeface="Consolas"/>
                          <a:cs typeface="Consolas"/>
                        </a:rPr>
                        <a:t>Content  </a:t>
                      </a:r>
                      <a:r>
                        <a:rPr sz="24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User</a:t>
                      </a:r>
                      <a:r>
                        <a:rPr sz="2400" spc="-10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4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detail</a:t>
                      </a:r>
                      <a:endParaRPr sz="2400">
                        <a:latin typeface="Consolas"/>
                        <a:cs typeface="Consolas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Photos with</a:t>
                      </a:r>
                      <a:r>
                        <a:rPr sz="2400" spc="-7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400" spc="-5" dirty="0">
                          <a:solidFill>
                            <a:srgbClr val="595959"/>
                          </a:solidFill>
                          <a:latin typeface="Consolas"/>
                          <a:cs typeface="Consolas"/>
                        </a:rPr>
                        <a:t>comments</a:t>
                      </a:r>
                      <a:endParaRPr sz="2400">
                        <a:latin typeface="Consolas"/>
                        <a:cs typeface="Consolas"/>
                      </a:endParaRPr>
                    </a:p>
                  </a:txBody>
                  <a:tcPr marL="0" marR="0" marT="196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1C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10" dirty="0"/>
              <a:t>Web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9170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Material-UI </a:t>
            </a:r>
            <a:r>
              <a:rPr spc="-5" dirty="0"/>
              <a:t>w/React </a:t>
            </a:r>
            <a:r>
              <a:rPr dirty="0"/>
              <a:t>- </a:t>
            </a:r>
            <a:r>
              <a:rPr spc="-5" dirty="0"/>
              <a:t>Use grid to layout</a:t>
            </a:r>
            <a:r>
              <a:rPr spc="-95" dirty="0"/>
              <a:t> </a:t>
            </a:r>
            <a:r>
              <a:rPr spc="-5" dirty="0"/>
              <a:t>app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8388"/>
            <a:ext cx="2854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&lt;Grid container</a:t>
            </a:r>
            <a:r>
              <a:rPr sz="14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spacing={24}&gt;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17822" y="1466038"/>
            <a:ext cx="5779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&lt;!-- Top bar across the top (all 12 col on xsmall or</a:t>
            </a:r>
            <a:r>
              <a:rPr sz="1400" spc="-4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bigger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22740" y="2208988"/>
            <a:ext cx="57785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&lt;!-- Row with List (4 col)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&amp;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either Detail or Photo (8</a:t>
            </a:r>
            <a:r>
              <a:rPr sz="1400" spc="-5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col)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5173" y="1431748"/>
            <a:ext cx="1878964" cy="17589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&lt;Grid item</a:t>
            </a:r>
            <a:r>
              <a:rPr sz="14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xs={12}&gt;</a:t>
            </a:r>
            <a:endParaRPr sz="1400">
              <a:latin typeface="Consolas"/>
              <a:cs typeface="Consolas"/>
            </a:endParaRPr>
          </a:p>
          <a:p>
            <a:pPr marL="306070">
              <a:lnSpc>
                <a:spcPct val="100000"/>
              </a:lnSpc>
              <a:spcBef>
                <a:spcPts val="270"/>
              </a:spcBef>
            </a:pPr>
            <a:r>
              <a:rPr sz="1400" b="1" spc="-5" dirty="0">
                <a:solidFill>
                  <a:srgbClr val="595959"/>
                </a:solidFill>
                <a:latin typeface="Consolas"/>
                <a:cs typeface="Consolas"/>
              </a:rPr>
              <a:t>&lt;TopBar</a:t>
            </a:r>
            <a:r>
              <a:rPr sz="1400" b="1"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b="1" spc="-5" dirty="0">
                <a:solidFill>
                  <a:srgbClr val="595959"/>
                </a:solidFill>
                <a:latin typeface="Consolas"/>
                <a:cs typeface="Consolas"/>
              </a:rPr>
              <a:t>/&gt;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&lt;/Grid&gt;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&lt;Grid item</a:t>
            </a:r>
            <a:r>
              <a:rPr sz="1400" spc="-6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xs={4}&gt;</a:t>
            </a:r>
            <a:endParaRPr sz="1400">
              <a:latin typeface="Consolas"/>
              <a:cs typeface="Consolas"/>
            </a:endParaRPr>
          </a:p>
          <a:p>
            <a:pPr marL="306070">
              <a:lnSpc>
                <a:spcPct val="100000"/>
              </a:lnSpc>
              <a:spcBef>
                <a:spcPts val="270"/>
              </a:spcBef>
            </a:pPr>
            <a:r>
              <a:rPr sz="1400" b="1" spc="-5" dirty="0">
                <a:solidFill>
                  <a:srgbClr val="595959"/>
                </a:solidFill>
                <a:latin typeface="Consolas"/>
                <a:cs typeface="Consolas"/>
              </a:rPr>
              <a:t>&lt;UserList</a:t>
            </a:r>
            <a:r>
              <a:rPr sz="1400" b="1" spc="-2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b="1" spc="-5" dirty="0">
                <a:solidFill>
                  <a:srgbClr val="595959"/>
                </a:solidFill>
                <a:latin typeface="Consolas"/>
                <a:cs typeface="Consolas"/>
              </a:rPr>
              <a:t>/&gt;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&lt;/Grid&gt;</a:t>
            </a:r>
            <a:endParaRPr sz="1400">
              <a:latin typeface="Consolas"/>
              <a:cs typeface="Consolas"/>
            </a:endParaRPr>
          </a:p>
          <a:p>
            <a:pPr marL="10985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&lt;Grid item</a:t>
            </a:r>
            <a:r>
              <a:rPr sz="14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sm={8}&gt;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74538" y="3199588"/>
            <a:ext cx="2007235" cy="73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&lt;!--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8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columns</a:t>
            </a:r>
            <a:r>
              <a:rPr sz="1400" spc="-7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wide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00">
              <a:latin typeface="Times New Roman"/>
              <a:cs typeface="Times New Roman"/>
            </a:endParaRPr>
          </a:p>
          <a:p>
            <a:pPr marL="43815">
              <a:lnSpc>
                <a:spcPct val="100000"/>
              </a:lnSpc>
              <a:tabLst>
                <a:tab pos="62865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&lt;!--	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8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columns</a:t>
            </a:r>
            <a:r>
              <a:rPr sz="1400" spc="-10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wide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337" y="3165298"/>
            <a:ext cx="2464435" cy="12636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664845">
              <a:lnSpc>
                <a:spcPct val="100000"/>
              </a:lnSpc>
              <a:spcBef>
                <a:spcPts val="370"/>
              </a:spcBef>
            </a:pPr>
            <a:r>
              <a:rPr sz="1400" b="1" spc="-5" dirty="0">
                <a:solidFill>
                  <a:srgbClr val="595959"/>
                </a:solidFill>
                <a:latin typeface="Consolas"/>
                <a:cs typeface="Consolas"/>
              </a:rPr>
              <a:t>&lt;UserDetail ...</a:t>
            </a:r>
            <a:r>
              <a:rPr sz="1400" b="1" spc="-8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b="1" spc="-5" dirty="0">
                <a:solidFill>
                  <a:srgbClr val="595959"/>
                </a:solidFill>
                <a:latin typeface="Consolas"/>
                <a:cs typeface="Consolas"/>
              </a:rPr>
              <a:t>/&gt;</a:t>
            </a:r>
            <a:endParaRPr sz="1400">
              <a:latin typeface="Consolas"/>
              <a:cs typeface="Consolas"/>
            </a:endParaRPr>
          </a:p>
          <a:p>
            <a:pPr marL="157416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or</a:t>
            </a:r>
            <a:endParaRPr sz="1400">
              <a:latin typeface="Consolas"/>
              <a:cs typeface="Consolas"/>
            </a:endParaRPr>
          </a:p>
          <a:p>
            <a:pPr marL="696595">
              <a:lnSpc>
                <a:spcPct val="100000"/>
              </a:lnSpc>
              <a:spcBef>
                <a:spcPts val="270"/>
              </a:spcBef>
            </a:pPr>
            <a:r>
              <a:rPr sz="1400" b="1" spc="-5" dirty="0">
                <a:solidFill>
                  <a:srgbClr val="595959"/>
                </a:solidFill>
                <a:latin typeface="Consolas"/>
                <a:cs typeface="Consolas"/>
              </a:rPr>
              <a:t>&lt;UserPhotos ...</a:t>
            </a:r>
            <a:r>
              <a:rPr sz="1400" b="1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b="1" spc="-5" dirty="0">
                <a:solidFill>
                  <a:srgbClr val="595959"/>
                </a:solidFill>
                <a:latin typeface="Consolas"/>
                <a:cs typeface="Consolas"/>
              </a:rPr>
              <a:t>/&gt;</a:t>
            </a:r>
            <a:endParaRPr sz="1400">
              <a:latin typeface="Consolas"/>
              <a:cs typeface="Consolas"/>
            </a:endParaRPr>
          </a:p>
          <a:p>
            <a:pPr marL="40259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&lt;/Grid&gt;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&lt;/Grid&gt;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4810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Use grid to layout</a:t>
            </a:r>
            <a:r>
              <a:rPr spc="-90" dirty="0"/>
              <a:t> </a:t>
            </a:r>
            <a:r>
              <a:rPr spc="-5" dirty="0"/>
              <a:t>app</a:t>
            </a:r>
          </a:p>
        </p:txBody>
      </p:sp>
      <p:sp>
        <p:nvSpPr>
          <p:cNvPr id="3" name="object 3"/>
          <p:cNvSpPr/>
          <p:nvPr/>
        </p:nvSpPr>
        <p:spPr>
          <a:xfrm>
            <a:off x="519075" y="942199"/>
            <a:ext cx="8521065" cy="3786504"/>
          </a:xfrm>
          <a:custGeom>
            <a:avLst/>
            <a:gdLst/>
            <a:ahLst/>
            <a:cxnLst/>
            <a:rect l="l" t="t" r="r" b="b"/>
            <a:pathLst>
              <a:path w="8521065" h="3786504">
                <a:moveTo>
                  <a:pt x="0" y="0"/>
                </a:moveTo>
                <a:lnTo>
                  <a:pt x="8520599" y="0"/>
                </a:lnTo>
                <a:lnTo>
                  <a:pt x="8520599" y="3785999"/>
                </a:lnTo>
                <a:lnTo>
                  <a:pt x="0" y="3785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2100" y="1006080"/>
            <a:ext cx="36626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onsolas"/>
                <a:cs typeface="Consolas"/>
              </a:rPr>
              <a:t>&lt;Grid container</a:t>
            </a:r>
            <a:r>
              <a:rPr sz="1800" b="1" spc="-90" dirty="0">
                <a:latin typeface="Consolas"/>
                <a:cs typeface="Consolas"/>
              </a:rPr>
              <a:t> </a:t>
            </a:r>
            <a:r>
              <a:rPr sz="1800" b="1" spc="-5" dirty="0">
                <a:latin typeface="Consolas"/>
                <a:cs typeface="Consolas"/>
              </a:rPr>
              <a:t>spacing={24}&gt;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2325" y="1321274"/>
            <a:ext cx="8107045" cy="634365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latin typeface="Consolas"/>
                <a:cs typeface="Consolas"/>
              </a:rPr>
              <a:t>&lt;Grid item xs={12}&gt; &lt;TopBar /&gt;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32325" y="2038549"/>
            <a:ext cx="8107045" cy="2633345"/>
          </a:xfrm>
          <a:custGeom>
            <a:avLst/>
            <a:gdLst/>
            <a:ahLst/>
            <a:cxnLst/>
            <a:rect l="l" t="t" r="r" b="b"/>
            <a:pathLst>
              <a:path w="8107045" h="2633345">
                <a:moveTo>
                  <a:pt x="0" y="0"/>
                </a:moveTo>
                <a:lnTo>
                  <a:pt x="8106899" y="0"/>
                </a:lnTo>
                <a:lnTo>
                  <a:pt x="8106899" y="2633099"/>
                </a:lnTo>
                <a:lnTo>
                  <a:pt x="0" y="26330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7775" y="2144549"/>
            <a:ext cx="2388235" cy="2133600"/>
          </a:xfrm>
          <a:custGeom>
            <a:avLst/>
            <a:gdLst/>
            <a:ahLst/>
            <a:cxnLst/>
            <a:rect l="l" t="t" r="r" b="b"/>
            <a:pathLst>
              <a:path w="2388235" h="2133600">
                <a:moveTo>
                  <a:pt x="0" y="0"/>
                </a:moveTo>
                <a:lnTo>
                  <a:pt x="2387699" y="0"/>
                </a:lnTo>
                <a:lnTo>
                  <a:pt x="2387699" y="2132999"/>
                </a:lnTo>
                <a:lnTo>
                  <a:pt x="0" y="2132999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7775" y="2144549"/>
            <a:ext cx="2388235" cy="2133600"/>
          </a:xfrm>
          <a:custGeom>
            <a:avLst/>
            <a:gdLst/>
            <a:ahLst/>
            <a:cxnLst/>
            <a:rect l="l" t="t" r="r" b="b"/>
            <a:pathLst>
              <a:path w="2388235" h="2133600">
                <a:moveTo>
                  <a:pt x="0" y="0"/>
                </a:moveTo>
                <a:lnTo>
                  <a:pt x="2387699" y="0"/>
                </a:lnTo>
                <a:lnTo>
                  <a:pt x="2387699" y="2132999"/>
                </a:lnTo>
                <a:lnTo>
                  <a:pt x="0" y="2132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63500" y="2177062"/>
            <a:ext cx="2019300" cy="57785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5"/>
              </a:spcBef>
            </a:pPr>
            <a:r>
              <a:rPr sz="1600" spc="-5" dirty="0">
                <a:latin typeface="Consolas"/>
                <a:cs typeface="Consolas"/>
              </a:rPr>
              <a:t>&lt;Grid item</a:t>
            </a:r>
            <a:r>
              <a:rPr sz="1600" spc="-9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xs={4}&gt;</a:t>
            </a:r>
            <a:endParaRPr sz="1600">
              <a:latin typeface="Consolas"/>
              <a:cs typeface="Consolas"/>
            </a:endParaRPr>
          </a:p>
          <a:p>
            <a:pPr marL="334645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latin typeface="Consolas"/>
                <a:cs typeface="Consolas"/>
              </a:rPr>
              <a:t>&lt;UserList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65474" y="2144549"/>
            <a:ext cx="5417185" cy="2133600"/>
          </a:xfrm>
          <a:custGeom>
            <a:avLst/>
            <a:gdLst/>
            <a:ahLst/>
            <a:cxnLst/>
            <a:rect l="l" t="t" r="r" b="b"/>
            <a:pathLst>
              <a:path w="5417184" h="2133600">
                <a:moveTo>
                  <a:pt x="0" y="0"/>
                </a:moveTo>
                <a:lnTo>
                  <a:pt x="5417099" y="0"/>
                </a:lnTo>
                <a:lnTo>
                  <a:pt x="5417099" y="2132999"/>
                </a:lnTo>
                <a:lnTo>
                  <a:pt x="0" y="2132999"/>
                </a:lnTo>
                <a:lnTo>
                  <a:pt x="0" y="0"/>
                </a:lnTo>
                <a:close/>
              </a:path>
            </a:pathLst>
          </a:custGeom>
          <a:solidFill>
            <a:srgbClr val="F1C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65474" y="2144549"/>
            <a:ext cx="5417185" cy="2133600"/>
          </a:xfrm>
          <a:custGeom>
            <a:avLst/>
            <a:gdLst/>
            <a:ahLst/>
            <a:cxnLst/>
            <a:rect l="l" t="t" r="r" b="b"/>
            <a:pathLst>
              <a:path w="5417184" h="2133600">
                <a:moveTo>
                  <a:pt x="0" y="0"/>
                </a:moveTo>
                <a:lnTo>
                  <a:pt x="5417099" y="0"/>
                </a:lnTo>
                <a:lnTo>
                  <a:pt x="5417099" y="2132999"/>
                </a:lnTo>
                <a:lnTo>
                  <a:pt x="0" y="2132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151200" y="2177062"/>
            <a:ext cx="3246120" cy="57785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5"/>
              </a:spcBef>
            </a:pPr>
            <a:r>
              <a:rPr sz="1600" spc="-5" dirty="0">
                <a:latin typeface="Consolas"/>
                <a:cs typeface="Consolas"/>
              </a:rPr>
              <a:t>&lt;Grid item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xs={4}&gt;</a:t>
            </a:r>
            <a:endParaRPr sz="1600">
              <a:latin typeface="Consolas"/>
              <a:cs typeface="Consolas"/>
            </a:endParaRPr>
          </a:p>
          <a:p>
            <a:pPr marL="334645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latin typeface="Consolas"/>
                <a:cs typeface="Consolas"/>
              </a:rPr>
              <a:t>&lt;UserDetail or</a:t>
            </a:r>
            <a:r>
              <a:rPr sz="1600" spc="-90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&lt;UserPhotos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10" dirty="0"/>
              <a:t>Web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10" dirty="0"/>
              <a:t>Web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2275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Much </a:t>
            </a:r>
            <a:r>
              <a:rPr spc="-5" dirty="0"/>
              <a:t>useful functionality available for our</a:t>
            </a:r>
            <a:r>
              <a:rPr spc="-95" dirty="0"/>
              <a:t> </a:t>
            </a:r>
            <a:r>
              <a:rPr spc="-5" dirty="0"/>
              <a:t>app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5416550" cy="3385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Modals: Menu, 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Popover,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Dialogs, Selects,</a:t>
            </a:r>
            <a:r>
              <a:rPr sz="18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SnackBars</a:t>
            </a:r>
            <a:endParaRPr sz="1800" dirty="0">
              <a:latin typeface="Arial"/>
              <a:cs typeface="Arial"/>
            </a:endParaRPr>
          </a:p>
          <a:p>
            <a:pPr marL="12700" marR="742315">
              <a:lnSpc>
                <a:spcPct val="1875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Navigation: 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Tabs,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Bottom Navigation, Drawers  Context tracking: 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AppBar, Stepper,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Progress  Paper</a:t>
            </a:r>
            <a:endParaRPr sz="1800" dirty="0">
              <a:latin typeface="Arial"/>
              <a:cs typeface="Arial"/>
            </a:endParaRPr>
          </a:p>
          <a:p>
            <a:pPr marL="12700" marR="4000500">
              <a:lnSpc>
                <a:spcPct val="1875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Autocomplete  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Tooltips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Badges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89793" y="4766045"/>
            <a:ext cx="19272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10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1000" spc="-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Apps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5562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Deep linking </a:t>
            </a:r>
            <a:r>
              <a:rPr dirty="0"/>
              <a:t>support - </a:t>
            </a:r>
            <a:r>
              <a:rPr spc="-5" dirty="0"/>
              <a:t>React</a:t>
            </a:r>
            <a:r>
              <a:rPr spc="-100" dirty="0"/>
              <a:t> </a:t>
            </a:r>
            <a:r>
              <a:rPr spc="-5" dirty="0"/>
              <a:t>Route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4725" y="1216355"/>
            <a:ext cx="8037195" cy="3414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support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bookmarking and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sharing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 React Route to load the</a:t>
            </a:r>
            <a:r>
              <a:rPr sz="1800" spc="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views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443095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content div</a:t>
            </a:r>
            <a:r>
              <a:rPr sz="1800" spc="-44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be the React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Route	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Switch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&lt;Switch&gt;</a:t>
            </a:r>
            <a:endParaRPr sz="1400">
              <a:latin typeface="Consolas"/>
              <a:cs typeface="Consolas"/>
            </a:endParaRPr>
          </a:p>
          <a:p>
            <a:pPr marL="1024255">
              <a:lnSpc>
                <a:spcPct val="100000"/>
              </a:lnSpc>
              <a:spcBef>
                <a:spcPts val="869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&lt;Route path="/users/:userId" component={UserDetail}</a:t>
            </a:r>
            <a:r>
              <a:rPr sz="1400"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/&gt;</a:t>
            </a:r>
            <a:endParaRPr sz="1400">
              <a:latin typeface="Consolas"/>
              <a:cs typeface="Consolas"/>
            </a:endParaRPr>
          </a:p>
          <a:p>
            <a:pPr marL="1024255">
              <a:lnSpc>
                <a:spcPct val="100000"/>
              </a:lnSpc>
              <a:spcBef>
                <a:spcPts val="270"/>
              </a:spcBef>
              <a:tabLst>
                <a:tab pos="6288405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&lt;Route path="/photos/:userId"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component={UserPhotos}	/&gt;</a:t>
            </a:r>
            <a:endParaRPr sz="1400">
              <a:latin typeface="Consolas"/>
              <a:cs typeface="Consolas"/>
            </a:endParaRPr>
          </a:p>
          <a:p>
            <a:pPr marL="1024255">
              <a:lnSpc>
                <a:spcPct val="100000"/>
              </a:lnSpc>
              <a:spcBef>
                <a:spcPts val="270"/>
              </a:spcBef>
              <a:tabLst>
                <a:tab pos="521589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&lt;Route path="/users"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component={UserList}	/&gt;</a:t>
            </a:r>
            <a:endParaRPr sz="14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&lt;/Switch&gt;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The UserList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sidebar can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just use links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view</a:t>
            </a:r>
            <a:endParaRPr sz="1800">
              <a:latin typeface="Arial"/>
              <a:cs typeface="Arial"/>
            </a:endParaRPr>
          </a:p>
          <a:p>
            <a:pPr marL="845819" marR="2037714" indent="-376555">
              <a:lnSpc>
                <a:spcPct val="114599"/>
              </a:lnSpc>
              <a:spcBef>
                <a:spcPts val="97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&lt;Link to="/photos/57231f1a30e4351f4e9f4bd8"&gt;  Photos of User Ellen</a:t>
            </a:r>
            <a:r>
              <a:rPr sz="1800" spc="-2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Ripley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925" y="4645356"/>
            <a:ext cx="904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&lt;/Link&gt;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89793" y="4766045"/>
            <a:ext cx="19272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10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1000" spc="-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Apps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3719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Responsive Design</a:t>
            </a:r>
            <a:r>
              <a:rPr spc="-90" dirty="0"/>
              <a:t> </a:t>
            </a:r>
            <a:r>
              <a:rPr dirty="0"/>
              <a:t>support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5249" y="1216355"/>
            <a:ext cx="7158355" cy="1328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Uses CSS flexbox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Relative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sizing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handles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changes (flex</a:t>
            </a:r>
            <a:r>
              <a:rPr sz="18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attribute)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  <a:tabLst>
                <a:tab pos="1487170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Grid</a:t>
            </a:r>
            <a:r>
              <a:rPr sz="1800" spc="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…	--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S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maller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widths will have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smaller content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area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 CSS breakpoints to handle big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differences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02493" y="4790775"/>
            <a:ext cx="1901825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10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1000" spc="-1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Apps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8338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Material </a:t>
            </a:r>
            <a:r>
              <a:rPr spc="-10" dirty="0"/>
              <a:t>Breakpoint </a:t>
            </a:r>
            <a:r>
              <a:rPr dirty="0"/>
              <a:t>sizes: xs, sm, md, </a:t>
            </a:r>
            <a:r>
              <a:rPr spc="-5" dirty="0"/>
              <a:t>lg,</a:t>
            </a:r>
            <a:r>
              <a:rPr spc="-114" dirty="0"/>
              <a:t> </a:t>
            </a:r>
            <a:r>
              <a:rPr dirty="0"/>
              <a:t>xl</a:t>
            </a:r>
          </a:p>
        </p:txBody>
      </p:sp>
      <p:sp>
        <p:nvSpPr>
          <p:cNvPr id="4" name="object 4"/>
          <p:cNvSpPr/>
          <p:nvPr/>
        </p:nvSpPr>
        <p:spPr>
          <a:xfrm>
            <a:off x="311700" y="1263574"/>
            <a:ext cx="8673923" cy="38284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10" dirty="0"/>
              <a:t>Web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71665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Material </a:t>
            </a:r>
            <a:r>
              <a:rPr spc="-5" dirty="0"/>
              <a:t>UI</a:t>
            </a:r>
            <a:r>
              <a:rPr spc="-100" dirty="0"/>
              <a:t> </a:t>
            </a:r>
            <a:r>
              <a:rPr spc="-5" dirty="0"/>
              <a:t>Breakpoints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4851400" cy="2803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simplified model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based 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screen</a:t>
            </a:r>
            <a:r>
              <a:rPr sz="18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width: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xs,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extra-small: 0px or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larger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106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sm, small: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600px or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larger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106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md, medium: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960px or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larger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106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lg, large: 1280px or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larger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106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xl,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extra-large: 1920px or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larger</a:t>
            </a:r>
            <a:endParaRPr sz="1800">
              <a:latin typeface="Arial"/>
              <a:cs typeface="Arial"/>
            </a:endParaRPr>
          </a:p>
          <a:p>
            <a:pPr marL="590550">
              <a:lnSpc>
                <a:spcPct val="100000"/>
              </a:lnSpc>
              <a:spcBef>
                <a:spcPts val="1080"/>
              </a:spcBef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○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10" dirty="0"/>
              <a:t>Web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0412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Material </a:t>
            </a:r>
            <a:r>
              <a:rPr spc="-5" dirty="0"/>
              <a:t>UI Responsive</a:t>
            </a:r>
            <a:r>
              <a:rPr spc="-95" dirty="0"/>
              <a:t> </a:t>
            </a:r>
            <a:r>
              <a:rPr spc="-5" dirty="0"/>
              <a:t>Support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216355"/>
            <a:ext cx="8211551" cy="3071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Grid Component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Grid takes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xs/sm/md/lg/xl=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columns</a:t>
            </a:r>
            <a:r>
              <a:rPr sz="1800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properties</a:t>
            </a:r>
            <a:endParaRPr sz="1800" dirty="0">
              <a:latin typeface="Arial"/>
              <a:cs typeface="Arial"/>
            </a:endParaRPr>
          </a:p>
          <a:p>
            <a:pPr marL="319405">
              <a:lnSpc>
                <a:spcPct val="100000"/>
              </a:lnSpc>
              <a:spcBef>
                <a:spcPts val="1080"/>
              </a:spcBef>
            </a:pPr>
            <a:r>
              <a:rPr sz="1400" spc="-5" dirty="0">
                <a:solidFill>
                  <a:srgbClr val="990055"/>
                </a:solidFill>
                <a:latin typeface="Consolas"/>
                <a:cs typeface="Consolas"/>
              </a:rPr>
              <a:t>&lt;Grid </a:t>
            </a:r>
            <a:r>
              <a:rPr sz="1400" spc="-5" dirty="0">
                <a:solidFill>
                  <a:srgbClr val="669900"/>
                </a:solidFill>
                <a:latin typeface="Consolas"/>
                <a:cs typeface="Consolas"/>
              </a:rPr>
              <a:t>item xs</a:t>
            </a:r>
            <a:r>
              <a:rPr sz="1400" spc="-5" dirty="0">
                <a:solidFill>
                  <a:srgbClr val="999999"/>
                </a:solidFill>
                <a:latin typeface="Consolas"/>
                <a:cs typeface="Consolas"/>
              </a:rPr>
              <a:t>={</a:t>
            </a:r>
            <a:r>
              <a:rPr sz="1400" spc="-5" dirty="0">
                <a:solidFill>
                  <a:srgbClr val="990055"/>
                </a:solidFill>
                <a:latin typeface="Consolas"/>
                <a:cs typeface="Consolas"/>
              </a:rPr>
              <a:t>12</a:t>
            </a:r>
            <a:r>
              <a:rPr sz="1400" spc="-5" dirty="0">
                <a:solidFill>
                  <a:srgbClr val="999999"/>
                </a:solidFill>
                <a:latin typeface="Consolas"/>
                <a:cs typeface="Consolas"/>
              </a:rPr>
              <a:t>} md={</a:t>
            </a:r>
            <a:r>
              <a:rPr sz="1400" spc="-5" dirty="0">
                <a:solidFill>
                  <a:srgbClr val="990055"/>
                </a:solidFill>
                <a:latin typeface="Consolas"/>
                <a:cs typeface="Consolas"/>
              </a:rPr>
              <a:t>6</a:t>
            </a:r>
            <a:r>
              <a:rPr sz="1400" spc="-5" dirty="0">
                <a:solidFill>
                  <a:srgbClr val="999999"/>
                </a:solidFill>
                <a:latin typeface="Consolas"/>
                <a:cs typeface="Consolas"/>
              </a:rPr>
              <a:t>} xl={</a:t>
            </a:r>
            <a:r>
              <a:rPr sz="1400" spc="-5" dirty="0">
                <a:solidFill>
                  <a:srgbClr val="990055"/>
                </a:solidFill>
                <a:latin typeface="Consolas"/>
                <a:cs typeface="Consolas"/>
              </a:rPr>
              <a:t>3</a:t>
            </a:r>
            <a:r>
              <a:rPr sz="1400" spc="-5" dirty="0">
                <a:solidFill>
                  <a:srgbClr val="999999"/>
                </a:solidFill>
                <a:latin typeface="Consolas"/>
                <a:cs typeface="Consolas"/>
              </a:rPr>
              <a:t>}&gt;</a:t>
            </a:r>
            <a:r>
              <a:rPr sz="1400" dirty="0">
                <a:solidFill>
                  <a:srgbClr val="99999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999999"/>
                </a:solidFill>
                <a:latin typeface="Consolas"/>
                <a:cs typeface="Consolas"/>
              </a:rPr>
              <a:t>...</a:t>
            </a:r>
            <a:endParaRPr sz="1400" dirty="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25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Hidden Component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Conditional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rendering (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xsUp,</a:t>
            </a:r>
            <a:r>
              <a:rPr sz="1800" spc="-3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 err="1">
                <a:solidFill>
                  <a:srgbClr val="595959"/>
                </a:solidFill>
                <a:latin typeface="Consolas"/>
                <a:cs typeface="Consolas"/>
              </a:rPr>
              <a:t>lgDown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)</a:t>
            </a:r>
            <a:r>
              <a:rPr lang="en-US" sz="1800" spc="-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lang="en-US" sz="1800" spc="-5" dirty="0">
                <a:solidFill>
                  <a:srgbClr val="FF0000"/>
                </a:solidFill>
                <a:latin typeface="Consolas"/>
                <a:cs typeface="Consolas"/>
              </a:rPr>
              <a:t>deprecated </a:t>
            </a:r>
            <a:r>
              <a:rPr lang="en-US" sz="1800" spc="-5" dirty="0">
                <a:solidFill>
                  <a:srgbClr val="FF0000"/>
                </a:solidFill>
                <a:latin typeface="Consolas"/>
                <a:cs typeface="Consolas"/>
                <a:sym typeface="Wingdings" panose="05000000000000000000" pitchFamily="2" charset="2"/>
              </a:rPr>
              <a:t></a:t>
            </a:r>
            <a:endParaRPr sz="1800" dirty="0">
              <a:solidFill>
                <a:srgbClr val="FF0000"/>
              </a:solidFill>
              <a:latin typeface="Consolas"/>
              <a:cs typeface="Consolas"/>
            </a:endParaRPr>
          </a:p>
          <a:p>
            <a:pPr marL="476884">
              <a:lnSpc>
                <a:spcPct val="100000"/>
              </a:lnSpc>
              <a:spcBef>
                <a:spcPts val="690"/>
              </a:spcBef>
            </a:pPr>
            <a:r>
              <a:rPr sz="1400" spc="-5" dirty="0">
                <a:solidFill>
                  <a:srgbClr val="999999"/>
                </a:solidFill>
                <a:latin typeface="Consolas"/>
                <a:cs typeface="Consolas"/>
              </a:rPr>
              <a:t>&lt;</a:t>
            </a:r>
            <a:r>
              <a:rPr sz="1400" spc="-5" dirty="0">
                <a:solidFill>
                  <a:srgbClr val="990055"/>
                </a:solidFill>
                <a:latin typeface="Consolas"/>
                <a:cs typeface="Consolas"/>
              </a:rPr>
              <a:t>Hidden</a:t>
            </a:r>
            <a:r>
              <a:rPr sz="1400" dirty="0">
                <a:solidFill>
                  <a:srgbClr val="990055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669900"/>
                </a:solidFill>
                <a:latin typeface="Consolas"/>
                <a:cs typeface="Consolas"/>
              </a:rPr>
              <a:t>mdUp</a:t>
            </a:r>
            <a:r>
              <a:rPr sz="1400" spc="-5" dirty="0">
                <a:solidFill>
                  <a:srgbClr val="999999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899160">
              <a:lnSpc>
                <a:spcPct val="100000"/>
              </a:lnSpc>
              <a:spcBef>
                <a:spcPts val="409"/>
              </a:spcBef>
            </a:pPr>
            <a:r>
              <a:rPr sz="1400" spc="-5" dirty="0">
                <a:solidFill>
                  <a:srgbClr val="999999"/>
                </a:solidFill>
                <a:latin typeface="Consolas"/>
                <a:cs typeface="Consolas"/>
              </a:rPr>
              <a:t>&lt;</a:t>
            </a:r>
            <a:r>
              <a:rPr sz="1400" spc="-5" dirty="0">
                <a:solidFill>
                  <a:srgbClr val="990055"/>
                </a:solidFill>
                <a:latin typeface="Consolas"/>
                <a:cs typeface="Consolas"/>
              </a:rPr>
              <a:t>Paper</a:t>
            </a:r>
            <a:r>
              <a:rPr sz="1400" spc="-5" dirty="0">
                <a:solidFill>
                  <a:srgbClr val="999999"/>
                </a:solidFill>
                <a:latin typeface="Consolas"/>
                <a:cs typeface="Consolas"/>
              </a:rPr>
              <a:t>&gt;</a:t>
            </a:r>
            <a:r>
              <a:rPr sz="1400" spc="-5" dirty="0">
                <a:latin typeface="Consolas"/>
                <a:cs typeface="Consolas"/>
              </a:rPr>
              <a:t>This is </a:t>
            </a:r>
            <a:r>
              <a:rPr sz="1400" dirty="0">
                <a:latin typeface="Consolas"/>
                <a:cs typeface="Consolas"/>
              </a:rPr>
              <a:t>a </a:t>
            </a:r>
            <a:r>
              <a:rPr sz="1400" spc="-5" dirty="0">
                <a:latin typeface="Consolas"/>
                <a:cs typeface="Consolas"/>
              </a:rPr>
              <a:t>paper component except on md and bigger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display</a:t>
            </a:r>
            <a:r>
              <a:rPr sz="1400" dirty="0">
                <a:solidFill>
                  <a:srgbClr val="999999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990055"/>
                </a:solidFill>
                <a:latin typeface="Consolas"/>
                <a:cs typeface="Consolas"/>
              </a:rPr>
              <a:t>Paper</a:t>
            </a:r>
            <a:r>
              <a:rPr sz="1400" dirty="0">
                <a:solidFill>
                  <a:srgbClr val="999999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10209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999999"/>
                </a:solidFill>
                <a:latin typeface="Consolas"/>
                <a:cs typeface="Consolas"/>
              </a:rPr>
              <a:t>&lt;/</a:t>
            </a:r>
            <a:r>
              <a:rPr sz="1400" spc="-5" dirty="0">
                <a:solidFill>
                  <a:srgbClr val="990055"/>
                </a:solidFill>
                <a:latin typeface="Consolas"/>
                <a:cs typeface="Consolas"/>
              </a:rPr>
              <a:t>Hidden</a:t>
            </a:r>
            <a:r>
              <a:rPr sz="1400" spc="-5" dirty="0">
                <a:solidFill>
                  <a:srgbClr val="999999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  <a:hlinkClick r:id="rId2"/>
              </a:rPr>
              <a:t>useMediaQuery</a:t>
            </a:r>
            <a:r>
              <a:rPr sz="1800" spc="-46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React interface to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@media</a:t>
            </a:r>
            <a:endParaRPr sz="1800" dirty="0">
              <a:latin typeface="Consolas"/>
              <a:cs typeface="Consolas"/>
            </a:endParaRPr>
          </a:p>
          <a:p>
            <a:pPr marL="288290">
              <a:lnSpc>
                <a:spcPct val="100000"/>
              </a:lnSpc>
              <a:spcBef>
                <a:spcPts val="1080"/>
              </a:spcBef>
            </a:pPr>
            <a:r>
              <a:rPr sz="1400" spc="-5" dirty="0">
                <a:solidFill>
                  <a:srgbClr val="0077AA"/>
                </a:solidFill>
                <a:latin typeface="Consolas"/>
                <a:cs typeface="Consolas"/>
              </a:rPr>
              <a:t>const </a:t>
            </a:r>
            <a:r>
              <a:rPr sz="1400" spc="-5" dirty="0">
                <a:latin typeface="Consolas"/>
                <a:cs typeface="Consolas"/>
              </a:rPr>
              <a:t>theme </a:t>
            </a:r>
            <a:r>
              <a:rPr sz="1400" dirty="0">
                <a:solidFill>
                  <a:srgbClr val="9A6E39"/>
                </a:solidFill>
                <a:latin typeface="Consolas"/>
                <a:cs typeface="Consolas"/>
              </a:rPr>
              <a:t>=</a:t>
            </a:r>
            <a:r>
              <a:rPr sz="1400" spc="5" dirty="0">
                <a:solidFill>
                  <a:srgbClr val="9A6E3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D4A68"/>
                </a:solidFill>
                <a:latin typeface="Consolas"/>
                <a:cs typeface="Consolas"/>
              </a:rPr>
              <a:t>useTheme</a:t>
            </a:r>
            <a:r>
              <a:rPr sz="1400" spc="-5" dirty="0">
                <a:solidFill>
                  <a:srgbClr val="999999"/>
                </a:solidFill>
                <a:latin typeface="Consolas"/>
                <a:cs typeface="Consolas"/>
              </a:rPr>
              <a:t>();</a:t>
            </a:r>
            <a:endParaRPr sz="1400" dirty="0">
              <a:latin typeface="Consolas"/>
              <a:cs typeface="Consolas"/>
            </a:endParaRPr>
          </a:p>
          <a:p>
            <a:pPr marL="295275" marR="1976755">
              <a:lnSpc>
                <a:spcPct val="116100"/>
              </a:lnSpc>
            </a:pPr>
            <a:r>
              <a:rPr sz="1400" spc="-5" dirty="0">
                <a:solidFill>
                  <a:srgbClr val="0077AA"/>
                </a:solidFill>
                <a:latin typeface="Consolas"/>
                <a:cs typeface="Consolas"/>
              </a:rPr>
              <a:t>const </a:t>
            </a:r>
            <a:r>
              <a:rPr sz="1400" spc="-5" dirty="0">
                <a:latin typeface="Consolas"/>
                <a:cs typeface="Consolas"/>
              </a:rPr>
              <a:t>matches </a:t>
            </a:r>
            <a:r>
              <a:rPr sz="1400" dirty="0">
                <a:solidFill>
                  <a:srgbClr val="9A6E39"/>
                </a:solidFill>
                <a:latin typeface="Consolas"/>
                <a:cs typeface="Consolas"/>
              </a:rPr>
              <a:t>= </a:t>
            </a:r>
            <a:r>
              <a:rPr sz="1400" spc="-5" dirty="0">
                <a:solidFill>
                  <a:srgbClr val="DD4A68"/>
                </a:solidFill>
                <a:latin typeface="Consolas"/>
                <a:cs typeface="Consolas"/>
              </a:rPr>
              <a:t>useMediaQuery</a:t>
            </a:r>
            <a:r>
              <a:rPr sz="1400" spc="-5" dirty="0">
                <a:solidFill>
                  <a:srgbClr val="999999"/>
                </a:solidFill>
                <a:latin typeface="Consolas"/>
                <a:cs typeface="Consolas"/>
              </a:rPr>
              <a:t>(</a:t>
            </a:r>
            <a:r>
              <a:rPr sz="1400" spc="-5" dirty="0">
                <a:latin typeface="Consolas"/>
                <a:cs typeface="Consolas"/>
              </a:rPr>
              <a:t>theme</a:t>
            </a:r>
            <a:r>
              <a:rPr sz="1400" spc="-5" dirty="0">
                <a:solidFill>
                  <a:srgbClr val="999999"/>
                </a:solidFill>
                <a:latin typeface="Consolas"/>
                <a:cs typeface="Consolas"/>
              </a:rPr>
              <a:t>.</a:t>
            </a:r>
            <a:r>
              <a:rPr sz="1400" spc="-5" dirty="0">
                <a:latin typeface="Consolas"/>
                <a:cs typeface="Consolas"/>
              </a:rPr>
              <a:t>breakpoints</a:t>
            </a:r>
            <a:r>
              <a:rPr sz="1400" spc="-5" dirty="0">
                <a:solidFill>
                  <a:srgbClr val="999999"/>
                </a:solidFill>
                <a:latin typeface="Consolas"/>
                <a:cs typeface="Consolas"/>
              </a:rPr>
              <a:t>.</a:t>
            </a:r>
            <a:r>
              <a:rPr sz="1400" spc="-5" dirty="0">
                <a:solidFill>
                  <a:srgbClr val="DD4A68"/>
                </a:solidFill>
                <a:latin typeface="Consolas"/>
                <a:cs typeface="Consolas"/>
              </a:rPr>
              <a:t>up</a:t>
            </a:r>
            <a:r>
              <a:rPr sz="1400" spc="-5" dirty="0">
                <a:solidFill>
                  <a:srgbClr val="999999"/>
                </a:solidFill>
                <a:latin typeface="Consolas"/>
                <a:cs typeface="Consolas"/>
              </a:rPr>
              <a:t>(</a:t>
            </a:r>
            <a:r>
              <a:rPr sz="1400" spc="-5" dirty="0">
                <a:solidFill>
                  <a:srgbClr val="669900"/>
                </a:solidFill>
                <a:latin typeface="Consolas"/>
                <a:cs typeface="Consolas"/>
              </a:rPr>
              <a:t>'md'</a:t>
            </a:r>
            <a:r>
              <a:rPr sz="1400" spc="-5" dirty="0">
                <a:solidFill>
                  <a:srgbClr val="999999"/>
                </a:solidFill>
                <a:latin typeface="Consolas"/>
                <a:cs typeface="Consolas"/>
              </a:rPr>
              <a:t>));  </a:t>
            </a:r>
            <a:r>
              <a:rPr sz="1400" spc="-5" dirty="0">
                <a:solidFill>
                  <a:srgbClr val="0077AA"/>
                </a:solidFill>
                <a:latin typeface="Consolas"/>
                <a:cs typeface="Consolas"/>
              </a:rPr>
              <a:t>if </a:t>
            </a:r>
            <a:r>
              <a:rPr sz="1400" spc="-5" dirty="0">
                <a:latin typeface="Consolas"/>
                <a:cs typeface="Consolas"/>
              </a:rPr>
              <a:t>(matches)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spc="-5" dirty="0">
                <a:latin typeface="Consolas"/>
                <a:cs typeface="Consolas"/>
              </a:rPr>
              <a:t>...</a:t>
            </a:r>
            <a:endParaRPr sz="14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10" dirty="0"/>
              <a:t>Web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9577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Accessibility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8272780" cy="3452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Accessible Rich Internet Applications</a:t>
            </a:r>
            <a:r>
              <a:rPr sz="1800" spc="-1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(ARIA)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Provide text alternatives for any non-text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content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Add text descriptions for things that need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it</a:t>
            </a:r>
            <a:endParaRPr sz="1400">
              <a:latin typeface="Arial"/>
              <a:cs typeface="Arial"/>
            </a:endParaRPr>
          </a:p>
          <a:p>
            <a:pPr marL="836294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&lt;a aria-label="Photo of user {{user.name}}"</a:t>
            </a:r>
            <a:r>
              <a:rPr sz="1400"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href=...</a:t>
            </a:r>
            <a:endParaRPr sz="1400">
              <a:latin typeface="Consolas"/>
              <a:cs typeface="Consolas"/>
            </a:endParaRPr>
          </a:p>
          <a:p>
            <a:pPr marL="836294">
              <a:lnSpc>
                <a:spcPct val="100000"/>
              </a:lnSpc>
              <a:spcBef>
                <a:spcPts val="655"/>
              </a:spcBef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&lt;img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aria-label="{{photo.description}}"</a:t>
            </a:r>
            <a:endParaRPr sz="140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39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Provide alternatives for time-based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media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0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Transcripts,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sub-titles,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595959"/>
              </a:buClr>
              <a:buFont typeface="Arial"/>
              <a:buChar char="○"/>
            </a:pPr>
            <a:endParaRPr sz="1300">
              <a:latin typeface="Times New Roman"/>
              <a:cs typeface="Times New Roman"/>
            </a:endParaRPr>
          </a:p>
          <a:p>
            <a:pPr marL="379095" marR="5080" indent="-367030">
              <a:lnSpc>
                <a:spcPct val="114599"/>
              </a:lnSpc>
              <a:spcBef>
                <a:spcPts val="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Work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zoomed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in, avoid quick timeouts, high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contrast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 foreground/background, work all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keyboard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without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keyboard, compatibility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 assistive technologies, use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simple sentences,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10" dirty="0"/>
              <a:t>Web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0855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Internationalization</a:t>
            </a:r>
            <a:r>
              <a:rPr spc="-95" dirty="0"/>
              <a:t> </a:t>
            </a:r>
            <a:r>
              <a:rPr dirty="0"/>
              <a:t>(I18N)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942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480059" algn="l"/>
                <a:tab pos="480695" algn="l"/>
              </a:tabLst>
            </a:pPr>
            <a:r>
              <a:rPr spc="-5" dirty="0"/>
              <a:t>Users want </a:t>
            </a:r>
            <a:r>
              <a:rPr spc="-10" dirty="0"/>
              <a:t>different: </a:t>
            </a:r>
            <a:r>
              <a:rPr spc="-5" dirty="0"/>
              <a:t>text, dates, numbers, </a:t>
            </a:r>
            <a:r>
              <a:rPr dirty="0"/>
              <a:t>currencies, </a:t>
            </a:r>
            <a:r>
              <a:rPr spc="-5" dirty="0"/>
              <a:t>and</a:t>
            </a:r>
            <a:r>
              <a:rPr spc="-20" dirty="0"/>
              <a:t> </a:t>
            </a:r>
            <a:r>
              <a:rPr spc="-5" dirty="0"/>
              <a:t>graphics</a:t>
            </a:r>
          </a:p>
          <a:p>
            <a:pPr marL="47942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480059" algn="l"/>
                <a:tab pos="480695" algn="l"/>
                <a:tab pos="5372100" algn="l"/>
              </a:tabLst>
            </a:pPr>
            <a:r>
              <a:rPr spc="-5" dirty="0"/>
              <a:t>Ultimately need </a:t>
            </a:r>
            <a:r>
              <a:rPr dirty="0"/>
              <a:t>a </a:t>
            </a:r>
            <a:r>
              <a:rPr spc="-5" dirty="0"/>
              <a:t>level of</a:t>
            </a:r>
            <a:r>
              <a:rPr spc="5" dirty="0"/>
              <a:t> </a:t>
            </a:r>
            <a:r>
              <a:rPr spc="-5" dirty="0"/>
              <a:t>indirection.</a:t>
            </a:r>
            <a:r>
              <a:rPr dirty="0"/>
              <a:t> </a:t>
            </a:r>
            <a:r>
              <a:rPr spc="-5" dirty="0"/>
              <a:t>Consider:	</a:t>
            </a:r>
            <a:r>
              <a:rPr spc="-5" dirty="0">
                <a:latin typeface="Consolas"/>
                <a:cs typeface="Consolas"/>
              </a:rPr>
              <a:t>&lt;h1&gt;Getting</a:t>
            </a:r>
            <a:r>
              <a:rPr spc="-85" dirty="0">
                <a:latin typeface="Consolas"/>
                <a:cs typeface="Consolas"/>
              </a:rPr>
              <a:t> </a:t>
            </a:r>
            <a:r>
              <a:rPr spc="-5" dirty="0">
                <a:latin typeface="Consolas"/>
                <a:cs typeface="Consolas"/>
              </a:rPr>
              <a:t>Started&lt;/h1&gt;</a:t>
            </a:r>
          </a:p>
          <a:p>
            <a:pPr marL="100330"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750" dirty="0">
              <a:latin typeface="Times New Roman"/>
              <a:cs typeface="Times New Roman"/>
            </a:endParaRPr>
          </a:p>
          <a:p>
            <a:pPr marL="479425" indent="-367030">
              <a:lnSpc>
                <a:spcPct val="100000"/>
              </a:lnSpc>
              <a:buChar char="●"/>
              <a:tabLst>
                <a:tab pos="480059" algn="l"/>
                <a:tab pos="480695" algn="l"/>
              </a:tabLst>
            </a:pPr>
            <a:r>
              <a:rPr spc="-5" dirty="0"/>
              <a:t>Example: </a:t>
            </a:r>
            <a:r>
              <a:rPr dirty="0"/>
              <a:t>react-i18next: </a:t>
            </a:r>
            <a:r>
              <a:rPr spc="-5" dirty="0"/>
              <a:t>Look up translation by</a:t>
            </a:r>
            <a:r>
              <a:rPr spc="-25" dirty="0"/>
              <a:t> </a:t>
            </a:r>
            <a:r>
              <a:rPr dirty="0"/>
              <a:t>key</a:t>
            </a:r>
          </a:p>
          <a:p>
            <a:pPr marL="936625" marR="333375" lvl="1" indent="-336550">
              <a:lnSpc>
                <a:spcPct val="116100"/>
              </a:lnSpc>
              <a:spcBef>
                <a:spcPts val="860"/>
              </a:spcBef>
              <a:buFont typeface="Arial"/>
              <a:buChar char="○"/>
              <a:tabLst>
                <a:tab pos="937260" algn="l"/>
                <a:tab pos="937894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Hello &lt;strong title="this is your name"&gt;{name}&lt;/strong&gt;, you have {count}  unread</a:t>
            </a:r>
            <a:r>
              <a:rPr sz="14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message(s).</a:t>
            </a:r>
            <a:endParaRPr sz="1400" dirty="0">
              <a:latin typeface="Consolas"/>
              <a:cs typeface="Consolas"/>
            </a:endParaRPr>
          </a:p>
          <a:p>
            <a:pPr marL="936625" lvl="1" indent="-336550">
              <a:lnSpc>
                <a:spcPct val="100000"/>
              </a:lnSpc>
              <a:spcBef>
                <a:spcPts val="270"/>
              </a:spcBef>
              <a:buFont typeface="Arial"/>
              <a:buChar char="○"/>
              <a:tabLst>
                <a:tab pos="937260" algn="l"/>
                <a:tab pos="937894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&lt;Trans i18nKey="userMessagesUnread"</a:t>
            </a:r>
            <a:r>
              <a:rPr sz="14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count={count}&gt;</a:t>
            </a:r>
            <a:endParaRPr sz="1400" dirty="0">
              <a:latin typeface="Consolas"/>
              <a:cs typeface="Consolas"/>
            </a:endParaRPr>
          </a:p>
          <a:p>
            <a:pPr marL="1553210" marR="106045" indent="-488315">
              <a:lnSpc>
                <a:spcPct val="116100"/>
              </a:lnSpc>
            </a:pPr>
            <a:r>
              <a:rPr sz="1400" spc="-5" dirty="0">
                <a:latin typeface="Consolas"/>
                <a:cs typeface="Consolas"/>
              </a:rPr>
              <a:t>Hello &lt;strong title={t('nameTitle')}&gt;{{name}}&lt;/strong&gt;, you have {{count}}  unread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spc="-5" dirty="0">
                <a:latin typeface="Consolas"/>
                <a:cs typeface="Consolas"/>
              </a:rPr>
              <a:t>message.</a:t>
            </a:r>
            <a:endParaRPr sz="1400" dirty="0">
              <a:latin typeface="Consolas"/>
              <a:cs typeface="Consolas"/>
            </a:endParaRPr>
          </a:p>
          <a:p>
            <a:pPr marL="86995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latin typeface="Consolas"/>
                <a:cs typeface="Consolas"/>
              </a:rPr>
              <a:t>&lt;/Trans&gt;</a:t>
            </a:r>
            <a:endParaRPr sz="1400" dirty="0">
              <a:latin typeface="Consolas"/>
              <a:cs typeface="Consolas"/>
            </a:endParaRPr>
          </a:p>
          <a:p>
            <a:pPr marL="479425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480059" algn="l"/>
                <a:tab pos="480695" algn="l"/>
              </a:tabLst>
            </a:pPr>
            <a:r>
              <a:rPr spc="-5" dirty="0"/>
              <a:t>Skip applying to user generated</a:t>
            </a:r>
            <a:r>
              <a:rPr spc="-20" dirty="0"/>
              <a:t> </a:t>
            </a:r>
            <a:r>
              <a:rPr dirty="0"/>
              <a:t>content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10" dirty="0"/>
              <a:t>Web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1851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Testing </a:t>
            </a:r>
            <a:r>
              <a:rPr spc="-5" dirty="0"/>
              <a:t>the web</a:t>
            </a:r>
            <a:r>
              <a:rPr spc="-40" dirty="0"/>
              <a:t> </a:t>
            </a:r>
            <a:r>
              <a:rPr spc="-5" dirty="0"/>
              <a:t>app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7719695" cy="32194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Unit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testing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Each test targets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particular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component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verifies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it does what it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claims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it</a:t>
            </a:r>
            <a:r>
              <a:rPr sz="14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does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Requires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mock components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the pieces that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component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interacts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Example: Load an angular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component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(controller,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directive, etc.) and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run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tests against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it</a:t>
            </a:r>
            <a:endParaRPr sz="1400" dirty="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Need 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mock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everything these touch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(DOM,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angular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services,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etc.)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End-to-End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(e2e)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testing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Run tests against 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real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application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Scripting interface into browser used to drive web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application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Example: Fire up app in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browser and programmatically interact with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it.</a:t>
            </a:r>
            <a:endParaRPr sz="1400" dirty="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WebDriver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interface in browsers useful for this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Metric: 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Test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Coverage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Does every line 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code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have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test?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E511CF504F4646AB54E0ACE4A117EC" ma:contentTypeVersion="0" ma:contentTypeDescription="Create a new document." ma:contentTypeScope="" ma:versionID="d4f0da77cb7c9de5903bc21ca831b4e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1AE7583-CDAC-4551-8702-399328EE03FC}"/>
</file>

<file path=customXml/itemProps2.xml><?xml version="1.0" encoding="utf-8"?>
<ds:datastoreItem xmlns:ds="http://schemas.openxmlformats.org/officeDocument/2006/customXml" ds:itemID="{3FE0F993-66E0-49A8-B64A-5D337431BFDA}"/>
</file>

<file path=customXml/itemProps3.xml><?xml version="1.0" encoding="utf-8"?>
<ds:datastoreItem xmlns:ds="http://schemas.openxmlformats.org/officeDocument/2006/customXml" ds:itemID="{DCC9EE24-1D1C-4DF2-9569-E5A506915DAC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</TotalTime>
  <Words>1419</Words>
  <Application>Microsoft Office PowerPoint</Application>
  <PresentationFormat>On-screen Show (16:9)</PresentationFormat>
  <Paragraphs>189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Consolas</vt:lpstr>
      <vt:lpstr>Times New Roman</vt:lpstr>
      <vt:lpstr>Office Theme</vt:lpstr>
      <vt:lpstr>PowerPoint Presentation</vt:lpstr>
      <vt:lpstr>Good web applications: Design + Implementation</vt:lpstr>
      <vt:lpstr>Some guiding design principles for Web Apps</vt:lpstr>
      <vt:lpstr>Consistency: Style guides &amp; design templates</vt:lpstr>
      <vt:lpstr>Style Guide Example: Material Design from Google</vt:lpstr>
      <vt:lpstr>Material Design Foundations</vt:lpstr>
      <vt:lpstr>Front-end web frameworks</vt:lpstr>
      <vt:lpstr>Example: Use Material Design for a Photo App</vt:lpstr>
      <vt:lpstr>Material-UI w/React - Use grid to layout app</vt:lpstr>
      <vt:lpstr>Use grid to layout app</vt:lpstr>
      <vt:lpstr>Much useful functionality available for our app</vt:lpstr>
      <vt:lpstr>Deep linking support - React Route</vt:lpstr>
      <vt:lpstr>Responsive Design support</vt:lpstr>
      <vt:lpstr>Material Breakpoint sizes: xs, sm, md, lg, xl</vt:lpstr>
      <vt:lpstr>Material UI Breakpoints</vt:lpstr>
      <vt:lpstr>Material UI Responsive Support</vt:lpstr>
      <vt:lpstr>Accessibility</vt:lpstr>
      <vt:lpstr>Internationalization (I18N)</vt:lpstr>
      <vt:lpstr>Testing the web app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Amarsanaa Ganbold</cp:lastModifiedBy>
  <cp:revision>1</cp:revision>
  <dcterms:created xsi:type="dcterms:W3CDTF">2019-08-20T05:22:36Z</dcterms:created>
  <dcterms:modified xsi:type="dcterms:W3CDTF">2021-11-09T04:35:56Z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ContentTypeId">
    <vt:lpwstr>0x01010055E511CF504F4646AB54E0ACE4A117EC</vt:lpwstr>
  </property>
</Properties>
</file>