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7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9144000" cy="5143500"/>
  <p:defaultTextStyle>
    <a:defPPr>
      <a:defRPr lang="mn-M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110" autoAdjust="0"/>
  </p:normalViewPr>
  <p:slideViewPr>
    <p:cSldViewPr>
      <p:cViewPr varScale="1">
        <p:scale>
          <a:sx n="127" d="100"/>
          <a:sy n="127" d="100"/>
        </p:scale>
        <p:origin x="1158" y="6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BF84B0-FE29-4817-BFAE-4A52A5AEB52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EB782E-07B4-463B-9F6E-55CC81F46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51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position: absolute;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is positioned relative to the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nearest positioned ancestor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(instead of positioned relative to the viewport, like fixed).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EB782E-07B4-463B-9F6E-55CC81F46BD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04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div21.offsetParent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sym typeface="Wingdings" panose="05000000000000000000" pitchFamily="2" charset="2"/>
              </a:rPr>
              <a:t> div2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sym typeface="Wingdings" panose="05000000000000000000" pitchFamily="2" charset="2"/>
              </a:rPr>
              <a:t>div31.offsetParent  body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sym typeface="Wingdings" panose="05000000000000000000" pitchFamily="2" charset="2"/>
              </a:rPr>
              <a:t>Why?  div3 is not defined as positioned context, so body element will be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sym typeface="Wingdings" panose="05000000000000000000" pitchFamily="2" charset="2"/>
              </a:rPr>
              <a:t>offsetParent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sym typeface="Wingdings" panose="05000000000000000000" pitchFamily="2" charset="2"/>
              </a:rPr>
              <a:t> of the div31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sym typeface="Wingdings" panose="05000000000000000000" pitchFamily="2" charset="2"/>
              </a:rPr>
              <a:t>no </a:t>
            </a:r>
            <a:r>
              <a:rPr lang="en-US" b="1" i="1" dirty="0">
                <a:solidFill>
                  <a:srgbClr val="000000"/>
                </a:solidFill>
                <a:effectLst/>
                <a:latin typeface="Verdana" panose="020B0604030504040204" pitchFamily="34" charset="0"/>
                <a:sym typeface="Wingdings" panose="05000000000000000000" pitchFamily="2" charset="2"/>
              </a:rPr>
              <a:t>position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sym typeface="Wingdings" panose="05000000000000000000" pitchFamily="2" charset="2"/>
              </a:rPr>
              <a:t> property for div3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EB782E-07B4-463B-9F6E-55CC81F46BD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8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7501" y="1091184"/>
            <a:ext cx="7108997" cy="1608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286956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176350"/>
            <a:ext cx="8134350" cy="116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729883" y="4778075"/>
            <a:ext cx="1647825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564130" marR="5080" indent="-2552065">
              <a:lnSpc>
                <a:spcPts val="6220"/>
              </a:lnSpc>
              <a:spcBef>
                <a:spcPts val="325"/>
              </a:spcBef>
            </a:pPr>
            <a:r>
              <a:rPr spc="-5" dirty="0"/>
              <a:t>Document </a:t>
            </a:r>
            <a:r>
              <a:rPr spc="-10" dirty="0"/>
              <a:t>Object</a:t>
            </a:r>
            <a:r>
              <a:rPr spc="-105" dirty="0"/>
              <a:t> </a:t>
            </a:r>
            <a:r>
              <a:rPr spc="-5" dirty="0"/>
              <a:t>Model  </a:t>
            </a:r>
            <a:r>
              <a:rPr dirty="0"/>
              <a:t>(DOM)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27637" y="2892926"/>
            <a:ext cx="3088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95959"/>
                </a:solidFill>
                <a:latin typeface="Arial"/>
                <a:cs typeface="Arial"/>
              </a:rPr>
              <a:t>Mendel</a:t>
            </a:r>
            <a:r>
              <a:rPr sz="2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595959"/>
                </a:solidFill>
                <a:latin typeface="Arial"/>
                <a:cs typeface="Arial"/>
              </a:rPr>
              <a:t>Rosenblum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6644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Browser </a:t>
            </a:r>
            <a:r>
              <a:rPr dirty="0"/>
              <a:t>JavaScript </a:t>
            </a:r>
            <a:r>
              <a:rPr spc="-5" dirty="0"/>
              <a:t>interface to HTML</a:t>
            </a:r>
            <a:r>
              <a:rPr spc="-90" dirty="0"/>
              <a:t> </a:t>
            </a:r>
            <a:r>
              <a:rPr spc="-5" dirty="0"/>
              <a:t>document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075930" cy="2642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HTML document exposed as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collection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objects and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D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ocument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O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bject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M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odel</a:t>
            </a:r>
            <a:r>
              <a:rPr sz="18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(DOM)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can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query 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modify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HTML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document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Accessible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via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global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scope,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aliases: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29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window</a:t>
            </a:r>
            <a:endParaRPr sz="1800">
              <a:latin typeface="Consolas"/>
              <a:cs typeface="Consolas"/>
            </a:endParaRPr>
          </a:p>
          <a:p>
            <a:pPr marL="379095">
              <a:lnSpc>
                <a:spcPct val="100000"/>
              </a:lnSpc>
              <a:spcBef>
                <a:spcPts val="1290"/>
              </a:spcBef>
              <a:tabLst>
                <a:tab pos="1510030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this	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(When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not using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'use</a:t>
            </a:r>
            <a:r>
              <a:rPr sz="18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strict';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4149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DOM</a:t>
            </a:r>
            <a:r>
              <a:rPr spc="-85" dirty="0"/>
              <a:t> </a:t>
            </a:r>
            <a:r>
              <a:rPr spc="-5" dirty="0"/>
              <a:t>hierarchy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302075" cy="31534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367030">
              <a:spcBef>
                <a:spcPts val="100"/>
              </a:spcBef>
              <a:buFontTx/>
              <a:buChar char="●"/>
              <a:tabLst>
                <a:tab pos="469265" algn="l"/>
                <a:tab pos="469900" algn="l"/>
              </a:tabLst>
            </a:pPr>
            <a:r>
              <a:rPr lang="es-ES" spc="-5" dirty="0" err="1">
                <a:solidFill>
                  <a:srgbClr val="595959"/>
                </a:solidFill>
                <a:latin typeface="Arial"/>
                <a:cs typeface="Arial"/>
              </a:rPr>
              <a:t>Rooted</a:t>
            </a:r>
            <a:r>
              <a:rPr lang="es-ES" spc="-5" dirty="0">
                <a:solidFill>
                  <a:srgbClr val="595959"/>
                </a:solidFill>
                <a:latin typeface="Arial"/>
                <a:cs typeface="Arial"/>
              </a:rPr>
              <a:t> at</a:t>
            </a:r>
            <a:r>
              <a:rPr lang="es-ES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69900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Follows HTML document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structure</a:t>
            </a:r>
            <a:endParaRPr sz="1800" dirty="0">
              <a:latin typeface="Arial"/>
              <a:cs typeface="Arial"/>
            </a:endParaRPr>
          </a:p>
          <a:p>
            <a:pPr marL="927100" marR="4017645">
              <a:lnSpc>
                <a:spcPct val="187500"/>
              </a:lnSpc>
            </a:pP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window.document.head  window.document.body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DOM objects have tons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(~250)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properties,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most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private</a:t>
            </a:r>
            <a:endParaRPr sz="1800" dirty="0">
              <a:latin typeface="Arial"/>
              <a:cs typeface="Arial"/>
            </a:endParaRPr>
          </a:p>
          <a:p>
            <a:pPr marL="12700" marR="5080" indent="457200">
              <a:lnSpc>
                <a:spcPct val="114599"/>
              </a:lnSpc>
              <a:spcBef>
                <a:spcPts val="157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Objects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(representing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elements,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raw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text, etc.) have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common set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 properties 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methods called 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DOM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"Node"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25" y="503825"/>
            <a:ext cx="7997275" cy="1292662"/>
          </a:xfrm>
        </p:spPr>
        <p:txBody>
          <a:bodyPr/>
          <a:lstStyle/>
          <a:p>
            <a:r>
              <a:rPr lang="en-US" dirty="0"/>
              <a:t>A partial class hierarchy of document nodes</a:t>
            </a:r>
            <a:endParaRPr lang="mn-MN" dirty="0"/>
          </a:p>
        </p:txBody>
      </p:sp>
      <p:pic>
        <p:nvPicPr>
          <p:cNvPr id="4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955944"/>
            <a:ext cx="6324600" cy="399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98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6356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DOM Node properties and</a:t>
            </a:r>
            <a:r>
              <a:rPr spc="-85" dirty="0"/>
              <a:t> </a:t>
            </a:r>
            <a:r>
              <a:rPr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352155" cy="2970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Identification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 dirty="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  <a:tabLst>
                <a:tab pos="5283835" algn="l"/>
              </a:tabLst>
            </a:pP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nodeName</a:t>
            </a:r>
            <a:r>
              <a:rPr sz="1800" spc="-47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property is element type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 (uppercase:	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P, DIV,</a:t>
            </a:r>
            <a:r>
              <a:rPr sz="1800" spc="-4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etc.) or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#text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Encode document's hierarchical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structure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 dirty="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parentNode, nextSibling, previousSibling, firstChild, </a:t>
            </a:r>
            <a:r>
              <a:rPr dirty="0" err="1">
                <a:solidFill>
                  <a:srgbClr val="001080"/>
                </a:solidFill>
                <a:latin typeface="Consolas" panose="020B0609020204030204" pitchFamily="49" charset="0"/>
              </a:rPr>
              <a:t>lastChild</a:t>
            </a:r>
            <a:endParaRPr sz="9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Provide accessor 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mutator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methods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E.g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 </a:t>
            </a: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getAttribute, setAttribute</a:t>
            </a:r>
            <a:r>
              <a:rPr sz="1800" spc="-4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methods,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etc..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4623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onsolas"/>
                <a:cs typeface="Consolas"/>
              </a:rPr>
              <a:t>&lt;p&gt;Sample &lt;b&gt;bold&lt;/b&gt;</a:t>
            </a:r>
            <a:r>
              <a:rPr spc="-105" dirty="0">
                <a:latin typeface="Consolas"/>
                <a:cs typeface="Consolas"/>
              </a:rPr>
              <a:t> </a:t>
            </a:r>
            <a:r>
              <a:rPr spc="-5" dirty="0">
                <a:latin typeface="Consolas"/>
                <a:cs typeface="Consolas"/>
              </a:rPr>
              <a:t>display&lt;/p&gt;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950" y="1119599"/>
            <a:ext cx="2306320" cy="74549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85725">
              <a:lnSpc>
                <a:spcPts val="1664"/>
              </a:lnSpc>
              <a:spcBef>
                <a:spcPts val="615"/>
              </a:spcBef>
            </a:pPr>
            <a:r>
              <a:rPr sz="1400" spc="-5" dirty="0">
                <a:latin typeface="Consolas"/>
                <a:cs typeface="Consolas"/>
              </a:rPr>
              <a:t>nodeName</a:t>
            </a:r>
            <a:r>
              <a:rPr sz="1400" spc="-5" dirty="0">
                <a:latin typeface="Arial"/>
                <a:cs typeface="Arial"/>
              </a:rPr>
              <a:t>: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b="1" dirty="0">
                <a:latin typeface="Consolas"/>
                <a:cs typeface="Consolas"/>
              </a:rPr>
              <a:t>P</a:t>
            </a:r>
            <a:endParaRPr sz="1400">
              <a:latin typeface="Consolas"/>
              <a:cs typeface="Consolas"/>
            </a:endParaRPr>
          </a:p>
          <a:p>
            <a:pPr marL="85725">
              <a:lnSpc>
                <a:spcPts val="1664"/>
              </a:lnSpc>
            </a:pPr>
            <a:r>
              <a:rPr sz="1400" spc="-5" dirty="0">
                <a:latin typeface="Consolas"/>
                <a:cs typeface="Consolas"/>
              </a:rPr>
              <a:t>nodeType</a:t>
            </a:r>
            <a:r>
              <a:rPr sz="1400" spc="-5" dirty="0">
                <a:latin typeface="Arial"/>
                <a:cs typeface="Arial"/>
              </a:rPr>
              <a:t>: </a:t>
            </a:r>
            <a:r>
              <a:rPr sz="1400" b="1" dirty="0">
                <a:latin typeface="Consolas"/>
                <a:cs typeface="Consolas"/>
              </a:rPr>
              <a:t>1</a:t>
            </a:r>
            <a:r>
              <a:rPr sz="1400" b="1" spc="-25" dirty="0">
                <a:latin typeface="Consolas"/>
                <a:cs typeface="Consolas"/>
              </a:rPr>
              <a:t> </a:t>
            </a:r>
            <a:r>
              <a:rPr sz="1400" dirty="0">
                <a:latin typeface="Arial"/>
                <a:cs typeface="Arial"/>
              </a:rPr>
              <a:t>(Element)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3174" y="2571750"/>
            <a:ext cx="2161540" cy="74549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85725" marR="115570">
              <a:lnSpc>
                <a:spcPts val="1650"/>
              </a:lnSpc>
              <a:spcBef>
                <a:spcPts val="700"/>
              </a:spcBef>
            </a:pPr>
            <a:r>
              <a:rPr sz="1400" spc="-5" dirty="0">
                <a:latin typeface="Consolas"/>
                <a:cs typeface="Consolas"/>
              </a:rPr>
              <a:t>nodeName: </a:t>
            </a:r>
            <a:r>
              <a:rPr sz="1400" b="1" spc="-5" dirty="0">
                <a:latin typeface="Consolas"/>
                <a:cs typeface="Consolas"/>
              </a:rPr>
              <a:t>#text  </a:t>
            </a:r>
            <a:r>
              <a:rPr sz="1400" spc="-5" dirty="0">
                <a:latin typeface="Consolas"/>
                <a:cs typeface="Consolas"/>
              </a:rPr>
              <a:t>nodeType: </a:t>
            </a:r>
            <a:r>
              <a:rPr sz="1400" b="1" dirty="0">
                <a:latin typeface="Consolas"/>
                <a:cs typeface="Consolas"/>
              </a:rPr>
              <a:t>3 </a:t>
            </a:r>
            <a:r>
              <a:rPr sz="1400" spc="-5" dirty="0">
                <a:latin typeface="Consolas"/>
                <a:cs typeface="Consolas"/>
              </a:rPr>
              <a:t>(Text)  nodeValue: </a:t>
            </a:r>
            <a:r>
              <a:rPr sz="1400" b="1" spc="-5" dirty="0">
                <a:latin typeface="Consolas"/>
                <a:cs typeface="Consolas"/>
              </a:rPr>
              <a:t>"Sample</a:t>
            </a:r>
            <a:r>
              <a:rPr sz="1400" b="1" spc="-75" dirty="0">
                <a:latin typeface="Consolas"/>
                <a:cs typeface="Consolas"/>
              </a:rPr>
              <a:t> </a:t>
            </a:r>
            <a:r>
              <a:rPr sz="1400" b="1" dirty="0">
                <a:latin typeface="Consolas"/>
                <a:cs typeface="Consolas"/>
              </a:rPr>
              <a:t>"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53883" y="1492050"/>
            <a:ext cx="1122680" cy="967740"/>
          </a:xfrm>
          <a:custGeom>
            <a:avLst/>
            <a:gdLst/>
            <a:ahLst/>
            <a:cxnLst/>
            <a:rect l="l" t="t" r="r" b="b"/>
            <a:pathLst>
              <a:path w="1122680" h="967739">
                <a:moveTo>
                  <a:pt x="1122066" y="0"/>
                </a:moveTo>
                <a:lnTo>
                  <a:pt x="0" y="967725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41396" y="2409745"/>
            <a:ext cx="157599" cy="149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14574" y="1688900"/>
            <a:ext cx="10020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nsolas"/>
                <a:cs typeface="Consolas"/>
              </a:rPr>
              <a:t>firstChild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0799" y="2571750"/>
            <a:ext cx="2306320" cy="74549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85725" marR="161290">
              <a:lnSpc>
                <a:spcPts val="1650"/>
              </a:lnSpc>
              <a:spcBef>
                <a:spcPts val="700"/>
              </a:spcBef>
            </a:pPr>
            <a:r>
              <a:rPr sz="1400" spc="-5" dirty="0">
                <a:latin typeface="Consolas"/>
                <a:cs typeface="Consolas"/>
              </a:rPr>
              <a:t>nodeName: </a:t>
            </a:r>
            <a:r>
              <a:rPr sz="1400" b="1" spc="-5" dirty="0">
                <a:latin typeface="Consolas"/>
                <a:cs typeface="Consolas"/>
              </a:rPr>
              <a:t>#text  </a:t>
            </a:r>
            <a:r>
              <a:rPr sz="1400" spc="-5" dirty="0">
                <a:latin typeface="Consolas"/>
                <a:cs typeface="Consolas"/>
              </a:rPr>
              <a:t>nodeType: </a:t>
            </a:r>
            <a:r>
              <a:rPr sz="1400" b="1" dirty="0">
                <a:latin typeface="Consolas"/>
                <a:cs typeface="Consolas"/>
              </a:rPr>
              <a:t>3 </a:t>
            </a:r>
            <a:r>
              <a:rPr sz="1400" spc="-5" dirty="0">
                <a:latin typeface="Consolas"/>
                <a:cs typeface="Consolas"/>
              </a:rPr>
              <a:t>(Text)  nodeValue: </a:t>
            </a:r>
            <a:r>
              <a:rPr sz="1400" b="1" dirty="0">
                <a:latin typeface="Consolas"/>
                <a:cs typeface="Consolas"/>
              </a:rPr>
              <a:t>"</a:t>
            </a:r>
            <a:r>
              <a:rPr sz="1400" b="1" spc="-80" dirty="0">
                <a:latin typeface="Consolas"/>
                <a:cs typeface="Consolas"/>
              </a:rPr>
              <a:t> </a:t>
            </a:r>
            <a:r>
              <a:rPr sz="1400" b="1" spc="-5" dirty="0">
                <a:latin typeface="Consolas"/>
                <a:cs typeface="Consolas"/>
              </a:rPr>
              <a:t>display"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81749" y="1492050"/>
            <a:ext cx="2483485" cy="1015365"/>
          </a:xfrm>
          <a:custGeom>
            <a:avLst/>
            <a:gdLst/>
            <a:ahLst/>
            <a:cxnLst/>
            <a:rect l="l" t="t" r="r" b="b"/>
            <a:pathLst>
              <a:path w="2483484" h="1015364">
                <a:moveTo>
                  <a:pt x="0" y="0"/>
                </a:moveTo>
                <a:lnTo>
                  <a:pt x="2483390" y="1014842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32998" y="2448914"/>
            <a:ext cx="166469" cy="1213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857150" y="1797387"/>
            <a:ext cx="904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nsolas"/>
                <a:cs typeface="Consolas"/>
              </a:rPr>
              <a:t>lastChild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77875" y="2571750"/>
            <a:ext cx="2219960" cy="74549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090">
              <a:lnSpc>
                <a:spcPts val="1664"/>
              </a:lnSpc>
              <a:spcBef>
                <a:spcPts val="620"/>
              </a:spcBef>
            </a:pPr>
            <a:r>
              <a:rPr sz="1400" spc="-5" dirty="0">
                <a:latin typeface="Consolas"/>
                <a:cs typeface="Consolas"/>
              </a:rPr>
              <a:t>nodeName:</a:t>
            </a:r>
            <a:r>
              <a:rPr sz="1400" spc="-85" dirty="0">
                <a:latin typeface="Consolas"/>
                <a:cs typeface="Consolas"/>
              </a:rPr>
              <a:t> </a:t>
            </a:r>
            <a:r>
              <a:rPr sz="1400" b="1" dirty="0">
                <a:latin typeface="Consolas"/>
                <a:cs typeface="Consolas"/>
              </a:rPr>
              <a:t>B</a:t>
            </a:r>
            <a:endParaRPr sz="1400">
              <a:latin typeface="Consolas"/>
              <a:cs typeface="Consolas"/>
            </a:endParaRPr>
          </a:p>
          <a:p>
            <a:pPr marL="85090">
              <a:lnSpc>
                <a:spcPts val="1664"/>
              </a:lnSpc>
            </a:pPr>
            <a:r>
              <a:rPr sz="1400" spc="-5" dirty="0">
                <a:latin typeface="Consolas"/>
                <a:cs typeface="Consolas"/>
              </a:rPr>
              <a:t>nodeType:</a:t>
            </a:r>
            <a:r>
              <a:rPr sz="1400" spc="-85" dirty="0">
                <a:latin typeface="Consolas"/>
                <a:cs typeface="Consolas"/>
              </a:rPr>
              <a:t> </a:t>
            </a:r>
            <a:r>
              <a:rPr sz="1400" b="1" dirty="0">
                <a:latin typeface="Consolas"/>
                <a:cs typeface="Consolas"/>
              </a:rPr>
              <a:t>1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76125" y="2672000"/>
            <a:ext cx="702310" cy="0"/>
          </a:xfrm>
          <a:custGeom>
            <a:avLst/>
            <a:gdLst/>
            <a:ahLst/>
            <a:cxnLst/>
            <a:rect l="l" t="t" r="r" b="b"/>
            <a:pathLst>
              <a:path w="702310">
                <a:moveTo>
                  <a:pt x="701849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32161" y="2610514"/>
            <a:ext cx="158251" cy="1229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704675" y="3176449"/>
            <a:ext cx="702310" cy="0"/>
          </a:xfrm>
          <a:custGeom>
            <a:avLst/>
            <a:gdLst/>
            <a:ahLst/>
            <a:cxnLst/>
            <a:rect l="l" t="t" r="r" b="b"/>
            <a:pathLst>
              <a:path w="702310">
                <a:moveTo>
                  <a:pt x="0" y="0"/>
                </a:moveTo>
                <a:lnTo>
                  <a:pt x="701849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92237" y="3114964"/>
            <a:ext cx="158251" cy="1229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566575" y="2294538"/>
            <a:ext cx="1392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nsolas"/>
                <a:cs typeface="Consolas"/>
              </a:rPr>
              <a:t>previousSibing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88925" y="3328013"/>
            <a:ext cx="10020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nsolas"/>
                <a:cs typeface="Consolas"/>
              </a:rPr>
              <a:t>nextSibing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05325" y="2287638"/>
            <a:ext cx="1392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nsolas"/>
                <a:cs typeface="Consolas"/>
              </a:rPr>
              <a:t>previousSibing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997899" y="2711949"/>
            <a:ext cx="702310" cy="0"/>
          </a:xfrm>
          <a:custGeom>
            <a:avLst/>
            <a:gdLst/>
            <a:ahLst/>
            <a:cxnLst/>
            <a:rect l="l" t="t" r="r" b="b"/>
            <a:pathLst>
              <a:path w="702309">
                <a:moveTo>
                  <a:pt x="701849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853936" y="2650464"/>
            <a:ext cx="158251" cy="12297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808600" y="3176449"/>
            <a:ext cx="737870" cy="0"/>
          </a:xfrm>
          <a:custGeom>
            <a:avLst/>
            <a:gdLst/>
            <a:ahLst/>
            <a:cxnLst/>
            <a:rect l="l" t="t" r="r" b="b"/>
            <a:pathLst>
              <a:path w="737870">
                <a:moveTo>
                  <a:pt x="0" y="0"/>
                </a:moveTo>
                <a:lnTo>
                  <a:pt x="737549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531862" y="3114964"/>
            <a:ext cx="158250" cy="12297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20525" y="1269640"/>
            <a:ext cx="1946275" cy="1269365"/>
          </a:xfrm>
          <a:custGeom>
            <a:avLst/>
            <a:gdLst/>
            <a:ahLst/>
            <a:cxnLst/>
            <a:rect l="l" t="t" r="r" b="b"/>
            <a:pathLst>
              <a:path w="1946275" h="1269364">
                <a:moveTo>
                  <a:pt x="0" y="1268856"/>
                </a:moveTo>
                <a:lnTo>
                  <a:pt x="7757" y="1216200"/>
                </a:lnTo>
                <a:lnTo>
                  <a:pt x="11548" y="1147161"/>
                </a:lnTo>
                <a:lnTo>
                  <a:pt x="12445" y="1107386"/>
                </a:lnTo>
                <a:lnTo>
                  <a:pt x="12939" y="1064580"/>
                </a:lnTo>
                <a:lnTo>
                  <a:pt x="13225" y="1019097"/>
                </a:lnTo>
                <a:lnTo>
                  <a:pt x="13499" y="971293"/>
                </a:lnTo>
                <a:lnTo>
                  <a:pt x="13957" y="921522"/>
                </a:lnTo>
                <a:lnTo>
                  <a:pt x="14795" y="870139"/>
                </a:lnTo>
                <a:lnTo>
                  <a:pt x="16210" y="817500"/>
                </a:lnTo>
                <a:lnTo>
                  <a:pt x="18396" y="763958"/>
                </a:lnTo>
                <a:lnTo>
                  <a:pt x="21551" y="709869"/>
                </a:lnTo>
                <a:lnTo>
                  <a:pt x="25870" y="655587"/>
                </a:lnTo>
                <a:lnTo>
                  <a:pt x="31549" y="601467"/>
                </a:lnTo>
                <a:lnTo>
                  <a:pt x="38784" y="547865"/>
                </a:lnTo>
                <a:lnTo>
                  <a:pt x="47771" y="495134"/>
                </a:lnTo>
                <a:lnTo>
                  <a:pt x="58706" y="443629"/>
                </a:lnTo>
                <a:lnTo>
                  <a:pt x="71785" y="393707"/>
                </a:lnTo>
                <a:lnTo>
                  <a:pt x="87205" y="345720"/>
                </a:lnTo>
                <a:lnTo>
                  <a:pt x="105160" y="300024"/>
                </a:lnTo>
                <a:lnTo>
                  <a:pt x="125847" y="256975"/>
                </a:lnTo>
                <a:lnTo>
                  <a:pt x="149463" y="216925"/>
                </a:lnTo>
                <a:lnTo>
                  <a:pt x="176202" y="180232"/>
                </a:lnTo>
                <a:lnTo>
                  <a:pt x="206262" y="147248"/>
                </a:lnTo>
                <a:lnTo>
                  <a:pt x="239837" y="118330"/>
                </a:lnTo>
                <a:lnTo>
                  <a:pt x="277124" y="93831"/>
                </a:lnTo>
                <a:lnTo>
                  <a:pt x="339473" y="65406"/>
                </a:lnTo>
                <a:lnTo>
                  <a:pt x="414089" y="42812"/>
                </a:lnTo>
                <a:lnTo>
                  <a:pt x="455533" y="33548"/>
                </a:lnTo>
                <a:lnTo>
                  <a:pt x="499485" y="25555"/>
                </a:lnTo>
                <a:lnTo>
                  <a:pt x="545761" y="18773"/>
                </a:lnTo>
                <a:lnTo>
                  <a:pt x="594173" y="13140"/>
                </a:lnTo>
                <a:lnTo>
                  <a:pt x="644536" y="8593"/>
                </a:lnTo>
                <a:lnTo>
                  <a:pt x="696663" y="5072"/>
                </a:lnTo>
                <a:lnTo>
                  <a:pt x="750369" y="2513"/>
                </a:lnTo>
                <a:lnTo>
                  <a:pt x="805468" y="856"/>
                </a:lnTo>
                <a:lnTo>
                  <a:pt x="861773" y="39"/>
                </a:lnTo>
                <a:lnTo>
                  <a:pt x="919098" y="0"/>
                </a:lnTo>
                <a:lnTo>
                  <a:pt x="977258" y="676"/>
                </a:lnTo>
                <a:lnTo>
                  <a:pt x="1036066" y="2006"/>
                </a:lnTo>
                <a:lnTo>
                  <a:pt x="1095337" y="3929"/>
                </a:lnTo>
                <a:lnTo>
                  <a:pt x="1154883" y="6383"/>
                </a:lnTo>
                <a:lnTo>
                  <a:pt x="1214520" y="9305"/>
                </a:lnTo>
                <a:lnTo>
                  <a:pt x="1265954" y="12158"/>
                </a:lnTo>
                <a:lnTo>
                  <a:pt x="1317196" y="15275"/>
                </a:lnTo>
                <a:lnTo>
                  <a:pt x="1368128" y="18616"/>
                </a:lnTo>
                <a:lnTo>
                  <a:pt x="1418628" y="22140"/>
                </a:lnTo>
                <a:lnTo>
                  <a:pt x="1468577" y="25809"/>
                </a:lnTo>
                <a:lnTo>
                  <a:pt x="1517855" y="29583"/>
                </a:lnTo>
                <a:lnTo>
                  <a:pt x="1566343" y="33420"/>
                </a:lnTo>
                <a:lnTo>
                  <a:pt x="1613920" y="37283"/>
                </a:lnTo>
                <a:lnTo>
                  <a:pt x="1660466" y="41130"/>
                </a:lnTo>
                <a:lnTo>
                  <a:pt x="1705863" y="44923"/>
                </a:lnTo>
                <a:lnTo>
                  <a:pt x="1749989" y="48621"/>
                </a:lnTo>
                <a:lnTo>
                  <a:pt x="1779527" y="51088"/>
                </a:lnTo>
                <a:lnTo>
                  <a:pt x="1836476" y="55778"/>
                </a:lnTo>
                <a:lnTo>
                  <a:pt x="1877173" y="59033"/>
                </a:lnTo>
                <a:lnTo>
                  <a:pt x="1915998" y="62014"/>
                </a:lnTo>
                <a:lnTo>
                  <a:pt x="1940776" y="63827"/>
                </a:lnTo>
                <a:lnTo>
                  <a:pt x="1945987" y="6419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650169" y="1272389"/>
            <a:ext cx="160183" cy="12288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50540" y="1302190"/>
            <a:ext cx="203200" cy="10020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20"/>
              </a:lnSpc>
            </a:pPr>
            <a:r>
              <a:rPr sz="1400" spc="-5" dirty="0">
                <a:latin typeface="Consolas"/>
                <a:cs typeface="Consolas"/>
              </a:rPr>
              <a:t>parentNode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381404" y="1297402"/>
            <a:ext cx="3331845" cy="1263650"/>
          </a:xfrm>
          <a:custGeom>
            <a:avLst/>
            <a:gdLst/>
            <a:ahLst/>
            <a:cxnLst/>
            <a:rect l="l" t="t" r="r" b="b"/>
            <a:pathLst>
              <a:path w="3331845" h="1263650">
                <a:moveTo>
                  <a:pt x="3331495" y="1263284"/>
                </a:moveTo>
                <a:lnTo>
                  <a:pt x="3321835" y="1220759"/>
                </a:lnTo>
                <a:lnTo>
                  <a:pt x="3318096" y="1166541"/>
                </a:lnTo>
                <a:lnTo>
                  <a:pt x="3317875" y="1135575"/>
                </a:lnTo>
                <a:lnTo>
                  <a:pt x="3318447" y="1102319"/>
                </a:lnTo>
                <a:lnTo>
                  <a:pt x="3319584" y="1066983"/>
                </a:lnTo>
                <a:lnTo>
                  <a:pt x="3321057" y="1029779"/>
                </a:lnTo>
                <a:lnTo>
                  <a:pt x="3322638" y="990918"/>
                </a:lnTo>
                <a:lnTo>
                  <a:pt x="3324096" y="950610"/>
                </a:lnTo>
                <a:lnTo>
                  <a:pt x="3325204" y="909067"/>
                </a:lnTo>
                <a:lnTo>
                  <a:pt x="3325733" y="866499"/>
                </a:lnTo>
                <a:lnTo>
                  <a:pt x="3325453" y="823118"/>
                </a:lnTo>
                <a:lnTo>
                  <a:pt x="3324137" y="779135"/>
                </a:lnTo>
                <a:lnTo>
                  <a:pt x="3321555" y="734760"/>
                </a:lnTo>
                <a:lnTo>
                  <a:pt x="3317478" y="690205"/>
                </a:lnTo>
                <a:lnTo>
                  <a:pt x="3311677" y="645680"/>
                </a:lnTo>
                <a:lnTo>
                  <a:pt x="3303924" y="601397"/>
                </a:lnTo>
                <a:lnTo>
                  <a:pt x="3293990" y="557566"/>
                </a:lnTo>
                <a:lnTo>
                  <a:pt x="3281645" y="514399"/>
                </a:lnTo>
                <a:lnTo>
                  <a:pt x="3266662" y="472106"/>
                </a:lnTo>
                <a:lnTo>
                  <a:pt x="3248811" y="430899"/>
                </a:lnTo>
                <a:lnTo>
                  <a:pt x="3227864" y="390987"/>
                </a:lnTo>
                <a:lnTo>
                  <a:pt x="3203591" y="352584"/>
                </a:lnTo>
                <a:lnTo>
                  <a:pt x="3175763" y="315898"/>
                </a:lnTo>
                <a:lnTo>
                  <a:pt x="3144153" y="281142"/>
                </a:lnTo>
                <a:lnTo>
                  <a:pt x="3108531" y="248526"/>
                </a:lnTo>
                <a:lnTo>
                  <a:pt x="3068668" y="218261"/>
                </a:lnTo>
                <a:lnTo>
                  <a:pt x="3024335" y="190559"/>
                </a:lnTo>
                <a:lnTo>
                  <a:pt x="2975304" y="165629"/>
                </a:lnTo>
                <a:lnTo>
                  <a:pt x="2921345" y="143684"/>
                </a:lnTo>
                <a:lnTo>
                  <a:pt x="2860544" y="124228"/>
                </a:lnTo>
                <a:lnTo>
                  <a:pt x="2791522" y="106568"/>
                </a:lnTo>
                <a:lnTo>
                  <a:pt x="2754111" y="98385"/>
                </a:lnTo>
                <a:lnTo>
                  <a:pt x="2714862" y="90620"/>
                </a:lnTo>
                <a:lnTo>
                  <a:pt x="2673850" y="83263"/>
                </a:lnTo>
                <a:lnTo>
                  <a:pt x="2631146" y="76302"/>
                </a:lnTo>
                <a:lnTo>
                  <a:pt x="2586824" y="69727"/>
                </a:lnTo>
                <a:lnTo>
                  <a:pt x="2540955" y="63529"/>
                </a:lnTo>
                <a:lnTo>
                  <a:pt x="2493614" y="57696"/>
                </a:lnTo>
                <a:lnTo>
                  <a:pt x="2444871" y="52217"/>
                </a:lnTo>
                <a:lnTo>
                  <a:pt x="2394801" y="47083"/>
                </a:lnTo>
                <a:lnTo>
                  <a:pt x="2343475" y="42283"/>
                </a:lnTo>
                <a:lnTo>
                  <a:pt x="2290967" y="37807"/>
                </a:lnTo>
                <a:lnTo>
                  <a:pt x="2237349" y="33644"/>
                </a:lnTo>
                <a:lnTo>
                  <a:pt x="2182694" y="29783"/>
                </a:lnTo>
                <a:lnTo>
                  <a:pt x="2127075" y="26215"/>
                </a:lnTo>
                <a:lnTo>
                  <a:pt x="2070563" y="22928"/>
                </a:lnTo>
                <a:lnTo>
                  <a:pt x="2013233" y="19912"/>
                </a:lnTo>
                <a:lnTo>
                  <a:pt x="1955156" y="17157"/>
                </a:lnTo>
                <a:lnTo>
                  <a:pt x="1896406" y="14653"/>
                </a:lnTo>
                <a:lnTo>
                  <a:pt x="1837055" y="12388"/>
                </a:lnTo>
                <a:lnTo>
                  <a:pt x="1777176" y="10352"/>
                </a:lnTo>
                <a:lnTo>
                  <a:pt x="1716841" y="8536"/>
                </a:lnTo>
                <a:lnTo>
                  <a:pt x="1656123" y="6928"/>
                </a:lnTo>
                <a:lnTo>
                  <a:pt x="1595095" y="5517"/>
                </a:lnTo>
                <a:lnTo>
                  <a:pt x="1533830" y="4295"/>
                </a:lnTo>
                <a:lnTo>
                  <a:pt x="1472400" y="3249"/>
                </a:lnTo>
                <a:lnTo>
                  <a:pt x="1410877" y="2370"/>
                </a:lnTo>
                <a:lnTo>
                  <a:pt x="1349336" y="1647"/>
                </a:lnTo>
                <a:lnTo>
                  <a:pt x="1296382" y="1141"/>
                </a:lnTo>
                <a:lnTo>
                  <a:pt x="1243514" y="737"/>
                </a:lnTo>
                <a:lnTo>
                  <a:pt x="1190778" y="427"/>
                </a:lnTo>
                <a:lnTo>
                  <a:pt x="1138222" y="206"/>
                </a:lnTo>
                <a:lnTo>
                  <a:pt x="1085890" y="65"/>
                </a:lnTo>
                <a:lnTo>
                  <a:pt x="1033830" y="0"/>
                </a:lnTo>
                <a:lnTo>
                  <a:pt x="982088" y="2"/>
                </a:lnTo>
                <a:lnTo>
                  <a:pt x="930711" y="65"/>
                </a:lnTo>
                <a:lnTo>
                  <a:pt x="879745" y="183"/>
                </a:lnTo>
                <a:lnTo>
                  <a:pt x="829236" y="348"/>
                </a:lnTo>
                <a:lnTo>
                  <a:pt x="779230" y="555"/>
                </a:lnTo>
                <a:lnTo>
                  <a:pt x="729775" y="796"/>
                </a:lnTo>
                <a:lnTo>
                  <a:pt x="680917" y="1065"/>
                </a:lnTo>
                <a:lnTo>
                  <a:pt x="632701" y="1356"/>
                </a:lnTo>
                <a:lnTo>
                  <a:pt x="585175" y="1660"/>
                </a:lnTo>
                <a:lnTo>
                  <a:pt x="538385" y="1973"/>
                </a:lnTo>
                <a:lnTo>
                  <a:pt x="492377" y="2286"/>
                </a:lnTo>
                <a:lnTo>
                  <a:pt x="447197" y="2594"/>
                </a:lnTo>
                <a:lnTo>
                  <a:pt x="390402" y="2971"/>
                </a:lnTo>
                <a:lnTo>
                  <a:pt x="335152" y="3313"/>
                </a:lnTo>
                <a:lnTo>
                  <a:pt x="281546" y="3607"/>
                </a:lnTo>
                <a:lnTo>
                  <a:pt x="229683" y="3838"/>
                </a:lnTo>
                <a:lnTo>
                  <a:pt x="179660" y="3991"/>
                </a:lnTo>
                <a:lnTo>
                  <a:pt x="131578" y="4053"/>
                </a:lnTo>
                <a:lnTo>
                  <a:pt x="85534" y="4010"/>
                </a:lnTo>
                <a:lnTo>
                  <a:pt x="66057" y="3954"/>
                </a:lnTo>
                <a:lnTo>
                  <a:pt x="46996" y="3874"/>
                </a:lnTo>
                <a:lnTo>
                  <a:pt x="28361" y="3769"/>
                </a:lnTo>
                <a:lnTo>
                  <a:pt x="10160" y="3638"/>
                </a:lnTo>
                <a:lnTo>
                  <a:pt x="0" y="3537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237474" y="1239466"/>
            <a:ext cx="159311" cy="12294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544399" y="1083625"/>
            <a:ext cx="10020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nsolas"/>
                <a:cs typeface="Consolas"/>
              </a:rPr>
              <a:t>parentNode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060356" y="2033029"/>
            <a:ext cx="97155" cy="516890"/>
          </a:xfrm>
          <a:custGeom>
            <a:avLst/>
            <a:gdLst/>
            <a:ahLst/>
            <a:cxnLst/>
            <a:rect l="l" t="t" r="r" b="b"/>
            <a:pathLst>
              <a:path w="97154" h="516889">
                <a:moveTo>
                  <a:pt x="96592" y="516669"/>
                </a:moveTo>
                <a:lnTo>
                  <a:pt x="0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999675" y="1891275"/>
            <a:ext cx="121363" cy="16471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693150" y="3706863"/>
            <a:ext cx="10020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nsolas"/>
                <a:cs typeface="Consolas"/>
              </a:rPr>
              <a:t>parentNode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534824" y="4076550"/>
            <a:ext cx="2306320" cy="74549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85725" marR="454025">
              <a:lnSpc>
                <a:spcPts val="1650"/>
              </a:lnSpc>
              <a:spcBef>
                <a:spcPts val="700"/>
              </a:spcBef>
            </a:pPr>
            <a:r>
              <a:rPr sz="1400" spc="-5" dirty="0">
                <a:latin typeface="Consolas"/>
                <a:cs typeface="Consolas"/>
              </a:rPr>
              <a:t>nodeName: </a:t>
            </a:r>
            <a:r>
              <a:rPr sz="1400" b="1" spc="-5" dirty="0">
                <a:latin typeface="Consolas"/>
                <a:cs typeface="Consolas"/>
              </a:rPr>
              <a:t>#text  </a:t>
            </a:r>
            <a:r>
              <a:rPr sz="1400" spc="-5" dirty="0">
                <a:latin typeface="Consolas"/>
                <a:cs typeface="Consolas"/>
              </a:rPr>
              <a:t>nodeType: </a:t>
            </a:r>
            <a:r>
              <a:rPr sz="1400" b="1" dirty="0">
                <a:latin typeface="Consolas"/>
                <a:cs typeface="Consolas"/>
              </a:rPr>
              <a:t>3</a:t>
            </a:r>
            <a:r>
              <a:rPr sz="1400" b="1" spc="-85" dirty="0">
                <a:latin typeface="Consolas"/>
                <a:cs typeface="Consolas"/>
              </a:rPr>
              <a:t> </a:t>
            </a:r>
            <a:r>
              <a:rPr sz="1400" spc="-5" dirty="0">
                <a:latin typeface="Consolas"/>
                <a:cs typeface="Consolas"/>
              </a:rPr>
              <a:t>(Text)  nodeValue: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b="1" spc="-5" dirty="0">
                <a:latin typeface="Consolas"/>
                <a:cs typeface="Consolas"/>
              </a:rPr>
              <a:t>"bold"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563806" y="3522529"/>
            <a:ext cx="97155" cy="516890"/>
          </a:xfrm>
          <a:custGeom>
            <a:avLst/>
            <a:gdLst/>
            <a:ahLst/>
            <a:cxnLst/>
            <a:rect l="l" t="t" r="r" b="b"/>
            <a:pathLst>
              <a:path w="97154" h="516889">
                <a:moveTo>
                  <a:pt x="96592" y="516669"/>
                </a:moveTo>
                <a:lnTo>
                  <a:pt x="0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503125" y="3380775"/>
            <a:ext cx="121363" cy="16471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382375" y="2184687"/>
            <a:ext cx="10020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nsolas"/>
                <a:cs typeface="Consolas"/>
              </a:rPr>
              <a:t>parentNode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652575" y="3221923"/>
            <a:ext cx="1779270" cy="70294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400" spc="-5" dirty="0">
                <a:latin typeface="Consolas"/>
                <a:cs typeface="Consolas"/>
              </a:rPr>
              <a:t>nextSibing</a:t>
            </a:r>
            <a:endParaRPr sz="1400">
              <a:latin typeface="Consolas"/>
              <a:cs typeface="Consolas"/>
            </a:endParaRPr>
          </a:p>
          <a:p>
            <a:pPr marL="789305" marR="5080">
              <a:lnSpc>
                <a:spcPts val="1650"/>
              </a:lnSpc>
              <a:spcBef>
                <a:spcPts val="240"/>
              </a:spcBef>
            </a:pPr>
            <a:r>
              <a:rPr sz="1400" spc="-5" dirty="0">
                <a:latin typeface="Consolas"/>
                <a:cs typeface="Consolas"/>
              </a:rPr>
              <a:t>firstChild  lastChild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478399" y="3336625"/>
            <a:ext cx="17145" cy="527050"/>
          </a:xfrm>
          <a:custGeom>
            <a:avLst/>
            <a:gdLst/>
            <a:ahLst/>
            <a:cxnLst/>
            <a:rect l="l" t="t" r="r" b="b"/>
            <a:pathLst>
              <a:path w="17145" h="527050">
                <a:moveTo>
                  <a:pt x="0" y="0"/>
                </a:moveTo>
                <a:lnTo>
                  <a:pt x="16752" y="527036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433691" y="3847874"/>
            <a:ext cx="122923" cy="15968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6937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Accessing </a:t>
            </a:r>
            <a:r>
              <a:rPr spc="-5" dirty="0"/>
              <a:t>DOM</a:t>
            </a:r>
            <a:r>
              <a:rPr spc="-85" dirty="0"/>
              <a:t> </a:t>
            </a:r>
            <a:r>
              <a:rPr spc="-5" dirty="0"/>
              <a:t>Nodes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88698"/>
            <a:ext cx="8211551" cy="2714909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14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Walk DOM hierarchy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(not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recommended)</a:t>
            </a:r>
            <a:endParaRPr sz="1600" dirty="0">
              <a:latin typeface="Arial"/>
              <a:cs typeface="Arial"/>
            </a:endParaRPr>
          </a:p>
          <a:p>
            <a:pPr marL="515938">
              <a:lnSpc>
                <a:spcPct val="114000"/>
              </a:lnSpc>
            </a:pP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firstChild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nextSibling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firstChild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515938">
              <a:lnSpc>
                <a:spcPct val="114000"/>
              </a:lnSpc>
            </a:pP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setAttribute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mn-MN" sz="1600" spc="-5" dirty="0">
                <a:solidFill>
                  <a:srgbClr val="595959"/>
                </a:solidFill>
                <a:latin typeface="Arial"/>
                <a:cs typeface="Arial"/>
              </a:rPr>
              <a:t>…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79095" indent="-367030">
              <a:lnSpc>
                <a:spcPct val="114000"/>
              </a:lnSpc>
              <a:spcBef>
                <a:spcPts val="600"/>
              </a:spcBef>
              <a:buChar char="●"/>
              <a:tabLst>
                <a:tab pos="379095" algn="l"/>
                <a:tab pos="379730" algn="l"/>
              </a:tabLst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Use DOM lookup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method.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An example using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ids:</a:t>
            </a:r>
            <a:endParaRPr sz="1600" dirty="0">
              <a:latin typeface="Arial"/>
              <a:cs typeface="Arial"/>
            </a:endParaRPr>
          </a:p>
          <a:p>
            <a:pPr marL="515938">
              <a:lnSpc>
                <a:spcPct val="114000"/>
              </a:lnSpc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HTML:	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"div42"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sz="1600" dirty="0">
              <a:latin typeface="Consolas"/>
              <a:cs typeface="Consolas"/>
            </a:endParaRPr>
          </a:p>
          <a:p>
            <a:pPr marL="625475">
              <a:lnSpc>
                <a:spcPct val="114000"/>
              </a:lnSpc>
            </a:pP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600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"div42"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lang="es-E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element</a:t>
            </a:r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s-E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setAttribute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…</a:t>
            </a:r>
            <a:endParaRPr sz="1600" dirty="0">
              <a:latin typeface="Arial"/>
              <a:cs typeface="Arial"/>
            </a:endParaRPr>
          </a:p>
          <a:p>
            <a:pPr marL="379095" indent="-367030">
              <a:lnSpc>
                <a:spcPct val="114000"/>
              </a:lnSpc>
              <a:spcBef>
                <a:spcPts val="600"/>
              </a:spcBef>
              <a:buChar char="●"/>
              <a:tabLst>
                <a:tab pos="379095" algn="l"/>
                <a:tab pos="379730" algn="l"/>
              </a:tabLst>
            </a:pP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Many: </a:t>
            </a:r>
            <a:r>
              <a:rPr sz="1600" dirty="0">
                <a:solidFill>
                  <a:srgbClr val="795E26"/>
                </a:solidFill>
                <a:latin typeface="Consolas" panose="020B0609020204030204" pitchFamily="49" charset="0"/>
              </a:rPr>
              <a:t>getElementsByClassName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(), </a:t>
            </a:r>
            <a:r>
              <a:rPr sz="1600" dirty="0">
                <a:solidFill>
                  <a:srgbClr val="795E26"/>
                </a:solidFill>
                <a:latin typeface="Consolas" panose="020B0609020204030204" pitchFamily="49" charset="0"/>
              </a:rPr>
              <a:t>getElementsByTagName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(),</a:t>
            </a:r>
            <a:r>
              <a:rPr sz="1600" spc="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…</a:t>
            </a:r>
            <a:endParaRPr sz="1600" dirty="0">
              <a:latin typeface="Arial"/>
              <a:cs typeface="Arial"/>
            </a:endParaRPr>
          </a:p>
          <a:p>
            <a:pPr marL="836294" marR="1042669" lvl="1" indent="-336550">
              <a:lnSpc>
                <a:spcPct val="114000"/>
              </a:lnSpc>
              <a:buSzPct val="77777"/>
              <a:buChar char="○"/>
              <a:tabLst>
                <a:tab pos="836294" algn="l"/>
                <a:tab pos="836930" algn="l"/>
              </a:tabLst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start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lookup at any element:  </a:t>
            </a:r>
            <a:r>
              <a:rPr sz="1600" dirty="0">
                <a:solidFill>
                  <a:srgbClr val="001080"/>
                </a:solidFill>
                <a:latin typeface="Consolas" panose="020B0609020204030204" pitchFamily="49" charset="0"/>
              </a:rPr>
              <a:t>document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.</a:t>
            </a:r>
            <a:r>
              <a:rPr sz="1600" dirty="0">
                <a:solidFill>
                  <a:srgbClr val="001080"/>
                </a:solidFill>
                <a:latin typeface="Consolas" panose="020B0609020204030204" pitchFamily="49" charset="0"/>
              </a:rPr>
              <a:t>body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.</a:t>
            </a:r>
            <a:r>
              <a:rPr sz="1600" dirty="0">
                <a:solidFill>
                  <a:srgbClr val="001080"/>
                </a:solidFill>
                <a:latin typeface="Consolas" panose="020B0609020204030204" pitchFamily="49" charset="0"/>
              </a:rPr>
              <a:t>firstChild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.</a:t>
            </a:r>
            <a:r>
              <a:rPr sz="1600" dirty="0">
                <a:solidFill>
                  <a:srgbClr val="795E26"/>
                </a:solidFill>
                <a:latin typeface="Consolas" panose="020B0609020204030204" pitchFamily="49" charset="0"/>
              </a:rPr>
              <a:t>getElementsByTagName</a:t>
            </a:r>
            <a:r>
              <a:rPr sz="1600" b="1" spc="-5" dirty="0">
                <a:solidFill>
                  <a:srgbClr val="595959"/>
                </a:solidFill>
                <a:latin typeface="Consolas"/>
                <a:cs typeface="Consolas"/>
              </a:rPr>
              <a:t>()</a:t>
            </a:r>
            <a:endParaRPr sz="16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5133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More commonly </a:t>
            </a:r>
            <a:r>
              <a:rPr spc="-5" dirty="0"/>
              <a:t>used Node</a:t>
            </a:r>
            <a:r>
              <a:rPr spc="-100" dirty="0"/>
              <a:t> </a:t>
            </a:r>
            <a:r>
              <a:rPr spc="-5" dirty="0"/>
              <a:t>properties/methods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081100"/>
            <a:ext cx="8233409" cy="270651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165"/>
              </a:spcBef>
              <a:buFont typeface="Arial" panose="020B0604020202020204" pitchFamily="34" charset="0"/>
              <a:buChar char="•"/>
              <a:tabLst>
                <a:tab pos="379095" algn="l"/>
                <a:tab pos="379730" algn="l"/>
              </a:tabLst>
            </a:pPr>
            <a:r>
              <a:rPr sz="1600" dirty="0">
                <a:solidFill>
                  <a:srgbClr val="001080"/>
                </a:solidFill>
                <a:latin typeface="Consolas" panose="020B0609020204030204" pitchFamily="49" charset="0"/>
              </a:rPr>
              <a:t>textContent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595959"/>
                </a:solidFill>
                <a:latin typeface="Consolas"/>
                <a:cs typeface="Consolas"/>
              </a:rPr>
              <a:t>-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text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content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node and its</a:t>
            </a:r>
            <a:r>
              <a:rPr sz="1600" spc="2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descendants</a:t>
            </a:r>
            <a:endParaRPr sz="1600" dirty="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065"/>
              </a:spcBef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Previous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slide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example: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P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Node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textContext</a:t>
            </a:r>
            <a:r>
              <a:rPr sz="1600" spc="-4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is "Sample bold display"</a:t>
            </a:r>
            <a:endParaRPr sz="1600" dirty="0">
              <a:latin typeface="Arial"/>
              <a:cs typeface="Arial"/>
            </a:endParaRPr>
          </a:p>
          <a:p>
            <a:pPr marL="297815" indent="-285750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  <a:tabLst>
                <a:tab pos="379095" algn="l"/>
                <a:tab pos="379730" algn="l"/>
              </a:tabLst>
            </a:pPr>
            <a:r>
              <a:rPr sz="1600" dirty="0">
                <a:solidFill>
                  <a:srgbClr val="001080"/>
                </a:solidFill>
                <a:latin typeface="Consolas" panose="020B0609020204030204" pitchFamily="49" charset="0"/>
              </a:rPr>
              <a:t>innerHTML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595959"/>
                </a:solidFill>
                <a:latin typeface="Consolas"/>
                <a:cs typeface="Consolas"/>
              </a:rPr>
              <a:t>-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HTML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syntax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describing the element's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descendants</a:t>
            </a:r>
            <a:r>
              <a:rPr sz="1600" spc="-5" dirty="0">
                <a:solidFill>
                  <a:srgbClr val="4D4E53"/>
                </a:solidFill>
                <a:latin typeface="Arial"/>
                <a:cs typeface="Arial"/>
              </a:rPr>
              <a:t>.</a:t>
            </a:r>
            <a:endParaRPr lang="en-US" sz="1600" dirty="0">
              <a:latin typeface="Arial"/>
              <a:cs typeface="Arial"/>
            </a:endParaRPr>
          </a:p>
          <a:p>
            <a:pPr marL="12065">
              <a:lnSpc>
                <a:spcPct val="100000"/>
              </a:lnSpc>
              <a:spcBef>
                <a:spcPts val="1800"/>
              </a:spcBef>
              <a:tabLst>
                <a:tab pos="379095" algn="l"/>
                <a:tab pos="379730" algn="l"/>
              </a:tabLst>
            </a:pPr>
            <a:r>
              <a:rPr lang="en-US" sz="1600" spc="-5" dirty="0">
                <a:solidFill>
                  <a:srgbClr val="595959"/>
                </a:solidFill>
                <a:latin typeface="Arial"/>
                <a:cs typeface="Arial"/>
              </a:rPr>
              <a:t>		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Previous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slide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example: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P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Node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innerHTML</a:t>
            </a:r>
            <a:r>
              <a:rPr sz="1600" spc="-509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is "Sample &lt;b&gt;bold&lt;/b&gt; display"</a:t>
            </a:r>
            <a:endParaRPr lang="en-US" sz="1600" spc="-5" dirty="0">
              <a:solidFill>
                <a:srgbClr val="595959"/>
              </a:solidFill>
              <a:latin typeface="Arial"/>
              <a:cs typeface="Arial"/>
            </a:endParaRPr>
          </a:p>
          <a:p>
            <a:pPr marL="297815" indent="-285750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  <a:tabLst>
                <a:tab pos="379095" algn="l"/>
                <a:tab pos="379730" algn="l"/>
              </a:tabLst>
            </a:pPr>
            <a:r>
              <a:rPr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outerHTML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- similar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but includes element "&lt;p&gt;Sample &lt;b&gt;bold&lt;/b&gt;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display&lt;/p&gt;"</a:t>
            </a:r>
            <a:endParaRPr lang="en-US" sz="1600" dirty="0">
              <a:solidFill>
                <a:srgbClr val="595959"/>
              </a:solidFill>
              <a:latin typeface="Arial"/>
              <a:cs typeface="Arial"/>
            </a:endParaRPr>
          </a:p>
          <a:p>
            <a:pPr marL="297815" indent="-285750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  <a:tabLst>
                <a:tab pos="379095" algn="l"/>
                <a:tab pos="379730" algn="l"/>
              </a:tabLst>
            </a:pPr>
            <a:r>
              <a:rPr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getAttribute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()/</a:t>
            </a:r>
            <a:r>
              <a:rPr sz="1600" dirty="0">
                <a:solidFill>
                  <a:srgbClr val="795E26"/>
                </a:solidFill>
                <a:latin typeface="Consolas" panose="020B0609020204030204" pitchFamily="49" charset="0"/>
              </a:rPr>
              <a:t>setAttribute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() </a:t>
            </a:r>
            <a:r>
              <a:rPr sz="1600" dirty="0">
                <a:solidFill>
                  <a:srgbClr val="595959"/>
                </a:solidFill>
                <a:latin typeface="Consolas"/>
                <a:cs typeface="Consolas"/>
              </a:rPr>
              <a:t>-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Get or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set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the attribute of an</a:t>
            </a:r>
            <a:r>
              <a:rPr sz="16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element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6159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Common DOM </a:t>
            </a:r>
            <a:r>
              <a:rPr dirty="0"/>
              <a:t>mutating</a:t>
            </a:r>
            <a:r>
              <a:rPr spc="-90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081100"/>
            <a:ext cx="7668259" cy="2588529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16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Change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content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an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</a:t>
            </a:r>
            <a:endParaRPr sz="1800" dirty="0">
              <a:latin typeface="Arial"/>
              <a:cs typeface="Arial"/>
            </a:endParaRPr>
          </a:p>
          <a:p>
            <a:pPr marL="460375"/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"This text is 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&gt;important&lt;/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Replaces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content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but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retains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attributes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 DOM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Node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structure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updated.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Change an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&lt;img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tag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src</a:t>
            </a:r>
            <a:r>
              <a:rPr sz="1800" spc="-5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attribute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(e.g.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toggle appearance 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click)</a:t>
            </a:r>
            <a:endParaRPr sz="1800" dirty="0">
              <a:latin typeface="Arial"/>
              <a:cs typeface="Arial"/>
            </a:endParaRPr>
          </a:p>
          <a:p>
            <a:pPr marL="460375"/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"newImage.jpg"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Make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visible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 invisible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(e.g.,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expandable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sections,</a:t>
            </a:r>
            <a:r>
              <a:rPr sz="18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modals)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1925" y="3948125"/>
            <a:ext cx="911225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Invisible:  Visible: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59922" y="3948125"/>
            <a:ext cx="3936365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2919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DOM and CSS</a:t>
            </a:r>
            <a:r>
              <a:rPr spc="-85" dirty="0"/>
              <a:t> </a:t>
            </a:r>
            <a:r>
              <a:rPr spc="-5" dirty="0"/>
              <a:t>interactions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216355"/>
            <a:ext cx="5696951" cy="13619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Can update an element's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class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 dirty="0">
              <a:latin typeface="Times New Roman"/>
              <a:cs typeface="Times New Roman"/>
            </a:endParaRPr>
          </a:p>
          <a:p>
            <a:pPr marL="460375"/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"active"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Can update element's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style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2759405"/>
            <a:ext cx="71590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"#ff0000"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s-E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preferred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way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!</a:t>
            </a:r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249" y="3273755"/>
            <a:ext cx="7678151" cy="8258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Can also query DOM by CSS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selector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460375"/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s-ES" spc="-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querySelectorAll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5681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Changing the Node</a:t>
            </a:r>
            <a:r>
              <a:rPr spc="-90" dirty="0"/>
              <a:t> </a:t>
            </a:r>
            <a:r>
              <a:rPr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8287751" cy="3265638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Create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new element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(can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also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cloneNode()</a:t>
            </a:r>
            <a:r>
              <a:rPr sz="1800" spc="-53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 existing one)</a:t>
            </a:r>
            <a:endParaRPr sz="1800" dirty="0">
              <a:latin typeface="Arial"/>
              <a:cs typeface="Arial"/>
            </a:endParaRPr>
          </a:p>
          <a:p>
            <a:pPr marL="460375"/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sz="1400" dirty="0">
              <a:latin typeface="Consolas"/>
              <a:cs typeface="Consolas"/>
            </a:endParaRPr>
          </a:p>
          <a:p>
            <a:pPr marL="155130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endParaRPr sz="1400" dirty="0">
              <a:latin typeface="Arial"/>
              <a:cs typeface="Arial"/>
            </a:endParaRPr>
          </a:p>
          <a:p>
            <a:pPr marL="460375"/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createTextNode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</a:t>
            </a:r>
            <a:r>
              <a:rPr lang="es-E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Text"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sz="1400" dirty="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25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Add it to an existing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one</a:t>
            </a:r>
            <a:endParaRPr sz="1800" dirty="0">
              <a:latin typeface="Arial"/>
              <a:cs typeface="Arial"/>
            </a:endParaRPr>
          </a:p>
          <a:p>
            <a:pPr marL="460375"/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appendChild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sz="1400" dirty="0">
              <a:latin typeface="Consolas"/>
              <a:cs typeface="Consolas"/>
            </a:endParaRPr>
          </a:p>
          <a:p>
            <a:pPr marL="460375">
              <a:lnSpc>
                <a:spcPct val="100000"/>
              </a:lnSpc>
              <a:spcBef>
                <a:spcPts val="270"/>
              </a:spcBef>
            </a:pPr>
            <a:r>
              <a:rPr lang="en-US" sz="1400" spc="-5" dirty="0">
                <a:solidFill>
                  <a:srgbClr val="595959"/>
                </a:solidFill>
                <a:latin typeface="Arial"/>
                <a:cs typeface="Arial"/>
              </a:rPr>
              <a:t>		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endParaRPr sz="1400" dirty="0">
              <a:latin typeface="Arial"/>
              <a:cs typeface="Arial"/>
            </a:endParaRPr>
          </a:p>
          <a:p>
            <a:pPr marL="460375"/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insertBefore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sibling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s-ES" sz="1400" dirty="0">
              <a:latin typeface="Consolas"/>
            </a:endParaRPr>
          </a:p>
          <a:p>
            <a:pPr marL="460375"/>
            <a:endParaRPr lang="en-US" sz="1800" spc="-5" dirty="0">
              <a:solidFill>
                <a:srgbClr val="595959"/>
              </a:solidFill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Can also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remove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Nodes: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removeChild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oldNode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endParaRPr lang="en-US" spc="-5" dirty="0">
              <a:solidFill>
                <a:srgbClr val="595959"/>
              </a:solidFill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But,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setting </a:t>
            </a:r>
            <a:r>
              <a:rPr lang="en-US" spc="-5" dirty="0" err="1">
                <a:solidFill>
                  <a:srgbClr val="595959"/>
                </a:solidFill>
                <a:latin typeface="Arial"/>
                <a:cs typeface="Arial"/>
              </a:rPr>
              <a:t>innerHTML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simpler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more</a:t>
            </a:r>
            <a:r>
              <a:rPr lang="en-US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efficient.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5223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More </a:t>
            </a:r>
            <a:r>
              <a:rPr spc="-5" dirty="0"/>
              <a:t>DOM</a:t>
            </a:r>
            <a:r>
              <a:rPr spc="-100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216355"/>
            <a:ext cx="8135351" cy="189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Redirect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new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page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 dirty="0">
              <a:latin typeface="Times New Roman"/>
              <a:cs typeface="Times New Roman"/>
            </a:endParaRPr>
          </a:p>
          <a:p>
            <a:pPr marL="460375"/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"newPage.html"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Note: Can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result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execution</a:t>
            </a:r>
            <a:r>
              <a:rPr sz="18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termination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Communicating with the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user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925" y="3273755"/>
            <a:ext cx="715907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"Reached point A"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Message to browser log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"Wow!"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confirm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"OK?"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Popup dialog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2700">
              <a:lnSpc>
                <a:spcPct val="100000"/>
              </a:lnSpc>
              <a:tabLst>
                <a:tab pos="1960880" algn="l"/>
              </a:tabLst>
            </a:pPr>
            <a:endParaRPr sz="1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2195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DOM's Coordinate</a:t>
            </a:r>
            <a:r>
              <a:rPr spc="-90" dirty="0"/>
              <a:t> </a:t>
            </a:r>
            <a:r>
              <a:rPr spc="-5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238490" cy="2498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screen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origin is at the upper left;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increases as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you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go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down</a:t>
            </a:r>
            <a:endParaRPr sz="1800" dirty="0">
              <a:latin typeface="Arial"/>
              <a:cs typeface="Arial"/>
            </a:endParaRPr>
          </a:p>
          <a:p>
            <a:pPr marL="379095" marR="247650" indent="-367030">
              <a:lnSpc>
                <a:spcPct val="114599"/>
              </a:lnSpc>
              <a:spcBef>
                <a:spcPts val="157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position of an element is determined by the upper-left outside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corner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 its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margin</a:t>
            </a:r>
            <a:endParaRPr lang="en-US" sz="1800" dirty="0">
              <a:solidFill>
                <a:srgbClr val="595959"/>
              </a:solidFill>
              <a:latin typeface="Arial"/>
              <a:cs typeface="Arial"/>
            </a:endParaRPr>
          </a:p>
          <a:p>
            <a:pPr marL="379095" marR="247650" indent="-367030">
              <a:lnSpc>
                <a:spcPct val="114599"/>
              </a:lnSpc>
              <a:spcBef>
                <a:spcPts val="157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Read location with 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offsetLeft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offsetTop</a:t>
            </a:r>
            <a:endParaRPr sz="1800" dirty="0">
              <a:latin typeface="Consolas"/>
              <a:cs typeface="Consolas"/>
            </a:endParaRPr>
          </a:p>
          <a:p>
            <a:pPr marL="379095" marR="5080" indent="-367030">
              <a:lnSpc>
                <a:spcPct val="114599"/>
              </a:lnSpc>
              <a:spcBef>
                <a:spcPts val="1575"/>
              </a:spcBef>
              <a:buChar char="●"/>
              <a:tabLst>
                <a:tab pos="379095" algn="l"/>
                <a:tab pos="379730" algn="l"/>
                <a:tab pos="3185795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Coordinates are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 relative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to</a:t>
            </a:r>
            <a:r>
              <a:rPr lang="en-US" sz="18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offsetParent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, which is not necessarily 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element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</a:t>
            </a: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parentNode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DOM</a:t>
            </a:r>
            <a:r>
              <a:rPr spc="-85" dirty="0"/>
              <a:t> </a:t>
            </a:r>
            <a:r>
              <a:rPr spc="-5" dirty="0"/>
              <a:t>Coordinates</a:t>
            </a:r>
          </a:p>
        </p:txBody>
      </p:sp>
      <p:sp>
        <p:nvSpPr>
          <p:cNvPr id="3" name="object 3"/>
          <p:cNvSpPr/>
          <p:nvPr/>
        </p:nvSpPr>
        <p:spPr>
          <a:xfrm>
            <a:off x="733549" y="1320400"/>
            <a:ext cx="6835140" cy="3167380"/>
          </a:xfrm>
          <a:custGeom>
            <a:avLst/>
            <a:gdLst/>
            <a:ahLst/>
            <a:cxnLst/>
            <a:rect l="l" t="t" r="r" b="b"/>
            <a:pathLst>
              <a:path w="6835140" h="3167379">
                <a:moveTo>
                  <a:pt x="0" y="0"/>
                </a:moveTo>
                <a:lnTo>
                  <a:pt x="6834899" y="0"/>
                </a:lnTo>
                <a:lnTo>
                  <a:pt x="6834899" y="3167099"/>
                </a:lnTo>
                <a:lnTo>
                  <a:pt x="0" y="3167099"/>
                </a:lnTo>
                <a:lnTo>
                  <a:pt x="0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33549" y="1320400"/>
            <a:ext cx="6835140" cy="3167380"/>
          </a:xfrm>
          <a:custGeom>
            <a:avLst/>
            <a:gdLst/>
            <a:ahLst/>
            <a:cxnLst/>
            <a:rect l="l" t="t" r="r" b="b"/>
            <a:pathLst>
              <a:path w="6835140" h="3167379">
                <a:moveTo>
                  <a:pt x="0" y="0"/>
                </a:moveTo>
                <a:lnTo>
                  <a:pt x="6834899" y="0"/>
                </a:lnTo>
                <a:lnTo>
                  <a:pt x="6834899" y="3167099"/>
                </a:lnTo>
                <a:lnTo>
                  <a:pt x="0" y="31670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4725" y="986206"/>
            <a:ext cx="522605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ts val="1895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895"/>
              </a:lnSpc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72300" y="2235175"/>
            <a:ext cx="3460750" cy="1830070"/>
          </a:xfrm>
          <a:custGeom>
            <a:avLst/>
            <a:gdLst/>
            <a:ahLst/>
            <a:cxnLst/>
            <a:rect l="l" t="t" r="r" b="b"/>
            <a:pathLst>
              <a:path w="3460750" h="1830070">
                <a:moveTo>
                  <a:pt x="0" y="0"/>
                </a:moveTo>
                <a:lnTo>
                  <a:pt x="3460499" y="0"/>
                </a:lnTo>
                <a:lnTo>
                  <a:pt x="3460499" y="1829699"/>
                </a:lnTo>
                <a:lnTo>
                  <a:pt x="0" y="1829699"/>
                </a:lnTo>
                <a:lnTo>
                  <a:pt x="0" y="0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72300" y="2235175"/>
            <a:ext cx="3460750" cy="1830070"/>
          </a:xfrm>
          <a:custGeom>
            <a:avLst/>
            <a:gdLst/>
            <a:ahLst/>
            <a:cxnLst/>
            <a:rect l="l" t="t" r="r" b="b"/>
            <a:pathLst>
              <a:path w="3460750" h="1830070">
                <a:moveTo>
                  <a:pt x="0" y="0"/>
                </a:moveTo>
                <a:lnTo>
                  <a:pt x="3460499" y="0"/>
                </a:lnTo>
                <a:lnTo>
                  <a:pt x="3460499" y="1829699"/>
                </a:lnTo>
                <a:lnTo>
                  <a:pt x="0" y="18296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41100" y="1386313"/>
            <a:ext cx="3517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div1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03249" y="4130788"/>
            <a:ext cx="10991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nsolas"/>
                <a:cs typeface="Consolas"/>
              </a:rPr>
              <a:t>offsetWidth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78257" y="4282875"/>
            <a:ext cx="752475" cy="10795"/>
          </a:xfrm>
          <a:custGeom>
            <a:avLst/>
            <a:gdLst/>
            <a:ahLst/>
            <a:cxnLst/>
            <a:rect l="l" t="t" r="r" b="b"/>
            <a:pathLst>
              <a:path w="752475" h="10795">
                <a:moveTo>
                  <a:pt x="751967" y="10749"/>
                </a:moveTo>
                <a:lnTo>
                  <a:pt x="0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34306" y="4221394"/>
            <a:ext cx="158912" cy="1229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29800" y="4281554"/>
            <a:ext cx="1149350" cy="7620"/>
          </a:xfrm>
          <a:custGeom>
            <a:avLst/>
            <a:gdLst/>
            <a:ahLst/>
            <a:cxnLst/>
            <a:rect l="l" t="t" r="r" b="b"/>
            <a:pathLst>
              <a:path w="1149350" h="7620">
                <a:moveTo>
                  <a:pt x="0" y="7570"/>
                </a:moveTo>
                <a:lnTo>
                  <a:pt x="1148853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64054" y="4220069"/>
            <a:ext cx="158559" cy="1229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615975" y="1329024"/>
            <a:ext cx="7620" cy="726440"/>
          </a:xfrm>
          <a:custGeom>
            <a:avLst/>
            <a:gdLst/>
            <a:ahLst/>
            <a:cxnLst/>
            <a:rect l="l" t="t" r="r" b="b"/>
            <a:pathLst>
              <a:path w="7620" h="726439">
                <a:moveTo>
                  <a:pt x="0" y="0"/>
                </a:moveTo>
                <a:lnTo>
                  <a:pt x="7038" y="726157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61529" y="2040438"/>
            <a:ext cx="122967" cy="1587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145325" y="1666888"/>
            <a:ext cx="1456690" cy="873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4515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nsolas"/>
                <a:cs typeface="Consolas"/>
              </a:rPr>
              <a:t>offsetTop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div2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33549" y="2903950"/>
            <a:ext cx="2176145" cy="4445"/>
          </a:xfrm>
          <a:custGeom>
            <a:avLst/>
            <a:gdLst/>
            <a:ahLst/>
            <a:cxnLst/>
            <a:rect l="l" t="t" r="r" b="b"/>
            <a:pathLst>
              <a:path w="2176145" h="4444">
                <a:moveTo>
                  <a:pt x="0" y="0"/>
                </a:moveTo>
                <a:lnTo>
                  <a:pt x="2176050" y="4171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895222" y="2846635"/>
            <a:ext cx="158341" cy="1229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70550" y="2610387"/>
            <a:ext cx="10020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nsolas"/>
                <a:cs typeface="Consolas"/>
              </a:rPr>
              <a:t>offsetLeft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55333" y="2415082"/>
            <a:ext cx="6350" cy="441959"/>
          </a:xfrm>
          <a:custGeom>
            <a:avLst/>
            <a:gdLst/>
            <a:ahLst/>
            <a:cxnLst/>
            <a:rect l="l" t="t" r="r" b="b"/>
            <a:pathLst>
              <a:path w="6350" h="441960">
                <a:moveTo>
                  <a:pt x="6266" y="441467"/>
                </a:moveTo>
                <a:lnTo>
                  <a:pt x="0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693852" y="2271132"/>
            <a:ext cx="122961" cy="1589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761600" y="2986074"/>
            <a:ext cx="14604" cy="907415"/>
          </a:xfrm>
          <a:custGeom>
            <a:avLst/>
            <a:gdLst/>
            <a:ahLst/>
            <a:cxnLst/>
            <a:rect l="l" t="t" r="r" b="b"/>
            <a:pathLst>
              <a:path w="14605" h="907414">
                <a:moveTo>
                  <a:pt x="0" y="0"/>
                </a:moveTo>
                <a:lnTo>
                  <a:pt x="14382" y="907371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714502" y="3878410"/>
            <a:ext cx="122959" cy="15898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462349" y="3561088"/>
            <a:ext cx="11969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nsolas"/>
                <a:cs typeface="Consolas"/>
              </a:rPr>
              <a:t>offsetHeight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72300" y="3426124"/>
            <a:ext cx="1149350" cy="7620"/>
          </a:xfrm>
          <a:custGeom>
            <a:avLst/>
            <a:gdLst/>
            <a:ahLst/>
            <a:cxnLst/>
            <a:rect l="l" t="t" r="r" b="b"/>
            <a:pathLst>
              <a:path w="1149350" h="7620">
                <a:moveTo>
                  <a:pt x="0" y="0"/>
                </a:moveTo>
                <a:lnTo>
                  <a:pt x="1148853" y="757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06554" y="3372210"/>
            <a:ext cx="158559" cy="12296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392674" y="3149949"/>
            <a:ext cx="1277620" cy="699135"/>
          </a:xfrm>
          <a:custGeom>
            <a:avLst/>
            <a:gdLst/>
            <a:ahLst/>
            <a:cxnLst/>
            <a:rect l="l" t="t" r="r" b="b"/>
            <a:pathLst>
              <a:path w="1277620" h="699135">
                <a:moveTo>
                  <a:pt x="0" y="0"/>
                </a:moveTo>
                <a:lnTo>
                  <a:pt x="1277399" y="0"/>
                </a:lnTo>
                <a:lnTo>
                  <a:pt x="1277399" y="698999"/>
                </a:lnTo>
                <a:lnTo>
                  <a:pt x="0" y="698999"/>
                </a:lnTo>
                <a:lnTo>
                  <a:pt x="0" y="0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179849" y="3125187"/>
            <a:ext cx="10020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nsolas"/>
                <a:cs typeface="Consolas"/>
              </a:rPr>
              <a:t>offsetLeft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799129" y="2235175"/>
            <a:ext cx="3810" cy="752475"/>
          </a:xfrm>
          <a:custGeom>
            <a:avLst/>
            <a:gdLst/>
            <a:ahLst/>
            <a:cxnLst/>
            <a:rect l="l" t="t" r="r" b="b"/>
            <a:pathLst>
              <a:path w="3810" h="752475">
                <a:moveTo>
                  <a:pt x="3420" y="0"/>
                </a:moveTo>
                <a:lnTo>
                  <a:pt x="0" y="751951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737644" y="2972624"/>
            <a:ext cx="122970" cy="15846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940275" y="2549188"/>
            <a:ext cx="904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nsolas"/>
                <a:cs typeface="Consolas"/>
              </a:rPr>
              <a:t>offsetTop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92674" y="3149949"/>
            <a:ext cx="1277620" cy="69913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725">
              <a:lnSpc>
                <a:spcPts val="1585"/>
              </a:lnSpc>
            </a:pPr>
            <a:r>
              <a:rPr sz="1400" spc="-5" dirty="0">
                <a:latin typeface="Arial"/>
                <a:cs typeface="Arial"/>
              </a:rPr>
              <a:t>div3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428300" y="3160662"/>
            <a:ext cx="634365" cy="412750"/>
          </a:xfrm>
          <a:custGeom>
            <a:avLst/>
            <a:gdLst/>
            <a:ahLst/>
            <a:cxnLst/>
            <a:rect l="l" t="t" r="r" b="b"/>
            <a:pathLst>
              <a:path w="634364" h="412750">
                <a:moveTo>
                  <a:pt x="0" y="412162"/>
                </a:moveTo>
                <a:lnTo>
                  <a:pt x="29604" y="409349"/>
                </a:lnTo>
                <a:lnTo>
                  <a:pt x="69162" y="407555"/>
                </a:lnTo>
                <a:lnTo>
                  <a:pt x="116571" y="406156"/>
                </a:lnTo>
                <a:lnTo>
                  <a:pt x="169732" y="404531"/>
                </a:lnTo>
                <a:lnTo>
                  <a:pt x="226543" y="402057"/>
                </a:lnTo>
                <a:lnTo>
                  <a:pt x="284903" y="398111"/>
                </a:lnTo>
                <a:lnTo>
                  <a:pt x="342712" y="392071"/>
                </a:lnTo>
                <a:lnTo>
                  <a:pt x="397870" y="383313"/>
                </a:lnTo>
                <a:lnTo>
                  <a:pt x="448275" y="371216"/>
                </a:lnTo>
                <a:lnTo>
                  <a:pt x="491827" y="355156"/>
                </a:lnTo>
                <a:lnTo>
                  <a:pt x="526424" y="334512"/>
                </a:lnTo>
                <a:lnTo>
                  <a:pt x="555478" y="303749"/>
                </a:lnTo>
                <a:lnTo>
                  <a:pt x="578481" y="263950"/>
                </a:lnTo>
                <a:lnTo>
                  <a:pt x="596290" y="217471"/>
                </a:lnTo>
                <a:lnTo>
                  <a:pt x="609757" y="166667"/>
                </a:lnTo>
                <a:lnTo>
                  <a:pt x="619738" y="113896"/>
                </a:lnTo>
                <a:lnTo>
                  <a:pt x="626689" y="64731"/>
                </a:lnTo>
                <a:lnTo>
                  <a:pt x="631222" y="25421"/>
                </a:lnTo>
                <a:lnTo>
                  <a:pt x="632031" y="17848"/>
                </a:lnTo>
                <a:lnTo>
                  <a:pt x="633884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011676" y="3090745"/>
            <a:ext cx="92243" cy="12042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743100" y="3492038"/>
            <a:ext cx="11969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nsolas"/>
                <a:cs typeface="Consolas"/>
              </a:rPr>
              <a:t>offsetParent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252250" y="2176712"/>
            <a:ext cx="634365" cy="412750"/>
          </a:xfrm>
          <a:custGeom>
            <a:avLst/>
            <a:gdLst/>
            <a:ahLst/>
            <a:cxnLst/>
            <a:rect l="l" t="t" r="r" b="b"/>
            <a:pathLst>
              <a:path w="634365" h="412750">
                <a:moveTo>
                  <a:pt x="0" y="412162"/>
                </a:moveTo>
                <a:lnTo>
                  <a:pt x="29604" y="409349"/>
                </a:lnTo>
                <a:lnTo>
                  <a:pt x="69162" y="407555"/>
                </a:lnTo>
                <a:lnTo>
                  <a:pt x="116571" y="406156"/>
                </a:lnTo>
                <a:lnTo>
                  <a:pt x="169732" y="404531"/>
                </a:lnTo>
                <a:lnTo>
                  <a:pt x="226543" y="402057"/>
                </a:lnTo>
                <a:lnTo>
                  <a:pt x="284903" y="398111"/>
                </a:lnTo>
                <a:lnTo>
                  <a:pt x="342712" y="392071"/>
                </a:lnTo>
                <a:lnTo>
                  <a:pt x="397870" y="383313"/>
                </a:lnTo>
                <a:lnTo>
                  <a:pt x="448275" y="371216"/>
                </a:lnTo>
                <a:lnTo>
                  <a:pt x="491827" y="355156"/>
                </a:lnTo>
                <a:lnTo>
                  <a:pt x="526424" y="334512"/>
                </a:lnTo>
                <a:lnTo>
                  <a:pt x="555478" y="303749"/>
                </a:lnTo>
                <a:lnTo>
                  <a:pt x="578481" y="263950"/>
                </a:lnTo>
                <a:lnTo>
                  <a:pt x="596290" y="217471"/>
                </a:lnTo>
                <a:lnTo>
                  <a:pt x="609757" y="166668"/>
                </a:lnTo>
                <a:lnTo>
                  <a:pt x="619738" y="113896"/>
                </a:lnTo>
                <a:lnTo>
                  <a:pt x="626689" y="64731"/>
                </a:lnTo>
                <a:lnTo>
                  <a:pt x="631222" y="25421"/>
                </a:lnTo>
                <a:lnTo>
                  <a:pt x="632031" y="17848"/>
                </a:lnTo>
                <a:lnTo>
                  <a:pt x="633884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835627" y="2106795"/>
            <a:ext cx="92242" cy="12042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165725" y="2552787"/>
            <a:ext cx="11969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nsolas"/>
                <a:cs typeface="Consolas"/>
              </a:rPr>
              <a:t>offsetParent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975099" y="1151074"/>
            <a:ext cx="1330960" cy="6985"/>
          </a:xfrm>
          <a:custGeom>
            <a:avLst/>
            <a:gdLst/>
            <a:ahLst/>
            <a:cxnLst/>
            <a:rect l="l" t="t" r="r" b="b"/>
            <a:pathLst>
              <a:path w="1330960" h="6984">
                <a:moveTo>
                  <a:pt x="0" y="0"/>
                </a:moveTo>
                <a:lnTo>
                  <a:pt x="1330352" y="6643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290928" y="1096233"/>
            <a:ext cx="158485" cy="12297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66840" y="1587400"/>
            <a:ext cx="5080" cy="813435"/>
          </a:xfrm>
          <a:custGeom>
            <a:avLst/>
            <a:gdLst/>
            <a:ahLst/>
            <a:cxnLst/>
            <a:rect l="l" t="t" r="r" b="b"/>
            <a:pathLst>
              <a:path w="5079" h="813435">
                <a:moveTo>
                  <a:pt x="4459" y="0"/>
                </a:moveTo>
                <a:lnTo>
                  <a:pt x="0" y="812852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05355" y="2385706"/>
            <a:ext cx="122970" cy="15850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253800" y="865837"/>
            <a:ext cx="58635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&lt;div </a:t>
            </a:r>
            <a:r>
              <a:rPr sz="1400" dirty="0">
                <a:latin typeface="Arial"/>
                <a:cs typeface="Arial"/>
              </a:rPr>
              <a:t>class="div1"&gt;&lt;div class="div2"&gt;&lt;div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class="div3"&gt;&lt;/div&gt;&lt;/div&gt;/&lt;/div&gt;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2988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Positioning</a:t>
            </a:r>
            <a:r>
              <a:rPr spc="-85" dirty="0"/>
              <a:t> </a:t>
            </a:r>
            <a:r>
              <a:rPr spc="-5" dirty="0"/>
              <a:t>elements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pc="-5" dirty="0"/>
              <a:t>Normally elements are positioned automatically by the browser as part of the  document</a:t>
            </a: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spcBef>
                <a:spcPts val="5"/>
              </a:spcBef>
              <a:buChar char="●"/>
              <a:tabLst>
                <a:tab pos="379095" algn="l"/>
                <a:tab pos="379730" algn="l"/>
              </a:tabLst>
            </a:pPr>
            <a:r>
              <a:rPr spc="-5" dirty="0"/>
              <a:t>To pull an element out of the document flow and position it</a:t>
            </a:r>
            <a:r>
              <a:rPr spc="-25" dirty="0"/>
              <a:t> </a:t>
            </a:r>
            <a:r>
              <a:rPr spc="-5" dirty="0"/>
              <a:t>explicitly: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0600" y="2470571"/>
            <a:ext cx="7844876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"absolute"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s-E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anything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but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es-E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s-E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"40px"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"10px"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5249" y="3426155"/>
            <a:ext cx="8204834" cy="1128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6294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"absolute"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element no longer occupies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space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the document</a:t>
            </a:r>
            <a:r>
              <a:rPr sz="18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flow.</a:t>
            </a:r>
            <a:endParaRPr sz="1800" dirty="0">
              <a:latin typeface="Arial"/>
              <a:cs typeface="Arial"/>
            </a:endParaRPr>
          </a:p>
          <a:p>
            <a:pPr marL="379095" marR="226060" indent="-367030">
              <a:lnSpc>
                <a:spcPct val="114599"/>
              </a:lnSpc>
              <a:spcBef>
                <a:spcPts val="157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origin inside an offsetParent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(for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positioning descendants) is just inside  the upper-left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corner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its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border.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0022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Positioning</a:t>
            </a:r>
            <a:r>
              <a:rPr spc="-90" dirty="0"/>
              <a:t> </a:t>
            </a:r>
            <a:r>
              <a:rPr dirty="0"/>
              <a:t>context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011159" cy="340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Each element has an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offsetParent</a:t>
            </a:r>
            <a:r>
              <a:rPr sz="1800" spc="-484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(some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ancestor element).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When an element is positioned,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coordinates such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element.style.left</a:t>
            </a:r>
            <a:endParaRPr sz="1800">
              <a:latin typeface="Consolas"/>
              <a:cs typeface="Consolas"/>
            </a:endParaRPr>
          </a:p>
          <a:p>
            <a:pPr marL="37909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relative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its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offsetParent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Default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offsetParent</a:t>
            </a:r>
            <a:r>
              <a:rPr sz="1800" spc="-4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the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&lt;body&gt;</a:t>
            </a:r>
            <a:r>
              <a:rPr sz="1800" spc="-484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Some elements define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new positioning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context: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position</a:t>
            </a:r>
            <a:r>
              <a:rPr sz="1400" spc="-38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CSS attribute is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absolute</a:t>
            </a:r>
            <a:r>
              <a:rPr sz="1400" spc="-3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(element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 is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explicitly positioned)</a:t>
            </a:r>
            <a:endParaRPr sz="1400">
              <a:latin typeface="Arial"/>
              <a:cs typeface="Arial"/>
            </a:endParaRPr>
          </a:p>
          <a:p>
            <a:pPr marL="836294" marR="5080" lvl="1" indent="-336550">
              <a:lnSpc>
                <a:spcPct val="116100"/>
              </a:lnSpc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position</a:t>
            </a:r>
            <a:r>
              <a:rPr sz="1400" spc="-38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CSS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attribute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relative</a:t>
            </a:r>
            <a:r>
              <a:rPr sz="1400" spc="-38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(element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positioned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automatically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browser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  the usual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way)</a:t>
            </a:r>
            <a:endParaRPr sz="1400">
              <a:latin typeface="Arial"/>
              <a:cs typeface="Arial"/>
            </a:endParaRPr>
          </a:p>
          <a:p>
            <a:pPr marL="836294" marR="138430" lvl="1" indent="-336550">
              <a:lnSpc>
                <a:spcPct val="11610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This element will become the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offsetParent</a:t>
            </a:r>
            <a:r>
              <a:rPr sz="1400" spc="-40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all its descendents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(unless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overridden by  another positioning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context)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1800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Positioning</a:t>
            </a:r>
            <a:r>
              <a:rPr spc="-85" dirty="0"/>
              <a:t> </a:t>
            </a:r>
            <a:r>
              <a:rPr spc="-5" dirty="0"/>
              <a:t>Children</a:t>
            </a:r>
          </a:p>
        </p:txBody>
      </p:sp>
      <p:sp>
        <p:nvSpPr>
          <p:cNvPr id="3" name="object 3"/>
          <p:cNvSpPr/>
          <p:nvPr/>
        </p:nvSpPr>
        <p:spPr>
          <a:xfrm>
            <a:off x="2895600" y="1338262"/>
            <a:ext cx="3352799" cy="24669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23875" y="1548950"/>
            <a:ext cx="3086099" cy="4000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3875" y="1548950"/>
            <a:ext cx="400049" cy="22288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23925" y="1949000"/>
            <a:ext cx="2686049" cy="8000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23925" y="2480225"/>
            <a:ext cx="857249" cy="131444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05275" y="2784687"/>
            <a:ext cx="2762249" cy="14477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229100" y="2920075"/>
            <a:ext cx="2514599" cy="10286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816725" y="1211862"/>
            <a:ext cx="1140460" cy="641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Parent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margin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Parent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border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54250" y="2221513"/>
            <a:ext cx="12293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Parent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padding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48658" y="1307049"/>
            <a:ext cx="295275" cy="15240"/>
          </a:xfrm>
          <a:custGeom>
            <a:avLst/>
            <a:gdLst/>
            <a:ahLst/>
            <a:cxnLst/>
            <a:rect l="l" t="t" r="r" b="b"/>
            <a:pathLst>
              <a:path w="295275" h="15240">
                <a:moveTo>
                  <a:pt x="-9524" y="7354"/>
                </a:moveTo>
                <a:lnTo>
                  <a:pt x="304566" y="7354"/>
                </a:lnTo>
              </a:path>
            </a:pathLst>
          </a:custGeom>
          <a:ln w="33758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52790" y="1280807"/>
            <a:ext cx="106959" cy="8190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86383" y="1727125"/>
            <a:ext cx="419734" cy="22860"/>
          </a:xfrm>
          <a:custGeom>
            <a:avLst/>
            <a:gdLst/>
            <a:ahLst/>
            <a:cxnLst/>
            <a:rect l="l" t="t" r="r" b="b"/>
            <a:pathLst>
              <a:path w="419734" h="22860">
                <a:moveTo>
                  <a:pt x="419565" y="0"/>
                </a:moveTo>
                <a:lnTo>
                  <a:pt x="0" y="2264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290533" y="1708821"/>
            <a:ext cx="107070" cy="8188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324238" y="2326900"/>
            <a:ext cx="457200" cy="17780"/>
          </a:xfrm>
          <a:custGeom>
            <a:avLst/>
            <a:gdLst/>
            <a:ahLst/>
            <a:cxnLst/>
            <a:rect l="l" t="t" r="r" b="b"/>
            <a:pathLst>
              <a:path w="457200" h="17780">
                <a:moveTo>
                  <a:pt x="456986" y="0"/>
                </a:moveTo>
                <a:lnTo>
                  <a:pt x="0" y="1776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28327" y="2303694"/>
            <a:ext cx="106657" cy="8193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679275" y="4353638"/>
            <a:ext cx="102298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"/>
                <a:cs typeface="Arial"/>
              </a:rPr>
              <a:t>Child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margin  </a:t>
            </a:r>
            <a:r>
              <a:rPr sz="1400" spc="-5" dirty="0">
                <a:latin typeface="Arial"/>
                <a:cs typeface="Arial"/>
              </a:rPr>
              <a:t>Child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border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823049" y="4496099"/>
            <a:ext cx="431800" cy="4445"/>
          </a:xfrm>
          <a:custGeom>
            <a:avLst/>
            <a:gdLst/>
            <a:ahLst/>
            <a:cxnLst/>
            <a:rect l="l" t="t" r="r" b="b"/>
            <a:pathLst>
              <a:path w="431800" h="4445">
                <a:moveTo>
                  <a:pt x="0" y="3899"/>
                </a:moveTo>
                <a:lnTo>
                  <a:pt x="43169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823049" y="4708375"/>
            <a:ext cx="1078865" cy="8890"/>
          </a:xfrm>
          <a:custGeom>
            <a:avLst/>
            <a:gdLst/>
            <a:ahLst/>
            <a:cxnLst/>
            <a:rect l="l" t="t" r="r" b="b"/>
            <a:pathLst>
              <a:path w="1078864" h="8889">
                <a:moveTo>
                  <a:pt x="0" y="8699"/>
                </a:moveTo>
                <a:lnTo>
                  <a:pt x="107879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91888" y="4286407"/>
            <a:ext cx="81944" cy="23661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86147" y="4204763"/>
            <a:ext cx="7620" cy="499109"/>
          </a:xfrm>
          <a:custGeom>
            <a:avLst/>
            <a:gdLst/>
            <a:ahLst/>
            <a:cxnLst/>
            <a:rect l="l" t="t" r="r" b="b"/>
            <a:pathLst>
              <a:path w="7620" h="499110">
                <a:moveTo>
                  <a:pt x="7077" y="498611"/>
                </a:moveTo>
                <a:lnTo>
                  <a:pt x="0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45160" y="4108796"/>
            <a:ext cx="81974" cy="10593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32597" y="2068646"/>
            <a:ext cx="19050" cy="605155"/>
          </a:xfrm>
          <a:custGeom>
            <a:avLst/>
            <a:gdLst/>
            <a:ahLst/>
            <a:cxnLst/>
            <a:rect l="l" t="t" r="r" b="b"/>
            <a:pathLst>
              <a:path w="19050" h="605155">
                <a:moveTo>
                  <a:pt x="18505" y="604606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10127" y="2662765"/>
            <a:ext cx="81951" cy="10642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191620" y="1972711"/>
            <a:ext cx="81951" cy="10642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643872" y="3509361"/>
            <a:ext cx="347345" cy="2540"/>
          </a:xfrm>
          <a:custGeom>
            <a:avLst/>
            <a:gdLst/>
            <a:ahLst/>
            <a:cxnLst/>
            <a:rect l="l" t="t" r="r" b="b"/>
            <a:pathLst>
              <a:path w="347345" h="2539">
                <a:moveTo>
                  <a:pt x="347105" y="0"/>
                </a:moveTo>
                <a:lnTo>
                  <a:pt x="0" y="2351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981239" y="3468372"/>
            <a:ext cx="105711" cy="8197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547898" y="3470723"/>
            <a:ext cx="105711" cy="8197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404949" y="2270713"/>
            <a:ext cx="12007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top/</a:t>
            </a:r>
            <a:r>
              <a:rPr sz="1400" spc="-5" dirty="0">
                <a:latin typeface="Consolas"/>
                <a:cs typeface="Consolas"/>
              </a:rPr>
              <a:t>offsetTop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04949" y="2689813"/>
            <a:ext cx="14897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nsolas"/>
                <a:cs typeface="Consolas"/>
              </a:rPr>
              <a:t>left/offsetLeft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649424" y="2392467"/>
            <a:ext cx="1464945" cy="24130"/>
          </a:xfrm>
          <a:custGeom>
            <a:avLst/>
            <a:gdLst/>
            <a:ahLst/>
            <a:cxnLst/>
            <a:rect l="l" t="t" r="r" b="b"/>
            <a:pathLst>
              <a:path w="1464945" h="24130">
                <a:moveTo>
                  <a:pt x="0" y="23932"/>
                </a:moveTo>
                <a:lnTo>
                  <a:pt x="1464915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104301" y="2351480"/>
            <a:ext cx="106002" cy="8197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899699" y="2847900"/>
            <a:ext cx="989330" cy="0"/>
          </a:xfrm>
          <a:custGeom>
            <a:avLst/>
            <a:gdLst/>
            <a:ahLst/>
            <a:cxnLst/>
            <a:rect l="l" t="t" r="r" b="b"/>
            <a:pathLst>
              <a:path w="989329">
                <a:moveTo>
                  <a:pt x="0" y="0"/>
                </a:moveTo>
                <a:lnTo>
                  <a:pt x="9890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867844" y="2857999"/>
            <a:ext cx="7620" cy="524510"/>
          </a:xfrm>
          <a:custGeom>
            <a:avLst/>
            <a:gdLst/>
            <a:ahLst/>
            <a:cxnLst/>
            <a:rect l="l" t="t" r="r" b="b"/>
            <a:pathLst>
              <a:path w="7620" h="524510">
                <a:moveTo>
                  <a:pt x="7143" y="0"/>
                </a:moveTo>
                <a:lnTo>
                  <a:pt x="0" y="52441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826856" y="3372456"/>
            <a:ext cx="81975" cy="10592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DOM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2219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Element</a:t>
            </a:r>
            <a:r>
              <a:rPr spc="-85" dirty="0"/>
              <a:t> </a:t>
            </a:r>
            <a:r>
              <a:rPr spc="-5" dirty="0"/>
              <a:t>dimensions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124190" cy="13619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Reading dimensions: </a:t>
            </a: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element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</a:t>
            </a: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offsetWidth</a:t>
            </a:r>
            <a:r>
              <a:rPr sz="1800" spc="-4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element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</a:t>
            </a: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offsetHeight</a:t>
            </a: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 dirty="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Include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contents,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padding, border, but not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margin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  <a:tab pos="2704465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Updating dimensions:	</a:t>
            </a: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element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</a:t>
            </a: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style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</a:t>
            </a: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width</a:t>
            </a:r>
            <a:r>
              <a:rPr sz="1800" spc="-53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element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</a:t>
            </a: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style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</a:t>
            </a: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height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42583" y="4790775"/>
            <a:ext cx="1622425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DOM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838732"/>
            <a:ext cx="1513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Positioning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311699" y="1389599"/>
            <a:ext cx="2808605" cy="317944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&lt;body&gt;</a:t>
            </a:r>
            <a:endParaRPr sz="1800" dirty="0">
              <a:latin typeface="Consolas"/>
              <a:cs typeface="Consolas"/>
            </a:endParaRPr>
          </a:p>
          <a:p>
            <a:pPr marR="375285" algn="r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&lt;div</a:t>
            </a:r>
            <a:r>
              <a:rPr sz="1800" spc="-1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id="div1"&gt;</a:t>
            </a:r>
            <a:endParaRPr sz="1800" dirty="0">
              <a:latin typeface="Consolas"/>
              <a:cs typeface="Consolas"/>
            </a:endParaRPr>
          </a:p>
          <a:p>
            <a:pPr marR="374650" algn="r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&lt;p&gt;div1&lt;/p&gt;</a:t>
            </a:r>
            <a:endParaRPr sz="1800" dirty="0">
              <a:latin typeface="Consolas"/>
              <a:cs typeface="Consolas"/>
            </a:endParaRPr>
          </a:p>
          <a:p>
            <a:pPr marL="54292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&lt;/div&gt;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Consolas"/>
                <a:cs typeface="Consolas"/>
              </a:rPr>
              <a:t>#div1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{</a:t>
            </a:r>
          </a:p>
          <a:p>
            <a:pPr marL="378460" marR="1056640">
              <a:lnSpc>
                <a:spcPct val="116100"/>
              </a:lnSpc>
            </a:pPr>
            <a:r>
              <a:rPr sz="1400" spc="-5" dirty="0">
                <a:latin typeface="Consolas"/>
                <a:cs typeface="Consolas"/>
              </a:rPr>
              <a:t>width: 50px;  height:</a:t>
            </a:r>
            <a:r>
              <a:rPr sz="1400" spc="-95" dirty="0">
                <a:latin typeface="Consolas"/>
                <a:cs typeface="Consolas"/>
              </a:rPr>
              <a:t> </a:t>
            </a:r>
            <a:r>
              <a:rPr sz="1400" spc="-5" dirty="0">
                <a:latin typeface="Consolas"/>
                <a:cs typeface="Consolas"/>
              </a:rPr>
              <a:t>200px;</a:t>
            </a:r>
            <a:endParaRPr sz="1400" dirty="0">
              <a:latin typeface="Consolas"/>
              <a:cs typeface="Consolas"/>
            </a:endParaRPr>
          </a:p>
          <a:p>
            <a:pPr marL="378460">
              <a:lnSpc>
                <a:spcPct val="100000"/>
              </a:lnSpc>
              <a:spcBef>
                <a:spcPts val="265"/>
              </a:spcBef>
            </a:pPr>
            <a:r>
              <a:rPr sz="1400" spc="-5" dirty="0">
                <a:latin typeface="Consolas"/>
                <a:cs typeface="Consolas"/>
              </a:rPr>
              <a:t>background: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spc="-5" dirty="0">
                <a:latin typeface="Consolas"/>
                <a:cs typeface="Consolas"/>
              </a:rPr>
              <a:t>#ffe0e0;</a:t>
            </a:r>
            <a:endParaRPr sz="1400" dirty="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5" name="object 5"/>
          <p:cNvSpPr/>
          <p:nvPr/>
        </p:nvSpPr>
        <p:spPr>
          <a:xfrm>
            <a:off x="3230880" y="0"/>
            <a:ext cx="2446019" cy="48844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66250" y="293424"/>
            <a:ext cx="1856105" cy="1017905"/>
          </a:xfrm>
          <a:custGeom>
            <a:avLst/>
            <a:gdLst/>
            <a:ahLst/>
            <a:cxnLst/>
            <a:rect l="l" t="t" r="r" b="b"/>
            <a:pathLst>
              <a:path w="1856104" h="1017905">
                <a:moveTo>
                  <a:pt x="0" y="0"/>
                </a:moveTo>
                <a:lnTo>
                  <a:pt x="1855499" y="0"/>
                </a:lnTo>
                <a:lnTo>
                  <a:pt x="1855499" y="1017899"/>
                </a:lnTo>
                <a:lnTo>
                  <a:pt x="0" y="10178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30874" y="1645399"/>
            <a:ext cx="2732405" cy="3308350"/>
          </a:xfrm>
          <a:custGeom>
            <a:avLst/>
            <a:gdLst/>
            <a:ahLst/>
            <a:cxnLst/>
            <a:rect l="l" t="t" r="r" b="b"/>
            <a:pathLst>
              <a:path w="2732404" h="3308350">
                <a:moveTo>
                  <a:pt x="0" y="0"/>
                </a:moveTo>
                <a:lnTo>
                  <a:pt x="2732399" y="0"/>
                </a:lnTo>
                <a:lnTo>
                  <a:pt x="2732399" y="3308099"/>
                </a:lnTo>
                <a:lnTo>
                  <a:pt x="0" y="33080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42583" y="4790775"/>
            <a:ext cx="1622425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DOM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838732"/>
            <a:ext cx="1513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Positioning</a:t>
            </a:r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3230880" y="0"/>
            <a:ext cx="2446019" cy="48844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66250" y="293424"/>
            <a:ext cx="1856105" cy="1017905"/>
          </a:xfrm>
          <a:custGeom>
            <a:avLst/>
            <a:gdLst/>
            <a:ahLst/>
            <a:cxnLst/>
            <a:rect l="l" t="t" r="r" b="b"/>
            <a:pathLst>
              <a:path w="1856104" h="1017905">
                <a:moveTo>
                  <a:pt x="0" y="0"/>
                </a:moveTo>
                <a:lnTo>
                  <a:pt x="1855499" y="0"/>
                </a:lnTo>
                <a:lnTo>
                  <a:pt x="1855499" y="1017899"/>
                </a:lnTo>
                <a:lnTo>
                  <a:pt x="0" y="10178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30874" y="3305299"/>
            <a:ext cx="2732405" cy="1648460"/>
          </a:xfrm>
          <a:custGeom>
            <a:avLst/>
            <a:gdLst/>
            <a:ahLst/>
            <a:cxnLst/>
            <a:rect l="l" t="t" r="r" b="b"/>
            <a:pathLst>
              <a:path w="2732404" h="1648460">
                <a:moveTo>
                  <a:pt x="0" y="0"/>
                </a:moveTo>
                <a:lnTo>
                  <a:pt x="2732399" y="0"/>
                </a:lnTo>
                <a:lnTo>
                  <a:pt x="2732399" y="1648199"/>
                </a:lnTo>
                <a:lnTo>
                  <a:pt x="0" y="16481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11699" y="1389599"/>
            <a:ext cx="2808605" cy="360743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542925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…</a:t>
            </a:r>
            <a:endParaRPr sz="1800" dirty="0">
              <a:latin typeface="Arial"/>
              <a:cs typeface="Arial"/>
            </a:endParaRPr>
          </a:p>
          <a:p>
            <a:pPr marL="542925">
              <a:lnSpc>
                <a:spcPct val="100000"/>
              </a:lnSpc>
              <a:spcBef>
                <a:spcPts val="334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&lt;div</a:t>
            </a:r>
            <a:r>
              <a:rPr sz="14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id="div2"&gt;</a:t>
            </a:r>
            <a:endParaRPr sz="1400" dirty="0">
              <a:latin typeface="Consolas"/>
              <a:cs typeface="Consolas"/>
            </a:endParaRPr>
          </a:p>
          <a:p>
            <a:pPr marL="83566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&lt;p&gt;div2&lt;/p&gt;</a:t>
            </a:r>
            <a:endParaRPr sz="1400" dirty="0">
              <a:latin typeface="Consolas"/>
              <a:cs typeface="Consolas"/>
            </a:endParaRPr>
          </a:p>
          <a:p>
            <a:pPr marL="83566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&lt;div</a:t>
            </a:r>
            <a:r>
              <a:rPr sz="1400" spc="-3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id="div2-1"&gt;</a:t>
            </a:r>
            <a:endParaRPr sz="1400" dirty="0">
              <a:latin typeface="Consolas"/>
              <a:cs typeface="Consolas"/>
            </a:endParaRPr>
          </a:p>
          <a:p>
            <a:pPr marL="112839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&lt;p&gt;div2-1&lt;/p&gt;</a:t>
            </a:r>
            <a:endParaRPr sz="1400" dirty="0">
              <a:latin typeface="Consolas"/>
              <a:cs typeface="Consolas"/>
            </a:endParaRPr>
          </a:p>
          <a:p>
            <a:pPr marL="83566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&lt;/div&gt;</a:t>
            </a:r>
            <a:endParaRPr sz="1400" dirty="0">
              <a:latin typeface="Consolas"/>
              <a:cs typeface="Consolas"/>
            </a:endParaRPr>
          </a:p>
          <a:p>
            <a:pPr marL="54292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&lt;/div&gt;</a:t>
            </a:r>
            <a:endParaRPr sz="1400" dirty="0">
              <a:latin typeface="Consolas"/>
              <a:cs typeface="Consolas"/>
            </a:endParaRPr>
          </a:p>
          <a:p>
            <a:pPr marL="85725" marR="374650">
              <a:lnSpc>
                <a:spcPct val="114599"/>
              </a:lnSpc>
              <a:spcBef>
                <a:spcPts val="65"/>
              </a:spcBef>
            </a:pPr>
            <a:r>
              <a:rPr sz="1200" spc="-5" dirty="0">
                <a:solidFill>
                  <a:srgbClr val="595959"/>
                </a:solidFill>
                <a:latin typeface="Consolas"/>
                <a:cs typeface="Consolas"/>
              </a:rPr>
              <a:t>#div2 {width: 300px;</a:t>
            </a:r>
            <a:r>
              <a:rPr sz="12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Consolas"/>
                <a:cs typeface="Consolas"/>
              </a:rPr>
              <a:t>height:  200px; </a:t>
            </a:r>
            <a:r>
              <a:rPr sz="1200" b="1" spc="-5" dirty="0">
                <a:solidFill>
                  <a:srgbClr val="595959"/>
                </a:solidFill>
                <a:latin typeface="Consolas"/>
                <a:cs typeface="Consolas"/>
              </a:rPr>
              <a:t>position:</a:t>
            </a:r>
            <a:r>
              <a:rPr sz="1200" b="1" spc="-4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200" b="1" spc="-5" dirty="0">
                <a:solidFill>
                  <a:srgbClr val="595959"/>
                </a:solidFill>
                <a:latin typeface="Consolas"/>
                <a:cs typeface="Consolas"/>
              </a:rPr>
              <a:t>relative;</a:t>
            </a:r>
            <a:endParaRPr sz="1200" dirty="0">
              <a:latin typeface="Consolas"/>
              <a:cs typeface="Consolas"/>
            </a:endParaRPr>
          </a:p>
          <a:p>
            <a:pPr marL="420370">
              <a:lnSpc>
                <a:spcPct val="100000"/>
              </a:lnSpc>
              <a:spcBef>
                <a:spcPts val="210"/>
              </a:spcBef>
            </a:pPr>
            <a:r>
              <a:rPr sz="1200" spc="-5" dirty="0">
                <a:solidFill>
                  <a:srgbClr val="595959"/>
                </a:solidFill>
                <a:latin typeface="Consolas"/>
                <a:cs typeface="Consolas"/>
              </a:rPr>
              <a:t>background:</a:t>
            </a:r>
            <a:r>
              <a:rPr sz="1200" spc="-1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Consolas"/>
                <a:cs typeface="Consolas"/>
              </a:rPr>
              <a:t>#d0e0ff;}</a:t>
            </a:r>
            <a:endParaRPr sz="1200" dirty="0">
              <a:latin typeface="Consolas"/>
              <a:cs typeface="Consolas"/>
            </a:endParaRPr>
          </a:p>
          <a:p>
            <a:pPr marL="85725" marR="207645">
              <a:lnSpc>
                <a:spcPct val="114599"/>
              </a:lnSpc>
              <a:spcBef>
                <a:spcPts val="975"/>
              </a:spcBef>
            </a:pPr>
            <a:r>
              <a:rPr sz="1200" spc="-5" dirty="0">
                <a:solidFill>
                  <a:srgbClr val="595959"/>
                </a:solidFill>
                <a:latin typeface="Consolas"/>
                <a:cs typeface="Consolas"/>
              </a:rPr>
              <a:t>#div2-1 {width: 150px; height:  80px; </a:t>
            </a:r>
            <a:r>
              <a:rPr sz="1200" b="1" spc="-5" dirty="0">
                <a:solidFill>
                  <a:srgbClr val="595959"/>
                </a:solidFill>
                <a:latin typeface="Consolas"/>
                <a:cs typeface="Consolas"/>
              </a:rPr>
              <a:t>position:</a:t>
            </a:r>
            <a:r>
              <a:rPr sz="1200" b="1" spc="-3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200" b="1" spc="-5" dirty="0">
                <a:solidFill>
                  <a:srgbClr val="595959"/>
                </a:solidFill>
                <a:latin typeface="Consolas"/>
                <a:cs typeface="Consolas"/>
              </a:rPr>
              <a:t>absolute;</a:t>
            </a:r>
            <a:endParaRPr sz="1200" dirty="0">
              <a:latin typeface="Consolas"/>
              <a:cs typeface="Consolas"/>
            </a:endParaRPr>
          </a:p>
          <a:p>
            <a:pPr marL="85725" marR="541655" indent="250825">
              <a:lnSpc>
                <a:spcPct val="114599"/>
              </a:lnSpc>
            </a:pPr>
            <a:r>
              <a:rPr sz="1200" spc="-5" dirty="0">
                <a:solidFill>
                  <a:srgbClr val="595959"/>
                </a:solidFill>
                <a:latin typeface="Consolas"/>
                <a:cs typeface="Consolas"/>
              </a:rPr>
              <a:t>top: 50px; left:</a:t>
            </a:r>
            <a:r>
              <a:rPr sz="12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Consolas"/>
                <a:cs typeface="Consolas"/>
              </a:rPr>
              <a:t>100px;  background:</a:t>
            </a:r>
            <a:r>
              <a:rPr sz="1200" spc="-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Consolas"/>
                <a:cs typeface="Consolas"/>
              </a:rPr>
              <a:t>#d0e0ff;}</a:t>
            </a:r>
            <a:endParaRPr sz="12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42583" y="4790775"/>
            <a:ext cx="1622425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DOM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838732"/>
            <a:ext cx="1513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Positioning</a:t>
            </a:r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3230880" y="0"/>
            <a:ext cx="2446019" cy="48844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4725" y="1445389"/>
            <a:ext cx="2532380" cy="312483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95"/>
              </a:spcBef>
            </a:pPr>
            <a:r>
              <a:rPr sz="1000" spc="-5" dirty="0">
                <a:solidFill>
                  <a:srgbClr val="595959"/>
                </a:solidFill>
                <a:latin typeface="Consolas"/>
                <a:cs typeface="Consolas"/>
              </a:rPr>
              <a:t>...</a:t>
            </a:r>
            <a:endParaRPr sz="1000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135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&lt;div</a:t>
            </a:r>
            <a:r>
              <a:rPr sz="14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id="div3"&gt;</a:t>
            </a:r>
            <a:endParaRPr sz="1400" dirty="0">
              <a:latin typeface="Consolas"/>
              <a:cs typeface="Consolas"/>
            </a:endParaRPr>
          </a:p>
          <a:p>
            <a:pPr marL="76263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&lt;p&gt;div3&lt;/p&gt;</a:t>
            </a:r>
            <a:endParaRPr sz="1400" dirty="0">
              <a:latin typeface="Consolas"/>
              <a:cs typeface="Consolas"/>
            </a:endParaRPr>
          </a:p>
          <a:p>
            <a:pPr marL="76263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&lt;div</a:t>
            </a:r>
            <a:r>
              <a:rPr sz="1400" spc="-5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id="div3-1"&gt;</a:t>
            </a:r>
            <a:endParaRPr sz="1400" dirty="0">
              <a:latin typeface="Consolas"/>
              <a:cs typeface="Consolas"/>
            </a:endParaRPr>
          </a:p>
          <a:p>
            <a:pPr marL="95758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&lt;p&gt;div3-1&lt;/p&gt;</a:t>
            </a:r>
            <a:endParaRPr sz="1400" dirty="0">
              <a:latin typeface="Consolas"/>
              <a:cs typeface="Consolas"/>
            </a:endParaRPr>
          </a:p>
          <a:p>
            <a:pPr marL="76263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&lt;/div&gt;</a:t>
            </a:r>
            <a:endParaRPr sz="1400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&lt;/div&gt;</a:t>
            </a:r>
            <a:endParaRPr sz="1400" dirty="0">
              <a:latin typeface="Consolas"/>
              <a:cs typeface="Consolas"/>
            </a:endParaRPr>
          </a:p>
          <a:p>
            <a:pPr marL="12700" marR="170815">
              <a:lnSpc>
                <a:spcPct val="114599"/>
              </a:lnSpc>
              <a:spcBef>
                <a:spcPts val="65"/>
              </a:spcBef>
            </a:pPr>
            <a:r>
              <a:rPr sz="1200" spc="-5" dirty="0">
                <a:solidFill>
                  <a:srgbClr val="595959"/>
                </a:solidFill>
                <a:latin typeface="Consolas"/>
                <a:cs typeface="Consolas"/>
              </a:rPr>
              <a:t>#div3 {width: 300px; height:  200px; background:</a:t>
            </a:r>
            <a:r>
              <a:rPr sz="12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Consolas"/>
                <a:cs typeface="Consolas"/>
              </a:rPr>
              <a:t>#ffffe0;}</a:t>
            </a:r>
            <a:endParaRPr sz="12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4599"/>
              </a:lnSpc>
              <a:spcBef>
                <a:spcPts val="5"/>
              </a:spcBef>
            </a:pPr>
            <a:r>
              <a:rPr sz="1200" spc="-5" dirty="0">
                <a:solidFill>
                  <a:srgbClr val="595959"/>
                </a:solidFill>
                <a:latin typeface="Consolas"/>
                <a:cs typeface="Consolas"/>
              </a:rPr>
              <a:t>#div3-1 {width: 150px;</a:t>
            </a:r>
            <a:r>
              <a:rPr sz="12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Consolas"/>
                <a:cs typeface="Consolas"/>
              </a:rPr>
              <a:t>height:  80px; position: absolute;</a:t>
            </a:r>
            <a:r>
              <a:rPr sz="12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Consolas"/>
                <a:cs typeface="Consolas"/>
              </a:rPr>
              <a:t>top:  50px; left: 100px;</a:t>
            </a:r>
            <a:r>
              <a:rPr sz="12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Consolas"/>
                <a:cs typeface="Consolas"/>
              </a:rPr>
              <a:t>background:  #ffffe0;}</a:t>
            </a:r>
            <a:endParaRPr sz="12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511CF504F4646AB54E0ACE4A117EC" ma:contentTypeVersion="0" ma:contentTypeDescription="Create a new document." ma:contentTypeScope="" ma:versionID="d4f0da77cb7c9de5903bc21ca831b4e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B9765ED-A47B-4D75-989B-3CE5B18DD828}"/>
</file>

<file path=customXml/itemProps2.xml><?xml version="1.0" encoding="utf-8"?>
<ds:datastoreItem xmlns:ds="http://schemas.openxmlformats.org/officeDocument/2006/customXml" ds:itemID="{87FE8FB6-5AEA-46A3-B5C4-161A83F88A18}"/>
</file>

<file path=customXml/itemProps3.xml><?xml version="1.0" encoding="utf-8"?>
<ds:datastoreItem xmlns:ds="http://schemas.openxmlformats.org/officeDocument/2006/customXml" ds:itemID="{135B91BA-7AF0-4141-985D-1CB25E7CD663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Words>1429</Words>
  <Application>Microsoft Office PowerPoint</Application>
  <PresentationFormat>On-screen Show (16:9)</PresentationFormat>
  <Paragraphs>230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Consolas</vt:lpstr>
      <vt:lpstr>Times New Roman</vt:lpstr>
      <vt:lpstr>Verdana</vt:lpstr>
      <vt:lpstr>Office Theme</vt:lpstr>
      <vt:lpstr>Document Object Model  (DOM)</vt:lpstr>
      <vt:lpstr>Browser JavaScript interface to HTML document</vt:lpstr>
      <vt:lpstr>DOM hierarchy</vt:lpstr>
      <vt:lpstr>A partial class hierarchy of document nodes</vt:lpstr>
      <vt:lpstr>DOM Node properties and methods</vt:lpstr>
      <vt:lpstr>&lt;p&gt;Sample &lt;b&gt;bold&lt;/b&gt; display&lt;/p&gt;</vt:lpstr>
      <vt:lpstr>Accessing DOM Nodes</vt:lpstr>
      <vt:lpstr>More commonly used Node properties/methods</vt:lpstr>
      <vt:lpstr>Common DOM mutating operations</vt:lpstr>
      <vt:lpstr>DOM and CSS interactions</vt:lpstr>
      <vt:lpstr>Changing the Node structure</vt:lpstr>
      <vt:lpstr>More DOM operations</vt:lpstr>
      <vt:lpstr>DOM's Coordinate System</vt:lpstr>
      <vt:lpstr>DOM Coordinates</vt:lpstr>
      <vt:lpstr>Positioning elements</vt:lpstr>
      <vt:lpstr>Positioning context</vt:lpstr>
      <vt:lpstr>Positioning Children</vt:lpstr>
      <vt:lpstr>Element dimensions</vt:lpstr>
      <vt:lpstr>Positioning</vt:lpstr>
      <vt:lpstr>Positioning</vt:lpstr>
      <vt:lpstr>Positioning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Object Model  (DOM)</dc:title>
  <cp:lastModifiedBy>Amarsanaa Ganbold</cp:lastModifiedBy>
  <cp:revision>27</cp:revision>
  <dcterms:created xsi:type="dcterms:W3CDTF">2019-08-20T05:12:01Z</dcterms:created>
  <dcterms:modified xsi:type="dcterms:W3CDTF">2021-10-19T05:42:55Z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ContentTypeId">
    <vt:lpwstr>0x01010055E511CF504F4646AB54E0ACE4A117EC</vt:lpwstr>
  </property>
</Properties>
</file>