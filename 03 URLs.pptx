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573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5319" y="1091184"/>
            <a:ext cx="8173360" cy="160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081100"/>
            <a:ext cx="8193500" cy="2282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19252" y="4778075"/>
            <a:ext cx="166941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mpany.com/showOrder.php?order=462104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mpany.com/news/2009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yz.com/stock/quote.html" TargetMode="External"/><Relationship Id="rId2" Type="http://schemas.openxmlformats.org/officeDocument/2006/relationships/hyperlink" Target="http://www.xyz.com/news/2009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xyz.com/news/2008/March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s.com/companyInfo?name=C%26H%20Sugar" TargetMode="External"/><Relationship Id="rId2" Type="http://schemas.openxmlformats.org/officeDocument/2006/relationships/hyperlink" Target="http://www.stats.com/companyInfo?name=C&amp;amp;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206115" marR="5080" indent="-3194050">
              <a:lnSpc>
                <a:spcPts val="6220"/>
              </a:lnSpc>
              <a:spcBef>
                <a:spcPts val="325"/>
              </a:spcBef>
            </a:pPr>
            <a:r>
              <a:rPr spc="-5" dirty="0"/>
              <a:t>Universal Resource</a:t>
            </a:r>
            <a:r>
              <a:rPr spc="-105" dirty="0"/>
              <a:t> </a:t>
            </a:r>
            <a:r>
              <a:rPr spc="-5" dirty="0"/>
              <a:t>Locator  </a:t>
            </a:r>
            <a:r>
              <a:rPr dirty="0"/>
              <a:t>(URL)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5468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Hypertext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6792595" cy="29070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 with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links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other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Click on links takes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somewhere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else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Old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idea: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Ted Nelson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coined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term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(early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'60s), built Xanadu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Doug Englebart: "Mother of all demos" 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1968</a:t>
            </a:r>
            <a:endParaRPr sz="140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HyperCard for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Macintosh: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1987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 adapted the idea, link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specification:</a:t>
            </a:r>
            <a:endParaRPr sz="1800">
              <a:latin typeface="Arial"/>
              <a:cs typeface="Arial"/>
            </a:endParaRPr>
          </a:p>
          <a:p>
            <a:pPr marL="876300" lvl="1" indent="-376555">
              <a:lnSpc>
                <a:spcPct val="100000"/>
              </a:lnSpc>
              <a:spcBef>
                <a:spcPts val="330"/>
              </a:spcBef>
              <a:buClr>
                <a:srgbClr val="595959"/>
              </a:buClr>
              <a:buChar char="○"/>
              <a:tabLst>
                <a:tab pos="876300" algn="l"/>
                <a:tab pos="876935" algn="l"/>
              </a:tabLst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Uniform Resource Locators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(URL)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Provided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names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web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content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spcBef>
                <a:spcPts val="1005"/>
              </a:spcBef>
            </a:pP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b="1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href="https://en.wikipedia.org/wiki/URL"&gt;URL&lt;/a&gt;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507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Parts </a:t>
            </a:r>
            <a:r>
              <a:rPr spc="-5" dirty="0"/>
              <a:t>of an</a:t>
            </a:r>
            <a:r>
              <a:rPr spc="-85" dirty="0"/>
              <a:t> </a:t>
            </a:r>
            <a:r>
              <a:rPr spc="-5" dirty="0"/>
              <a:t>URL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44600"/>
            <a:ext cx="8002905" cy="321818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onsolas"/>
                <a:cs typeface="Consolas"/>
              </a:rPr>
              <a:t>http://host.company.com:80/a/b/c.html?user=Alice&amp;year=2008#p2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Scheme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http: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identifies protocol used to fetch the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493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Host name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//host.company.com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): name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machine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connect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to.  Server's port number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b="1" spc="5" dirty="0">
                <a:solidFill>
                  <a:srgbClr val="FF0000"/>
                </a:solidFill>
                <a:latin typeface="Consolas"/>
                <a:cs typeface="Consolas"/>
              </a:rPr>
              <a:t>80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):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allows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 servers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machine.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Hierarchical portion (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/a/b/c.html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): used by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find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content.</a:t>
            </a:r>
            <a:endParaRPr sz="1800">
              <a:latin typeface="Arial"/>
              <a:cs typeface="Arial"/>
            </a:endParaRPr>
          </a:p>
          <a:p>
            <a:pPr marL="12700" marR="33655">
              <a:lnSpc>
                <a:spcPct val="1493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Query parameters (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?user=Alice&amp;year=2008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): provides additional parameters  Fragment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FF0000"/>
                </a:solidFill>
                <a:latin typeface="Consolas"/>
                <a:cs typeface="Consolas"/>
              </a:rPr>
              <a:t>#p2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):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scroll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 to fragment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(html: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p2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anchor tag)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Used on the browser only;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66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URL: </a:t>
            </a:r>
            <a:r>
              <a:rPr dirty="0"/>
              <a:t>schemes (e.g.</a:t>
            </a:r>
            <a:r>
              <a:rPr spc="-80" dirty="0"/>
              <a:t> </a:t>
            </a:r>
            <a:r>
              <a:rPr spc="-5" dirty="0">
                <a:latin typeface="Consolas"/>
                <a:cs typeface="Consolas"/>
              </a:rPr>
              <a:t>http</a:t>
            </a:r>
            <a:r>
              <a:rPr spc="-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545070" cy="267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http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is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most common scheme;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the HTTP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protocol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https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similar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http: except that it uses SSL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encryption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file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means read 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file from the local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disk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mailto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open an email program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composing a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There 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several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other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schemes, such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ftp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:, but they aren't used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much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anymore.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702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URL: Hierarchical portion</a:t>
            </a:r>
            <a:r>
              <a:rPr spc="-85" dirty="0"/>
              <a:t> </a:t>
            </a:r>
            <a:r>
              <a:rPr dirty="0"/>
              <a:t>(/a/b/c.html)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38408"/>
            <a:ext cx="8056880" cy="32194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Passed to the web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interpretation. Early web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servers: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Path name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static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file.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Path name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program that will generate the HTML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content (e.g.,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foo.php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).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programmed with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routing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hierarchical position to function to be performed and possibly the function's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API design,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/user/create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/user/list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/user/0x23490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/user/0x23433</a:t>
            </a:r>
            <a:endParaRPr sz="140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/user/delete/0x23433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740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Query </a:t>
            </a:r>
            <a:r>
              <a:rPr spc="-10" dirty="0"/>
              <a:t>Parameters </a:t>
            </a:r>
            <a:r>
              <a:rPr dirty="0"/>
              <a:t>(e.g.</a:t>
            </a:r>
            <a:r>
              <a:rPr spc="-90" dirty="0"/>
              <a:t> </a:t>
            </a:r>
            <a:r>
              <a:rPr spc="-5" dirty="0"/>
              <a:t>?user=Alice&amp;year=2008)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564755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Traditionally has been to provide parameters to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operation: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http://www.company.com/showOrder.php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  <a:hlinkClick r:id="rId2"/>
              </a:rPr>
              <a:t>?order=462104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  <a:hlinkClick r:id="rId2"/>
              </a:rPr>
              <a:t>7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13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modern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apps has implications of when the 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switches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5534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Links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36255" cy="2191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maintains 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notion 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current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(i.e.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URL)</a:t>
            </a:r>
            <a:endParaRPr sz="1800" dirty="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Links: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 which, when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clicked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causes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browser to go to  URL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Links are implemented with the &lt;a&gt;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tag: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 href="http://www.company.com/news/2009.html"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&gt;2009</a:t>
            </a:r>
            <a:r>
              <a:rPr sz="1800" spc="-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News&lt;/a&gt;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185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Different types of</a:t>
            </a:r>
            <a:r>
              <a:rPr spc="-90" dirty="0"/>
              <a:t> </a:t>
            </a:r>
            <a:r>
              <a:rPr spc="-5" dirty="0"/>
              <a:t>links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87055" cy="330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Full URL: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 href="http://www.xyz.com/news/2009.html"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&gt;2009</a:t>
            </a:r>
            <a:r>
              <a:rPr sz="1800" spc="-6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News&lt;/a&gt;</a:t>
            </a:r>
            <a:endParaRPr sz="1800" dirty="0">
              <a:latin typeface="Consolas"/>
              <a:cs typeface="Consolas"/>
            </a:endParaRPr>
          </a:p>
          <a:p>
            <a:pPr marL="469900" marR="2313305" indent="-457200">
              <a:lnSpc>
                <a:spcPct val="114599"/>
              </a:lnSpc>
              <a:spcBef>
                <a:spcPts val="157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Absolute URL: &lt;a href="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/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stock/quote.html"&gt;  same as</a:t>
            </a:r>
            <a:r>
              <a:rPr sz="1800" spc="-90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http://www.xyz.com/stock/quote.html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1629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Relative URL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(intra-site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links):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href="2008/March.html"&gt;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4"/>
              </a:rPr>
              <a:t>http://www.xyz.com/news/2008/March.html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Define an anchor point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position 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referenced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#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notation):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name="sec3"&gt;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26974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different place in the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href="#sec3"&gt;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217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Uses of</a:t>
            </a:r>
            <a:r>
              <a:rPr spc="-90" dirty="0"/>
              <a:t> </a:t>
            </a:r>
            <a:r>
              <a:rPr spc="-5" dirty="0"/>
              <a:t>URLs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661150" cy="2709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Loading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page: type the URL into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Load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image: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&lt;img src="..."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Load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stylesheet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&lt;link rel="stylesheet" type="text/css"</a:t>
            </a:r>
            <a:r>
              <a:rPr sz="1800"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href="..."&gt;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Embedded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&lt;iframe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src="http://www.google.com"&gt;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152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URL</a:t>
            </a:r>
            <a:r>
              <a:rPr spc="-90" dirty="0"/>
              <a:t> </a:t>
            </a:r>
            <a:r>
              <a:rPr spc="-5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29270" cy="298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want to include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punctuation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character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query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http://www.stats.com/companyInfo?name=C&amp;H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Sugar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379095" marR="5080" indent="-367030">
              <a:lnSpc>
                <a:spcPct val="114599"/>
              </a:lnSpc>
              <a:buChar char="●"/>
              <a:tabLst>
                <a:tab pos="379095" algn="l"/>
                <a:tab pos="379730" algn="l"/>
                <a:tab pos="396049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character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 other than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A-Z,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a-z,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0-9,</a:t>
            </a:r>
            <a:r>
              <a:rPr sz="1800" spc="-4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-_.~</a:t>
            </a:r>
            <a:r>
              <a:rPr sz="1800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represented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%xx, where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the hexadecimal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character: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http://www.stats.com/companyInfo?name=C%26H%20Sugar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Escaping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commonly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technique and also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source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errors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URLs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22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Miscellaneous</a:t>
            </a:r>
            <a:r>
              <a:rPr spc="-95" dirty="0"/>
              <a:t> </a:t>
            </a:r>
            <a:r>
              <a:rPr spc="-5" dirty="0"/>
              <a:t>Topics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536815" cy="228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265170" indent="-367030">
              <a:lnSpc>
                <a:spcPct val="1493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Computer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scientists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take on hypertext:  Need to have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referential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integrity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web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(done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physicists):</a:t>
            </a:r>
            <a:endParaRPr sz="18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Error</a:t>
            </a:r>
            <a:r>
              <a:rPr sz="1800" spc="-1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nsolas"/>
                <a:cs typeface="Consolas"/>
              </a:rPr>
              <a:t>404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URI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(Uniform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Resource Identifier)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vs.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(Uniform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Locator)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634843-DB2A-4191-8407-3FBB92AC566A}"/>
</file>

<file path=customXml/itemProps2.xml><?xml version="1.0" encoding="utf-8"?>
<ds:datastoreItem xmlns:ds="http://schemas.openxmlformats.org/officeDocument/2006/customXml" ds:itemID="{6774F80D-CF28-46A3-96E0-D64D6D8A7315}"/>
</file>

<file path=customXml/itemProps3.xml><?xml version="1.0" encoding="utf-8"?>
<ds:datastoreItem xmlns:ds="http://schemas.openxmlformats.org/officeDocument/2006/customXml" ds:itemID="{883E9B22-ECB2-46AC-8A3E-A65EAD43735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896</Words>
  <Application>Microsoft Office PowerPoint</Application>
  <PresentationFormat>On-screen Show (16:9)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Times New Roman</vt:lpstr>
      <vt:lpstr>Office Theme</vt:lpstr>
      <vt:lpstr>Universal Resource Locator  (URL)</vt:lpstr>
      <vt:lpstr>Hypertext</vt:lpstr>
      <vt:lpstr>Parts of an URL</vt:lpstr>
      <vt:lpstr>URL: schemes (e.g. http)</vt:lpstr>
      <vt:lpstr>URL: Hierarchical portion (/a/b/c.html)</vt:lpstr>
      <vt:lpstr>Query Parameters (e.g. ?user=Alice&amp;year=2008)</vt:lpstr>
      <vt:lpstr>Links</vt:lpstr>
      <vt:lpstr>Different types of links</vt:lpstr>
      <vt:lpstr>Uses of URLs</vt:lpstr>
      <vt:lpstr>URL Encoding</vt:lpstr>
      <vt:lpstr>Miscellaneous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Resource Locator  (URL)</dc:title>
  <cp:lastModifiedBy>Amarsanaa Ganbold</cp:lastModifiedBy>
  <cp:revision>1</cp:revision>
  <dcterms:created xsi:type="dcterms:W3CDTF">2019-08-20T05:22:19Z</dcterms:created>
  <dcterms:modified xsi:type="dcterms:W3CDTF">2021-09-21T04:45:05Z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