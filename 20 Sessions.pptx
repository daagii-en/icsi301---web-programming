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869" autoAdjust="0"/>
  </p:normalViewPr>
  <p:slideViewPr>
    <p:cSldViewPr>
      <p:cViewPr varScale="1">
        <p:scale>
          <a:sx n="138" d="100"/>
          <a:sy n="138" d="100"/>
        </p:scale>
        <p:origin x="843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61F276-732D-4AC1-977A-41887C6ADC45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C10AD-77F5-4DAD-860A-ED6E13B90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65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GetSessionState</a:t>
            </a:r>
            <a:r>
              <a:rPr lang="en-US" dirty="0"/>
              <a:t> is not a real standard function! – Just a imagination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C10AD-77F5-4DAD-860A-ED6E13B90B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84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19583" y="1881758"/>
            <a:ext cx="2704832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Sessions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Sessions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Sessions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Sessions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Sessions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16355"/>
            <a:ext cx="6105525" cy="1985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20413" y="4778075"/>
            <a:ext cx="186626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Sessions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19583" y="1881758"/>
            <a:ext cx="270002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10" dirty="0">
                <a:latin typeface="Arial"/>
                <a:cs typeface="Arial"/>
              </a:rPr>
              <a:t>Sessions</a:t>
            </a:r>
            <a:endParaRPr sz="5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27637" y="2892926"/>
            <a:ext cx="3088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95959"/>
                </a:solidFill>
                <a:latin typeface="Arial"/>
                <a:cs typeface="Arial"/>
              </a:rPr>
              <a:t>Mendel</a:t>
            </a:r>
            <a:r>
              <a:rPr sz="2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595959"/>
                </a:solidFill>
                <a:latin typeface="Arial"/>
                <a:cs typeface="Arial"/>
              </a:rPr>
              <a:t>Rosenblum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Sessions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Sessions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6040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How do we </a:t>
            </a:r>
            <a:r>
              <a:rPr dirty="0"/>
              <a:t>know </a:t>
            </a:r>
            <a:r>
              <a:rPr spc="-5" dirty="0"/>
              <a:t>what user </a:t>
            </a:r>
            <a:r>
              <a:rPr dirty="0"/>
              <a:t>sent</a:t>
            </a:r>
            <a:r>
              <a:rPr spc="-85" dirty="0"/>
              <a:t> </a:t>
            </a:r>
            <a:r>
              <a:rPr dirty="0"/>
              <a:t>request?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271509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Would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like to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authenticate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user and have that information available each time  we process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request.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More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generally web apps would like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keep state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per active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browser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9" y="2163790"/>
            <a:ext cx="2528570" cy="79057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836294" indent="-336550">
              <a:lnSpc>
                <a:spcPct val="100000"/>
              </a:lnSpc>
              <a:spcBef>
                <a:spcPts val="105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Called </a:t>
            </a: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session</a:t>
            </a:r>
            <a:r>
              <a:rPr sz="1400" b="1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state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Concretely: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3092781"/>
            <a:ext cx="8369300" cy="1252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expressApp.</a:t>
            </a:r>
            <a:r>
              <a:rPr sz="1600" spc="-5" dirty="0">
                <a:solidFill>
                  <a:srgbClr val="3C78D8"/>
                </a:solidFill>
                <a:latin typeface="Consolas"/>
                <a:cs typeface="Consolas"/>
              </a:rPr>
              <a:t>get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('</a:t>
            </a:r>
            <a:r>
              <a:rPr sz="1600" spc="-5" dirty="0">
                <a:solidFill>
                  <a:srgbClr val="37761C"/>
                </a:solidFill>
                <a:latin typeface="Consolas"/>
                <a:cs typeface="Consolas"/>
              </a:rPr>
              <a:t>/user/:user_id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', </a:t>
            </a:r>
            <a:r>
              <a:rPr sz="1600" spc="-5" dirty="0">
                <a:solidFill>
                  <a:srgbClr val="3C78D8"/>
                </a:solidFill>
                <a:latin typeface="Consolas"/>
                <a:cs typeface="Consolas"/>
              </a:rPr>
              <a:t>function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httpRequest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,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httpResponse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)</a:t>
            </a:r>
            <a:r>
              <a:rPr sz="1600" spc="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…</a:t>
            </a:r>
            <a:endParaRPr sz="1600">
              <a:latin typeface="Arial"/>
              <a:cs typeface="Arial"/>
            </a:endParaRPr>
          </a:p>
          <a:p>
            <a:pPr marL="469900" marR="244475">
              <a:lnSpc>
                <a:spcPct val="159700"/>
              </a:lnSpc>
              <a:spcBef>
                <a:spcPts val="6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// Need to make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decision to accept the request or reject it  var sessionState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800" spc="3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GetSessionState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(httpRequest);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0413" y="4766045"/>
            <a:ext cx="186626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Sessions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93483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Where </a:t>
            </a:r>
            <a:r>
              <a:rPr dirty="0"/>
              <a:t>could </a:t>
            </a:r>
            <a:r>
              <a:rPr spc="-5" dirty="0"/>
              <a:t>we get the </a:t>
            </a:r>
            <a:r>
              <a:rPr dirty="0"/>
              <a:t>session state</a:t>
            </a:r>
            <a:r>
              <a:rPr spc="-105" dirty="0"/>
              <a:t> </a:t>
            </a:r>
            <a:r>
              <a:rPr spc="-5" dirty="0"/>
              <a:t>from?</a:t>
            </a:r>
          </a:p>
        </p:txBody>
      </p:sp>
      <p:sp>
        <p:nvSpPr>
          <p:cNvPr id="4" name="object 4"/>
          <p:cNvSpPr/>
          <p:nvPr/>
        </p:nvSpPr>
        <p:spPr>
          <a:xfrm>
            <a:off x="832112" y="2285875"/>
            <a:ext cx="1473973" cy="3905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1899" y="2065424"/>
            <a:ext cx="1694814" cy="2898140"/>
          </a:xfrm>
          <a:custGeom>
            <a:avLst/>
            <a:gdLst/>
            <a:ahLst/>
            <a:cxnLst/>
            <a:rect l="l" t="t" r="r" b="b"/>
            <a:pathLst>
              <a:path w="1694814" h="2898140">
                <a:moveTo>
                  <a:pt x="0" y="0"/>
                </a:moveTo>
                <a:lnTo>
                  <a:pt x="1694399" y="0"/>
                </a:lnTo>
                <a:lnTo>
                  <a:pt x="1694399" y="2897699"/>
                </a:lnTo>
                <a:lnTo>
                  <a:pt x="0" y="2897699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53973" y="3540953"/>
            <a:ext cx="1397523" cy="4804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7023" y="4081774"/>
            <a:ext cx="1572411" cy="6940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7024" y="2772091"/>
            <a:ext cx="1584174" cy="6030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213075" y="2065424"/>
            <a:ext cx="1694814" cy="2898140"/>
          </a:xfrm>
          <a:custGeom>
            <a:avLst/>
            <a:gdLst/>
            <a:ahLst/>
            <a:cxnLst/>
            <a:rect l="l" t="t" r="r" b="b"/>
            <a:pathLst>
              <a:path w="1694814" h="2898140">
                <a:moveTo>
                  <a:pt x="0" y="0"/>
                </a:moveTo>
                <a:lnTo>
                  <a:pt x="1694399" y="0"/>
                </a:lnTo>
                <a:lnTo>
                  <a:pt x="1694399" y="2897699"/>
                </a:lnTo>
                <a:lnTo>
                  <a:pt x="0" y="2897699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68175" y="2355044"/>
            <a:ext cx="1584175" cy="4520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33848" y="3029672"/>
            <a:ext cx="1252878" cy="71288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02587" y="3790447"/>
            <a:ext cx="915352" cy="10891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66475" y="2987849"/>
            <a:ext cx="1746885" cy="802640"/>
          </a:xfrm>
          <a:custGeom>
            <a:avLst/>
            <a:gdLst/>
            <a:ahLst/>
            <a:cxnLst/>
            <a:rect l="l" t="t" r="r" b="b"/>
            <a:pathLst>
              <a:path w="1746885" h="802639">
                <a:moveTo>
                  <a:pt x="401249" y="802499"/>
                </a:moveTo>
                <a:lnTo>
                  <a:pt x="0" y="401249"/>
                </a:lnTo>
                <a:lnTo>
                  <a:pt x="401249" y="0"/>
                </a:lnTo>
                <a:lnTo>
                  <a:pt x="401249" y="200624"/>
                </a:lnTo>
                <a:lnTo>
                  <a:pt x="1545974" y="200624"/>
                </a:lnTo>
                <a:lnTo>
                  <a:pt x="1746599" y="401249"/>
                </a:lnTo>
                <a:lnTo>
                  <a:pt x="1545974" y="601874"/>
                </a:lnTo>
                <a:lnTo>
                  <a:pt x="401249" y="601874"/>
                </a:lnTo>
                <a:lnTo>
                  <a:pt x="401249" y="802499"/>
                </a:lnTo>
                <a:close/>
              </a:path>
              <a:path w="1746885" h="802639">
                <a:moveTo>
                  <a:pt x="1545974" y="200624"/>
                </a:moveTo>
                <a:lnTo>
                  <a:pt x="1345349" y="200624"/>
                </a:lnTo>
                <a:lnTo>
                  <a:pt x="1345349" y="0"/>
                </a:lnTo>
                <a:lnTo>
                  <a:pt x="1545974" y="200624"/>
                </a:lnTo>
                <a:close/>
              </a:path>
              <a:path w="1746885" h="802639">
                <a:moveTo>
                  <a:pt x="1345349" y="802499"/>
                </a:moveTo>
                <a:lnTo>
                  <a:pt x="1345349" y="601874"/>
                </a:lnTo>
                <a:lnTo>
                  <a:pt x="1545974" y="601874"/>
                </a:lnTo>
                <a:lnTo>
                  <a:pt x="1345349" y="8024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466475" y="2987849"/>
            <a:ext cx="1746885" cy="802640"/>
          </a:xfrm>
          <a:custGeom>
            <a:avLst/>
            <a:gdLst/>
            <a:ahLst/>
            <a:cxnLst/>
            <a:rect l="l" t="t" r="r" b="b"/>
            <a:pathLst>
              <a:path w="1746885" h="802639">
                <a:moveTo>
                  <a:pt x="0" y="401249"/>
                </a:moveTo>
                <a:lnTo>
                  <a:pt x="401249" y="0"/>
                </a:lnTo>
                <a:lnTo>
                  <a:pt x="401249" y="200624"/>
                </a:lnTo>
                <a:lnTo>
                  <a:pt x="1345349" y="200624"/>
                </a:lnTo>
                <a:lnTo>
                  <a:pt x="1345349" y="0"/>
                </a:lnTo>
                <a:lnTo>
                  <a:pt x="1746599" y="401249"/>
                </a:lnTo>
                <a:lnTo>
                  <a:pt x="1345349" y="802499"/>
                </a:lnTo>
                <a:lnTo>
                  <a:pt x="1345349" y="601874"/>
                </a:lnTo>
                <a:lnTo>
                  <a:pt x="401249" y="601874"/>
                </a:lnTo>
                <a:lnTo>
                  <a:pt x="401249" y="802499"/>
                </a:lnTo>
                <a:lnTo>
                  <a:pt x="0" y="40124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937609" y="3183233"/>
            <a:ext cx="821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HTTP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06200" y="1981874"/>
            <a:ext cx="1694814" cy="2898140"/>
          </a:xfrm>
          <a:custGeom>
            <a:avLst/>
            <a:gdLst/>
            <a:ahLst/>
            <a:cxnLst/>
            <a:rect l="l" t="t" r="r" b="b"/>
            <a:pathLst>
              <a:path w="1694815" h="2898140">
                <a:moveTo>
                  <a:pt x="0" y="0"/>
                </a:moveTo>
                <a:lnTo>
                  <a:pt x="1694399" y="0"/>
                </a:lnTo>
                <a:lnTo>
                  <a:pt x="1694399" y="2897699"/>
                </a:lnTo>
                <a:lnTo>
                  <a:pt x="0" y="2897699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245776" y="1421958"/>
            <a:ext cx="4662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87295" algn="l"/>
              </a:tabLst>
            </a:pPr>
            <a:r>
              <a:rPr sz="2400" spc="-20" dirty="0">
                <a:latin typeface="Arial"/>
                <a:cs typeface="Arial"/>
              </a:rPr>
              <a:t>Web</a:t>
            </a:r>
            <a:r>
              <a:rPr sz="2400" spc="-5" dirty="0">
                <a:latin typeface="Arial"/>
                <a:cs typeface="Arial"/>
              </a:rPr>
              <a:t> Server	Storage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System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120989" y="2145825"/>
            <a:ext cx="1464825" cy="4179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260243" y="2672350"/>
            <a:ext cx="1186317" cy="8024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31537" y="3155562"/>
            <a:ext cx="1050925" cy="441325"/>
          </a:xfrm>
          <a:custGeom>
            <a:avLst/>
            <a:gdLst/>
            <a:ahLst/>
            <a:cxnLst/>
            <a:rect l="l" t="t" r="r" b="b"/>
            <a:pathLst>
              <a:path w="1050925" h="441325">
                <a:moveTo>
                  <a:pt x="220649" y="441299"/>
                </a:moveTo>
                <a:lnTo>
                  <a:pt x="0" y="220649"/>
                </a:lnTo>
                <a:lnTo>
                  <a:pt x="220649" y="0"/>
                </a:lnTo>
                <a:lnTo>
                  <a:pt x="220649" y="110324"/>
                </a:lnTo>
                <a:lnTo>
                  <a:pt x="940274" y="110324"/>
                </a:lnTo>
                <a:lnTo>
                  <a:pt x="1050599" y="220649"/>
                </a:lnTo>
                <a:lnTo>
                  <a:pt x="940274" y="330974"/>
                </a:lnTo>
                <a:lnTo>
                  <a:pt x="220649" y="330974"/>
                </a:lnTo>
                <a:lnTo>
                  <a:pt x="220649" y="441299"/>
                </a:lnTo>
                <a:close/>
              </a:path>
              <a:path w="1050925" h="441325">
                <a:moveTo>
                  <a:pt x="940274" y="110324"/>
                </a:moveTo>
                <a:lnTo>
                  <a:pt x="829949" y="110324"/>
                </a:lnTo>
                <a:lnTo>
                  <a:pt x="829949" y="0"/>
                </a:lnTo>
                <a:lnTo>
                  <a:pt x="940274" y="110324"/>
                </a:lnTo>
                <a:close/>
              </a:path>
              <a:path w="1050925" h="441325">
                <a:moveTo>
                  <a:pt x="829949" y="441299"/>
                </a:moveTo>
                <a:lnTo>
                  <a:pt x="829949" y="330974"/>
                </a:lnTo>
                <a:lnTo>
                  <a:pt x="940274" y="330974"/>
                </a:lnTo>
                <a:lnTo>
                  <a:pt x="829949" y="4412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931537" y="3155562"/>
            <a:ext cx="1050925" cy="441325"/>
          </a:xfrm>
          <a:custGeom>
            <a:avLst/>
            <a:gdLst/>
            <a:ahLst/>
            <a:cxnLst/>
            <a:rect l="l" t="t" r="r" b="b"/>
            <a:pathLst>
              <a:path w="1050925" h="441325">
                <a:moveTo>
                  <a:pt x="0" y="220649"/>
                </a:moveTo>
                <a:lnTo>
                  <a:pt x="220649" y="0"/>
                </a:lnTo>
                <a:lnTo>
                  <a:pt x="220649" y="110324"/>
                </a:lnTo>
                <a:lnTo>
                  <a:pt x="829949" y="110324"/>
                </a:lnTo>
                <a:lnTo>
                  <a:pt x="829949" y="0"/>
                </a:lnTo>
                <a:lnTo>
                  <a:pt x="1050599" y="220649"/>
                </a:lnTo>
                <a:lnTo>
                  <a:pt x="829949" y="441299"/>
                </a:lnTo>
                <a:lnTo>
                  <a:pt x="829949" y="330974"/>
                </a:lnTo>
                <a:lnTo>
                  <a:pt x="220649" y="330974"/>
                </a:lnTo>
                <a:lnTo>
                  <a:pt x="220649" y="441299"/>
                </a:lnTo>
                <a:lnTo>
                  <a:pt x="0" y="22064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047793" y="3784367"/>
            <a:ext cx="366395" cy="10572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spc="-5" dirty="0">
                <a:latin typeface="Arial"/>
                <a:cs typeface="Arial"/>
              </a:rPr>
              <a:t>Internet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69830" y="3678358"/>
            <a:ext cx="366395" cy="6184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spc="-5" dirty="0">
                <a:latin typeface="Arial"/>
                <a:cs typeface="Arial"/>
              </a:rPr>
              <a:t>LAN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852129" y="4766036"/>
            <a:ext cx="965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33337" y="983308"/>
            <a:ext cx="686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Here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94175" y="983308"/>
            <a:ext cx="2766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Not Here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2400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Stateless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6762" y="1007218"/>
            <a:ext cx="1909445" cy="93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975">
              <a:lnSpc>
                <a:spcPct val="1245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Maybe</a:t>
            </a:r>
            <a:r>
              <a:rPr sz="2400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Here?  </a:t>
            </a:r>
            <a:r>
              <a:rPr sz="2400" spc="-20" dirty="0">
                <a:latin typeface="Arial"/>
                <a:cs typeface="Arial"/>
              </a:rPr>
              <a:t>Web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Browser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Sessions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6837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Session </a:t>
            </a:r>
            <a:r>
              <a:rPr dirty="0"/>
              <a:t>state </a:t>
            </a:r>
            <a:r>
              <a:rPr spc="-5" dirty="0"/>
              <a:t>lookup</a:t>
            </a:r>
            <a:r>
              <a:rPr spc="-90" dirty="0"/>
              <a:t> </a:t>
            </a:r>
            <a:r>
              <a:rPr spc="-5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6948170" cy="300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HTTP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request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just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18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130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Not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lot information to uniquely identify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"session"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Solution: Include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something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request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tells us the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session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130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Care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must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taken to avoid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forgeries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Early HTTP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solution: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Cookies</a:t>
            </a:r>
            <a:endParaRPr sz="1800" dirty="0">
              <a:latin typeface="Arial"/>
              <a:cs typeface="Arial"/>
            </a:endParaRPr>
          </a:p>
          <a:p>
            <a:pPr marL="836294" indent="-336550">
              <a:lnSpc>
                <a:spcPct val="100000"/>
              </a:lnSpc>
              <a:spcBef>
                <a:spcPts val="1305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State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by web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server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that browser attaches to every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request</a:t>
            </a:r>
            <a:endParaRPr sz="1400" dirty="0">
              <a:latin typeface="Arial"/>
              <a:cs typeface="Arial"/>
            </a:endParaRPr>
          </a:p>
          <a:p>
            <a:pPr marL="836294" indent="-336550">
              <a:lnSpc>
                <a:spcPct val="100000"/>
              </a:lnSpc>
              <a:spcBef>
                <a:spcPts val="869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Useful but with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checkered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history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85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Modern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browser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support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local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storage</a:t>
            </a:r>
            <a:r>
              <a:rPr sz="1800" spc="-1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API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Sessions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1827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HTTP Cookies: </a:t>
            </a:r>
            <a:r>
              <a:rPr spc="-10" dirty="0"/>
              <a:t>Basic</a:t>
            </a:r>
            <a:r>
              <a:rPr spc="-135" dirty="0"/>
              <a:t> </a:t>
            </a:r>
            <a:r>
              <a:rPr spc="-5" dirty="0"/>
              <a:t>Idea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6249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Web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adds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Set-Cookie:</a:t>
            </a:r>
            <a:r>
              <a:rPr sz="1800" spc="-57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HTTP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response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header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4625" y="1752550"/>
            <a:ext cx="3712845" cy="213360"/>
          </a:xfrm>
          <a:prstGeom prst="rect">
            <a:avLst/>
          </a:prstGeom>
          <a:solidFill>
            <a:srgbClr val="FAFAF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5" dirty="0">
                <a:solidFill>
                  <a:srgbClr val="4D4E53"/>
                </a:solidFill>
                <a:latin typeface="Consolas"/>
                <a:cs typeface="Consolas"/>
              </a:rPr>
              <a:t>Set-Cookie:</a:t>
            </a:r>
            <a:r>
              <a:rPr sz="1400" spc="-85" dirty="0">
                <a:solidFill>
                  <a:srgbClr val="4D4E5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4D4E53"/>
                </a:solidFill>
                <a:latin typeface="Consolas"/>
                <a:cs typeface="Consolas"/>
              </a:rPr>
              <a:t>cookie_name1=cookie_value1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4625" y="2076400"/>
            <a:ext cx="7523480" cy="213360"/>
          </a:xfrm>
          <a:prstGeom prst="rect">
            <a:avLst/>
          </a:prstGeom>
          <a:solidFill>
            <a:srgbClr val="FAFAF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5" dirty="0">
                <a:solidFill>
                  <a:srgbClr val="4D4E53"/>
                </a:solidFill>
                <a:latin typeface="Consolas"/>
                <a:cs typeface="Consolas"/>
              </a:rPr>
              <a:t>Set-Cookie: cookie_name2=cookie_value2; expires=Sun, 16 Jul 2016 06:23:41</a:t>
            </a:r>
            <a:r>
              <a:rPr sz="1400" spc="-70" dirty="0">
                <a:solidFill>
                  <a:srgbClr val="4D4E5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4D4E53"/>
                </a:solidFill>
                <a:latin typeface="Consolas"/>
                <a:cs typeface="Consolas"/>
              </a:rPr>
              <a:t>GMT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621" y="2569922"/>
            <a:ext cx="7642225" cy="755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Each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cookie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is just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name-value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pair.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Times New Roman"/>
              <a:cs typeface="Times New Roman"/>
            </a:endParaRPr>
          </a:p>
          <a:p>
            <a:pPr marL="363855" indent="-351790">
              <a:lnSpc>
                <a:spcPct val="100000"/>
              </a:lnSpc>
              <a:buChar char="●"/>
              <a:tabLst>
                <a:tab pos="363855" algn="l"/>
                <a:tab pos="364490" algn="l"/>
              </a:tabLst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Future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requests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from browser to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same server should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include the</a:t>
            </a:r>
            <a:r>
              <a:rPr sz="16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Cookie:header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4625" y="3562300"/>
            <a:ext cx="6057900" cy="243840"/>
          </a:xfrm>
          <a:prstGeom prst="rect">
            <a:avLst/>
          </a:prstGeom>
          <a:solidFill>
            <a:srgbClr val="FAFAFC"/>
          </a:solidFill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400" spc="-5" dirty="0">
                <a:solidFill>
                  <a:srgbClr val="4D4E53"/>
                </a:solidFill>
                <a:latin typeface="Consolas"/>
                <a:cs typeface="Consolas"/>
              </a:rPr>
              <a:t>Cookie: cookie_name1=cookie_value1;</a:t>
            </a:r>
            <a:r>
              <a:rPr sz="1400" spc="-85" dirty="0">
                <a:solidFill>
                  <a:srgbClr val="4D4E5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4D4E53"/>
                </a:solidFill>
                <a:latin typeface="Consolas"/>
                <a:cs typeface="Consolas"/>
              </a:rPr>
              <a:t>cookie_name2=cookie_value2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Sessions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5749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Cookie</a:t>
            </a:r>
            <a:r>
              <a:rPr spc="-90" dirty="0"/>
              <a:t> </a:t>
            </a:r>
            <a:r>
              <a:rPr dirty="0"/>
              <a:t>contents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pc="-5" dirty="0"/>
              <a:t>Cookie: name and</a:t>
            </a:r>
            <a:r>
              <a:rPr spc="-10" dirty="0"/>
              <a:t> </a:t>
            </a:r>
            <a:r>
              <a:rPr spc="-5" dirty="0"/>
              <a:t>data</a:t>
            </a: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595959"/>
              </a:buClr>
              <a:buFont typeface="Arial"/>
              <a:buChar char="●"/>
            </a:pPr>
            <a:endParaRPr sz="1650">
              <a:latin typeface="Times New Roman"/>
              <a:cs typeface="Times New Roman"/>
            </a:endParaRPr>
          </a:p>
          <a:p>
            <a:pPr marL="836294" lvl="1" indent="-336550">
              <a:lnSpc>
                <a:spcPct val="100000"/>
              </a:lnSpc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Domain for this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cookie: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server,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port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(optional),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URL prefix</a:t>
            </a:r>
            <a:r>
              <a:rPr sz="1400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(optional)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869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cookie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only included 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requests matching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its</a:t>
            </a:r>
            <a:r>
              <a:rPr sz="14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domain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869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Expiration date: browser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delete old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cookies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595959"/>
              </a:buClr>
              <a:buFont typeface="Arial"/>
              <a:buChar char="○"/>
            </a:pPr>
            <a:endParaRPr sz="21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pc="-5" dirty="0"/>
              <a:t>Limits: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63193" y="3108147"/>
            <a:ext cx="5079365" cy="67310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969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Data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size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limited by browsers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(typically &lt; 4</a:t>
            </a:r>
            <a:r>
              <a:rPr sz="14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KB)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869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Browsers limit the number 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cookies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per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server (around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50)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Sessions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5097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Cookies as web app</a:t>
            </a:r>
            <a:r>
              <a:rPr spc="-85" dirty="0"/>
              <a:t> </a:t>
            </a:r>
            <a:r>
              <a:rPr dirty="0"/>
              <a:t>storage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791450" cy="33432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User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can: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View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cookies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Modify/corrupt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cookies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Delete</a:t>
            </a:r>
            <a:r>
              <a:rPr sz="1400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cookies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Create</a:t>
            </a:r>
            <a:r>
              <a:rPr sz="1400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cookies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Lose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cookies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hackers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Simply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switching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browsers looks like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you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deleted the app's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cookies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130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Cookies have been used in bad ways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(more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later 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class):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Users are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suspicious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them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Pretty unreliable web app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storage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Limited to hint,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shortcut,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etc. that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recovered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if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missing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While actively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communicating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with web app: </a:t>
            </a: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Session cookies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Sessions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1897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Session </a:t>
            </a:r>
            <a:r>
              <a:rPr dirty="0"/>
              <a:t>state </a:t>
            </a:r>
            <a:r>
              <a:rPr spc="-5" dirty="0"/>
              <a:t>with</a:t>
            </a:r>
            <a:r>
              <a:rPr spc="-90" dirty="0"/>
              <a:t> </a:t>
            </a:r>
            <a:r>
              <a:rPr dirty="0"/>
              <a:t>cookies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8108315" cy="3440429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Early web frameworks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(e.g.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Rails)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supported storing session state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cookies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Rails provided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session,</a:t>
            </a:r>
            <a:r>
              <a:rPr sz="1400" spc="-4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JavaScript-like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object, that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 could store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anything</a:t>
            </a:r>
            <a:endParaRPr sz="1400">
              <a:latin typeface="Arial"/>
              <a:cs typeface="Arial"/>
            </a:endParaRPr>
          </a:p>
          <a:p>
            <a:pPr marL="836294">
              <a:lnSpc>
                <a:spcPct val="100000"/>
              </a:lnSpc>
              <a:spcBef>
                <a:spcPts val="254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session[:user_id]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8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"mendel"</a:t>
            </a:r>
            <a:endParaRPr sz="180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Rails packaged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session</a:t>
            </a:r>
            <a:r>
              <a:rPr sz="1800" spc="-54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cookie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added to HTTP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response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Data will be available in all future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requests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from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same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browser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595959"/>
              </a:buClr>
              <a:buFont typeface="Arial"/>
              <a:buChar char="○"/>
            </a:pPr>
            <a:endParaRPr sz="155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Rails automatically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checks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session cookie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at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start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each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request: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4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Cookie exists? use it to find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session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cookie?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Create new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session,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new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cookie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595959"/>
              </a:buClr>
              <a:buFont typeface="Arial"/>
              <a:buChar char="○"/>
            </a:pPr>
            <a:endParaRPr sz="1300">
              <a:latin typeface="Times New Roman"/>
              <a:cs typeface="Times New Roman"/>
            </a:endParaRPr>
          </a:p>
          <a:p>
            <a:pPr marL="379095" marR="525145" indent="-367030">
              <a:lnSpc>
                <a:spcPct val="114599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End of each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request: save session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data where it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 found by future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requests.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(where?)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Sessions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8347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Session </a:t>
            </a:r>
            <a:r>
              <a:rPr dirty="0"/>
              <a:t>state </a:t>
            </a:r>
            <a:r>
              <a:rPr spc="-5" dirty="0"/>
              <a:t>in</a:t>
            </a:r>
            <a:r>
              <a:rPr spc="-95" dirty="0"/>
              <a:t> </a:t>
            </a:r>
            <a:r>
              <a:rPr dirty="0"/>
              <a:t>cookies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948295" cy="3288029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Early approach: Store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session state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cookie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Since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cookies can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viewed, changed,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deleted,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stolen,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etc.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care must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 taken.</a:t>
            </a:r>
            <a:r>
              <a:rPr sz="14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Example: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Font typeface="Arial"/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session.user_id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4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"mendel";</a:t>
            </a:r>
            <a:endParaRPr sz="1400">
              <a:latin typeface="Consolas"/>
              <a:cs typeface="Consolas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Font typeface="Arial"/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session.password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4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"foobar";</a:t>
            </a:r>
            <a:endParaRPr sz="1400">
              <a:latin typeface="Consolas"/>
              <a:cs typeface="Consolas"/>
            </a:endParaRPr>
          </a:p>
          <a:p>
            <a:pPr marL="836294" lvl="1" indent="-336550">
              <a:lnSpc>
                <a:spcPct val="100000"/>
              </a:lnSpc>
              <a:spcBef>
                <a:spcPts val="869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cryptography you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can: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Hide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content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viewers,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hackers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Detect forgeries and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changes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Can't do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much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about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deletions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 alternative is to put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pointer to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session state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the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cookie: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03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Set-Cookie: session=0x4137fd6a; Expires=Wed, 09 Jun 2012 10:18:14</a:t>
            </a:r>
            <a:r>
              <a:rPr sz="1400" spc="-3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GMT</a:t>
            </a:r>
            <a:endParaRPr sz="1400">
              <a:latin typeface="Consolas"/>
              <a:cs typeface="Consolas"/>
            </a:endParaRPr>
          </a:p>
          <a:p>
            <a:pPr marL="379095">
              <a:lnSpc>
                <a:spcPct val="100000"/>
              </a:lnSpc>
              <a:spcBef>
                <a:spcPts val="53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Less transfer overhead but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still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need to protect with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cryptography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Sessions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0984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Options for </a:t>
            </a:r>
            <a:r>
              <a:rPr dirty="0"/>
              <a:t>storing session</a:t>
            </a:r>
            <a:r>
              <a:rPr spc="-110" dirty="0"/>
              <a:t> </a:t>
            </a:r>
            <a:r>
              <a:rPr dirty="0"/>
              <a:t>state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6369050" cy="31242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Web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server's memory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Fastest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access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 too large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(many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active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users)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Makes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load balancing across web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servers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hard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85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Storage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Easy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shared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across all the web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servers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 overkill: Don't need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super reliability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storage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 too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much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load for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storage system (Need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on every</a:t>
            </a:r>
            <a:r>
              <a:rPr sz="14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request)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85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Specialized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storage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Support fast fetching 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small, short-lived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Example: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memcache, redis 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memory key-value</a:t>
            </a:r>
            <a:r>
              <a:rPr sz="14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stores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Sessions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802703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onsolas"/>
                <a:cs typeface="Consolas"/>
              </a:rPr>
              <a:t>var session </a:t>
            </a:r>
            <a:r>
              <a:rPr dirty="0">
                <a:latin typeface="Consolas"/>
                <a:cs typeface="Consolas"/>
              </a:rPr>
              <a:t>=</a:t>
            </a:r>
            <a:r>
              <a:rPr spc="-110" dirty="0">
                <a:latin typeface="Consolas"/>
                <a:cs typeface="Consolas"/>
              </a:rPr>
              <a:t> </a:t>
            </a:r>
            <a:r>
              <a:rPr spc="-5" dirty="0">
                <a:latin typeface="Consolas"/>
                <a:cs typeface="Consolas"/>
              </a:rPr>
              <a:t>require('express-session');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954009" cy="305943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ExpressJS has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middleware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layer for dealing with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session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state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Stores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sessionID safely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cookie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Store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session state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session state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store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Like Rails, handles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creation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fetching 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session state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your request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handlers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595959"/>
              </a:buClr>
              <a:buFont typeface="Arial"/>
              <a:buChar char="○"/>
            </a:pPr>
            <a:endParaRPr sz="155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Usage: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065"/>
              </a:spcBef>
            </a:pP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app.use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session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({secret: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'badSecret'}));</a:t>
            </a:r>
            <a:endParaRPr sz="1800">
              <a:latin typeface="Consolas"/>
              <a:cs typeface="Consolas"/>
            </a:endParaRPr>
          </a:p>
          <a:p>
            <a:pPr marL="836294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secret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used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cryptographically sign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sessionID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cookie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065"/>
              </a:spcBef>
            </a:pP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app.</a:t>
            </a:r>
            <a:r>
              <a:rPr sz="1600" spc="-5" dirty="0">
                <a:solidFill>
                  <a:srgbClr val="3C78D8"/>
                </a:solidFill>
                <a:latin typeface="Consolas"/>
                <a:cs typeface="Consolas"/>
              </a:rPr>
              <a:t>get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('</a:t>
            </a:r>
            <a:r>
              <a:rPr sz="1600" spc="-5" dirty="0">
                <a:solidFill>
                  <a:srgbClr val="37761C"/>
                </a:solidFill>
                <a:latin typeface="Consolas"/>
                <a:cs typeface="Consolas"/>
              </a:rPr>
              <a:t>/user/:user_id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', </a:t>
            </a:r>
            <a:r>
              <a:rPr sz="1600" spc="-5" dirty="0">
                <a:solidFill>
                  <a:srgbClr val="3C78D8"/>
                </a:solidFill>
                <a:latin typeface="Consolas"/>
                <a:cs typeface="Consolas"/>
              </a:rPr>
              <a:t>function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httpRequest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,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httpResponse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)</a:t>
            </a:r>
            <a:r>
              <a:rPr sz="1600" spc="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…</a:t>
            </a:r>
            <a:endParaRPr sz="1600">
              <a:latin typeface="Arial"/>
              <a:cs typeface="Arial"/>
            </a:endParaRPr>
          </a:p>
          <a:p>
            <a:pPr marL="836294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httpRequest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.session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an object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you can read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write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Sessions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1187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Express </a:t>
            </a:r>
            <a:r>
              <a:rPr dirty="0"/>
              <a:t>session </a:t>
            </a:r>
            <a:r>
              <a:rPr spc="-5" dirty="0"/>
              <a:t>usage</a:t>
            </a:r>
            <a:r>
              <a:rPr spc="-90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250430" cy="2776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Login handler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route can store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into</a:t>
            </a:r>
            <a:r>
              <a:rPr sz="18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httpRequest.session.user_id</a:t>
            </a:r>
            <a:endParaRPr sz="180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All other handlers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read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httpRequest.session.user_id</a:t>
            </a:r>
            <a:endParaRPr sz="1800">
              <a:latin typeface="Consolas"/>
              <a:cs typeface="Consolas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If not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error 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redirect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login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page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Otherwise we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know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who is logged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595959"/>
              </a:buClr>
              <a:buFont typeface="Arial"/>
              <a:buChar char="○"/>
            </a:pPr>
            <a:endParaRPr sz="155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Can put other per-session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state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httpRequest.session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 logged out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you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will want to destroy the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session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httpRequest.session.destroy(function (err)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 }</a:t>
            </a:r>
            <a:r>
              <a:rPr sz="1800" spc="-5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Sessions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2810"/>
            <a:ext cx="52355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Express Session: </a:t>
            </a:r>
            <a:r>
              <a:rPr sz="3000" spc="-10" dirty="0">
                <a:solidFill>
                  <a:srgbClr val="333333"/>
                </a:solidFill>
              </a:rPr>
              <a:t>Session</a:t>
            </a:r>
            <a:r>
              <a:rPr sz="3000" spc="10" dirty="0">
                <a:solidFill>
                  <a:srgbClr val="333333"/>
                </a:solidFill>
              </a:rPr>
              <a:t> </a:t>
            </a:r>
            <a:r>
              <a:rPr sz="3000" spc="-5" dirty="0">
                <a:solidFill>
                  <a:srgbClr val="333333"/>
                </a:solidFill>
              </a:rPr>
              <a:t>Store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226934" cy="28860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Default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session store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in the Node.js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OK for development but not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production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85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session store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backends for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many storage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systems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Hooking up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MongoDB via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Mongoose</a:t>
            </a:r>
            <a:endParaRPr sz="1800">
              <a:latin typeface="Arial"/>
              <a:cs typeface="Arial"/>
            </a:endParaRPr>
          </a:p>
          <a:p>
            <a:pPr marL="379095" marR="1857375">
              <a:lnSpc>
                <a:spcPct val="156200"/>
              </a:lnSpc>
              <a:spcBef>
                <a:spcPts val="960"/>
              </a:spcBef>
            </a:pPr>
            <a:r>
              <a:rPr sz="1400" spc="-5" dirty="0">
                <a:solidFill>
                  <a:srgbClr val="222222"/>
                </a:solidFill>
                <a:latin typeface="Consolas"/>
                <a:cs typeface="Consolas"/>
              </a:rPr>
              <a:t>var </a:t>
            </a:r>
            <a:r>
              <a:rPr sz="1400" spc="-5" dirty="0">
                <a:latin typeface="Consolas"/>
                <a:cs typeface="Consolas"/>
              </a:rPr>
              <a:t>MongoStore </a:t>
            </a:r>
            <a:r>
              <a:rPr sz="1400" b="1" dirty="0">
                <a:solidFill>
                  <a:srgbClr val="222222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445588"/>
                </a:solidFill>
                <a:latin typeface="Consolas"/>
                <a:cs typeface="Consolas"/>
              </a:rPr>
              <a:t>require</a:t>
            </a:r>
            <a:r>
              <a:rPr sz="1400" spc="-5" dirty="0">
                <a:latin typeface="Consolas"/>
                <a:cs typeface="Consolas"/>
              </a:rPr>
              <a:t>(</a:t>
            </a:r>
            <a:r>
              <a:rPr sz="1400" spc="-5" dirty="0">
                <a:solidFill>
                  <a:srgbClr val="DD1144"/>
                </a:solidFill>
                <a:latin typeface="Consolas"/>
                <a:cs typeface="Consolas"/>
              </a:rPr>
              <a:t>'connect-mongo'</a:t>
            </a:r>
            <a:r>
              <a:rPr sz="1400" spc="-5" dirty="0">
                <a:latin typeface="Consolas"/>
                <a:cs typeface="Consolas"/>
              </a:rPr>
              <a:t>)(express);  expressApp.use(session({</a:t>
            </a:r>
            <a:endParaRPr sz="1400">
              <a:latin typeface="Consolas"/>
              <a:cs typeface="Consolas"/>
            </a:endParaRPr>
          </a:p>
          <a:p>
            <a:pPr marL="769620">
              <a:lnSpc>
                <a:spcPct val="100000"/>
              </a:lnSpc>
              <a:spcBef>
                <a:spcPts val="944"/>
              </a:spcBef>
            </a:pPr>
            <a:r>
              <a:rPr sz="1400" spc="-5" dirty="0">
                <a:latin typeface="Consolas"/>
                <a:cs typeface="Consolas"/>
              </a:rPr>
              <a:t>store</a:t>
            </a:r>
            <a:r>
              <a:rPr sz="1400" b="1" spc="-5" dirty="0">
                <a:solidFill>
                  <a:srgbClr val="222222"/>
                </a:solidFill>
                <a:latin typeface="Consolas"/>
                <a:cs typeface="Consolas"/>
              </a:rPr>
              <a:t>: new </a:t>
            </a:r>
            <a:r>
              <a:rPr sz="1400" spc="-5" dirty="0">
                <a:latin typeface="Consolas"/>
                <a:cs typeface="Consolas"/>
              </a:rPr>
              <a:t>MongoStore({ mongooseConnection</a:t>
            </a:r>
            <a:r>
              <a:rPr sz="1400" b="1" spc="-5" dirty="0">
                <a:solidFill>
                  <a:srgbClr val="222222"/>
                </a:solidFill>
                <a:latin typeface="Consolas"/>
                <a:cs typeface="Consolas"/>
              </a:rPr>
              <a:t>: </a:t>
            </a:r>
            <a:r>
              <a:rPr sz="1400" spc="-5" dirty="0">
                <a:latin typeface="Consolas"/>
                <a:cs typeface="Consolas"/>
              </a:rPr>
              <a:t>mongoose.connection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spc="-5" dirty="0">
                <a:latin typeface="Consolas"/>
                <a:cs typeface="Consolas"/>
              </a:rPr>
              <a:t>})</a:t>
            </a:r>
            <a:endParaRPr sz="1400">
              <a:latin typeface="Consolas"/>
              <a:cs typeface="Consolas"/>
            </a:endParaRPr>
          </a:p>
          <a:p>
            <a:pPr marL="379095">
              <a:lnSpc>
                <a:spcPct val="100000"/>
              </a:lnSpc>
              <a:spcBef>
                <a:spcPts val="944"/>
              </a:spcBef>
            </a:pPr>
            <a:r>
              <a:rPr sz="1400" spc="-5" dirty="0">
                <a:latin typeface="Consolas"/>
                <a:cs typeface="Consolas"/>
              </a:rPr>
              <a:t>}));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Sessions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0985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Cookie </a:t>
            </a:r>
            <a:r>
              <a:rPr dirty="0"/>
              <a:t>replacement: </a:t>
            </a:r>
            <a:r>
              <a:rPr spc="-20" dirty="0"/>
              <a:t>Web </a:t>
            </a:r>
            <a:r>
              <a:rPr spc="-10" dirty="0"/>
              <a:t>Storage</a:t>
            </a:r>
            <a:r>
              <a:rPr spc="-240" dirty="0"/>
              <a:t> </a:t>
            </a:r>
            <a:r>
              <a:rPr spc="-5" dirty="0"/>
              <a:t>API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103109" cy="3261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sessionStorage</a:t>
            </a:r>
            <a:r>
              <a:rPr sz="1800" b="1" spc="-55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Per origin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storage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available when page is open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localStorage</a:t>
            </a:r>
            <a:r>
              <a:rPr sz="1800" b="1" spc="-5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Per origin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storage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 longer lifetime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Standard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key-value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interface:</a:t>
            </a:r>
            <a:endParaRPr sz="1800">
              <a:latin typeface="Arial"/>
              <a:cs typeface="Arial"/>
            </a:endParaRPr>
          </a:p>
          <a:p>
            <a:pPr marL="379095" marR="822960">
              <a:lnSpc>
                <a:spcPct val="149300"/>
              </a:lnSpc>
              <a:spcBef>
                <a:spcPts val="82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localStorage.appSetting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'Anything';  localStorage.setItem('appSetting', 'Anything');  sessionStorage['app2Setting']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8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2;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Limited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space (~10MB)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similar reliability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issues to</a:t>
            </a:r>
            <a:r>
              <a:rPr sz="18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cookies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511CF504F4646AB54E0ACE4A117EC" ma:contentTypeVersion="0" ma:contentTypeDescription="Create a new document." ma:contentTypeScope="" ma:versionID="d4f0da77cb7c9de5903bc21ca831b4e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EFE5F4C-BD98-453F-B50A-A2ECF25DE905}"/>
</file>

<file path=customXml/itemProps2.xml><?xml version="1.0" encoding="utf-8"?>
<ds:datastoreItem xmlns:ds="http://schemas.openxmlformats.org/officeDocument/2006/customXml" ds:itemID="{62C63B4D-602A-4023-B4BB-9E4ADB60EB80}"/>
</file>

<file path=customXml/itemProps3.xml><?xml version="1.0" encoding="utf-8"?>
<ds:datastoreItem xmlns:ds="http://schemas.openxmlformats.org/officeDocument/2006/customXml" ds:itemID="{034ECE35-96EF-48AA-A324-BF338E30299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Words>1090</Words>
  <Application>Microsoft Office PowerPoint</Application>
  <PresentationFormat>On-screen Show (16:9)</PresentationFormat>
  <Paragraphs>148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Times New Roman</vt:lpstr>
      <vt:lpstr>Office Theme</vt:lpstr>
      <vt:lpstr>PowerPoint Presentation</vt:lpstr>
      <vt:lpstr>How do we know what user sent request?</vt:lpstr>
      <vt:lpstr>Where could we get the session state from?</vt:lpstr>
      <vt:lpstr>Session state lookup problem</vt:lpstr>
      <vt:lpstr>HTTP Cookies: Basic Idea</vt:lpstr>
      <vt:lpstr>Cookie contents</vt:lpstr>
      <vt:lpstr>Cookies as web app storage</vt:lpstr>
      <vt:lpstr>Session state with cookies</vt:lpstr>
      <vt:lpstr>Session state in cookies</vt:lpstr>
      <vt:lpstr>Options for storing session state</vt:lpstr>
      <vt:lpstr>var session = require('express-session');</vt:lpstr>
      <vt:lpstr>Express session usage example</vt:lpstr>
      <vt:lpstr>Express Session: Session Store</vt:lpstr>
      <vt:lpstr>Cookie replacement: Web Storage API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Amarsanaa Ganbold</cp:lastModifiedBy>
  <cp:revision>1</cp:revision>
  <dcterms:created xsi:type="dcterms:W3CDTF">2019-08-20T05:21:50Z</dcterms:created>
  <dcterms:modified xsi:type="dcterms:W3CDTF">2021-12-14T05:12:19Z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0x01010055E511CF504F4646AB54E0ACE4A117EC</vt:lpwstr>
  </property>
</Properties>
</file>