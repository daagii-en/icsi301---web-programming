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59958" y="1091184"/>
            <a:ext cx="5824082" cy="160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9100" y="1621501"/>
            <a:ext cx="4666615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myJS.j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527050" marR="5080" indent="-514984">
              <a:lnSpc>
                <a:spcPts val="6220"/>
              </a:lnSpc>
              <a:spcBef>
                <a:spcPts val="325"/>
              </a:spcBef>
            </a:pPr>
            <a:r>
              <a:rPr spc="-5" dirty="0"/>
              <a:t>Hypertext</a:t>
            </a:r>
            <a:r>
              <a:rPr spc="-165" dirty="0"/>
              <a:t> </a:t>
            </a:r>
            <a:r>
              <a:rPr spc="-30" dirty="0"/>
              <a:t>Transport  </a:t>
            </a:r>
            <a:r>
              <a:rPr spc="-15" dirty="0"/>
              <a:t>Protocol</a:t>
            </a:r>
            <a:r>
              <a:rPr spc="-40" dirty="0"/>
              <a:t> </a:t>
            </a:r>
            <a:r>
              <a:rPr dirty="0"/>
              <a:t>(HTTP)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32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Web </a:t>
            </a:r>
            <a:r>
              <a:rPr spc="-10" dirty="0"/>
              <a:t>Application</a:t>
            </a:r>
            <a:r>
              <a:rPr spc="-38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832112" y="2285875"/>
            <a:ext cx="1473973" cy="39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1899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6762" y="1552507"/>
            <a:ext cx="1846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Web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3973" y="3540953"/>
            <a:ext cx="1397523" cy="480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7023" y="4081774"/>
            <a:ext cx="1572411" cy="6940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7024" y="2772091"/>
            <a:ext cx="1584174" cy="603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13075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8175" y="2355044"/>
            <a:ext cx="1584175" cy="4520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82774" y="1125108"/>
            <a:ext cx="1793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Web </a:t>
            </a:r>
            <a:r>
              <a:rPr sz="2400" spc="-5" dirty="0">
                <a:latin typeface="Arial"/>
                <a:cs typeface="Arial"/>
              </a:rPr>
              <a:t>Server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/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82774" y="1487058"/>
            <a:ext cx="2441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Application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33848" y="3029673"/>
            <a:ext cx="1252878" cy="7128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02587" y="3790447"/>
            <a:ext cx="915352" cy="1089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401249" y="802499"/>
                </a:moveTo>
                <a:lnTo>
                  <a:pt x="0" y="401249"/>
                </a:lnTo>
                <a:lnTo>
                  <a:pt x="401249" y="0"/>
                </a:lnTo>
                <a:lnTo>
                  <a:pt x="401249" y="200624"/>
                </a:lnTo>
                <a:lnTo>
                  <a:pt x="1545974" y="200624"/>
                </a:lnTo>
                <a:lnTo>
                  <a:pt x="1746599" y="401249"/>
                </a:lnTo>
                <a:lnTo>
                  <a:pt x="1545974" y="601874"/>
                </a:lnTo>
                <a:lnTo>
                  <a:pt x="401249" y="601874"/>
                </a:lnTo>
                <a:lnTo>
                  <a:pt x="401249" y="802499"/>
                </a:lnTo>
                <a:close/>
              </a:path>
              <a:path w="1746885" h="802639">
                <a:moveTo>
                  <a:pt x="1545974" y="200624"/>
                </a:moveTo>
                <a:lnTo>
                  <a:pt x="1345349" y="200624"/>
                </a:lnTo>
                <a:lnTo>
                  <a:pt x="1345349" y="0"/>
                </a:lnTo>
                <a:lnTo>
                  <a:pt x="1545974" y="200624"/>
                </a:lnTo>
                <a:close/>
              </a:path>
              <a:path w="1746885" h="802639">
                <a:moveTo>
                  <a:pt x="1345349" y="802499"/>
                </a:moveTo>
                <a:lnTo>
                  <a:pt x="1345349" y="601874"/>
                </a:lnTo>
                <a:lnTo>
                  <a:pt x="1545974" y="601874"/>
                </a:lnTo>
                <a:lnTo>
                  <a:pt x="1345349" y="802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0" y="401249"/>
                </a:moveTo>
                <a:lnTo>
                  <a:pt x="401249" y="0"/>
                </a:lnTo>
                <a:lnTo>
                  <a:pt x="401249" y="200624"/>
                </a:lnTo>
                <a:lnTo>
                  <a:pt x="1345349" y="200624"/>
                </a:lnTo>
                <a:lnTo>
                  <a:pt x="1345349" y="0"/>
                </a:lnTo>
                <a:lnTo>
                  <a:pt x="1746599" y="401249"/>
                </a:lnTo>
                <a:lnTo>
                  <a:pt x="1345349" y="802499"/>
                </a:lnTo>
                <a:lnTo>
                  <a:pt x="1345349" y="601874"/>
                </a:lnTo>
                <a:lnTo>
                  <a:pt x="401249" y="601874"/>
                </a:lnTo>
                <a:lnTo>
                  <a:pt x="401249" y="802499"/>
                </a:lnTo>
                <a:lnTo>
                  <a:pt x="0" y="4012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54399" y="3183233"/>
            <a:ext cx="1720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HTTP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06200" y="198187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5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20575" y="1421958"/>
            <a:ext cx="2187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Storage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20989" y="2145825"/>
            <a:ext cx="1464825" cy="417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60243" y="2672350"/>
            <a:ext cx="1186317" cy="802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220649" y="441299"/>
                </a:moveTo>
                <a:lnTo>
                  <a:pt x="0" y="220649"/>
                </a:lnTo>
                <a:lnTo>
                  <a:pt x="220649" y="0"/>
                </a:lnTo>
                <a:lnTo>
                  <a:pt x="220649" y="110324"/>
                </a:lnTo>
                <a:lnTo>
                  <a:pt x="940274" y="110324"/>
                </a:lnTo>
                <a:lnTo>
                  <a:pt x="1050599" y="220649"/>
                </a:lnTo>
                <a:lnTo>
                  <a:pt x="940274" y="330974"/>
                </a:lnTo>
                <a:lnTo>
                  <a:pt x="220649" y="330974"/>
                </a:lnTo>
                <a:lnTo>
                  <a:pt x="220649" y="441299"/>
                </a:lnTo>
                <a:close/>
              </a:path>
              <a:path w="1050925" h="441325">
                <a:moveTo>
                  <a:pt x="940274" y="110324"/>
                </a:moveTo>
                <a:lnTo>
                  <a:pt x="829949" y="110324"/>
                </a:lnTo>
                <a:lnTo>
                  <a:pt x="829949" y="0"/>
                </a:lnTo>
                <a:lnTo>
                  <a:pt x="940274" y="110324"/>
                </a:lnTo>
                <a:close/>
              </a:path>
              <a:path w="1050925" h="441325">
                <a:moveTo>
                  <a:pt x="829949" y="441299"/>
                </a:moveTo>
                <a:lnTo>
                  <a:pt x="829949" y="330974"/>
                </a:lnTo>
                <a:lnTo>
                  <a:pt x="940274" y="330974"/>
                </a:lnTo>
                <a:lnTo>
                  <a:pt x="829949" y="441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0" y="220649"/>
                </a:moveTo>
                <a:lnTo>
                  <a:pt x="220649" y="0"/>
                </a:lnTo>
                <a:lnTo>
                  <a:pt x="220649" y="110324"/>
                </a:lnTo>
                <a:lnTo>
                  <a:pt x="829949" y="110324"/>
                </a:lnTo>
                <a:lnTo>
                  <a:pt x="829949" y="0"/>
                </a:lnTo>
                <a:lnTo>
                  <a:pt x="1050599" y="220649"/>
                </a:lnTo>
                <a:lnTo>
                  <a:pt x="829949" y="441299"/>
                </a:lnTo>
                <a:lnTo>
                  <a:pt x="829949" y="330974"/>
                </a:lnTo>
                <a:lnTo>
                  <a:pt x="220649" y="330974"/>
                </a:lnTo>
                <a:lnTo>
                  <a:pt x="220649" y="441299"/>
                </a:lnTo>
                <a:lnTo>
                  <a:pt x="0" y="2206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47793" y="3784367"/>
            <a:ext cx="366395" cy="1057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" dirty="0">
                <a:latin typeface="Arial"/>
                <a:cs typeface="Arial"/>
              </a:rPr>
              <a:t>Internet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69830" y="3678358"/>
            <a:ext cx="366395" cy="618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" dirty="0">
                <a:latin typeface="Arial"/>
                <a:cs typeface="Arial"/>
              </a:rPr>
              <a:t>LAN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05724" y="2787500"/>
            <a:ext cx="2373630" cy="1208405"/>
          </a:xfrm>
          <a:custGeom>
            <a:avLst/>
            <a:gdLst/>
            <a:ahLst/>
            <a:cxnLst/>
            <a:rect l="l" t="t" r="r" b="b"/>
            <a:pathLst>
              <a:path w="2373629" h="1208404">
                <a:moveTo>
                  <a:pt x="0" y="0"/>
                </a:moveTo>
                <a:lnTo>
                  <a:pt x="2373299" y="0"/>
                </a:lnTo>
                <a:lnTo>
                  <a:pt x="2373299" y="1208099"/>
                </a:lnTo>
                <a:lnTo>
                  <a:pt x="0" y="12080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4A86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053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http://www.example.com:80/index.html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216355"/>
            <a:ext cx="8152765" cy="295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display page browser fetches the file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index.html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800" spc="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Same as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www.example.com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Defaults: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port 80, file index.html, http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protocol)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(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yper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ext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ransport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rotocol)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Simple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request-response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protocol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layered on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TCP/IP</a:t>
            </a:r>
            <a:endParaRPr sz="1800">
              <a:latin typeface="Arial"/>
              <a:cs typeface="Arial"/>
            </a:endParaRPr>
          </a:p>
          <a:p>
            <a:pPr marL="836294" lvl="1" indent="-419734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Establish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TCP/IP connection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595959"/>
                </a:solidFill>
                <a:latin typeface="Consolas"/>
                <a:cs typeface="Consolas"/>
              </a:rPr>
              <a:t>www.example.com:80</a:t>
            </a:r>
            <a:endParaRPr sz="2400">
              <a:latin typeface="Consolas"/>
              <a:cs typeface="Consolas"/>
            </a:endParaRPr>
          </a:p>
          <a:p>
            <a:pPr marL="836294" lvl="1" indent="-419734">
              <a:lnSpc>
                <a:spcPct val="100000"/>
              </a:lnSpc>
              <a:spcBef>
                <a:spcPts val="1495"/>
              </a:spcBef>
              <a:buAutoNum type="arabicPeriod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GET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along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connection</a:t>
            </a:r>
            <a:endParaRPr sz="1800">
              <a:latin typeface="Arial"/>
              <a:cs typeface="Arial"/>
            </a:endParaRPr>
          </a:p>
          <a:p>
            <a:pPr marL="836294" lvl="1" indent="-419734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Read from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connection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the web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2799" y="65224"/>
            <a:ext cx="2973705" cy="380365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" dirty="0">
                <a:latin typeface="Arial"/>
                <a:cs typeface="Arial"/>
              </a:rPr>
              <a:t>Universal Resource Locator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(URL)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44379" y="255125"/>
            <a:ext cx="1548765" cy="260350"/>
          </a:xfrm>
          <a:custGeom>
            <a:avLst/>
            <a:gdLst/>
            <a:ahLst/>
            <a:cxnLst/>
            <a:rect l="l" t="t" r="r" b="b"/>
            <a:pathLst>
              <a:path w="1548764" h="260350">
                <a:moveTo>
                  <a:pt x="1548420" y="0"/>
                </a:moveTo>
                <a:lnTo>
                  <a:pt x="0" y="260188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02208" y="454480"/>
            <a:ext cx="164279" cy="121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7837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Send </a:t>
            </a:r>
            <a:r>
              <a:rPr spc="-5" dirty="0"/>
              <a:t>HTTP Request </a:t>
            </a:r>
            <a:r>
              <a:rPr dirty="0"/>
              <a:t>- </a:t>
            </a:r>
            <a:r>
              <a:rPr spc="-15" dirty="0"/>
              <a:t>Write </a:t>
            </a:r>
            <a:r>
              <a:rPr spc="-5" dirty="0"/>
              <a:t>lines to</a:t>
            </a:r>
            <a:r>
              <a:rPr spc="-105" dirty="0"/>
              <a:t> </a:t>
            </a:r>
            <a:r>
              <a:rPr dirty="0"/>
              <a:t>socket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69100" y="1621501"/>
            <a:ext cx="4039235" cy="262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8380">
              <a:lnSpc>
                <a:spcPct val="114599"/>
              </a:lnSpc>
              <a:spcBef>
                <a:spcPts val="100"/>
              </a:spcBef>
            </a:pPr>
            <a:r>
              <a:rPr sz="1800" b="1" spc="-5" dirty="0">
                <a:latin typeface="Consolas"/>
                <a:cs typeface="Consolas"/>
              </a:rPr>
              <a:t>GET /index.html</a:t>
            </a:r>
            <a:r>
              <a:rPr sz="1800" b="1" spc="-95" dirty="0">
                <a:latin typeface="Consolas"/>
                <a:cs typeface="Consolas"/>
              </a:rPr>
              <a:t> </a:t>
            </a:r>
            <a:r>
              <a:rPr sz="1800" b="1" spc="-5" dirty="0">
                <a:latin typeface="Consolas"/>
                <a:cs typeface="Consolas"/>
              </a:rPr>
              <a:t>HTTP/1.1  Host:</a:t>
            </a:r>
            <a:r>
              <a:rPr sz="1800" b="1" spc="-5" dirty="0">
                <a:latin typeface="Consolas"/>
                <a:cs typeface="Consolas"/>
                <a:hlinkClick r:id="rId2"/>
              </a:rPr>
              <a:t> www.example.com </a:t>
            </a:r>
            <a:r>
              <a:rPr sz="1800" b="1" spc="-5" dirty="0">
                <a:latin typeface="Consolas"/>
                <a:cs typeface="Consolas"/>
              </a:rPr>
              <a:t> User-Agent: Mozilla/5.0  Accept: text/html, */*  Accept-Language: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b="1" spc="-5" dirty="0">
                <a:latin typeface="Consolas"/>
                <a:cs typeface="Consolas"/>
              </a:rPr>
              <a:t>en-us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14599"/>
              </a:lnSpc>
            </a:pPr>
            <a:r>
              <a:rPr sz="1800" b="1" spc="-5" dirty="0">
                <a:latin typeface="Consolas"/>
                <a:cs typeface="Consolas"/>
              </a:rPr>
              <a:t>Accept-Charset:</a:t>
            </a:r>
            <a:r>
              <a:rPr sz="1800" b="1" spc="-95" dirty="0">
                <a:latin typeface="Consolas"/>
                <a:cs typeface="Consolas"/>
              </a:rPr>
              <a:t> </a:t>
            </a:r>
            <a:r>
              <a:rPr sz="1800" b="1" spc="-5" dirty="0">
                <a:latin typeface="Consolas"/>
                <a:cs typeface="Consolas"/>
              </a:rPr>
              <a:t>ISO-8859-1,utf-8  Connection:</a:t>
            </a:r>
            <a:r>
              <a:rPr sz="1800" b="1" spc="-15" dirty="0">
                <a:latin typeface="Consolas"/>
                <a:cs typeface="Consolas"/>
              </a:rPr>
              <a:t> </a:t>
            </a:r>
            <a:r>
              <a:rPr sz="1800" b="1" spc="-5" dirty="0">
                <a:latin typeface="Consolas"/>
                <a:cs typeface="Consolas"/>
              </a:rPr>
              <a:t>keep-alive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i="1" spc="-5" dirty="0">
                <a:solidFill>
                  <a:srgbClr val="A5001E"/>
                </a:solidFill>
                <a:latin typeface="Arial"/>
                <a:cs typeface="Arial"/>
              </a:rPr>
              <a:t>blank</a:t>
            </a:r>
            <a:r>
              <a:rPr sz="2400" i="1" spc="-10" dirty="0">
                <a:solidFill>
                  <a:srgbClr val="A5001E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A5001E"/>
                </a:solidFill>
                <a:latin typeface="Arial"/>
                <a:cs typeface="Arial"/>
              </a:rPr>
              <a:t>line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3333" y="1130356"/>
            <a:ext cx="1662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1895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Method	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7422" y="1081606"/>
            <a:ext cx="1685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Protocol</a:t>
            </a:r>
            <a:r>
              <a:rPr sz="1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Version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88401" y="1393250"/>
            <a:ext cx="81970" cy="234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13051" y="1393375"/>
            <a:ext cx="81970" cy="234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37775" y="1427899"/>
            <a:ext cx="81970" cy="234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34074" y="1812325"/>
            <a:ext cx="501015" cy="1976755"/>
          </a:xfrm>
          <a:custGeom>
            <a:avLst/>
            <a:gdLst/>
            <a:ahLst/>
            <a:cxnLst/>
            <a:rect l="l" t="t" r="r" b="b"/>
            <a:pathLst>
              <a:path w="501014" h="1976754">
                <a:moveTo>
                  <a:pt x="500399" y="1976399"/>
                </a:moveTo>
                <a:lnTo>
                  <a:pt x="421317" y="1974274"/>
                </a:lnTo>
                <a:lnTo>
                  <a:pt x="352635" y="1968354"/>
                </a:lnTo>
                <a:lnTo>
                  <a:pt x="298474" y="1959328"/>
                </a:lnTo>
                <a:lnTo>
                  <a:pt x="250199" y="1934701"/>
                </a:lnTo>
                <a:lnTo>
                  <a:pt x="250199" y="1029898"/>
                </a:lnTo>
                <a:lnTo>
                  <a:pt x="237444" y="1016718"/>
                </a:lnTo>
                <a:lnTo>
                  <a:pt x="201925" y="1005271"/>
                </a:lnTo>
                <a:lnTo>
                  <a:pt x="147764" y="996245"/>
                </a:lnTo>
                <a:lnTo>
                  <a:pt x="79082" y="990325"/>
                </a:lnTo>
                <a:lnTo>
                  <a:pt x="0" y="988199"/>
                </a:lnTo>
                <a:lnTo>
                  <a:pt x="79082" y="986074"/>
                </a:lnTo>
                <a:lnTo>
                  <a:pt x="147764" y="980154"/>
                </a:lnTo>
                <a:lnTo>
                  <a:pt x="201925" y="971128"/>
                </a:lnTo>
                <a:lnTo>
                  <a:pt x="250199" y="946501"/>
                </a:lnTo>
                <a:lnTo>
                  <a:pt x="250199" y="41698"/>
                </a:lnTo>
                <a:lnTo>
                  <a:pt x="262955" y="28518"/>
                </a:lnTo>
                <a:lnTo>
                  <a:pt x="298474" y="17071"/>
                </a:lnTo>
                <a:lnTo>
                  <a:pt x="352635" y="8045"/>
                </a:lnTo>
                <a:lnTo>
                  <a:pt x="421317" y="2125"/>
                </a:lnTo>
                <a:lnTo>
                  <a:pt x="500399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4725" y="2609731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Header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95674" y="4297750"/>
            <a:ext cx="501015" cy="725170"/>
          </a:xfrm>
          <a:custGeom>
            <a:avLst/>
            <a:gdLst/>
            <a:ahLst/>
            <a:cxnLst/>
            <a:rect l="l" t="t" r="r" b="b"/>
            <a:pathLst>
              <a:path w="501014" h="725170">
                <a:moveTo>
                  <a:pt x="500399" y="724799"/>
                </a:moveTo>
                <a:lnTo>
                  <a:pt x="421317" y="722674"/>
                </a:lnTo>
                <a:lnTo>
                  <a:pt x="352635" y="716754"/>
                </a:lnTo>
                <a:lnTo>
                  <a:pt x="298474" y="707728"/>
                </a:lnTo>
                <a:lnTo>
                  <a:pt x="250199" y="683101"/>
                </a:lnTo>
                <a:lnTo>
                  <a:pt x="250199" y="404098"/>
                </a:lnTo>
                <a:lnTo>
                  <a:pt x="237444" y="390918"/>
                </a:lnTo>
                <a:lnTo>
                  <a:pt x="201925" y="379471"/>
                </a:lnTo>
                <a:lnTo>
                  <a:pt x="147764" y="370445"/>
                </a:lnTo>
                <a:lnTo>
                  <a:pt x="79082" y="364525"/>
                </a:lnTo>
                <a:lnTo>
                  <a:pt x="0" y="362399"/>
                </a:lnTo>
                <a:lnTo>
                  <a:pt x="79082" y="360274"/>
                </a:lnTo>
                <a:lnTo>
                  <a:pt x="147764" y="354354"/>
                </a:lnTo>
                <a:lnTo>
                  <a:pt x="201925" y="345328"/>
                </a:lnTo>
                <a:lnTo>
                  <a:pt x="250199" y="320701"/>
                </a:lnTo>
                <a:lnTo>
                  <a:pt x="250199" y="41698"/>
                </a:lnTo>
                <a:lnTo>
                  <a:pt x="262955" y="28518"/>
                </a:lnTo>
                <a:lnTo>
                  <a:pt x="298474" y="17071"/>
                </a:lnTo>
                <a:lnTo>
                  <a:pt x="352635" y="8045"/>
                </a:lnTo>
                <a:lnTo>
                  <a:pt x="421317" y="2125"/>
                </a:lnTo>
                <a:lnTo>
                  <a:pt x="500399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4725" y="4361631"/>
            <a:ext cx="97853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Body 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(optional)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54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HTTP </a:t>
            </a:r>
            <a:r>
              <a:rPr dirty="0"/>
              <a:t>Methods</a:t>
            </a:r>
            <a:r>
              <a:rPr spc="-114" dirty="0"/>
              <a:t> </a:t>
            </a:r>
            <a:r>
              <a:rPr spc="-30" dirty="0"/>
              <a:t>(Verbs)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76350"/>
            <a:ext cx="6383020" cy="26257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Fetch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HEAD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Fetch information about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Store to an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Send form data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and 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response</a:t>
            </a:r>
            <a:r>
              <a:rPr sz="18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DELETE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Delete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12700" marR="1418590">
              <a:lnSpc>
                <a:spcPct val="1875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GET and POST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(forms)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commonly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used.  REST APIs used 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GET, PUT, 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POST,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DELETE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5741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HTTP Response </a:t>
            </a:r>
            <a:r>
              <a:rPr dirty="0"/>
              <a:t>- </a:t>
            </a:r>
            <a:r>
              <a:rPr spc="-5" dirty="0"/>
              <a:t>Read lines from</a:t>
            </a:r>
            <a:r>
              <a:rPr spc="-140" dirty="0"/>
              <a:t> </a:t>
            </a:r>
            <a:r>
              <a:rPr dirty="0"/>
              <a:t>socket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pc="-5" dirty="0"/>
              <a:t>HTTP/1.1 200</a:t>
            </a:r>
            <a:r>
              <a:rPr spc="-15" dirty="0"/>
              <a:t> </a:t>
            </a:r>
            <a:r>
              <a:rPr spc="-5" dirty="0"/>
              <a:t>OK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Date: Thu, 24 Jul 2008 17:36:27</a:t>
            </a:r>
            <a:r>
              <a:rPr spc="-60" dirty="0"/>
              <a:t> </a:t>
            </a:r>
            <a:r>
              <a:rPr spc="-5" dirty="0"/>
              <a:t>GMT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Server:</a:t>
            </a:r>
            <a:r>
              <a:rPr spc="-15" dirty="0"/>
              <a:t> </a:t>
            </a:r>
            <a:r>
              <a:rPr spc="-5" dirty="0"/>
              <a:t>Apache-Coyote/1.1</a:t>
            </a:r>
          </a:p>
          <a:p>
            <a:pPr marL="12700" marR="5080">
              <a:lnSpc>
                <a:spcPct val="114599"/>
              </a:lnSpc>
            </a:pPr>
            <a:r>
              <a:rPr spc="-5" dirty="0"/>
              <a:t>Content-Type: text/html;charset=UTF-8  Content-Length:</a:t>
            </a:r>
            <a:r>
              <a:rPr spc="-15" dirty="0"/>
              <a:t> </a:t>
            </a:r>
            <a:r>
              <a:rPr spc="-5" dirty="0"/>
              <a:t>1846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b="0" i="1" spc="-5" dirty="0">
                <a:solidFill>
                  <a:srgbClr val="A5001E"/>
                </a:solidFill>
                <a:latin typeface="Consolas"/>
                <a:cs typeface="Consolas"/>
              </a:rPr>
              <a:t>blank</a:t>
            </a:r>
            <a:r>
              <a:rPr b="0" i="1" spc="-10" dirty="0">
                <a:solidFill>
                  <a:srgbClr val="A5001E"/>
                </a:solidFill>
                <a:latin typeface="Consolas"/>
                <a:cs typeface="Consolas"/>
              </a:rPr>
              <a:t> </a:t>
            </a:r>
            <a:r>
              <a:rPr b="0" i="1" spc="-5" dirty="0">
                <a:solidFill>
                  <a:srgbClr val="A5001E"/>
                </a:solidFill>
                <a:latin typeface="Consolas"/>
                <a:cs typeface="Consolas"/>
              </a:rPr>
              <a:t>line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&lt;?xml ...</a:t>
            </a:r>
            <a:r>
              <a:rPr spc="-15" dirty="0"/>
              <a:t> </a:t>
            </a:r>
            <a:r>
              <a:rPr dirty="0"/>
              <a:t>&gt;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&lt;!DOCTYPE html ...</a:t>
            </a:r>
            <a:r>
              <a:rPr spc="-20" dirty="0"/>
              <a:t> </a:t>
            </a:r>
            <a:r>
              <a:rPr dirty="0"/>
              <a:t>&gt;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&lt;html ...</a:t>
            </a:r>
            <a:r>
              <a:rPr spc="-15" dirty="0"/>
              <a:t> </a:t>
            </a:r>
            <a:r>
              <a:rPr dirty="0"/>
              <a:t>&gt;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-5" dirty="0"/>
              <a:t>...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69100" y="4804756"/>
            <a:ext cx="904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nsolas"/>
                <a:cs typeface="Consolas"/>
              </a:rPr>
              <a:t>&lt;/html&gt;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3333" y="1130356"/>
            <a:ext cx="1756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6645" algn="l"/>
              </a:tabLst>
            </a:pPr>
            <a:r>
              <a:rPr sz="1800" spc="-105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ersio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	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Status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0147" y="1081606"/>
            <a:ext cx="166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Status</a:t>
            </a:r>
            <a:r>
              <a:rPr sz="18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88401" y="1393250"/>
            <a:ext cx="81970" cy="234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3051" y="1393375"/>
            <a:ext cx="81970" cy="234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6457" y="1437424"/>
            <a:ext cx="285115" cy="219075"/>
          </a:xfrm>
          <a:custGeom>
            <a:avLst/>
            <a:gdLst/>
            <a:ahLst/>
            <a:cxnLst/>
            <a:rect l="l" t="t" r="r" b="b"/>
            <a:pathLst>
              <a:path w="285114" h="219075">
                <a:moveTo>
                  <a:pt x="284692" y="0"/>
                </a:moveTo>
                <a:lnTo>
                  <a:pt x="0" y="218923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18401" y="1621880"/>
            <a:ext cx="106762" cy="96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34074" y="1812325"/>
            <a:ext cx="561975" cy="1450340"/>
          </a:xfrm>
          <a:custGeom>
            <a:avLst/>
            <a:gdLst/>
            <a:ahLst/>
            <a:cxnLst/>
            <a:rect l="l" t="t" r="r" b="b"/>
            <a:pathLst>
              <a:path w="561975" h="1450339">
                <a:moveTo>
                  <a:pt x="561899" y="1449899"/>
                </a:moveTo>
                <a:lnTo>
                  <a:pt x="487212" y="1448227"/>
                </a:lnTo>
                <a:lnTo>
                  <a:pt x="420099" y="1443507"/>
                </a:lnTo>
                <a:lnTo>
                  <a:pt x="363238" y="1436185"/>
                </a:lnTo>
                <a:lnTo>
                  <a:pt x="319307" y="1426709"/>
                </a:lnTo>
                <a:lnTo>
                  <a:pt x="280949" y="1403076"/>
                </a:lnTo>
                <a:lnTo>
                  <a:pt x="280949" y="771772"/>
                </a:lnTo>
                <a:lnTo>
                  <a:pt x="270914" y="759325"/>
                </a:lnTo>
                <a:lnTo>
                  <a:pt x="198661" y="738664"/>
                </a:lnTo>
                <a:lnTo>
                  <a:pt x="141800" y="731342"/>
                </a:lnTo>
                <a:lnTo>
                  <a:pt x="74687" y="726622"/>
                </a:lnTo>
                <a:lnTo>
                  <a:pt x="0" y="724949"/>
                </a:lnTo>
                <a:lnTo>
                  <a:pt x="74687" y="723277"/>
                </a:lnTo>
                <a:lnTo>
                  <a:pt x="141800" y="718557"/>
                </a:lnTo>
                <a:lnTo>
                  <a:pt x="198661" y="711235"/>
                </a:lnTo>
                <a:lnTo>
                  <a:pt x="242592" y="701759"/>
                </a:lnTo>
                <a:lnTo>
                  <a:pt x="280949" y="678126"/>
                </a:lnTo>
                <a:lnTo>
                  <a:pt x="280949" y="46822"/>
                </a:lnTo>
                <a:lnTo>
                  <a:pt x="319307" y="23190"/>
                </a:lnTo>
                <a:lnTo>
                  <a:pt x="363238" y="13714"/>
                </a:lnTo>
                <a:lnTo>
                  <a:pt x="420099" y="6392"/>
                </a:lnTo>
                <a:lnTo>
                  <a:pt x="487212" y="1672"/>
                </a:lnTo>
                <a:lnTo>
                  <a:pt x="561899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4725" y="2345681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Header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5674" y="3633249"/>
            <a:ext cx="501015" cy="1389380"/>
          </a:xfrm>
          <a:custGeom>
            <a:avLst/>
            <a:gdLst/>
            <a:ahLst/>
            <a:cxnLst/>
            <a:rect l="l" t="t" r="r" b="b"/>
            <a:pathLst>
              <a:path w="501014" h="1389379">
                <a:moveTo>
                  <a:pt x="500399" y="1389299"/>
                </a:moveTo>
                <a:lnTo>
                  <a:pt x="421317" y="1387174"/>
                </a:lnTo>
                <a:lnTo>
                  <a:pt x="352635" y="1381254"/>
                </a:lnTo>
                <a:lnTo>
                  <a:pt x="298474" y="1372228"/>
                </a:lnTo>
                <a:lnTo>
                  <a:pt x="250199" y="1347601"/>
                </a:lnTo>
                <a:lnTo>
                  <a:pt x="250199" y="736348"/>
                </a:lnTo>
                <a:lnTo>
                  <a:pt x="237444" y="723168"/>
                </a:lnTo>
                <a:lnTo>
                  <a:pt x="201925" y="711721"/>
                </a:lnTo>
                <a:lnTo>
                  <a:pt x="147764" y="702695"/>
                </a:lnTo>
                <a:lnTo>
                  <a:pt x="79082" y="696775"/>
                </a:lnTo>
                <a:lnTo>
                  <a:pt x="0" y="694649"/>
                </a:lnTo>
                <a:lnTo>
                  <a:pt x="79082" y="692524"/>
                </a:lnTo>
                <a:lnTo>
                  <a:pt x="147764" y="686604"/>
                </a:lnTo>
                <a:lnTo>
                  <a:pt x="201925" y="677578"/>
                </a:lnTo>
                <a:lnTo>
                  <a:pt x="250199" y="652951"/>
                </a:lnTo>
                <a:lnTo>
                  <a:pt x="250199" y="41698"/>
                </a:lnTo>
                <a:lnTo>
                  <a:pt x="262955" y="28518"/>
                </a:lnTo>
                <a:lnTo>
                  <a:pt x="298474" y="17071"/>
                </a:lnTo>
                <a:lnTo>
                  <a:pt x="352635" y="8045"/>
                </a:lnTo>
                <a:lnTo>
                  <a:pt x="421317" y="2125"/>
                </a:lnTo>
                <a:lnTo>
                  <a:pt x="500399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4050" y="4120706"/>
            <a:ext cx="544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Body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415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HTTP Response </a:t>
            </a:r>
            <a:r>
              <a:rPr spc="-10" dirty="0"/>
              <a:t>Status</a:t>
            </a:r>
            <a:r>
              <a:rPr spc="-130" dirty="0"/>
              <a:t> </a:t>
            </a:r>
            <a:r>
              <a:rPr spc="-5" dirty="0"/>
              <a:t>Codes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76350"/>
            <a:ext cx="2532380" cy="3168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200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OK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307 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Temporary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Redirect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404 Not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Found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503 Service Unavailable  500 Internal Server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  501 Not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Implemented</a:t>
            </a:r>
            <a:endParaRPr sz="1800">
              <a:latin typeface="Arial"/>
              <a:cs typeface="Arial"/>
            </a:endParaRPr>
          </a:p>
          <a:p>
            <a:pPr marL="457200" indent="-445134">
              <a:lnSpc>
                <a:spcPct val="100000"/>
              </a:lnSpc>
              <a:spcBef>
                <a:spcPts val="315"/>
              </a:spcBef>
              <a:buAutoNum type="arabicPlain" startAt="400"/>
              <a:tabLst>
                <a:tab pos="45783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  <a:p>
            <a:pPr marL="457200" indent="-445134">
              <a:lnSpc>
                <a:spcPct val="100000"/>
              </a:lnSpc>
              <a:spcBef>
                <a:spcPts val="315"/>
              </a:spcBef>
              <a:buAutoNum type="arabicPlain" startAt="400"/>
              <a:tabLst>
                <a:tab pos="45783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Unauthorized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403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Forbidden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550 Permission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denied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1761" y="1176350"/>
            <a:ext cx="5241925" cy="3168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Success</a:t>
            </a:r>
            <a:endParaRPr sz="1800">
              <a:latin typeface="Arial"/>
              <a:cs typeface="Arial"/>
            </a:endParaRPr>
          </a:p>
          <a:p>
            <a:pPr marL="51435" marR="5080" indent="-26034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Redirection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retries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 Location header  Famous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endParaRPr sz="1800">
              <a:latin typeface="Arial"/>
              <a:cs typeface="Arial"/>
            </a:endParaRPr>
          </a:p>
          <a:p>
            <a:pPr marL="18415" marR="1303655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crashed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Something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messed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 on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Coming</a:t>
            </a:r>
            <a:endParaRPr sz="1800">
              <a:latin typeface="Arial"/>
              <a:cs typeface="Arial"/>
            </a:endParaRPr>
          </a:p>
          <a:p>
            <a:pPr marL="28575" marR="1485265" indent="23495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if web app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sends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bogus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if user isn't logged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  <a:p>
            <a:pPr marL="18415" marR="1641475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if even logging in wouldn't help  Not allow to perform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4948" y="4790775"/>
            <a:ext cx="165798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0012"/>
            <a:ext cx="9143999" cy="4863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150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Browser </a:t>
            </a:r>
            <a:r>
              <a:rPr dirty="0"/>
              <a:t>caching</a:t>
            </a:r>
            <a:r>
              <a:rPr spc="-90" dirty="0"/>
              <a:t> </a:t>
            </a:r>
            <a:r>
              <a:rPr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216355"/>
            <a:ext cx="7419340" cy="361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Response Header: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Cache-Control:</a:t>
            </a:r>
            <a:r>
              <a:rPr sz="18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max-age=&lt;Seconds&gt;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reuse reply younger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 the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max-age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tabLst>
                <a:tab pos="371094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Cache-Control: max-age=120	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Age out in two</a:t>
            </a:r>
            <a:r>
              <a:rPr sz="1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minutes.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Frequently used on fetches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static content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like images, templates, CSS,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JavaScript.</a:t>
            </a:r>
            <a:endParaRPr sz="1800">
              <a:latin typeface="Arial"/>
              <a:cs typeface="Arial"/>
            </a:endParaRPr>
          </a:p>
          <a:p>
            <a:pPr marL="12700" marR="229489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Good: Reduce app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startup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latency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load  Bad: Changes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might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be picked up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right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away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Consider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changes?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934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Browser </a:t>
            </a:r>
            <a:r>
              <a:rPr dirty="0"/>
              <a:t>spends </a:t>
            </a:r>
            <a:r>
              <a:rPr spc="-5" dirty="0"/>
              <a:t>its life fetching things using</a:t>
            </a:r>
            <a:r>
              <a:rPr spc="-85" dirty="0"/>
              <a:t> </a:t>
            </a:r>
            <a:r>
              <a:rPr spc="-5" dirty="0"/>
              <a:t>HTTP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176350"/>
            <a:ext cx="7665720" cy="33591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fetched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immediately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link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href="angular-material.css" rel="stylesheet"</a:t>
            </a:r>
            <a:r>
              <a:rPr sz="18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379095" marR="508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script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src="angular.js" type="text/javascript" &gt;&lt;/script&gt;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window.location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"http://www.example.com";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asynchronous and 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parallel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img</a:t>
            </a:r>
            <a:r>
              <a:rPr sz="1800" spc="-9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src="smiley.gif"&gt;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img</a:t>
            </a:r>
            <a:r>
              <a:rPr sz="1800" spc="-9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src="foobar.jpg"&gt;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img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src="foobar2.jpg"&gt;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background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a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href="http://www.example.com"&gt;&lt;/a&gt;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2248" y="4766045"/>
            <a:ext cx="1683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80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would this </a:t>
            </a:r>
            <a:r>
              <a:rPr dirty="0"/>
              <a:t>JavaScript</a:t>
            </a:r>
            <a:r>
              <a:rPr spc="-100" dirty="0"/>
              <a:t> </a:t>
            </a:r>
            <a:r>
              <a:rPr spc="-5" dirty="0"/>
              <a:t>do?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76350"/>
            <a:ext cx="6125210" cy="14827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elm.innerHTML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endParaRPr sz="1800">
              <a:latin typeface="Consolas"/>
              <a:cs typeface="Consolas"/>
            </a:endParaRPr>
          </a:p>
          <a:p>
            <a:pPr marL="927100" marR="5080" indent="-45720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"&lt;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script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src="http://www.example.com/myJS.js"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type="text/javascript"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&gt;&lt;/script&gt;"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Uses HTTP to fetch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myJS.js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it!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Scary but useful.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25F43E-B997-4392-A302-77EB14B363F5}"/>
</file>

<file path=customXml/itemProps2.xml><?xml version="1.0" encoding="utf-8"?>
<ds:datastoreItem xmlns:ds="http://schemas.openxmlformats.org/officeDocument/2006/customXml" ds:itemID="{EEF2FF7A-3B14-4047-807A-90ABACB47C06}"/>
</file>

<file path=customXml/itemProps3.xml><?xml version="1.0" encoding="utf-8"?>
<ds:datastoreItem xmlns:ds="http://schemas.openxmlformats.org/officeDocument/2006/customXml" ds:itemID="{998C39C7-40DE-4AE5-86F4-4DC39A0E321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664</Words>
  <Application>Microsoft Office PowerPoint</Application>
  <PresentationFormat>On-screen Show (16:9)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Times New Roman</vt:lpstr>
      <vt:lpstr>Office Theme</vt:lpstr>
      <vt:lpstr>Hypertext Transport  Protocol (HTTP)</vt:lpstr>
      <vt:lpstr>Web Application Architecture</vt:lpstr>
      <vt:lpstr>http://www.example.com:80/index.html</vt:lpstr>
      <vt:lpstr>Send HTTP Request - Write lines to socket</vt:lpstr>
      <vt:lpstr>HTTP Methods (Verbs)</vt:lpstr>
      <vt:lpstr>HTTP Response - Read lines from socket</vt:lpstr>
      <vt:lpstr>Common HTTP Response Status Codes</vt:lpstr>
      <vt:lpstr>PowerPoint Presentation</vt:lpstr>
      <vt:lpstr>Browser caching control</vt:lpstr>
      <vt:lpstr>Browser spends its life fetching things using HTTP</vt:lpstr>
      <vt:lpstr>What would this JavaScript 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Hypertext Transport  Protocol (HTTP)</dc:title>
  <cp:lastModifiedBy>Amarsanaa Ganbold</cp:lastModifiedBy>
  <cp:revision>1</cp:revision>
  <dcterms:created xsi:type="dcterms:W3CDTF">2019-08-20T05:19:02Z</dcterms:created>
  <dcterms:modified xsi:type="dcterms:W3CDTF">2021-11-09T04:57:06Z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