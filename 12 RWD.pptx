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9144000" cy="5143500"/>
  <p:defaultTextStyle>
    <a:defPPr>
      <a:defRPr lang="mn-M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47" d="100"/>
          <a:sy n="147" d="100"/>
        </p:scale>
        <p:origin x="573" y="5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49951" y="1881758"/>
            <a:ext cx="7244096" cy="817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3825"/>
            <a:ext cx="8374549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5249" y="1162308"/>
            <a:ext cx="8193500" cy="2476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9951" y="1881758"/>
            <a:ext cx="7240270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00" spc="-5" dirty="0">
                <a:latin typeface="Arial"/>
                <a:cs typeface="Arial"/>
              </a:rPr>
              <a:t>Responsive </a:t>
            </a:r>
            <a:r>
              <a:rPr sz="5200" spc="-35" dirty="0">
                <a:latin typeface="Arial"/>
                <a:cs typeface="Arial"/>
              </a:rPr>
              <a:t>Web</a:t>
            </a:r>
            <a:r>
              <a:rPr sz="5200" spc="-105" dirty="0">
                <a:latin typeface="Arial"/>
                <a:cs typeface="Arial"/>
              </a:rPr>
              <a:t> </a:t>
            </a:r>
            <a:r>
              <a:rPr sz="5200" spc="-5" dirty="0">
                <a:latin typeface="Arial"/>
                <a:cs typeface="Arial"/>
              </a:rPr>
              <a:t>Design</a:t>
            </a:r>
            <a:endParaRPr sz="5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27637" y="2892926"/>
            <a:ext cx="30886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595959"/>
                </a:solidFill>
                <a:latin typeface="Arial"/>
                <a:cs typeface="Arial"/>
              </a:rPr>
              <a:t>Mendel</a:t>
            </a:r>
            <a:r>
              <a:rPr sz="2800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595959"/>
                </a:solidFill>
                <a:latin typeface="Arial"/>
                <a:cs typeface="Arial"/>
              </a:rPr>
              <a:t>Rosenblum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84083" y="4778075"/>
            <a:ext cx="2739390" cy="1676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sz="10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Responsive </a:t>
            </a:r>
            <a:r>
              <a:rPr sz="1000" spc="-10" dirty="0">
                <a:solidFill>
                  <a:srgbClr val="595959"/>
                </a:solidFill>
                <a:latin typeface="Arial"/>
                <a:cs typeface="Arial"/>
              </a:rPr>
              <a:t>Web</a:t>
            </a:r>
            <a:r>
              <a:rPr sz="10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Design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/>
          <p:nvPr/>
        </p:nvSpPr>
        <p:spPr>
          <a:xfrm>
            <a:off x="3184083" y="4778075"/>
            <a:ext cx="2739390" cy="1676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sz="10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Responsive </a:t>
            </a:r>
            <a:r>
              <a:rPr sz="1000" spc="-10" dirty="0">
                <a:solidFill>
                  <a:srgbClr val="595959"/>
                </a:solidFill>
                <a:latin typeface="Arial"/>
                <a:cs typeface="Arial"/>
              </a:rPr>
              <a:t>Web</a:t>
            </a:r>
            <a:r>
              <a:rPr sz="10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Design</a:t>
            </a:r>
            <a:endParaRPr sz="10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64141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Web </a:t>
            </a:r>
            <a:r>
              <a:rPr spc="-10" dirty="0"/>
              <a:t>App </a:t>
            </a:r>
            <a:r>
              <a:rPr spc="-5" dirty="0"/>
              <a:t>Challenges: </a:t>
            </a:r>
            <a:r>
              <a:rPr spc="-10" dirty="0"/>
              <a:t>Screen </a:t>
            </a:r>
            <a:r>
              <a:rPr dirty="0"/>
              <a:t>real</a:t>
            </a:r>
            <a:r>
              <a:rPr spc="-220" dirty="0"/>
              <a:t> </a:t>
            </a:r>
            <a:r>
              <a:rPr spc="-5" dirty="0"/>
              <a:t>estate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4200331"/>
            <a:ext cx="6131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Do we need to build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N versions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of each web</a:t>
            </a:r>
            <a:r>
              <a:rPr sz="18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application?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2350" y="2190751"/>
            <a:ext cx="184666" cy="706524"/>
          </a:xfrm>
          <a:prstGeom prst="rect">
            <a:avLst/>
          </a:prstGeom>
          <a:ln w="19049">
            <a:solidFill>
              <a:srgbClr val="595959"/>
            </a:solidFill>
          </a:ln>
        </p:spPr>
        <p:txBody>
          <a:bodyPr vert="vert270" wrap="square" lIns="0" tIns="79375" rIns="0" bIns="0" rtlCol="0">
            <a:spAutoFit/>
          </a:bodyPr>
          <a:lstStyle/>
          <a:p>
            <a:pPr marL="22860">
              <a:lnSpc>
                <a:spcPct val="100000"/>
              </a:lnSpc>
              <a:spcBef>
                <a:spcPts val="625"/>
              </a:spcBef>
            </a:pPr>
            <a:r>
              <a:rPr sz="1200" spc="-5" dirty="0">
                <a:latin typeface="Arial"/>
                <a:cs typeface="Arial"/>
              </a:rPr>
              <a:t>320x640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86324" y="2403450"/>
            <a:ext cx="650875" cy="337185"/>
          </a:xfrm>
          <a:prstGeom prst="rect">
            <a:avLst/>
          </a:prstGeom>
          <a:ln w="19049">
            <a:solidFill>
              <a:srgbClr val="595959"/>
            </a:solidFill>
          </a:ln>
        </p:spPr>
        <p:txBody>
          <a:bodyPr vert="horz" wrap="square" lIns="0" tIns="83820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660"/>
              </a:spcBef>
            </a:pPr>
            <a:r>
              <a:rPr sz="1200" spc="-5" dirty="0">
                <a:latin typeface="Arial"/>
                <a:cs typeface="Arial"/>
              </a:rPr>
              <a:t>640x320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42950" y="2023799"/>
            <a:ext cx="762635" cy="1096010"/>
          </a:xfrm>
          <a:prstGeom prst="rect">
            <a:avLst/>
          </a:prstGeom>
          <a:ln w="19049">
            <a:solidFill>
              <a:srgbClr val="000000"/>
            </a:solidFill>
          </a:ln>
        </p:spPr>
        <p:txBody>
          <a:bodyPr vert="vert270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Times New Roman"/>
              <a:cs typeface="Times New Roman"/>
            </a:endParaRPr>
          </a:p>
          <a:p>
            <a:pPr marL="15748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768x1024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90049" y="2190600"/>
            <a:ext cx="1096010" cy="762635"/>
          </a:xfrm>
          <a:prstGeom prst="rect">
            <a:avLst/>
          </a:prstGeom>
          <a:ln w="19049">
            <a:solidFill>
              <a:srgbClr val="00000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Times New Roman"/>
              <a:cs typeface="Times New Roman"/>
            </a:endParaRPr>
          </a:p>
          <a:p>
            <a:pPr marL="15748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768x1024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16574" y="1735850"/>
            <a:ext cx="2080260" cy="1096010"/>
          </a:xfrm>
          <a:prstGeom prst="rect">
            <a:avLst/>
          </a:prstGeom>
          <a:ln w="19049">
            <a:solidFill>
              <a:srgbClr val="00000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2700">
              <a:latin typeface="Times New Roman"/>
              <a:cs typeface="Times New Roman"/>
            </a:endParaRPr>
          </a:p>
          <a:p>
            <a:pPr marL="473709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1920x1028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41500" y="3398958"/>
            <a:ext cx="991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45" dirty="0">
                <a:latin typeface="Arial"/>
                <a:cs typeface="Arial"/>
              </a:rPr>
              <a:t>Tablets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4725" y="3347182"/>
            <a:ext cx="68345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551170" algn="l"/>
              </a:tabLst>
            </a:pPr>
            <a:r>
              <a:rPr sz="2400" spc="-5" dirty="0">
                <a:latin typeface="Arial"/>
                <a:cs typeface="Arial"/>
              </a:rPr>
              <a:t>Cel</a:t>
            </a:r>
            <a:r>
              <a:rPr sz="2400" dirty="0">
                <a:latin typeface="Arial"/>
                <a:cs typeface="Arial"/>
              </a:rPr>
              <a:t>l</a:t>
            </a:r>
            <a:r>
              <a:rPr sz="2400" spc="-5" dirty="0">
                <a:latin typeface="Arial"/>
                <a:cs typeface="Arial"/>
              </a:rPr>
              <a:t> Phone</a:t>
            </a:r>
            <a:r>
              <a:rPr sz="2400" dirty="0">
                <a:latin typeface="Arial"/>
                <a:cs typeface="Arial"/>
              </a:rPr>
              <a:t>s	</a:t>
            </a:r>
            <a:r>
              <a:rPr sz="2400" spc="-5" dirty="0">
                <a:latin typeface="Arial"/>
                <a:cs typeface="Arial"/>
              </a:rPr>
              <a:t>Desktops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C7E5513-2E9A-4024-B735-0F54B0897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9510"/>
            <a:ext cx="9144000" cy="4583937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3196783" y="4790775"/>
            <a:ext cx="2713990" cy="142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5"/>
              </a:lnSpc>
            </a:pP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sz="10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Responsive </a:t>
            </a:r>
            <a:r>
              <a:rPr sz="1000" spc="-10" dirty="0">
                <a:solidFill>
                  <a:srgbClr val="595959"/>
                </a:solidFill>
                <a:latin typeface="Arial"/>
                <a:cs typeface="Arial"/>
              </a:rPr>
              <a:t>Web</a:t>
            </a:r>
            <a:r>
              <a:rPr sz="10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Design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4319" y="1515080"/>
            <a:ext cx="677696" cy="214629"/>
          </a:xfrm>
          <a:custGeom>
            <a:avLst/>
            <a:gdLst/>
            <a:ahLst/>
            <a:cxnLst/>
            <a:rect l="l" t="t" r="r" b="b"/>
            <a:pathLst>
              <a:path w="960119" h="214630">
                <a:moveTo>
                  <a:pt x="0" y="107099"/>
                </a:moveTo>
                <a:lnTo>
                  <a:pt x="5202" y="91273"/>
                </a:lnTo>
                <a:lnTo>
                  <a:pt x="20316" y="76168"/>
                </a:lnTo>
                <a:lnTo>
                  <a:pt x="77306" y="48782"/>
                </a:lnTo>
                <a:lnTo>
                  <a:pt x="117699" y="36834"/>
                </a:lnTo>
                <a:lnTo>
                  <a:pt x="165033" y="26269"/>
                </a:lnTo>
                <a:lnTo>
                  <a:pt x="218566" y="17254"/>
                </a:lnTo>
                <a:lnTo>
                  <a:pt x="277557" y="9954"/>
                </a:lnTo>
                <a:lnTo>
                  <a:pt x="341262" y="4534"/>
                </a:lnTo>
                <a:lnTo>
                  <a:pt x="408941" y="1161"/>
                </a:lnTo>
                <a:lnTo>
                  <a:pt x="479849" y="0"/>
                </a:lnTo>
                <a:lnTo>
                  <a:pt x="550758" y="1161"/>
                </a:lnTo>
                <a:lnTo>
                  <a:pt x="618437" y="4534"/>
                </a:lnTo>
                <a:lnTo>
                  <a:pt x="682142" y="9954"/>
                </a:lnTo>
                <a:lnTo>
                  <a:pt x="741133" y="17254"/>
                </a:lnTo>
                <a:lnTo>
                  <a:pt x="794666" y="26269"/>
                </a:lnTo>
                <a:lnTo>
                  <a:pt x="842000" y="36834"/>
                </a:lnTo>
                <a:lnTo>
                  <a:pt x="882393" y="48782"/>
                </a:lnTo>
                <a:lnTo>
                  <a:pt x="939383" y="76168"/>
                </a:lnTo>
                <a:lnTo>
                  <a:pt x="959699" y="107099"/>
                </a:lnTo>
                <a:lnTo>
                  <a:pt x="915101" y="152250"/>
                </a:lnTo>
                <a:lnTo>
                  <a:pt x="842000" y="177365"/>
                </a:lnTo>
                <a:lnTo>
                  <a:pt x="794666" y="187930"/>
                </a:lnTo>
                <a:lnTo>
                  <a:pt x="741133" y="196945"/>
                </a:lnTo>
                <a:lnTo>
                  <a:pt x="682142" y="204245"/>
                </a:lnTo>
                <a:lnTo>
                  <a:pt x="618437" y="209665"/>
                </a:lnTo>
                <a:lnTo>
                  <a:pt x="550758" y="213038"/>
                </a:lnTo>
                <a:lnTo>
                  <a:pt x="479849" y="214199"/>
                </a:lnTo>
                <a:lnTo>
                  <a:pt x="408941" y="213038"/>
                </a:lnTo>
                <a:lnTo>
                  <a:pt x="341262" y="209665"/>
                </a:lnTo>
                <a:lnTo>
                  <a:pt x="277557" y="204245"/>
                </a:lnTo>
                <a:lnTo>
                  <a:pt x="218566" y="196945"/>
                </a:lnTo>
                <a:lnTo>
                  <a:pt x="165033" y="187930"/>
                </a:lnTo>
                <a:lnTo>
                  <a:pt x="117699" y="177365"/>
                </a:lnTo>
                <a:lnTo>
                  <a:pt x="77306" y="165417"/>
                </a:lnTo>
                <a:lnTo>
                  <a:pt x="20316" y="138031"/>
                </a:lnTo>
                <a:lnTo>
                  <a:pt x="5202" y="122926"/>
                </a:lnTo>
                <a:lnTo>
                  <a:pt x="0" y="107099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5">
            <a:extLst>
              <a:ext uri="{FF2B5EF4-FFF2-40B4-BE49-F238E27FC236}">
                <a16:creationId xmlns:a16="http://schemas.microsoft.com/office/drawing/2014/main" id="{82AD7A91-FBA2-4D7A-ABCF-5D3EA83E894F}"/>
              </a:ext>
            </a:extLst>
          </p:cNvPr>
          <p:cNvSpPr/>
          <p:nvPr/>
        </p:nvSpPr>
        <p:spPr>
          <a:xfrm>
            <a:off x="24320" y="1270863"/>
            <a:ext cx="677696" cy="214629"/>
          </a:xfrm>
          <a:custGeom>
            <a:avLst/>
            <a:gdLst/>
            <a:ahLst/>
            <a:cxnLst/>
            <a:rect l="l" t="t" r="r" b="b"/>
            <a:pathLst>
              <a:path w="960119" h="214630">
                <a:moveTo>
                  <a:pt x="0" y="107099"/>
                </a:moveTo>
                <a:lnTo>
                  <a:pt x="5202" y="91273"/>
                </a:lnTo>
                <a:lnTo>
                  <a:pt x="20316" y="76168"/>
                </a:lnTo>
                <a:lnTo>
                  <a:pt x="77306" y="48782"/>
                </a:lnTo>
                <a:lnTo>
                  <a:pt x="117699" y="36834"/>
                </a:lnTo>
                <a:lnTo>
                  <a:pt x="165033" y="26269"/>
                </a:lnTo>
                <a:lnTo>
                  <a:pt x="218566" y="17254"/>
                </a:lnTo>
                <a:lnTo>
                  <a:pt x="277557" y="9954"/>
                </a:lnTo>
                <a:lnTo>
                  <a:pt x="341262" y="4534"/>
                </a:lnTo>
                <a:lnTo>
                  <a:pt x="408941" y="1161"/>
                </a:lnTo>
                <a:lnTo>
                  <a:pt x="479849" y="0"/>
                </a:lnTo>
                <a:lnTo>
                  <a:pt x="550758" y="1161"/>
                </a:lnTo>
                <a:lnTo>
                  <a:pt x="618437" y="4534"/>
                </a:lnTo>
                <a:lnTo>
                  <a:pt x="682142" y="9954"/>
                </a:lnTo>
                <a:lnTo>
                  <a:pt x="741133" y="17254"/>
                </a:lnTo>
                <a:lnTo>
                  <a:pt x="794666" y="26269"/>
                </a:lnTo>
                <a:lnTo>
                  <a:pt x="842000" y="36834"/>
                </a:lnTo>
                <a:lnTo>
                  <a:pt x="882393" y="48782"/>
                </a:lnTo>
                <a:lnTo>
                  <a:pt x="939383" y="76168"/>
                </a:lnTo>
                <a:lnTo>
                  <a:pt x="959699" y="107099"/>
                </a:lnTo>
                <a:lnTo>
                  <a:pt x="915101" y="152250"/>
                </a:lnTo>
                <a:lnTo>
                  <a:pt x="842000" y="177365"/>
                </a:lnTo>
                <a:lnTo>
                  <a:pt x="794666" y="187930"/>
                </a:lnTo>
                <a:lnTo>
                  <a:pt x="741133" y="196945"/>
                </a:lnTo>
                <a:lnTo>
                  <a:pt x="682142" y="204245"/>
                </a:lnTo>
                <a:lnTo>
                  <a:pt x="618437" y="209665"/>
                </a:lnTo>
                <a:lnTo>
                  <a:pt x="550758" y="213038"/>
                </a:lnTo>
                <a:lnTo>
                  <a:pt x="479849" y="214199"/>
                </a:lnTo>
                <a:lnTo>
                  <a:pt x="408941" y="213038"/>
                </a:lnTo>
                <a:lnTo>
                  <a:pt x="341262" y="209665"/>
                </a:lnTo>
                <a:lnTo>
                  <a:pt x="277557" y="204245"/>
                </a:lnTo>
                <a:lnTo>
                  <a:pt x="218566" y="196945"/>
                </a:lnTo>
                <a:lnTo>
                  <a:pt x="165033" y="187930"/>
                </a:lnTo>
                <a:lnTo>
                  <a:pt x="117699" y="177365"/>
                </a:lnTo>
                <a:lnTo>
                  <a:pt x="77306" y="165417"/>
                </a:lnTo>
                <a:lnTo>
                  <a:pt x="20316" y="138031"/>
                </a:lnTo>
                <a:lnTo>
                  <a:pt x="5202" y="122926"/>
                </a:lnTo>
                <a:lnTo>
                  <a:pt x="0" y="107099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DB3EE9-FFC7-4729-A332-B4FE139A37AC}"/>
              </a:ext>
            </a:extLst>
          </p:cNvPr>
          <p:cNvSpPr/>
          <p:nvPr/>
        </p:nvSpPr>
        <p:spPr>
          <a:xfrm>
            <a:off x="7832385" y="285750"/>
            <a:ext cx="12954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84083" y="4766045"/>
            <a:ext cx="273939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sz="10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Responsive </a:t>
            </a:r>
            <a:r>
              <a:rPr sz="1000" spc="-10" dirty="0">
                <a:solidFill>
                  <a:srgbClr val="595959"/>
                </a:solidFill>
                <a:latin typeface="Arial"/>
                <a:cs typeface="Arial"/>
              </a:rPr>
              <a:t>Web</a:t>
            </a:r>
            <a:r>
              <a:rPr sz="10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Design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91032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Responsive </a:t>
            </a:r>
            <a:r>
              <a:rPr spc="-20" dirty="0"/>
              <a:t>Web</a:t>
            </a:r>
            <a:r>
              <a:rPr spc="-95" dirty="0"/>
              <a:t> </a:t>
            </a:r>
            <a:r>
              <a:rPr spc="-5" dirty="0"/>
              <a:t>Design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5249" y="1162308"/>
            <a:ext cx="7820659" cy="302895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Context is like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water!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The web app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should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flow into and fill whatever device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you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have.</a:t>
            </a:r>
            <a:endParaRPr sz="14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3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Possible with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recent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CSS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extensions: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Add grid layout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system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with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relative (e.g.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50%)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rather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than absolute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(e.g.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50pt)</a:t>
            </a:r>
            <a:r>
              <a:rPr sz="1400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measures</a:t>
            </a:r>
            <a:endParaRPr sz="1400">
              <a:latin typeface="Arial"/>
              <a:cs typeface="Arial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Specify element packing into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columns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rows</a:t>
            </a:r>
            <a:endParaRPr sz="1400">
              <a:latin typeface="Arial"/>
              <a:cs typeface="Arial"/>
            </a:endParaRPr>
          </a:p>
          <a:p>
            <a:pPr marL="335280" marR="3771900" lvl="1" indent="-335280" algn="r">
              <a:lnSpc>
                <a:spcPct val="100000"/>
              </a:lnSpc>
              <a:spcBef>
                <a:spcPts val="270"/>
              </a:spcBef>
              <a:buChar char="○"/>
              <a:tabLst>
                <a:tab pos="335280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Add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@media</a:t>
            </a:r>
            <a:r>
              <a:rPr sz="1400" spc="-46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rules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based on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screen sizes</a:t>
            </a:r>
            <a:endParaRPr sz="1400">
              <a:latin typeface="Arial"/>
              <a:cs typeface="Arial"/>
            </a:endParaRPr>
          </a:p>
          <a:p>
            <a:pPr marL="335280" marR="3745229" lvl="2" indent="-335280" algn="r">
              <a:lnSpc>
                <a:spcPct val="100000"/>
              </a:lnSpc>
              <a:spcBef>
                <a:spcPts val="270"/>
              </a:spcBef>
              <a:buChar char="■"/>
              <a:tabLst>
                <a:tab pos="335280" algn="l"/>
                <a:tab pos="3365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Switch layout based on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screen</a:t>
            </a:r>
            <a:r>
              <a:rPr sz="1400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size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Made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images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support relative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sizes</a:t>
            </a:r>
            <a:endParaRPr sz="1400">
              <a:latin typeface="Arial"/>
              <a:cs typeface="Arial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Autoscale image and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videos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to fit in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screen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region</a:t>
            </a:r>
            <a:endParaRPr sz="1400">
              <a:latin typeface="Arial"/>
              <a:cs typeface="Arial"/>
            </a:endParaRPr>
          </a:p>
          <a:p>
            <a:pPr marL="1293495" marR="3008630">
              <a:lnSpc>
                <a:spcPct val="116100"/>
              </a:lnSpc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img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{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width: 100%; height: auto;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} 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video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{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width: 100%; height: auto;</a:t>
            </a:r>
            <a:r>
              <a:rPr sz="1400" spc="-8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}</a:t>
            </a:r>
            <a:endParaRPr sz="14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96783" y="4790775"/>
            <a:ext cx="2713990" cy="142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5"/>
              </a:lnSpc>
            </a:pP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sz="10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Responsive </a:t>
            </a:r>
            <a:r>
              <a:rPr sz="1000" spc="-10" dirty="0">
                <a:solidFill>
                  <a:srgbClr val="595959"/>
                </a:solidFill>
                <a:latin typeface="Arial"/>
                <a:cs typeface="Arial"/>
              </a:rPr>
              <a:t>Web</a:t>
            </a:r>
            <a:r>
              <a:rPr sz="10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Design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57429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Example </a:t>
            </a:r>
            <a:r>
              <a:rPr spc="-5" dirty="0"/>
              <a:t>of Responsive </a:t>
            </a:r>
            <a:r>
              <a:rPr spc="-20" dirty="0"/>
              <a:t>Web</a:t>
            </a:r>
            <a:r>
              <a:rPr spc="-80" dirty="0"/>
              <a:t> </a:t>
            </a:r>
            <a:r>
              <a:rPr spc="-5" dirty="0"/>
              <a:t>Layout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06937" y="1012962"/>
          <a:ext cx="8629015" cy="19847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59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5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77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5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559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Menu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#1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25%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FF0000"/>
                      </a:solidFill>
                      <a:prstDash val="solid"/>
                    </a:lnL>
                    <a:lnR w="9525">
                      <a:solidFill>
                        <a:srgbClr val="FF0000"/>
                      </a:solidFill>
                      <a:prstDash val="solid"/>
                    </a:lnR>
                    <a:lnT w="9525">
                      <a:solidFill>
                        <a:srgbClr val="FF0000"/>
                      </a:solidFill>
                      <a:prstDash val="solid"/>
                    </a:lnT>
                    <a:lnB w="9525">
                      <a:solidFill>
                        <a:srgbClr val="7F6000"/>
                      </a:solidFill>
                      <a:prstDash val="solid"/>
                    </a:lnB>
                    <a:solidFill>
                      <a:srgbClr val="C9DAF7"/>
                    </a:solidFill>
                  </a:tcPr>
                </a:tc>
                <a:tc>
                  <a:txBody>
                    <a:bodyPr/>
                    <a:lstStyle/>
                    <a:p>
                      <a:pPr marL="47434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Menu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#2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25%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FF0000"/>
                      </a:solidFill>
                      <a:prstDash val="solid"/>
                    </a:lnL>
                    <a:lnR w="9525">
                      <a:solidFill>
                        <a:srgbClr val="FF0000"/>
                      </a:solidFill>
                      <a:prstDash val="solid"/>
                    </a:lnR>
                    <a:lnT w="9525">
                      <a:solidFill>
                        <a:srgbClr val="FF0000"/>
                      </a:solidFill>
                      <a:prstDash val="solid"/>
                    </a:lnT>
                    <a:lnB w="9525">
                      <a:solidFill>
                        <a:srgbClr val="7F6000"/>
                      </a:solidFill>
                      <a:prstDash val="solid"/>
                    </a:lnB>
                    <a:solidFill>
                      <a:srgbClr val="C9DAF7"/>
                    </a:solidFill>
                  </a:tcPr>
                </a:tc>
                <a:tc>
                  <a:txBody>
                    <a:bodyPr/>
                    <a:lstStyle/>
                    <a:p>
                      <a:pPr marL="47561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Menu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#3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25%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FF0000"/>
                      </a:solidFill>
                      <a:prstDash val="solid"/>
                    </a:lnL>
                    <a:lnR w="9525">
                      <a:solidFill>
                        <a:srgbClr val="FF0000"/>
                      </a:solidFill>
                      <a:prstDash val="solid"/>
                    </a:lnR>
                    <a:lnT w="9525">
                      <a:solidFill>
                        <a:srgbClr val="FF0000"/>
                      </a:solidFill>
                      <a:prstDash val="solid"/>
                    </a:lnT>
                    <a:lnB w="9525">
                      <a:solidFill>
                        <a:srgbClr val="7F6000"/>
                      </a:solidFill>
                      <a:prstDash val="solid"/>
                    </a:lnB>
                    <a:solidFill>
                      <a:srgbClr val="C9DAF7"/>
                    </a:solidFill>
                  </a:tcPr>
                </a:tc>
                <a:tc>
                  <a:txBody>
                    <a:bodyPr/>
                    <a:lstStyle/>
                    <a:p>
                      <a:pPr marL="47561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Menu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#4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25%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FF0000"/>
                      </a:solidFill>
                      <a:prstDash val="solid"/>
                    </a:lnL>
                    <a:lnR w="9525">
                      <a:solidFill>
                        <a:srgbClr val="FF0000"/>
                      </a:solidFill>
                      <a:prstDash val="solid"/>
                    </a:lnR>
                    <a:lnT w="9525">
                      <a:solidFill>
                        <a:srgbClr val="FF0000"/>
                      </a:solidFill>
                      <a:prstDash val="solid"/>
                    </a:lnT>
                    <a:lnB w="9525">
                      <a:solidFill>
                        <a:srgbClr val="7F6000"/>
                      </a:solidFill>
                      <a:prstDash val="solid"/>
                    </a:lnB>
                    <a:solidFill>
                      <a:srgbClr val="C9D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59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Nav #1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25%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7F6000"/>
                      </a:solidFill>
                      <a:prstDash val="solid"/>
                    </a:lnL>
                    <a:lnR w="19050">
                      <a:solidFill>
                        <a:srgbClr val="7F6000"/>
                      </a:solidFill>
                      <a:prstDash val="solid"/>
                    </a:lnR>
                    <a:lnT w="9525">
                      <a:solidFill>
                        <a:srgbClr val="7F6000"/>
                      </a:solidFill>
                      <a:prstDash val="solid"/>
                    </a:lnT>
                    <a:lnB w="9525">
                      <a:solidFill>
                        <a:srgbClr val="7F6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 rowSpan="3"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85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View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component -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75%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7F6000"/>
                      </a:solidFill>
                      <a:prstDash val="solid"/>
                    </a:lnL>
                    <a:lnR w="9525">
                      <a:solidFill>
                        <a:srgbClr val="7F6000"/>
                      </a:solidFill>
                      <a:prstDash val="solid"/>
                    </a:lnR>
                    <a:lnT w="9525">
                      <a:solidFill>
                        <a:srgbClr val="7F6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1C13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59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Nav #2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25%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7F6000"/>
                      </a:solidFill>
                      <a:prstDash val="solid"/>
                    </a:lnL>
                    <a:lnR w="19050">
                      <a:solidFill>
                        <a:srgbClr val="7F6000"/>
                      </a:solidFill>
                      <a:prstDash val="solid"/>
                    </a:lnR>
                    <a:lnT w="9525">
                      <a:solidFill>
                        <a:srgbClr val="7F6000"/>
                      </a:solidFill>
                      <a:prstDash val="solid"/>
                    </a:lnT>
                    <a:lnB w="9525">
                      <a:solidFill>
                        <a:srgbClr val="7F6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7F6000"/>
                      </a:solidFill>
                      <a:prstDash val="solid"/>
                    </a:lnL>
                    <a:lnR w="9525">
                      <a:solidFill>
                        <a:srgbClr val="7F6000"/>
                      </a:solidFill>
                      <a:prstDash val="solid"/>
                    </a:lnR>
                    <a:lnT w="9525">
                      <a:solidFill>
                        <a:srgbClr val="7F6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1C13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559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Nav #3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25%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7F6000"/>
                      </a:solidFill>
                      <a:prstDash val="solid"/>
                    </a:lnL>
                    <a:lnR w="19050">
                      <a:solidFill>
                        <a:srgbClr val="7F6000"/>
                      </a:solidFill>
                      <a:prstDash val="solid"/>
                    </a:lnR>
                    <a:lnT w="9525">
                      <a:solidFill>
                        <a:srgbClr val="7F6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7F6000"/>
                      </a:solidFill>
                      <a:prstDash val="solid"/>
                    </a:lnL>
                    <a:lnR w="9525">
                      <a:solidFill>
                        <a:srgbClr val="7F6000"/>
                      </a:solidFill>
                      <a:prstDash val="solid"/>
                    </a:lnR>
                    <a:lnT w="9525">
                      <a:solidFill>
                        <a:srgbClr val="7F6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1C13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2399">
                <a:tc gridSpan="4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Footer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100%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EFF4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462037" y="3040962"/>
          <a:ext cx="5782308" cy="19847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46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58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4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559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Menu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#1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25%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FF0000"/>
                      </a:solidFill>
                      <a:prstDash val="solid"/>
                    </a:lnL>
                    <a:lnR w="12700">
                      <a:solidFill>
                        <a:srgbClr val="FF0000"/>
                      </a:solidFill>
                      <a:prstDash val="solid"/>
                    </a:lnR>
                    <a:lnT w="9525">
                      <a:solidFill>
                        <a:srgbClr val="FF0000"/>
                      </a:solidFill>
                      <a:prstDash val="solid"/>
                    </a:lnT>
                    <a:lnB w="9525">
                      <a:solidFill>
                        <a:srgbClr val="7F6000"/>
                      </a:solidFill>
                      <a:prstDash val="solid"/>
                    </a:lnB>
                    <a:solidFill>
                      <a:srgbClr val="C9DAF7"/>
                    </a:solidFill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Menu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#2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25%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FF0000"/>
                      </a:solidFill>
                      <a:prstDash val="solid"/>
                    </a:lnL>
                    <a:lnR w="12700">
                      <a:solidFill>
                        <a:srgbClr val="FF0000"/>
                      </a:solidFill>
                      <a:prstDash val="solid"/>
                    </a:lnR>
                    <a:lnT w="9525">
                      <a:solidFill>
                        <a:srgbClr val="FF0000"/>
                      </a:solidFill>
                      <a:prstDash val="solid"/>
                    </a:lnT>
                    <a:lnB w="9525">
                      <a:solidFill>
                        <a:srgbClr val="7F6000"/>
                      </a:solidFill>
                      <a:prstDash val="solid"/>
                    </a:lnB>
                    <a:solidFill>
                      <a:srgbClr val="C9DAF7"/>
                    </a:solidFill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Menu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#3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25%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FF0000"/>
                      </a:solidFill>
                      <a:prstDash val="solid"/>
                    </a:lnL>
                    <a:lnR w="12700">
                      <a:solidFill>
                        <a:srgbClr val="FF0000"/>
                      </a:solidFill>
                      <a:prstDash val="solid"/>
                    </a:lnR>
                    <a:lnT w="9525">
                      <a:solidFill>
                        <a:srgbClr val="FF0000"/>
                      </a:solidFill>
                      <a:prstDash val="solid"/>
                    </a:lnT>
                    <a:lnB w="9525">
                      <a:solidFill>
                        <a:srgbClr val="7F6000"/>
                      </a:solidFill>
                      <a:prstDash val="solid"/>
                    </a:lnB>
                    <a:solidFill>
                      <a:srgbClr val="C9DAF7"/>
                    </a:solidFill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Menu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#4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25%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FF0000"/>
                      </a:solidFill>
                      <a:prstDash val="solid"/>
                    </a:lnL>
                    <a:lnR w="9525">
                      <a:solidFill>
                        <a:srgbClr val="FF0000"/>
                      </a:solidFill>
                      <a:prstDash val="solid"/>
                    </a:lnR>
                    <a:lnT w="9525">
                      <a:solidFill>
                        <a:srgbClr val="FF0000"/>
                      </a:solidFill>
                      <a:prstDash val="solid"/>
                    </a:lnT>
                    <a:lnB w="9525">
                      <a:solidFill>
                        <a:srgbClr val="7F6000"/>
                      </a:solidFill>
                      <a:prstDash val="solid"/>
                    </a:lnB>
                    <a:solidFill>
                      <a:srgbClr val="C9D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59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Nav #1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25%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7F6000"/>
                      </a:solidFill>
                      <a:prstDash val="solid"/>
                    </a:lnL>
                    <a:lnR w="12700">
                      <a:solidFill>
                        <a:srgbClr val="7F6000"/>
                      </a:solidFill>
                      <a:prstDash val="solid"/>
                    </a:lnR>
                    <a:lnT w="9525">
                      <a:solidFill>
                        <a:srgbClr val="7F6000"/>
                      </a:solidFill>
                      <a:prstDash val="solid"/>
                    </a:lnT>
                    <a:lnB w="9525">
                      <a:solidFill>
                        <a:srgbClr val="7F6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 rowSpan="3"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850">
                        <a:latin typeface="Times New Roman"/>
                        <a:cs typeface="Times New Roman"/>
                      </a:endParaRPr>
                    </a:p>
                    <a:p>
                      <a:pPr marL="1254760">
                        <a:lnSpc>
                          <a:spcPct val="100000"/>
                        </a:lnSpc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View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component -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75%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7F6000"/>
                      </a:solidFill>
                      <a:prstDash val="solid"/>
                    </a:lnL>
                    <a:lnR w="9525">
                      <a:solidFill>
                        <a:srgbClr val="7F6000"/>
                      </a:solidFill>
                      <a:prstDash val="solid"/>
                    </a:lnR>
                    <a:lnT w="9525">
                      <a:solidFill>
                        <a:srgbClr val="7F6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1C13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59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Nav #2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25%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9525">
                      <a:solidFill>
                        <a:srgbClr val="7F6000"/>
                      </a:solidFill>
                      <a:prstDash val="solid"/>
                    </a:lnL>
                    <a:lnR w="12700">
                      <a:solidFill>
                        <a:srgbClr val="7F6000"/>
                      </a:solidFill>
                      <a:prstDash val="solid"/>
                    </a:lnR>
                    <a:lnT w="9525">
                      <a:solidFill>
                        <a:srgbClr val="7F6000"/>
                      </a:solidFill>
                      <a:prstDash val="solid"/>
                    </a:lnT>
                    <a:lnB w="9525">
                      <a:solidFill>
                        <a:srgbClr val="7F6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7F6000"/>
                      </a:solidFill>
                      <a:prstDash val="solid"/>
                    </a:lnL>
                    <a:lnR w="9525">
                      <a:solidFill>
                        <a:srgbClr val="7F6000"/>
                      </a:solidFill>
                      <a:prstDash val="solid"/>
                    </a:lnR>
                    <a:lnT w="9525">
                      <a:solidFill>
                        <a:srgbClr val="7F6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1C13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559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Nav #3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25%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7F6000"/>
                      </a:solidFill>
                      <a:prstDash val="solid"/>
                    </a:lnL>
                    <a:lnR w="12700">
                      <a:solidFill>
                        <a:srgbClr val="7F6000"/>
                      </a:solidFill>
                      <a:prstDash val="solid"/>
                    </a:lnR>
                    <a:lnT w="9525">
                      <a:solidFill>
                        <a:srgbClr val="7F6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7F6000"/>
                      </a:solidFill>
                      <a:prstDash val="solid"/>
                    </a:lnL>
                    <a:lnR w="9525">
                      <a:solidFill>
                        <a:srgbClr val="7F6000"/>
                      </a:solidFill>
                      <a:prstDash val="solid"/>
                    </a:lnR>
                    <a:lnT w="9525">
                      <a:solidFill>
                        <a:srgbClr val="7F6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1C13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2399">
                <a:tc gridSpan="4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Footer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100%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EFF4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3184083" y="4778075"/>
            <a:ext cx="2739390" cy="1676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sz="10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Responsive </a:t>
            </a:r>
            <a:r>
              <a:rPr sz="1000" spc="-10" dirty="0">
                <a:solidFill>
                  <a:srgbClr val="595959"/>
                </a:solidFill>
                <a:latin typeface="Arial"/>
                <a:cs typeface="Arial"/>
              </a:rPr>
              <a:t>Web</a:t>
            </a:r>
            <a:r>
              <a:rPr sz="10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Design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9641055"/>
              </p:ext>
            </p:extLst>
          </p:nvPr>
        </p:nvGraphicFramePr>
        <p:xfrm>
          <a:off x="6248400" y="1061315"/>
          <a:ext cx="2165985" cy="38176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5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7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7424">
                <a:tc gridSpan="3">
                  <a:txBody>
                    <a:bodyPr/>
                    <a:lstStyle/>
                    <a:p>
                      <a:pPr marL="42672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Menu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#1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100%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0000"/>
                      </a:solidFill>
                      <a:prstDash val="solid"/>
                    </a:lnR>
                    <a:lnT w="9525">
                      <a:solidFill>
                        <a:srgbClr val="FF0000"/>
                      </a:solidFill>
                      <a:prstDash val="solid"/>
                    </a:lnT>
                    <a:lnB w="9525">
                      <a:solidFill>
                        <a:srgbClr val="FF0000"/>
                      </a:solidFill>
                      <a:prstDash val="solid"/>
                    </a:lnB>
                    <a:solidFill>
                      <a:srgbClr val="C9DA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249">
                <a:tc gridSpan="3">
                  <a:txBody>
                    <a:bodyPr/>
                    <a:lstStyle/>
                    <a:p>
                      <a:pPr marL="42672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Menu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#2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100%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9017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0000"/>
                      </a:solidFill>
                      <a:prstDash val="solid"/>
                    </a:lnR>
                    <a:lnT w="9525">
                      <a:solidFill>
                        <a:srgbClr val="FF0000"/>
                      </a:solidFill>
                      <a:prstDash val="solid"/>
                    </a:lnT>
                    <a:lnB w="9525">
                      <a:solidFill>
                        <a:srgbClr val="FF0000"/>
                      </a:solidFill>
                      <a:prstDash val="solid"/>
                    </a:lnB>
                    <a:solidFill>
                      <a:srgbClr val="C9DA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249">
                <a:tc gridSpan="3">
                  <a:txBody>
                    <a:bodyPr/>
                    <a:lstStyle/>
                    <a:p>
                      <a:pPr marL="42672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Menu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#3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100%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9017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0000"/>
                      </a:solidFill>
                      <a:prstDash val="solid"/>
                    </a:lnR>
                    <a:lnT w="9525">
                      <a:solidFill>
                        <a:srgbClr val="FF0000"/>
                      </a:solidFill>
                      <a:prstDash val="solid"/>
                    </a:lnT>
                    <a:lnB w="9525">
                      <a:solidFill>
                        <a:srgbClr val="FF0000"/>
                      </a:solidFill>
                      <a:prstDash val="solid"/>
                    </a:lnB>
                    <a:solidFill>
                      <a:srgbClr val="C9DA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249">
                <a:tc gridSpan="3">
                  <a:txBody>
                    <a:bodyPr/>
                    <a:lstStyle/>
                    <a:p>
                      <a:pPr marL="42672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Menu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#4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100%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9017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0000"/>
                      </a:solidFill>
                      <a:prstDash val="solid"/>
                    </a:lnR>
                    <a:lnT w="9525">
                      <a:solidFill>
                        <a:srgbClr val="FF0000"/>
                      </a:solidFill>
                      <a:prstDash val="solid"/>
                    </a:lnT>
                    <a:lnB w="9525">
                      <a:solidFill>
                        <a:srgbClr val="7F6000"/>
                      </a:solidFill>
                      <a:prstDash val="solid"/>
                    </a:lnB>
                    <a:solidFill>
                      <a:srgbClr val="C9DA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4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7F6000"/>
                      </a:solidFill>
                      <a:prstDash val="solid"/>
                    </a:lnR>
                    <a:lnT w="9525">
                      <a:solidFill>
                        <a:srgbClr val="7F6000"/>
                      </a:solidFill>
                      <a:prstDash val="solid"/>
                    </a:lnT>
                    <a:lnB w="9525">
                      <a:solidFill>
                        <a:srgbClr val="7F6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R="349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Nav #1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2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25%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0170" marB="0">
                    <a:lnL w="9525">
                      <a:solidFill>
                        <a:srgbClr val="7F6000"/>
                      </a:solidFill>
                      <a:prstDash val="solid"/>
                    </a:lnL>
                    <a:lnR w="9525">
                      <a:solidFill>
                        <a:srgbClr val="7F6000"/>
                      </a:solidFill>
                      <a:prstDash val="solid"/>
                    </a:lnR>
                    <a:lnT w="9525">
                      <a:solidFill>
                        <a:srgbClr val="7F6000"/>
                      </a:solidFill>
                      <a:prstDash val="solid"/>
                    </a:lnT>
                    <a:lnB w="9525">
                      <a:solidFill>
                        <a:srgbClr val="7F6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  <a:p>
                      <a:pPr marL="14604" algn="ctr">
                        <a:lnSpc>
                          <a:spcPct val="100000"/>
                        </a:lnSpc>
                      </a:pPr>
                      <a:r>
                        <a:rPr lang="es-ES" sz="1400" spc="-10" dirty="0">
                          <a:latin typeface="Arial"/>
                          <a:cs typeface="Arial"/>
                        </a:rPr>
                        <a:t>View </a:t>
                      </a:r>
                      <a:br>
                        <a:rPr lang="es-ES" sz="1400" spc="-10" dirty="0">
                          <a:latin typeface="Arial"/>
                          <a:cs typeface="Arial"/>
                        </a:rPr>
                      </a:br>
                      <a:r>
                        <a:rPr lang="es-ES" sz="1400" dirty="0">
                          <a:latin typeface="Arial"/>
                          <a:cs typeface="Arial"/>
                        </a:rPr>
                        <a:t>compone</a:t>
                      </a:r>
                      <a:r>
                        <a:rPr lang="en-US" sz="1400" dirty="0" err="1">
                          <a:latin typeface="Arial"/>
                          <a:cs typeface="Arial"/>
                        </a:rPr>
                        <a:t>nt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 -</a:t>
                      </a:r>
                      <a:r>
                        <a:rPr sz="14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400" spc="-5" dirty="0">
                          <a:latin typeface="Arial"/>
                          <a:cs typeface="Arial"/>
                        </a:rPr>
                        <a:t>75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%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7F6000"/>
                      </a:solidFill>
                      <a:prstDash val="solid"/>
                    </a:lnL>
                    <a:lnR w="9525">
                      <a:solidFill>
                        <a:srgbClr val="7F6000"/>
                      </a:solidFill>
                      <a:prstDash val="solid"/>
                    </a:lnR>
                    <a:lnT w="9525">
                      <a:solidFill>
                        <a:srgbClr val="FF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1C1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55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7F6000"/>
                      </a:solidFill>
                      <a:prstDash val="solid"/>
                    </a:lnR>
                    <a:lnT w="9525">
                      <a:solidFill>
                        <a:srgbClr val="7F6000"/>
                      </a:solidFill>
                      <a:prstDash val="solid"/>
                    </a:lnT>
                    <a:lnB w="9525">
                      <a:solidFill>
                        <a:srgbClr val="7F6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R="3492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Nav #2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2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25%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7F6000"/>
                      </a:solidFill>
                      <a:prstDash val="solid"/>
                    </a:lnL>
                    <a:lnR w="9525">
                      <a:solidFill>
                        <a:srgbClr val="7F6000"/>
                      </a:solidFill>
                      <a:prstDash val="solid"/>
                    </a:lnR>
                    <a:lnT w="9525">
                      <a:solidFill>
                        <a:srgbClr val="7F6000"/>
                      </a:solidFill>
                      <a:prstDash val="solid"/>
                    </a:lnT>
                    <a:lnB w="9525">
                      <a:solidFill>
                        <a:srgbClr val="7F6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7F6000"/>
                      </a:solidFill>
                      <a:prstDash val="solid"/>
                    </a:lnL>
                    <a:lnR w="9525">
                      <a:solidFill>
                        <a:srgbClr val="7F6000"/>
                      </a:solidFill>
                      <a:prstDash val="solid"/>
                    </a:lnR>
                    <a:lnT w="9525">
                      <a:solidFill>
                        <a:srgbClr val="FF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1C1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74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7F6000"/>
                      </a:solidFill>
                      <a:prstDash val="solid"/>
                    </a:lnR>
                    <a:lnT w="9525">
                      <a:solidFill>
                        <a:srgbClr val="7F6000"/>
                      </a:solidFill>
                      <a:prstDash val="solid"/>
                    </a:lnT>
                    <a:lnB w="9525">
                      <a:solidFill>
                        <a:srgbClr val="7F6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R="3492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Nav #3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2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25%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7F6000"/>
                      </a:solidFill>
                      <a:prstDash val="solid"/>
                    </a:lnL>
                    <a:lnR w="9525">
                      <a:solidFill>
                        <a:srgbClr val="7F6000"/>
                      </a:solidFill>
                      <a:prstDash val="solid"/>
                    </a:lnR>
                    <a:lnT w="9525">
                      <a:solidFill>
                        <a:srgbClr val="7F6000"/>
                      </a:solidFill>
                      <a:prstDash val="solid"/>
                    </a:lnT>
                    <a:lnB w="9525">
                      <a:solidFill>
                        <a:srgbClr val="7F6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7F6000"/>
                      </a:solidFill>
                      <a:prstDash val="solid"/>
                    </a:lnL>
                    <a:lnR w="9525">
                      <a:solidFill>
                        <a:srgbClr val="7F6000"/>
                      </a:solidFill>
                      <a:prstDash val="solid"/>
                    </a:lnR>
                    <a:lnT w="9525">
                      <a:solidFill>
                        <a:srgbClr val="FF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1C1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67524">
                <a:tc gridSpan="3">
                  <a:txBody>
                    <a:bodyPr/>
                    <a:lstStyle/>
                    <a:p>
                      <a:pPr marL="53340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Footer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100%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9017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7F6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EFF4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84725" y="838732"/>
            <a:ext cx="23425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/>
              <a:t>CSS</a:t>
            </a:r>
            <a:r>
              <a:rPr sz="2400" spc="-85" dirty="0"/>
              <a:t> </a:t>
            </a:r>
            <a:r>
              <a:rPr sz="2400" spc="-5" dirty="0"/>
              <a:t>Breakpoints</a:t>
            </a:r>
            <a:endParaRPr sz="2400"/>
          </a:p>
        </p:txBody>
      </p:sp>
      <p:sp>
        <p:nvSpPr>
          <p:cNvPr id="5" name="object 5"/>
          <p:cNvSpPr txBox="1"/>
          <p:nvPr/>
        </p:nvSpPr>
        <p:spPr>
          <a:xfrm>
            <a:off x="384725" y="1453481"/>
            <a:ext cx="4219575" cy="2641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CSS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Rules: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spc="-5" dirty="0">
                <a:solidFill>
                  <a:srgbClr val="595959"/>
                </a:solidFill>
                <a:latin typeface="Consolas"/>
                <a:cs typeface="Consolas"/>
              </a:rPr>
              <a:t>@media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only screen and (min-width: 768px)</a:t>
            </a:r>
            <a:r>
              <a:rPr sz="1400" spc="-7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{</a:t>
            </a:r>
            <a:endParaRPr sz="1400">
              <a:latin typeface="Consolas"/>
              <a:cs typeface="Consolas"/>
            </a:endParaRPr>
          </a:p>
          <a:p>
            <a:pPr marL="97155" algn="ctr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/* tablets and desktop layout */</a:t>
            </a:r>
            <a:r>
              <a:rPr sz="1400" spc="-5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}</a:t>
            </a:r>
            <a:endParaRPr sz="14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spc="-5" dirty="0">
                <a:solidFill>
                  <a:srgbClr val="595959"/>
                </a:solidFill>
                <a:latin typeface="Consolas"/>
                <a:cs typeface="Consolas"/>
              </a:rPr>
              <a:t>@media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only screen and (max-width: 767px)</a:t>
            </a:r>
            <a:r>
              <a:rPr sz="1400" spc="-7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{</a:t>
            </a:r>
            <a:endParaRPr sz="1400">
              <a:latin typeface="Consolas"/>
              <a:cs typeface="Consolas"/>
            </a:endParaRPr>
          </a:p>
          <a:p>
            <a:pPr marL="598170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/* phones */</a:t>
            </a:r>
            <a:r>
              <a:rPr sz="1400" spc="-1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}</a:t>
            </a:r>
            <a:endParaRPr sz="14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350">
              <a:latin typeface="Times New Roman"/>
              <a:cs typeface="Times New Roman"/>
            </a:endParaRPr>
          </a:p>
          <a:p>
            <a:pPr marL="469900" marR="199390" indent="-457200">
              <a:lnSpc>
                <a:spcPct val="116100"/>
              </a:lnSpc>
            </a:pPr>
            <a:r>
              <a:rPr sz="1400" b="1" spc="-5" dirty="0">
                <a:solidFill>
                  <a:srgbClr val="595959"/>
                </a:solidFill>
                <a:latin typeface="Consolas"/>
                <a:cs typeface="Consolas"/>
              </a:rPr>
              <a:t>@media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only screen and (max-width: 767px)  and (orientation: portrait)</a:t>
            </a:r>
            <a:r>
              <a:rPr sz="1400" spc="-3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{</a:t>
            </a:r>
            <a:endParaRPr sz="1400">
              <a:latin typeface="Consolas"/>
              <a:cs typeface="Consolas"/>
            </a:endParaRPr>
          </a:p>
          <a:p>
            <a:pPr marL="957580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/* portrait phones */</a:t>
            </a:r>
            <a:r>
              <a:rPr sz="1400" spc="-3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}</a:t>
            </a:r>
            <a:endParaRPr sz="14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184083" y="4778075"/>
            <a:ext cx="2739390" cy="1676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sz="10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Responsive </a:t>
            </a:r>
            <a:r>
              <a:rPr sz="1000" spc="-10" dirty="0">
                <a:solidFill>
                  <a:srgbClr val="595959"/>
                </a:solidFill>
                <a:latin typeface="Arial"/>
                <a:cs typeface="Arial"/>
              </a:rPr>
              <a:t>Web</a:t>
            </a:r>
            <a:r>
              <a:rPr sz="10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Design</a:t>
            </a:r>
            <a:endParaRPr sz="10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3916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Responsive</a:t>
            </a:r>
            <a:r>
              <a:rPr spc="-85" dirty="0"/>
              <a:t> </a:t>
            </a:r>
            <a:r>
              <a:rPr spc="-5" dirty="0"/>
              <a:t>implementation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62308"/>
            <a:ext cx="7178675" cy="247650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Build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components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to operate at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different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screen sizes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8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densities</a:t>
            </a:r>
            <a:endParaRPr sz="18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Use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relative rather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than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absolute</a:t>
            </a:r>
            <a:endParaRPr sz="14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Specify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sizes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 device independent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units</a:t>
            </a:r>
            <a:endParaRPr sz="1400" dirty="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3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Use CSS breakpoints to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control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layout and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functionality</a:t>
            </a:r>
            <a:endParaRPr sz="18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Layout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alternatives</a:t>
            </a:r>
            <a:endParaRPr sz="14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App functionality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conditional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on available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screen real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estate</a:t>
            </a:r>
            <a:endParaRPr sz="1400" dirty="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3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Mobile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first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popular</a:t>
            </a:r>
            <a:endParaRPr sz="18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Expand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good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mobile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design to use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more real</a:t>
            </a:r>
            <a:r>
              <a:rPr sz="14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estate</a:t>
            </a:r>
            <a:endParaRPr sz="1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E511CF504F4646AB54E0ACE4A117EC" ma:contentTypeVersion="0" ma:contentTypeDescription="Create a new document." ma:contentTypeScope="" ma:versionID="d4f0da77cb7c9de5903bc21ca831b4ef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967b7be50301903c78f9c39c6fd9a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021DD88-3011-460C-A0F6-7A784CC03E0C}"/>
</file>

<file path=customXml/itemProps2.xml><?xml version="1.0" encoding="utf-8"?>
<ds:datastoreItem xmlns:ds="http://schemas.openxmlformats.org/officeDocument/2006/customXml" ds:itemID="{7A05AE1D-AAED-4977-B2E0-D8161F1C2345}"/>
</file>

<file path=customXml/itemProps3.xml><?xml version="1.0" encoding="utf-8"?>
<ds:datastoreItem xmlns:ds="http://schemas.openxmlformats.org/officeDocument/2006/customXml" ds:itemID="{BAB209B2-D0EB-4839-88D7-DB53996D2F7C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</TotalTime>
  <Words>465</Words>
  <Application>Microsoft Office PowerPoint</Application>
  <PresentationFormat>On-screen Show (16:9)</PresentationFormat>
  <Paragraphs>85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Consolas</vt:lpstr>
      <vt:lpstr>Times New Roman</vt:lpstr>
      <vt:lpstr>Office Theme</vt:lpstr>
      <vt:lpstr>PowerPoint Presentation</vt:lpstr>
      <vt:lpstr>Web App Challenges: Screen real estate</vt:lpstr>
      <vt:lpstr>PowerPoint Presentation</vt:lpstr>
      <vt:lpstr>Responsive Web Design</vt:lpstr>
      <vt:lpstr>Example of Responsive Web Layout</vt:lpstr>
      <vt:lpstr>CSS Breakpoints</vt:lpstr>
      <vt:lpstr>Responsive implementation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Amarsanaa Ganbold</cp:lastModifiedBy>
  <cp:revision>8</cp:revision>
  <dcterms:created xsi:type="dcterms:W3CDTF">2019-08-20T05:21:15Z</dcterms:created>
  <dcterms:modified xsi:type="dcterms:W3CDTF">2021-11-09T01:58:42Z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ContentTypeId">
    <vt:lpwstr>0x01010055E511CF504F4646AB54E0ACE4A117EC</vt:lpwstr>
  </property>
</Properties>
</file>