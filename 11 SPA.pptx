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9144000" cy="5143500"/>
  <p:defaultTextStyle>
    <a:defPPr>
      <a:defRPr lang="mn-M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73" autoAdjust="0"/>
  </p:normalViewPr>
  <p:slideViewPr>
    <p:cSldViewPr>
      <p:cViewPr varScale="1">
        <p:scale>
          <a:sx n="132" d="100"/>
          <a:sy n="132" d="100"/>
        </p:scale>
        <p:origin x="1008" y="6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mn-M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B3742-4B80-4356-912F-B68C2801FD40}" type="datetimeFigureOut">
              <a:rPr lang="mn-MN" smtClean="0"/>
              <a:t>2021.11.02</a:t>
            </a:fld>
            <a:endParaRPr lang="mn-M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mn-M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n-M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mn-M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E9843D-BB87-480F-AAA7-ABEECFF5A505}" type="slidenum">
              <a:rPr lang="mn-MN" smtClean="0"/>
              <a:t>‹#›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240012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training.com/react-router/web/api/BrowserRouter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eveloper.mozilla.org/en-US/docs/Web/API/History_API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training.com/react-router/web/api/Route/component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eacttraining.com/react-router/web/api/Route/children-func" TargetMode="External"/><Relationship Id="rId4" Type="http://schemas.openxmlformats.org/officeDocument/2006/relationships/hyperlink" Target="https://reacttraining.com/react-router/web/api/Route/render-func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clean and readable URL!</a:t>
            </a: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9843D-BB87-480F-AAA7-ABEECFF5A505}" type="slidenum">
              <a:rPr lang="mn-MN" smtClean="0"/>
              <a:t>7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3831663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BrowserRouter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1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Consolas"/>
                <a:cs typeface="Consolas"/>
              </a:rPr>
              <a:t>- 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 </a:t>
            </a:r>
            <a:r>
              <a:rPr lang="es-ES" sz="1200" b="0" i="0" u="sng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history</a:t>
            </a:r>
            <a:r>
              <a:rPr lang="es-E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 API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dirty="0" err="1"/>
              <a:t>pushState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dirty="0" err="1"/>
              <a:t>replaceState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the </a:t>
            </a:r>
            <a:r>
              <a:rPr lang="en-US" dirty="0" err="1"/>
              <a:t>popstate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event) to keep your UI in sync with the URL.</a:t>
            </a:r>
            <a:endParaRPr lang="es-E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HashRouter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URL hash, it puts no limitations on supported browsers or web server.</a:t>
            </a:r>
            <a:endParaRPr lang="es-E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Server-side routing is independent from client-side routing.</a:t>
            </a: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9843D-BB87-480F-AAA7-ABEECFF5A505}" type="slidenum">
              <a:rPr lang="mn-MN" smtClean="0"/>
              <a:t>8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1397180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s-E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 &lt;Route component&gt;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mostly used, always create a new React element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  &lt;Route render&gt;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inline rendering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without remounting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  &lt;Route children&gt;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render whether the path matches the location or not.</a:t>
            </a:r>
          </a:p>
          <a:p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9843D-BB87-480F-AAA7-ABEECFF5A505}" type="slidenum">
              <a:rPr lang="mn-MN" smtClean="0"/>
              <a:t>11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587707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4802" y="1881758"/>
            <a:ext cx="7294394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170207"/>
            <a:ext cx="5629910" cy="2802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76834" y="4778075"/>
            <a:ext cx="23514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xample.com/#fragment" TargetMode="External"/><Relationship Id="rId2" Type="http://schemas.openxmlformats.org/officeDocument/2006/relationships/hyperlink" Target="http://exampl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xample.com/?id=3535&amp;amp;fragment" TargetMode="External"/><Relationship Id="rId4" Type="http://schemas.openxmlformats.org/officeDocument/2006/relationships/hyperlink" Target="http://example.com/?id=3535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ample.org/dirmod?sid=789AB8&amp;type=gen&amp;mod=Core+Pag%20es&amp;gid=A6CD496719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flickr.com/photos/jarnasen/24593000826/in/explore-2016-01-26/" TargetMode="External"/><Relationship Id="rId4" Type="http://schemas.openxmlformats.org/officeDocument/2006/relationships/hyperlink" Target="http://www.example.org/show/A6CD4967199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training.com/react-router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eacttraining.com/react-router/web/api/BrowserRouter" TargetMode="External"/><Relationship Id="rId4" Type="http://schemas.openxmlformats.org/officeDocument/2006/relationships/hyperlink" Target="https://reacttraining.com/react-router/web/api/HashRouter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4802" y="1881758"/>
            <a:ext cx="727329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5" dirty="0">
                <a:latin typeface="Arial"/>
                <a:cs typeface="Arial"/>
              </a:rPr>
              <a:t>Single Page</a:t>
            </a:r>
            <a:r>
              <a:rPr sz="5200" spc="-370" dirty="0">
                <a:latin typeface="Arial"/>
                <a:cs typeface="Arial"/>
              </a:rPr>
              <a:t> </a:t>
            </a:r>
            <a:r>
              <a:rPr sz="5200" spc="-10" dirty="0">
                <a:latin typeface="Arial"/>
                <a:cs typeface="Arial"/>
              </a:rPr>
              <a:t>Applications</a:t>
            </a:r>
            <a:endParaRPr sz="5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9058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Web </a:t>
            </a:r>
            <a:r>
              <a:rPr spc="-10" dirty="0"/>
              <a:t>Apps </a:t>
            </a:r>
            <a:r>
              <a:rPr spc="-5" dirty="0"/>
              <a:t>and</a:t>
            </a:r>
            <a:r>
              <a:rPr spc="-225" dirty="0"/>
              <a:t> </a:t>
            </a:r>
            <a:r>
              <a:rPr spc="-5" dirty="0"/>
              <a:t>Browsers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192770" cy="3395979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Web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run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browsers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(by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definition)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Users are use to browsing in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Browser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maintains 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history of URLs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visited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Back button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Go back in history to previous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Forward button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Go forward in history to next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124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move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page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Typing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into location bar or forward/back buttons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Selecting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bookmarked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Page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refresh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operation</a:t>
            </a:r>
            <a:endParaRPr sz="1400">
              <a:latin typeface="Arial"/>
              <a:cs typeface="Arial"/>
            </a:endParaRPr>
          </a:p>
          <a:p>
            <a:pPr marL="379095" marR="484505" indent="-336550">
              <a:lnSpc>
                <a:spcPct val="100699"/>
              </a:lnSpc>
              <a:spcBef>
                <a:spcPts val="840"/>
              </a:spcBef>
              <a:buSzPct val="77777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 tosses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current 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environment when navigating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different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page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Problematic 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frameworks: URL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(and cookies)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are the only information</a:t>
            </a:r>
            <a:r>
              <a:rPr sz="1400" spc="-1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preserved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6634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Problem </a:t>
            </a:r>
            <a:r>
              <a:rPr spc="-5" dirty="0"/>
              <a:t>with </a:t>
            </a:r>
            <a:r>
              <a:rPr dirty="0"/>
              <a:t>some </a:t>
            </a:r>
            <a:r>
              <a:rPr spc="-5" dirty="0"/>
              <a:t>web</a:t>
            </a:r>
            <a:r>
              <a:rPr spc="-90" dirty="0"/>
              <a:t> </a:t>
            </a:r>
            <a:r>
              <a:rPr spc="-5" dirty="0"/>
              <a:t>apps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8047990" cy="34480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Initial: pages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from web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Each page had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URL and app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switched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between pages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by web</a:t>
            </a:r>
            <a:r>
              <a:rPr sz="14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  <a:p>
            <a:pPr marL="379095" marR="526415" indent="-367030">
              <a:lnSpc>
                <a:spcPct val="149300"/>
              </a:lnSpc>
              <a:spcBef>
                <a:spcPts val="16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Early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apps: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Website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single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page/URL with the</a:t>
            </a:r>
            <a:r>
              <a:rPr sz="1800" spc="-1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Problem: Restart web app on navigation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lot of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work!)</a:t>
            </a:r>
            <a:endParaRPr sz="1800">
              <a:latin typeface="Arial"/>
              <a:cs typeface="Arial"/>
            </a:endParaRPr>
          </a:p>
          <a:p>
            <a:pPr marL="569595">
              <a:lnSpc>
                <a:spcPct val="100000"/>
              </a:lnSpc>
              <a:spcBef>
                <a:spcPts val="515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window.onbeforeunload </a:t>
            </a: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function(e) </a:t>
            </a: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{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return 'All will be lost!';</a:t>
            </a:r>
            <a:r>
              <a:rPr sz="1600" spc="-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3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Users expect app in browser to do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right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thing: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Navigate with forward and back buttons, browser page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history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Navigate away 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back to the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Bookmark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place in the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Copy the URL from the location bar 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share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 with</a:t>
            </a:r>
            <a:r>
              <a:rPr sz="14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someone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Push the page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refresh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button on the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46000" y="0"/>
            <a:ext cx="3797999" cy="14325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6622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Changing URL without page</a:t>
            </a:r>
            <a:r>
              <a:rPr spc="-190" dirty="0"/>
              <a:t> </a:t>
            </a:r>
            <a:r>
              <a:rPr dirty="0"/>
              <a:t>refresh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6971030" cy="2451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change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hash fragment in URL without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reload</a:t>
            </a:r>
            <a:endParaRPr sz="1800">
              <a:latin typeface="Arial"/>
              <a:cs typeface="Arial"/>
            </a:endParaRPr>
          </a:p>
          <a:p>
            <a:pPr marL="379095" marR="2191385">
              <a:lnSpc>
                <a:spcPct val="114599"/>
              </a:lnSpc>
              <a:spcBef>
                <a:spcPts val="157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http://example.com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3"/>
              </a:rPr>
              <a:t>http://example.com#fragment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4"/>
              </a:rPr>
              <a:t>http://example.com?id=3535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5"/>
              </a:rPr>
              <a:t>http://example.com?id=3535#fragment</a:t>
            </a:r>
            <a:endParaRPr sz="180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HTML5 give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control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page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reload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Browser History API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window.history</a:t>
            </a:r>
            <a:r>
              <a:rPr sz="1400" spc="-55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Change URL without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reloading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page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9818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Deep</a:t>
            </a:r>
            <a:r>
              <a:rPr spc="-85" dirty="0"/>
              <a:t> </a:t>
            </a:r>
            <a:r>
              <a:rPr spc="-5" dirty="0"/>
              <a:t>linking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081009" cy="3368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Concept: the URL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should capture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web app's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context so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that directing the  browser to the URL will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result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app's execution to that</a:t>
            </a:r>
            <a:r>
              <a:rPr sz="18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context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Bookmarks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Sharing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Context is defined by the user interface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designer!</a:t>
            </a:r>
            <a:endParaRPr sz="1800">
              <a:latin typeface="Arial"/>
              <a:cs typeface="Arial"/>
            </a:endParaRPr>
          </a:p>
          <a:p>
            <a:pPr marL="836294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Consider: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Viewing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information of entity and have an edit dialog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open</a:t>
            </a:r>
            <a:endParaRPr sz="1800">
              <a:latin typeface="Arial"/>
              <a:cs typeface="Arial"/>
            </a:endParaRPr>
          </a:p>
          <a:p>
            <a:pPr marL="836294" marR="782955">
              <a:lnSpc>
                <a:spcPct val="159700"/>
              </a:lnSpc>
              <a:spcBef>
                <a:spcPts val="6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Should the link point to the entity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to the entity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&amp;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dialog?  Does it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matter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if I'm bookmarking 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self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sharing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others?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836294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How about navigating away and back or browser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refresh?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2533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Deep linking in </a:t>
            </a:r>
            <a:r>
              <a:rPr spc="-10" dirty="0"/>
              <a:t>Single Page</a:t>
            </a:r>
            <a:r>
              <a:rPr spc="-229" dirty="0"/>
              <a:t> </a:t>
            </a:r>
            <a:r>
              <a:rPr spc="-5" dirty="0"/>
              <a:t>Apps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587615" cy="302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Two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approaches: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419734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Maintain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app's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context state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the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sz="1800">
              <a:latin typeface="Arial"/>
              <a:cs typeface="Arial"/>
            </a:endParaRPr>
          </a:p>
          <a:p>
            <a:pPr marL="564515">
              <a:lnSpc>
                <a:spcPct val="100000"/>
              </a:lnSpc>
              <a:spcBef>
                <a:spcPts val="315"/>
              </a:spcBef>
              <a:tabLst>
                <a:tab pos="9264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+	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Works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browser navigation and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refresh</a:t>
            </a:r>
            <a:endParaRPr sz="1800">
              <a:latin typeface="Arial"/>
              <a:cs typeface="Arial"/>
            </a:endParaRPr>
          </a:p>
          <a:p>
            <a:pPr marL="564515">
              <a:lnSpc>
                <a:spcPct val="100000"/>
              </a:lnSpc>
              <a:spcBef>
                <a:spcPts val="315"/>
              </a:spcBef>
              <a:tabLst>
                <a:tab pos="9264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+	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copy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 from location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bar</a:t>
            </a:r>
            <a:endParaRPr sz="1800">
              <a:latin typeface="Arial"/>
              <a:cs typeface="Arial"/>
            </a:endParaRPr>
          </a:p>
          <a:p>
            <a:pPr marL="469900" indent="-419734">
              <a:lnSpc>
                <a:spcPct val="100000"/>
              </a:lnSpc>
              <a:spcBef>
                <a:spcPts val="1290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Provide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share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button to generate deep linking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sz="1800">
              <a:latin typeface="Arial"/>
              <a:cs typeface="Arial"/>
            </a:endParaRPr>
          </a:p>
          <a:p>
            <a:pPr marL="564515">
              <a:lnSpc>
                <a:spcPct val="100000"/>
              </a:lnSpc>
              <a:spcBef>
                <a:spcPts val="315"/>
              </a:spcBef>
              <a:tabLst>
                <a:tab pos="9264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+	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Allows user to explicitly fetch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 based on</a:t>
            </a:r>
            <a:r>
              <a:rPr sz="18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need</a:t>
            </a:r>
            <a:endParaRPr sz="1800">
              <a:latin typeface="Arial"/>
              <a:cs typeface="Arial"/>
            </a:endParaRPr>
          </a:p>
          <a:p>
            <a:pPr marL="564515">
              <a:lnSpc>
                <a:spcPct val="100000"/>
              </a:lnSpc>
              <a:spcBef>
                <a:spcPts val="315"/>
              </a:spcBef>
              <a:tabLst>
                <a:tab pos="9264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+	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keep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 in location bar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pretty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Either way web app needs to be able to initialize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self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from deep linked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7240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Ugly</a:t>
            </a:r>
            <a:r>
              <a:rPr spc="-90" dirty="0"/>
              <a:t> </a:t>
            </a:r>
            <a:r>
              <a:rPr spc="-5" dirty="0"/>
              <a:t>URLs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263890" cy="27453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3"/>
              </a:rPr>
              <a:t>http://www.example.org/dirmod?sid=789AB8&amp;type=gen&amp;mod=Core+Pag </a:t>
            </a:r>
            <a:r>
              <a:rPr sz="1800" spc="-5" dirty="0" err="1">
                <a:solidFill>
                  <a:srgbClr val="595959"/>
                </a:solidFill>
                <a:latin typeface="Consolas"/>
                <a:cs typeface="Consolas"/>
                <a:hlinkClick r:id="rId3"/>
              </a:rPr>
              <a:t>es&amp;gid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3"/>
              </a:rPr>
              <a:t>=A6CD4967199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2364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versus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4"/>
              </a:rPr>
              <a:t>http://www.example.org/show/A6CD4967199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What is that ugly thing in the location bar above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beautiful web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application?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  <a:hlinkClick r:id="rId5"/>
              </a:rPr>
              <a:t>https://www.flickr.com/photos/jarnasen/24593000826/in/explore-2016-01-26/</a:t>
            </a:r>
            <a:endParaRPr sz="16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9484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ReactJS </a:t>
            </a:r>
            <a:r>
              <a:rPr dirty="0"/>
              <a:t>support </a:t>
            </a:r>
            <a:r>
              <a:rPr spc="-5" dirty="0"/>
              <a:t>for</a:t>
            </a:r>
            <a:r>
              <a:rPr spc="-95" dirty="0"/>
              <a:t> </a:t>
            </a:r>
            <a:r>
              <a:rPr spc="-75" dirty="0"/>
              <a:t>SPA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426450" cy="288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ReactJS has no opinion! Need 3rd party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module.</a:t>
            </a:r>
            <a:endParaRPr sz="1800" dirty="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Example: React Router</a:t>
            </a:r>
            <a:r>
              <a:rPr sz="1800" spc="20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https://reacttraining.com/react-router/</a:t>
            </a:r>
            <a:endParaRPr sz="1800" dirty="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Idea: Use URL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control conditional</a:t>
            </a:r>
            <a:r>
              <a:rPr sz="14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rendering</a:t>
            </a:r>
            <a:endParaRPr lang="en-US" sz="1400" dirty="0">
              <a:latin typeface="Arial"/>
              <a:cs typeface="Arial"/>
            </a:endParaRPr>
          </a:p>
          <a:p>
            <a:pPr marL="532765" indent="-430530">
              <a:lnSpc>
                <a:spcPct val="100000"/>
              </a:lnSpc>
              <a:spcBef>
                <a:spcPts val="1255"/>
              </a:spcBef>
              <a:buChar char="●"/>
              <a:tabLst>
                <a:tab pos="532765" algn="l"/>
                <a:tab pos="533400" algn="l"/>
              </a:tabLst>
            </a:pPr>
            <a:r>
              <a:rPr lang="en-US" sz="1800" spc="-25" dirty="0">
                <a:solidFill>
                  <a:srgbClr val="595959"/>
                </a:solidFill>
                <a:latin typeface="Arial"/>
                <a:cs typeface="Arial"/>
              </a:rPr>
              <a:t>Various </a:t>
            </a:r>
            <a:r>
              <a:rPr lang="en-US" sz="1800" spc="-5" dirty="0">
                <a:solidFill>
                  <a:srgbClr val="595959"/>
                </a:solidFill>
                <a:latin typeface="Arial"/>
                <a:cs typeface="Arial"/>
              </a:rPr>
              <a:t>ways of encoding information in</a:t>
            </a:r>
            <a:r>
              <a:rPr lang="en-US" sz="18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18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lang="en-US" sz="1800" dirty="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05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fragment part of the URL:</a:t>
            </a:r>
            <a:r>
              <a:rPr sz="1400" spc="25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Consolas"/>
                <a:cs typeface="Consolas"/>
                <a:hlinkClick r:id="rId4"/>
              </a:rPr>
              <a:t>HashRouter</a:t>
            </a:r>
            <a:endParaRPr sz="1400" dirty="0">
              <a:latin typeface="Consolas"/>
              <a:cs typeface="Consolas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 HTML5 URL handler:</a:t>
            </a:r>
            <a:r>
              <a:rPr sz="1400" spc="-55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Consolas"/>
                <a:cs typeface="Consolas"/>
                <a:hlinkClick r:id="rId5"/>
              </a:rPr>
              <a:t>BrowserRouter</a:t>
            </a:r>
            <a:endParaRPr sz="1400" dirty="0">
              <a:latin typeface="Consolas"/>
              <a:cs typeface="Consolas"/>
            </a:endParaRPr>
          </a:p>
          <a:p>
            <a:pPr marL="469900" indent="-367030">
              <a:lnSpc>
                <a:spcPct val="100000"/>
              </a:lnSpc>
              <a:spcBef>
                <a:spcPts val="125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Import 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module: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import {HashRouter, Route, Link, Redirect} from</a:t>
            </a:r>
            <a:r>
              <a:rPr sz="1800" spc="-7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'react-router-dom';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76834" y="4766045"/>
            <a:ext cx="23514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Single Page</a:t>
            </a:r>
            <a:r>
              <a:rPr sz="1000"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Apps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5960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 </a:t>
            </a:r>
            <a:r>
              <a:rPr spc="-5" dirty="0"/>
              <a:t>React</a:t>
            </a:r>
            <a:r>
              <a:rPr spc="-85" dirty="0"/>
              <a:t> </a:t>
            </a:r>
            <a:r>
              <a:rPr spc="-5" dirty="0"/>
              <a:t>Router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184987"/>
            <a:ext cx="5374005" cy="251142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&lt;HashRouter&gt;</a:t>
            </a:r>
            <a:endParaRPr sz="1600">
              <a:latin typeface="Consolas"/>
              <a:cs typeface="Consolas"/>
            </a:endParaRPr>
          </a:p>
          <a:p>
            <a:pPr marR="4460875" algn="r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&lt;div&gt;</a:t>
            </a:r>
            <a:endParaRPr sz="1600">
              <a:latin typeface="Consolas"/>
              <a:cs typeface="Consolas"/>
            </a:endParaRPr>
          </a:p>
          <a:p>
            <a:pPr marR="4460875" algn="r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57023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&lt;Route path="/states" component={States}</a:t>
            </a:r>
            <a:r>
              <a:rPr sz="1600" spc="-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/&gt;</a:t>
            </a:r>
            <a:endParaRPr sz="1600">
              <a:latin typeface="Consolas"/>
              <a:cs typeface="Consolas"/>
            </a:endParaRPr>
          </a:p>
          <a:p>
            <a:pPr marL="57023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57023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&lt;Link</a:t>
            </a:r>
            <a:r>
              <a:rPr sz="16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to="/states"&gt;States&lt;/Link&gt;</a:t>
            </a:r>
            <a:endParaRPr sz="1600">
              <a:latin typeface="Consolas"/>
              <a:cs typeface="Consolas"/>
            </a:endParaRPr>
          </a:p>
          <a:p>
            <a:pPr marL="68199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45847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&lt;/div&gt;</a:t>
            </a:r>
            <a:endParaRPr sz="1600">
              <a:latin typeface="Consolas"/>
              <a:cs typeface="Consolas"/>
            </a:endParaRPr>
          </a:p>
          <a:p>
            <a:pPr marL="12382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&lt;/HashRouter&gt;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26425" y="1176350"/>
            <a:ext cx="2767330" cy="203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JSX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block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controlled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by  URL enclosed in 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HashRouter</a:t>
            </a:r>
            <a:endParaRPr sz="1800">
              <a:latin typeface="Consolas"/>
              <a:cs typeface="Consolas"/>
            </a:endParaRPr>
          </a:p>
          <a:p>
            <a:pPr marL="379095" marR="204470" indent="-367030">
              <a:lnSpc>
                <a:spcPct val="113999"/>
              </a:lnSpc>
              <a:spcBef>
                <a:spcPts val="1010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Route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will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render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component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if URL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matches.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26425" y="3386151"/>
            <a:ext cx="2813050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Link</a:t>
            </a:r>
            <a:r>
              <a:rPr sz="1800" spc="-5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component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 generated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hyperlink:</a:t>
            </a:r>
            <a:endParaRPr sz="1800">
              <a:latin typeface="Arial"/>
              <a:cs typeface="Arial"/>
            </a:endParaRPr>
          </a:p>
          <a:p>
            <a:pPr marL="629920" marR="41275" indent="-251460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&lt;a</a:t>
            </a:r>
            <a:r>
              <a:rPr sz="18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href="#/states"&gt;  States</a:t>
            </a:r>
            <a:endParaRPr sz="180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&lt;/a&gt;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1042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Passing </a:t>
            </a:r>
            <a:r>
              <a:rPr spc="-5" dirty="0"/>
              <a:t>parameters with React</a:t>
            </a:r>
            <a:r>
              <a:rPr spc="-75" dirty="0"/>
              <a:t> </a:t>
            </a:r>
            <a:r>
              <a:rPr spc="-5" dirty="0"/>
              <a:t>Router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59"/>
              </a:spcBef>
              <a:buChar char="●"/>
              <a:tabLst>
                <a:tab pos="379095" algn="l"/>
                <a:tab pos="379730" algn="l"/>
              </a:tabLst>
            </a:pPr>
            <a:r>
              <a:rPr spc="-5" dirty="0"/>
              <a:t>Parameter passing in</a:t>
            </a:r>
            <a:r>
              <a:rPr spc="-20" dirty="0"/>
              <a:t> </a:t>
            </a:r>
            <a:r>
              <a:rPr spc="-5" dirty="0"/>
              <a:t>URL</a:t>
            </a:r>
          </a:p>
          <a:p>
            <a:pPr marL="379095">
              <a:lnSpc>
                <a:spcPct val="100000"/>
              </a:lnSpc>
              <a:spcBef>
                <a:spcPts val="325"/>
              </a:spcBef>
            </a:pPr>
            <a:r>
              <a:rPr sz="1600" spc="-5" dirty="0">
                <a:latin typeface="Consolas"/>
                <a:cs typeface="Consolas"/>
              </a:rPr>
              <a:t>&lt;Route</a:t>
            </a:r>
            <a:endParaRPr sz="1600">
              <a:latin typeface="Consolas"/>
              <a:cs typeface="Consolas"/>
            </a:endParaRPr>
          </a:p>
          <a:p>
            <a:pPr marL="713740" marR="1337945">
              <a:lnSpc>
                <a:spcPct val="113300"/>
              </a:lnSpc>
            </a:pPr>
            <a:r>
              <a:rPr sz="1600" spc="-5" dirty="0">
                <a:latin typeface="Consolas"/>
                <a:cs typeface="Consolas"/>
              </a:rPr>
              <a:t>path="</a:t>
            </a:r>
            <a:r>
              <a:rPr sz="1600" spc="-5" dirty="0">
                <a:solidFill>
                  <a:srgbClr val="FF0000"/>
                </a:solidFill>
                <a:latin typeface="Consolas"/>
                <a:cs typeface="Consolas"/>
              </a:rPr>
              <a:t>/Book/:book/ch/:chapter</a:t>
            </a:r>
            <a:r>
              <a:rPr sz="1600" spc="-5" dirty="0">
                <a:latin typeface="Consolas"/>
                <a:cs typeface="Consolas"/>
              </a:rPr>
              <a:t>"  component={BookChapterComponent}</a:t>
            </a:r>
            <a:endParaRPr sz="160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latin typeface="Consolas"/>
                <a:cs typeface="Consolas"/>
              </a:rPr>
              <a:t>/&gt;</a:t>
            </a:r>
            <a:endParaRPr sz="1600">
              <a:latin typeface="Consolas"/>
              <a:cs typeface="Consolas"/>
            </a:endParaRPr>
          </a:p>
          <a:p>
            <a:pPr marL="379095" marR="40005" indent="-367030">
              <a:lnSpc>
                <a:spcPct val="113399"/>
              </a:lnSpc>
              <a:spcBef>
                <a:spcPts val="955"/>
              </a:spcBef>
              <a:buClr>
                <a:srgbClr val="595959"/>
              </a:buClr>
              <a:buFont typeface="Arial"/>
              <a:buChar char="●"/>
              <a:tabLst>
                <a:tab pos="442595" algn="l"/>
                <a:tab pos="443230" algn="l"/>
              </a:tabLst>
            </a:pPr>
            <a:r>
              <a:rPr dirty="0">
                <a:solidFill>
                  <a:srgbClr val="000000"/>
                </a:solidFill>
              </a:rPr>
              <a:t>	</a:t>
            </a:r>
            <a:r>
              <a:rPr spc="-5" dirty="0"/>
              <a:t>Parameters put in </a:t>
            </a:r>
            <a:r>
              <a:rPr spc="-5" dirty="0">
                <a:latin typeface="Consolas"/>
                <a:cs typeface="Consolas"/>
              </a:rPr>
              <a:t>prop.match </a:t>
            </a:r>
            <a:r>
              <a:rPr spc="-5" dirty="0"/>
              <a:t>of the </a:t>
            </a:r>
            <a:r>
              <a:rPr dirty="0"/>
              <a:t>component  </a:t>
            </a:r>
            <a:r>
              <a:rPr spc="-5" dirty="0"/>
              <a:t>f</a:t>
            </a:r>
            <a:r>
              <a:rPr spc="-5" dirty="0">
                <a:latin typeface="Consolas"/>
                <a:cs typeface="Consolas"/>
              </a:rPr>
              <a:t>unction BookChapterComponent({ match })</a:t>
            </a:r>
            <a:r>
              <a:rPr spc="-80" dirty="0">
                <a:latin typeface="Consolas"/>
                <a:cs typeface="Consolas"/>
              </a:rPr>
              <a:t> </a:t>
            </a:r>
            <a:r>
              <a:rPr dirty="0">
                <a:latin typeface="Consolas"/>
                <a:cs typeface="Consolas"/>
              </a:rPr>
              <a:t>{</a:t>
            </a:r>
          </a:p>
          <a:p>
            <a:pPr marL="630555">
              <a:lnSpc>
                <a:spcPct val="100000"/>
              </a:lnSpc>
              <a:spcBef>
                <a:spcPts val="515"/>
              </a:spcBef>
            </a:pPr>
            <a:r>
              <a:rPr sz="1600" spc="-5" dirty="0">
                <a:latin typeface="Consolas"/>
                <a:cs typeface="Consolas"/>
              </a:rPr>
              <a:t>return 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&lt;div&gt;</a:t>
            </a:r>
            <a:endParaRPr sz="1600">
              <a:latin typeface="Consolas"/>
              <a:cs typeface="Consolas"/>
            </a:endParaRPr>
          </a:p>
          <a:p>
            <a:pPr marL="1829435">
              <a:lnSpc>
                <a:spcPct val="100000"/>
              </a:lnSpc>
              <a:spcBef>
                <a:spcPts val="365"/>
              </a:spcBef>
            </a:pPr>
            <a:r>
              <a:rPr sz="1600" spc="-5" dirty="0">
                <a:latin typeface="Consolas"/>
                <a:cs typeface="Consolas"/>
              </a:rPr>
              <a:t>&lt;h3&gt;Book:</a:t>
            </a:r>
            <a:r>
              <a:rPr sz="1600" spc="-85" dirty="0">
                <a:latin typeface="Consolas"/>
                <a:cs typeface="Consolas"/>
              </a:rPr>
              <a:t> </a:t>
            </a:r>
            <a:r>
              <a:rPr sz="1600" spc="-5" dirty="0">
                <a:latin typeface="Consolas"/>
                <a:cs typeface="Consolas"/>
              </a:rPr>
              <a:t>{match.params.book}&lt;/h3&gt;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925" y="3947236"/>
            <a:ext cx="5935980" cy="8540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462405">
              <a:lnSpc>
                <a:spcPct val="100000"/>
              </a:lnSpc>
              <a:spcBef>
                <a:spcPts val="355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&lt;h3&gt;Chapter:</a:t>
            </a:r>
            <a:r>
              <a:rPr sz="1600" spc="-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{match.params.chapter}&lt;/h3&gt;</a:t>
            </a:r>
            <a:endParaRPr sz="1600">
              <a:latin typeface="Consolas"/>
              <a:cs typeface="Consolas"/>
            </a:endParaRPr>
          </a:p>
          <a:p>
            <a:pPr marL="123952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&lt;/div&gt;</a:t>
            </a:r>
            <a:r>
              <a:rPr sz="16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62762" y="2193275"/>
            <a:ext cx="1066799" cy="819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58000" y="2188512"/>
            <a:ext cx="1295400" cy="828675"/>
          </a:xfrm>
          <a:custGeom>
            <a:avLst/>
            <a:gdLst/>
            <a:ahLst/>
            <a:cxnLst/>
            <a:rect l="l" t="t" r="r" b="b"/>
            <a:pathLst>
              <a:path w="1295400" h="828675">
                <a:moveTo>
                  <a:pt x="0" y="0"/>
                </a:moveTo>
                <a:lnTo>
                  <a:pt x="1295399" y="0"/>
                </a:lnTo>
                <a:lnTo>
                  <a:pt x="1295399" y="828674"/>
                </a:lnTo>
                <a:lnTo>
                  <a:pt x="0" y="82867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44675" y="1473899"/>
            <a:ext cx="2851150" cy="163893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652780" marR="42545" indent="-488315">
              <a:lnSpc>
                <a:spcPts val="1650"/>
              </a:lnSpc>
            </a:pPr>
            <a:r>
              <a:rPr sz="1400" spc="-5" dirty="0">
                <a:latin typeface="Consolas"/>
                <a:cs typeface="Consolas"/>
              </a:rPr>
              <a:t>&lt;Link to="/Book/Moby/ch/1"&gt;  Moby</a:t>
            </a:r>
            <a:endParaRPr sz="1400">
              <a:latin typeface="Consolas"/>
              <a:cs typeface="Consolas"/>
            </a:endParaRPr>
          </a:p>
          <a:p>
            <a:pPr marL="165100">
              <a:lnSpc>
                <a:spcPts val="1600"/>
              </a:lnSpc>
            </a:pPr>
            <a:r>
              <a:rPr sz="1400" spc="-5" dirty="0">
                <a:latin typeface="Consolas"/>
                <a:cs typeface="Consolas"/>
              </a:rPr>
              <a:t>&lt;/Link&gt;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7462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57300" algn="l"/>
              </a:tabLst>
            </a:pPr>
            <a:r>
              <a:rPr spc="-5" dirty="0"/>
              <a:t>Route:	</a:t>
            </a:r>
            <a:r>
              <a:rPr spc="-5" dirty="0">
                <a:latin typeface="Consolas"/>
                <a:cs typeface="Consolas"/>
              </a:rPr>
              <a:t>component=</a:t>
            </a:r>
            <a:r>
              <a:rPr spc="-5" dirty="0"/>
              <a:t>, </a:t>
            </a:r>
            <a:r>
              <a:rPr spc="-5" dirty="0">
                <a:latin typeface="Consolas"/>
                <a:cs typeface="Consolas"/>
              </a:rPr>
              <a:t>render=</a:t>
            </a:r>
            <a:r>
              <a:rPr spc="-5" dirty="0"/>
              <a:t>,</a:t>
            </a:r>
            <a:r>
              <a:rPr spc="-55" dirty="0"/>
              <a:t> </a:t>
            </a:r>
            <a:r>
              <a:rPr spc="-5" dirty="0">
                <a:latin typeface="Consolas"/>
                <a:cs typeface="Consolas"/>
              </a:rPr>
              <a:t>children=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87907"/>
            <a:ext cx="8174355" cy="359473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525"/>
              </a:spcBef>
              <a:buSzPct val="112500"/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component={BookChapterComponent}</a:t>
            </a:r>
            <a:endParaRPr sz="1600">
              <a:latin typeface="Consolas"/>
              <a:cs typeface="Consolas"/>
            </a:endParaRPr>
          </a:p>
          <a:p>
            <a:pPr marL="927100" lvl="1" indent="-336550">
              <a:lnSpc>
                <a:spcPct val="100000"/>
              </a:lnSpc>
              <a:spcBef>
                <a:spcPts val="3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Mounts components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match (unmounts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 URL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change)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Passes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match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object with: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params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url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history</a:t>
            </a:r>
            <a:endParaRPr sz="1400">
              <a:latin typeface="Consolas"/>
              <a:cs typeface="Consolas"/>
            </a:endParaRPr>
          </a:p>
          <a:p>
            <a:pPr marL="351155" marR="5080" indent="-351155" algn="r">
              <a:lnSpc>
                <a:spcPct val="100000"/>
              </a:lnSpc>
              <a:spcBef>
                <a:spcPts val="1235"/>
              </a:spcBef>
              <a:buFont typeface="Arial"/>
              <a:buChar char="●"/>
              <a:tabLst>
                <a:tab pos="351155" algn="l"/>
                <a:tab pos="351790" algn="l"/>
              </a:tabLst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render={props =&gt; &lt;BookChapterComponent</a:t>
            </a:r>
            <a:r>
              <a:rPr sz="16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book={props.match.params.book}</a:t>
            </a:r>
            <a:endParaRPr sz="160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chapter={props.match.params.chapter}</a:t>
            </a:r>
            <a:r>
              <a:rPr sz="1600" spc="-1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/&gt;}</a:t>
            </a:r>
            <a:endParaRPr sz="1600">
              <a:latin typeface="Consolas"/>
              <a:cs typeface="Consolas"/>
            </a:endParaRPr>
          </a:p>
          <a:p>
            <a:pPr marL="927100" lvl="1" indent="-336550">
              <a:lnSpc>
                <a:spcPct val="100000"/>
              </a:lnSpc>
              <a:spcBef>
                <a:spcPts val="265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Calls function with props having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match</a:t>
            </a:r>
            <a:r>
              <a:rPr sz="1400" spc="-36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object from above.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Doesn't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mount/unmount component (does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update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it)</a:t>
            </a:r>
            <a:endParaRPr sz="1400">
              <a:latin typeface="Arial"/>
              <a:cs typeface="Arial"/>
            </a:endParaRPr>
          </a:p>
          <a:p>
            <a:pPr marL="469900" indent="-351790">
              <a:lnSpc>
                <a:spcPct val="100000"/>
              </a:lnSpc>
              <a:spcBef>
                <a:spcPts val="123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children= </a:t>
            </a:r>
            <a:r>
              <a:rPr sz="1600" dirty="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Like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render=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except is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called regardless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of the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match</a:t>
            </a:r>
            <a:endParaRPr sz="16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65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match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will be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null</a:t>
            </a:r>
            <a:r>
              <a:rPr sz="1400" spc="-44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if URL doesn't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match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Useful if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want to have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something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always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render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but only active 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matching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URL.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Multiple route matches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have precedence order: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component, 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render,</a:t>
            </a:r>
            <a:r>
              <a:rPr sz="16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children</a:t>
            </a:r>
            <a:endParaRPr sz="1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5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Switch</a:t>
            </a:r>
            <a:r>
              <a:rPr sz="1400" spc="-409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useful with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multiple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Route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Renders the first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matching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4065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3946726"/>
            <a:ext cx="826135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What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keep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URL: table length,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viewport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table,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search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box,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sort column,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etc.  Is it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different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bookmark 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share?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Nav away and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back?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8791" y="1169400"/>
            <a:ext cx="6492610" cy="2601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9461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 </a:t>
            </a:r>
            <a:r>
              <a:rPr spc="-5" dirty="0"/>
              <a:t>Not everything goes in</a:t>
            </a:r>
            <a:r>
              <a:rPr spc="-75" dirty="0"/>
              <a:t> </a:t>
            </a:r>
            <a:r>
              <a:rPr spc="-5" dirty="0"/>
              <a:t>URL</a:t>
            </a:r>
          </a:p>
        </p:txBody>
      </p:sp>
      <p:sp>
        <p:nvSpPr>
          <p:cNvPr id="3" name="object 3"/>
          <p:cNvSpPr/>
          <p:nvPr/>
        </p:nvSpPr>
        <p:spPr>
          <a:xfrm>
            <a:off x="1030305" y="1216200"/>
            <a:ext cx="6943844" cy="31229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</a:t>
            </a:r>
            <a:r>
              <a:rPr spc="-5" dirty="0"/>
              <a:t>Single Page</a:t>
            </a:r>
            <a:r>
              <a:rPr spc="-135" dirty="0"/>
              <a:t> </a:t>
            </a:r>
            <a:r>
              <a:rPr spc="-5" dirty="0"/>
              <a:t>Apps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A394AAE-89A8-4227-9E00-8A5A333AF8A6}"/>
</file>

<file path=customXml/itemProps2.xml><?xml version="1.0" encoding="utf-8"?>
<ds:datastoreItem xmlns:ds="http://schemas.openxmlformats.org/officeDocument/2006/customXml" ds:itemID="{BB86076A-04C7-46FB-B4D4-67A7621E8E88}"/>
</file>

<file path=customXml/itemProps3.xml><?xml version="1.0" encoding="utf-8"?>
<ds:datastoreItem xmlns:ds="http://schemas.openxmlformats.org/officeDocument/2006/customXml" ds:itemID="{413EBE56-B32F-4860-9361-9FE94088A04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1155</Words>
  <Application>Microsoft Office PowerPoint</Application>
  <PresentationFormat>On-screen Show (16:9)</PresentationFormat>
  <Paragraphs>140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Times New Roman</vt:lpstr>
      <vt:lpstr>Office Theme</vt:lpstr>
      <vt:lpstr>PowerPoint Presentation</vt:lpstr>
      <vt:lpstr>Web Apps and Browsers</vt:lpstr>
      <vt:lpstr>Problem with some web apps</vt:lpstr>
      <vt:lpstr>Changing URL without page refresh</vt:lpstr>
      <vt:lpstr>Deep linking</vt:lpstr>
      <vt:lpstr>Deep linking in Single Page Apps</vt:lpstr>
      <vt:lpstr>Ugly URLs</vt:lpstr>
      <vt:lpstr>ReactJS support for SPA</vt:lpstr>
      <vt:lpstr>Example React Router</vt:lpstr>
      <vt:lpstr>Passing parameters with React Router</vt:lpstr>
      <vt:lpstr>Route: component=, render=, children=</vt:lpstr>
      <vt:lpstr>Example</vt:lpstr>
      <vt:lpstr>Example: Not everything goes in URL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Amarsanaa Ganbold</cp:lastModifiedBy>
  <cp:revision>7</cp:revision>
  <dcterms:created xsi:type="dcterms:W3CDTF">2019-08-20T05:22:01Z</dcterms:created>
  <dcterms:modified xsi:type="dcterms:W3CDTF">2021-11-02T06:09:19Z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